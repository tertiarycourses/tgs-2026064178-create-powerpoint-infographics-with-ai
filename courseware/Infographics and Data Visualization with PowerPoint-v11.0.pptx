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61B26"/>
                </a:solidFill>
                <a:latin typeface="Arial"/>
              </a:rPr>
              <a:t>Infographics and Data Visualization with PowerPoint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TGS-2024048310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v11.0  ·  15 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20+ years of training and industry experience.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PowerPoint, data visualisation, generative AI and workplace productivity.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experience with PowerPoint, charts or infographics (if any).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visual communication habit you want to improve during this course.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Infographics and Data Visualisation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TOU-DAT-4004-1.1-1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 Level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Skills Framework for Tourism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3 Learning Units aligned to the 3 approved Learning Outcomes.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Introduction to Infographics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Purpose · Types · Audience · Metrics · Planning · Insight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Create Infographics in PowerPoint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 size · Grid · Shapes · Icons · Type · Colour · SmartArt · Charts ·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Review Infographics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Story · Context · Simplicity · Coaching · Budget · Effectiveness ·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&amp;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Plan and interpret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 admin, outcomes and assessment briefing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Introduction to Infographics (Activities 1–2)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 begins: PowerPoint foundations and template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Create, review and assess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LU2: native objects, Excel chart and AI Designer (Activities 3–6)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peer coaching, budget and effectiveness (Activities 7–8)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Assessment: WA-SAQ 30 min + PP 30 min, 5:00–6:00pm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60-minute lunch · 10-minute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Draw Insights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Interpret infographic evidence and make proportionate data-driven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in PowerPoint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templates, native objects, Excel data and AI assistance to articulate insights.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audience outcomes, resource fit, governance and improvement priorities.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2642616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178808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4792" y="571500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(WA-SAQ) — nine open-ended questions, 30 minutes, open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 (PP) — three progressive tasks, 30 minutes, open 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minimum of 75% attendance is required. Learners must be assessed as Competent and complete the required digital attendance and TRAQOM steps.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WA-SAQ then Practical Performance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Infographics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Purpose · Types · Audience · Metrics · Planning · Insight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Introduction to Infographics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infographic combines concise text, data, shapes, colour, charts and icons to reveal information and relationships.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Chronology, timeline, process, comparison, statistical, mind-map, numerical and hierarchical formats answer different questions.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Planning moves from objective and audience to content curation, metric selection, structure and a low-fidelity wireframe.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Insight extraction distinguishes what the chart shows, what it means, why it matters and what action is justified.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VISUAL DATA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Infographics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effective infographic reduces friction between evidence and understanding.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Visual hierarchy helps the audience locate the important message quickly.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Words, data and relationships are combined into a scannable 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Position, length, order and colour make differences and patterns visible.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coherent visual story gives the audience meaningful anchors for recall.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final implication connects what is seen to what the audience should 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FORMAT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Infographic Types Answer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Select the form by the relationship the audience must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Useful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happened across time?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Chronology or timeline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does it work?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Instructional flow, cycle or roadmap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74904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option differs and by how much?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Bar, dot plot or comparison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34340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Where are values concentrated?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Histogram, ranked bar or box plot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93776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93776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Hierarchy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are parts organised?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Tree, pyramid or organisation chart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3212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321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Relationships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 ideas connect?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6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Mind map, network or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Plan an Infographic in Six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996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96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Audience and action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93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5372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5372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8094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8094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1676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Business question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415747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3504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3504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6226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6226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808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 and metrics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560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4358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4358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7940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Infographic form</a:t>
            </a:r>
          </a:p>
        </p:txBody>
      </p:sp>
      <p:sp>
        <p:nvSpPr>
          <p:cNvPr id="29" name="Chevron 28"/>
          <p:cNvSpPr/>
          <p:nvPr/>
        </p:nvSpPr>
        <p:spPr>
          <a:xfrm>
            <a:off x="779373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92490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2490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6072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Wireframe and hierarchy</a:t>
            </a:r>
          </a:p>
        </p:txBody>
      </p:sp>
      <p:sp>
        <p:nvSpPr>
          <p:cNvPr id="35" name="Chevron 34"/>
          <p:cNvSpPr/>
          <p:nvPr/>
        </p:nvSpPr>
        <p:spPr>
          <a:xfrm>
            <a:off x="9611868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6790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6790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1062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062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420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and release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If the business question is unclear, a template or AI tool will produce a faster version of the wrong story.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Insight Extraction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values, differences or trends are visible?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interpretation is plausible but not overstated?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7C3AED"/>
                </a:solidFill>
                <a:latin typeface="Arial"/>
              </a:rPr>
              <a:t>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Why does the pattern matter to this audience?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59E0B"/>
                </a:solidFill>
                <a:latin typeface="Arial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proportionate next step is supported?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sample, denominator or uncertainty qualifies it?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 another reader reproduce the claim?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Separate observation from interpretation before writing the recommendation.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LO1 · LU1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four-part insight: show, mean, matter,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four-part insight: show, mean, matter, act?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values, differences, trends or outliers are visible?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relationship is suggested without claiming unsupported causation?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Implication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does the finding matter to the stated audience?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proportionate next step is supported by the evidence?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Visual Pattern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the business question and audience.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title, units, source, timeframe and denominator.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Find the largest, smallest, change and exception.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Qualify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 uncertainty, sample limits and alternative explanations.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Recommend an evidence-proportionate next step.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Pattern vs Unsupported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Defensible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Overclaim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Repeat customers rate delivery 8 points higher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result applies to this sample and period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delivery messaging in the next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Delivery causes loyalty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customers prefer delivery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Shift the entire budget immediately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Northstar Retail Customer 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Overall satisfaction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86%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Repeat-customer satisfaction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69%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First-time-customer satisfaction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+11 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Mobile-app users vs non-users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420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Survey responses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Q2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reporting period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REAL-WORLD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 chart answers a question only when context travels with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28016" cy="4206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REAL-WORLD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Northstar Retail Singapore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9966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satisfaction gap is useful for targeting a follow-up test, but the survey does not prove that the mobile app caused higher satisfaction.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Decode a Customer Survey Infographic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 Retail's marketing lead has a one-page customer survey infographic built from 420 synthetic Q2 responses. Leadership wants to know which customer experience deserves further investigation.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the supplied CSV, workbook and sample deck to separate observations from interpretations and recommend one next step without overstating the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An annotated insight slide plus a one-sentence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35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Decode a Customer Survey Infographic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the strongest visible pattern?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denominator or segment could change the interpretation?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can be said confidently, and what cannot?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business action is proportionate to the evidence?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Decode a Customer Survey Infographic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insight include context and uncertainty?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Could the action be traced directly to the visual evidence?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final insight clearly separates what the data shows, what it may mean, why it matters and what should happen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LO1 · LU1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audience-led infographic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audience-led infographic plan?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audience, question, decision and desired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evidence that earns a place in the visual 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Timeline, process, comparison, statistical, hierarchy or hybrid.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Wireframe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low-fidelity map of title, sections, visuals, labels and 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Plan Before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Write the objective and audience question.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 accurate, relevant, high-impact content.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Match the infographic type to the relationship.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Sequence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Order message, evidence and action.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Sketch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 the wireframe with boxes, arrows and placeholders.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 Choice by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Useful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What happened over time?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How does the service work?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Which option performs better?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How are categories related?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Timeline / chronology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Process / instructional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Comparison / statistical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Hierarchy / mind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Wireframe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Title states the audience-relevant message.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Source, timeframe, unit and scope.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primary chart or process carries the proof.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Arrows, order and whitespace control the reading path.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concise implication or next step.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Footer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Source, owner, date and accessibility notes.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Plan the Infographic Brief and Wireframe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 plans a sustainable-delivery campaign. The communication manager needs a portrait infographic showing the customer journey from order to low-emission delivery.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Create a wireframe that can later be built manually, from a Microsoft infographic template or with AI assistance without changing the approved message.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portrait infographic brief and low-fidelity PowerPoint wireframe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35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Plan the Infographic Brief and Wireframe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the single audience question?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infographic type best reveals the relationship?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content should be removed?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Where should the reader's eye land first, second and last?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Plan the Infographic Brief and Wireframe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Could the wireframe be understood without colour?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every placeholder have a message role?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wireframe communicates objective, hierarchy, evidence, flow, action and source space before visual styling begins.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Introduction to Infographics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Decode a Customer Survey Infographic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extract defensible insights from a statistical infographic and connect them to a business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 the Infographic Brief and Wireframe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select an infographic type and build a low-fidelity wireframe from an audience question and curated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infographic is an argument made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Start with the audience question, the evidence and the intended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Create Infographics in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Slide size · Grid · Shapes · Icons · Type · Colour · SmartArt · Charts ·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Create Infographics in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Visual hierarchy uses scale, position, contrast, spacing and alignment to guide the reader through one intended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PowerPoint supports editable shapes, icons, SmartArt, stock images, text, native charts and Excel-linked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Microsoft's infographic maker adds portrait templates and collaboration; Copilot can suggest structure, layouts and AI images.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 AI-assisted output needs source verification, privacy review, brand control, accessibility checks and editable hand-off.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NATIVE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PowerPoint's Editable Infographic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simplest editable object that communicates the relationship.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Slide size, guides, gridlines, alignment, distribute, group and Selection Pane.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Visual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Shapes, connectors, icons, stock images, text boxes and merged shapes.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Structured diagrams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SmartArt lists, cycles, processes, hierarchies and timelines.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Data visualisation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Native charts, embedded workbooks and Excel-linked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Animations, transitions, comments, co-authoring and presenter-friendly export.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MICROSOFT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Infographic Maker and AI Designer: Use the Right 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Microsoft's current pages describe complementary template and Copilot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Useful assistance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Human 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Infographic maker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Templates for timelines, flowcharts, roadmaps, organisation charts and posters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by relationship; replace every placeholder and retain source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PowerPoint library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Icons, stock images, shapes, fonts, SmartArt and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hierarchy, brand, accessibility and evidence standards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74904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Copilot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Suggest section titles, layouts, summaries and supporting AI images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every claim and rebuild decision-critical evidence as native objects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34340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Designer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or improve slide layouts and image placement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options; preserve editability and maintain the approved master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93776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93776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Collaboration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Comments, mentions and real-time editing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 ownership, versions, reviewers and release 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3212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321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PPTX, PDF, JPG, slideshow and print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6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each channel for clipping, fonts, links and accessibility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Human-in-the-Loop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996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96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Approved brief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93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5372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5372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8094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8094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1676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Structured prompt</a:t>
            </a:r>
          </a:p>
        </p:txBody>
      </p:sp>
      <p:sp>
        <p:nvSpPr>
          <p:cNvPr id="17" name="Chevron 16"/>
          <p:cNvSpPr/>
          <p:nvPr/>
        </p:nvSpPr>
        <p:spPr>
          <a:xfrm>
            <a:off x="415747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3504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3504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6226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6226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808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Two options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560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4358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4358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7940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Fact and data check</a:t>
            </a:r>
          </a:p>
        </p:txBody>
      </p:sp>
      <p:sp>
        <p:nvSpPr>
          <p:cNvPr id="29" name="Chevron 28"/>
          <p:cNvSpPr/>
          <p:nvPr/>
        </p:nvSpPr>
        <p:spPr>
          <a:xfrm>
            <a:off x="779373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92490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2490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6072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Rebuild and accessibility</a:t>
            </a:r>
          </a:p>
        </p:txBody>
      </p:sp>
      <p:sp>
        <p:nvSpPr>
          <p:cNvPr id="35" name="Chevron 34"/>
          <p:cNvSpPr/>
          <p:nvPr/>
        </p:nvSpPr>
        <p:spPr>
          <a:xfrm>
            <a:off x="9611868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6790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6790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1062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062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420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Named approval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can propose an infographic; it cannot own the truth, the data rights or the business decision.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CONTROLLED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Editable PowerPoint Production Swimlane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874519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194560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Content 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1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Approve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5583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5583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0175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Verify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6527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96527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Approve message</a:t>
            </a:r>
          </a:p>
        </p:txBody>
      </p:sp>
      <p:sp>
        <p:nvSpPr>
          <p:cNvPr id="17" name="Chevron 16"/>
          <p:cNvSpPr/>
          <p:nvPr/>
        </p:nvSpPr>
        <p:spPr>
          <a:xfrm>
            <a:off x="5669279" y="2495169"/>
            <a:ext cx="109728" cy="182880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8650223" y="2495169"/>
            <a:ext cx="109728" cy="182880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106674"/>
            <a:ext cx="1874519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06674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PowerPoint /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39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39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1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Generate options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5583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15583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0175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native objects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96527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96527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9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Export formats</a:t>
            </a:r>
          </a:p>
        </p:txBody>
      </p:sp>
      <p:sp>
        <p:nvSpPr>
          <p:cNvPr id="30" name="Chevron 29"/>
          <p:cNvSpPr/>
          <p:nvPr/>
        </p:nvSpPr>
        <p:spPr>
          <a:xfrm>
            <a:off x="5669279" y="3407283"/>
            <a:ext cx="109728" cy="1828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8650223" y="3407283"/>
            <a:ext cx="109728" cy="1828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018788"/>
            <a:ext cx="1874519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4018788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Designer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34639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9231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Apply hierarchy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15583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15583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0175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Check brand/access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96527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96527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19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Maintain master</a:t>
            </a:r>
          </a:p>
        </p:txBody>
      </p:sp>
      <p:sp>
        <p:nvSpPr>
          <p:cNvPr id="43" name="Chevron 42"/>
          <p:cNvSpPr/>
          <p:nvPr/>
        </p:nvSpPr>
        <p:spPr>
          <a:xfrm>
            <a:off x="5669279" y="4319397"/>
            <a:ext cx="109728" cy="18288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8650223" y="4319397"/>
            <a:ext cx="109728" cy="18288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4930902"/>
            <a:ext cx="1874519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4930902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Reviewer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34639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1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Challenge claims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15583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15583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0175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 outputs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96527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96527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19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Approve release</a:t>
            </a:r>
          </a:p>
        </p:txBody>
      </p:sp>
      <p:sp>
        <p:nvSpPr>
          <p:cNvPr id="56" name="Chevron 55"/>
          <p:cNvSpPr/>
          <p:nvPr/>
        </p:nvSpPr>
        <p:spPr>
          <a:xfrm>
            <a:off x="5669279" y="5231511"/>
            <a:ext cx="109728" cy="1828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evron 56"/>
          <p:cNvSpPr/>
          <p:nvPr/>
        </p:nvSpPr>
        <p:spPr>
          <a:xfrm>
            <a:off x="8650223" y="5231511"/>
            <a:ext cx="109728" cy="1828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Decision-critical charts, labels and sources stay editable and traceable.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195681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workflow synthesis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DATA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Native Chart Is Part of the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CSV and workbook retain definitions and formulas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Native PowerPoint object keeps labels and values editable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Action title states the supported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Arial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Source, period, unit and limitation travel with the chart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changed input can refresh the visual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named person verifies and releases the final slide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Screenshots break the update path and hide the calculation trail.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 template adapted to the message, not the other way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What is a template adapted to the message, not the other way around?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Template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a timeline, flowchart, roadmap, poster or comparison that matches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Editable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shapes, SmartArt, text, charts and brand elements as editable objects.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an approved palette, type hierarchy, logo and background deliberately.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every placeholder with verified data and source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Microsoft PowerPoint Infographic Maker, accessed 15 August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Template-to-Infographic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a template by relationship and output format.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all placeholders and inherited decorative elements.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the approved message, data and visuals.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Apply brand, grid, hierarchy and accessibility.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PPTX, PDF and image output.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Template Decoration vs Message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Decoration-led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Message-led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every template section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colours first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Paste data into available boxes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Flatten the final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Remove any section that does not earn space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 approved hierarchy and brand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chart or shape for the relationship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an editable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Template Audit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layout answer the audience question?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all placeholders replaced and all claims verified?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Hierarchy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the reading order obvious at thumbnail size?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palette, type, logo and tone approved?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contrast, labels and alt text adequate?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PPTX, PDF and JPG render as intended?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from Microsoft Infographic Maker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 wants a vertical five-stage sustainable-delivery journey for an employee town hall and social post.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Start from a Microsoft infographic-maker template or the supplied editable sample. Adapt it to the approved wireframe; do not let inherited placeholders define the 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An editable portrait template-based infographic in PPTX, PDF and 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from Microsoft Infographic 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Why does this template fit the question?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inherited element should be removed first?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must remain editable?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export format fits each channel?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from Microsoft Infographic Maker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result still match the approved wireframe?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another team member update the data without rebuilding the design?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final template-based infographic is message-led, branded, accessible, source-labelled and fully editable.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reusable visual grammar for process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What is a reusable visual grammar for process information?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Guides, margins, equal spacing and alignment create an invisible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Consistent containers and connectors reveal stages and relationships.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Icons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labelled symbols support recognition but never replace meaning.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SmartArt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Useful for lists, cycles, hierarchies and timelines when the structure fits.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Construct the Visual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 guides, margins and safe areas.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one stage component and duplicate it.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Insert one consistent icon family.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short headings and direct explanations.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Distribute, group and test the reading path.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Consistent System vs Mixed Decoration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shape family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icon style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 labels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Consistent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Mixed corner styles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Unrelated icon packs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Icons with no labels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Arrow characters inside paragraphs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Five-Stage Delivery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 confirmed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Inventory reserved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Route optimised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Low-emission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stage, one verb, one icon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a Shape, Icon and SmartArt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 needs an editable five-stage process infographic for store managers. The current draft mixes icons, connector styles and uneven spacing.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Rebuild the process with a reusable stage component, PowerPoint alignment tools and a consistent icon/SmartArt choice.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five-stage process infographic and reusable component library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35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a Shape, Icon and SmartArt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visual property signals sequence?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Where is direct labelling still required?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Would SmartArt clarify or constrain this design?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How will the system remain reusable?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a Shape, Icon and SmartArt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the process be scanned left to right in five seconds?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Are all objects aligned, grouped and editable?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process uses a consistent component system, real connectors, direct labels, purposeful whitespace and editable PowerPoint objects.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editable chart that makes the decision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What is an editable chart that makes the decision visible?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values that answer the business question and use consistent denominators.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Chart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Bar for comparison, line for time, scatter for relationship, composition only when part-to-whole matters.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Preserve units, timeframe, source and calculation logic.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Annotation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an action title, direct labels and one purposeful accent to reveal the takeaway.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Data-to-Decision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Define which products to promote and why.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data types, missing values and consistent periods.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 metric and chart based on the relationship.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or paste a native editable PowerPoint chart.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Write the action title, annotation and implication.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T3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Default Chart vs Decision Visual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Generic chart title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Legend far from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Rainbow series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source or 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Action title states the insight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 labels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accent highlights the decision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Source, period and unit are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T3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Product Promotion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Beverages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Highest revenue; stable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Ready meals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Fastest Q2 growth; above-floor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Snacks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 volume; lower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Household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Seasonal spike; higher returns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Revenue + growth + margin, not volume 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Ready Meals as the campaign hero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T3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Transform Excel Data into a Native PowerPoint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Northstar's marketing team must choose one product family for the next promotion. The supplied workbook contains monthly revenue, units, margin and returns for four categories.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Create an editable PowerPoint chart that combines the right metric with an explicit decision implication. Do not paste a screenshot-only chart.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native editable PowerPoint chart plus an annotated decision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T3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Transform Excel Data into a Native PowerPoint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metric answers the actual business question?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does the chart show that a table does not?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context or caveat belongs on the slide?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product should be tested and why?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T3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Transform Excel Data into a Native PowerPoint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the chart be updated from the workbook?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the title state the conclusion rather than the topic?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chart is native/editable, uses an appropriate form, retains source context and makes a proportionate product-promotion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an AI first draft converted into accountable PowerPoint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What is an AI first draft converted into accountable PowerPoint evidence?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Structured prompt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 audience, objective, approved data, infographic type, hierarchy, brand and output constraints.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Multiple options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 alternatives and compare them against one consistent brief.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facts, data, privacy, copyright, accessibility, brand and editability.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Controlled release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the final owner, source record, prompt log and editable master.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Microsoft AI Presentation Designer and Infographic Maker, accessed 15 August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Prompt, Generate, Verify, 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Specify role, audience, purpose, data and constraints.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Request two visual directions or a single-slide concept.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every claim, number and generated image.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weak layouts with editable native objects.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source, prompt, human changes and final owner.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T4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Suggestion vs Approved Infographic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first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Human-approved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invent labels or simplify context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use generic imagery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flatten critical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ignore brand and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Verified against the source workbook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Purposeful, licensed or generated visual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Editable chart and 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Approved brand, contrast, labels and alt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T4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fact and number matches the approved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personal or restricted data enters an unapproved service.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Rights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Images, icons, fonts and templates are permitted.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Reading order, contrast, labels and alt text are checked.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approved master, voice and assets are applied.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named human approves and remains accountable.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T4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Generate and Refine an AI-Assisted Infographic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 wants an executive one-slide infographic summarising the sustainable-delivery pilot. Copilot or AI Designer may generate a layout, section titles and supporting image ideas from the approved source pack.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Generate two options, compare them, then rebuild the selected direction into an editable, verified and accessible PowerPoint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Two AI layout options, one reviewed final infographic and a prompt/source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T4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Generate and Refine an AI-Assisted Infographic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must the prompt include to prevent a generic output?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data cannot be sent to an unapproved service?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must be rebuilt as native PowerPoint objects?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Who signs off the final infographic?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T4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Generate and Refine an AI-Assisted Infographic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AI accelerate options without becoming the source of truth?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Is the final result independently editable and auditable?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final slide records the prompt, sources and human changes; all claims are verified and the decision evidence remains editable.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Create Infographics in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Build from Microsoft Infographic Maker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adapt a Microsoft infographic template while preserving hierarchy, editability, brand and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Create a Shape, Icon and SmartArt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build an editable process infographic using alignment, consistent shapes, icons, type and SmartArt.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 Excel Data into a Native PowerPoint Story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select metrics, create a native editable chart and annotate the decision insight with source context.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 and Refine an AI-Assisted Infographic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use Copilot or AI Designer to generate options and apply a human review gate before release.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LU2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fastest workflow keeps the message editable.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templates and AI for options; keep data, charts, labels and decisions under human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Review Infographics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Story · Context · Simplicity · Coaching · Budget · Effectiveness ·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Review Infographics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review separates message clarity, data integrity, visual hierarchy, accessibility, audience fit and business usefulness.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Coaching uses specific observations, questions and criteria rather than taste-based comments such as 'make it pop'.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Tool investment is evaluated through capability, licence, learning, production, governance, collaboration and maintenance costs.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Improvement is evidence-led: gather feedback, prioritise changes, revise the controlled master and retest the intended outcome.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Six Dimensions of Infographic Effectiveness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professional review connects design decisions to audience and business outcomes.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audience can state the message and action without trainer explanation.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Data, scale, context, source and uncertainty are accurate and visible.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reading order guides attention to evidence and implication.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Accessibility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Contrast, text size, labels, alt text and non-colour cues support access.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visual earns attention without chart junk or decorative distraction.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928616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5956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Business 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956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supports the stated decision, channel, resources and governance.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 and Don't: Review the Story, Not Just the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legacy deck's core dos and don'ts remain valid and are now tied to review criteria.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Don't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Rely on iconography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icons with direct labels and explanatory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chart junk, 3-D effects or unnecessary elements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graphical elements simple and purposeful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a number without comparison, unit or 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 scale, timeframe, denominator and implication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Present isolated facts in template 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narrative that leads from question to evidence to 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Include every available piece of information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Curate the minimum evidence needed for the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Evidence-Led Improvement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 audience outcome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Diagnose six dimensions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Prioritise by impact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and revise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Retest and approve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revision is complete only when the controlled master, evidence and acceptance check are updated together.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RESOURCE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Tool Investment: Beyond the Licence Fee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Subscription, add-ons and user 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Training, templates and adoption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Production and collaboration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Data, brand, accessibility and legal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MAINTAIN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Updates, asset libraries and controlled masters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0B981"/>
                </a:solidFill>
                <a:latin typeface="Arial"/>
              </a:rPr>
              <a:t>REWORK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Errors, lock-in, export failures and continuity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lowest monthly price may create the highest total resource cost.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coaching that turns observation into an actionable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What is coaching that turns observation into an actionable improvement?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Describe what the reader sees or experiences without judging intent.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which audience, message, decision or constraint drove the choice.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the issue to a principle or observed outcome.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Suggest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 one testable change and define what better looks like.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Observe, Ask, Explain, Suggest, Confirm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Name the visible issue specifically.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the designer's goal and constraints.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Link to hierarchy, integrity, access or audience fit.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Suggest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Propose one prioritised change.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Agree the revision and acceptance check.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Taste Comment vs Coaching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Criteria-based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it pop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 don't like the colours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Add more icons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feels boring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title labels a topic but does not state the insight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Body text falls below the agreed size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Three icon styles disrupt the visual grammar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accent does not guide attention to the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Review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Message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the audience state the takeaway?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claims accurate, contextualised and sourced?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Hierarchy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the reading order obvious?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contrast, labels, text size and alt text adequate?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evidence and action connect logically?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output match the audience and channel?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ROLE 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Each learner presents one infographic from Activities 3–6 to two peers. The group must distinguish aesthetic preference from evidence-based review.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Capture two observations, two strengths, two improvements and one agreed revision. Then revise the master and record the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completed peer-review log, revised infographic and short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ASSIGN THE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 the intended audience and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Listen without defending every choice; ask for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672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672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give criteria-based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observations, questions and one prioritised suggestion.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Audience representative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36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936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comprehension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what you understood, what confused you and what action you would take.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did the audience understand first?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issue has the greatest decision impact?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feedback is evidence-based rather than taste?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How will the change be tested?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Was the feedback specific and respectful?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revision improve the intended outcome rather than merely change the style?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review log contains observed evidence, a principle-based diagnosis, one prioritised change, a named owner and an acceptance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 tool and resource decision tied to business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What is a tool and resource decision tied to business outcomes?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Templates, native charts, AI generation, brand control, collaboration and export.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Licence, learning, production time, governance, maintenance and rework.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Clarity, comprehension, engagement, action, accuracy and accessibility.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handling, rights, lock-in, editability, continuity and auditability.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Investment Decision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Define outputs, volume, users and business outcomes.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Score capability, cost, workflow and risk.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the same brief in shortlisted workflows.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Collect quality, time, adoption and outcome evidence.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Recommend tools, budget, controls and review date.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Low Price vs Low Total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Licence-only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Total-resource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Monthly fee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Template count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AI generation speed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Headline export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Licence + learning + review + maintenance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Brand and accessibility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Editability and collaboration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Governance, continuity and rework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Tool Investment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Message and data effectiveness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20%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Editability and workflow 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Brand and accessibility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Privacy, rights and governance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Total resource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option passes with unverified data or public answer-key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synthetic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Budget and Effectiveness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Northstar can fund one standard workflow for 12 staff. Options include PowerPoint templates only, PowerPoint with Copilot, or a mixed workflow using external design tools plus PowerPoint for final production.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the supplied budget workbook and effectiveness evidence to recommend a 12-month tool, training and governance plan aligned with business outcomes.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weighted tool-investment scorecard and one-page resource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Budget and Effectiveness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business outcomes define effectiveness?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hidden resource costs could reverse the decision?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risks are hard gates rather than weighted preferences?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When should the investment be reviewed?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Budget and Effectiveness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the recommendation distinguish price from total cost?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Are effectiveness criteria linked to observed business outcomes?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recommendation names the preferred workflow, budget, ownership, governance controls, success metrics and review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Review Infographics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give specific criteria-based feedback and revise an infographic to improve clarity, story and accessibility.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 and Effectiveness 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infographic-tool investment options and recommend a resource plan using effectiveness and governance criteria.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beautiful visual can still fail the business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Review clarity, accuracy, accessibility, engagement, resource fit and the action the audience can 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PowerPoint Infographic Maker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powerpoint.cloud.microsoft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AI Presentation Designer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powerpoint.cloud.microsoft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Add or remove chart titles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Add alternative 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Make presentations accessible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Change slide size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Align or arrange objects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Insert icons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Use charts and graphs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Support: SmartArt graphics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support.microsoft.com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W3C: Understanding Success Criterion 1.4.3 Contrast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w3.org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Datawrapper Academy: What to consider when creating charts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academy.datawrapper.de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CLEAR Infographic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87817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A9B8CA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87817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187817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the audience, business question, desired action and success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6313" y="1828800"/>
            <a:ext cx="187817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A9B8CA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6313" y="2697480"/>
            <a:ext cx="187817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6313" y="3401568"/>
            <a:ext cx="187817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trustworthy data, metrics and an infographic form that reveals the relationship.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5386" y="1828800"/>
            <a:ext cx="187817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A9B8CA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5386" y="2697480"/>
            <a:ext cx="187817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5386" y="3401568"/>
            <a:ext cx="187817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an editable PowerPoint hierarchy with purposeful type, colour, shapes, icons and charts.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459" y="1828800"/>
            <a:ext cx="187817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A9B8CA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4459" y="2697480"/>
            <a:ext cx="187817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4459" y="3401568"/>
            <a:ext cx="187817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accuracy, context, accessibility, AI provenance, brand fit and resource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3532" y="1828800"/>
            <a:ext cx="187817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A9B8CA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3532" y="2697480"/>
            <a:ext cx="187817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3532" y="3401568"/>
            <a:ext cx="187817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Export the correct PPTX, PDF or image and retain the source, review record and ownership.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Clarify the question, link the evidence, edit the visual hierarchy, audit the truth and release the right format.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Draw Insights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Converted visual patterns into contextualised, defensible recommendations.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in PowerPoint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Built editable template, shape, SmartArt, chart and AI-assisted infographics.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Used peer evidence, resource criteria and governance to improve and invest.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(WA-SAQ)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Nine open-ended questions — 30 minutes, open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Three progressive tasks — 30 minutes, open 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LMS — 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WA-SAQ then Practical Performance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equipped to plan, create and review decision-useful PowerPoint infographics with AI assistance and human judgement.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Infographics and Data Visualization with PowerPoint  ·  TGS-2024048310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