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9" name="TextBox 8"/>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10" name="TextBox 9"/>
          <p:cNvSpPr txBox="1"/>
          <p:nvPr/>
        </p:nvSpPr>
        <p:spPr>
          <a:xfrm>
            <a:off x="822960" y="1920240"/>
            <a:ext cx="539496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423160"/>
            <a:ext cx="5303520" cy="1828800"/>
          </a:xfrm>
          <a:prstGeom prst="rect">
            <a:avLst/>
          </a:prstGeom>
          <a:noFill/>
        </p:spPr>
        <p:txBody>
          <a:bodyPr wrap="square" anchor="t">
            <a:spAutoFit/>
          </a:bodyPr>
          <a:lstStyle/>
          <a:p>
            <a:pPr algn="l">
              <a:spcAft>
                <a:spcPts val="400"/>
              </a:spcAft>
            </a:pPr>
            <a:r>
              <a:rPr sz="3200" b="1">
                <a:solidFill>
                  <a:srgbClr val="161B26"/>
                </a:solidFill>
                <a:latin typeface="Arial"/>
              </a:rPr>
              <a:t>Infographics and Data Visualization with PowerPoint</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54864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TGS-2026064178</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806440"/>
            <a:ext cx="54864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v12.0  ·  16 August 2026</a:t>
            </a:r>
          </a:p>
        </p:txBody>
      </p:sp>
      <p:sp>
        <p:nvSpPr>
          <p:cNvPr id="15" name="TextBox 14"/>
          <p:cNvSpPr txBox="1"/>
          <p:nvPr/>
        </p:nvSpPr>
        <p:spPr>
          <a:xfrm>
            <a:off x="822960" y="6236208"/>
            <a:ext cx="6400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PowerPoint, data visualisation, generative AI and workplace productivity.</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PowerPoint, charts or infographics (if any).</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visual communication habit you want to improve during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Infographics and Data Visualisation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TOU-DAT-4004-1.1-1</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Skills Framework for Tourism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3 Learning Units aligned to the 3 approved Learning Outcomes.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3 LEARNING UNITS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Introduction to Infographics</a:t>
            </a:r>
          </a:p>
          <a:p>
            <a:pPr algn="l">
              <a:spcAft>
                <a:spcPts val="300"/>
              </a:spcAft>
            </a:pPr>
            <a:r>
              <a:rPr sz="1200" b="0">
                <a:solidFill>
                  <a:srgbClr val="5B6372"/>
                </a:solidFill>
                <a:latin typeface="Arial"/>
              </a:rPr>
              <a:t>Purpose · Types · Audience · Metrics · Planning · Insight extraction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Create Infographics in PowerPoint</a:t>
            </a:r>
          </a:p>
          <a:p>
            <a:pPr algn="l">
              <a:spcAft>
                <a:spcPts val="300"/>
              </a:spcAft>
            </a:pPr>
            <a:r>
              <a:rPr sz="1200" b="0">
                <a:solidFill>
                  <a:srgbClr val="5B6372"/>
                </a:solidFill>
                <a:latin typeface="Arial"/>
              </a:rPr>
              <a:t>Slide size · Grid · Shapes · Icons · Type · Colour · SmartArt · Charts · AI</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Review Infographics</a:t>
            </a:r>
          </a:p>
          <a:p>
            <a:pPr algn="l">
              <a:spcAft>
                <a:spcPts val="300"/>
              </a:spcAft>
            </a:pPr>
            <a:r>
              <a:rPr sz="1200" b="0">
                <a:solidFill>
                  <a:srgbClr val="5B6372"/>
                </a:solidFill>
                <a:latin typeface="Arial"/>
              </a:rPr>
              <a:t>Story · Context · Simplicity · Coaching · Budget · Effectiveness · Improvement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1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&amp; Assessment</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Plan and interpret</a:t>
            </a:r>
          </a:p>
          <a:p>
            <a:pPr>
              <a:spcAft>
                <a:spcPts val="1000"/>
              </a:spcAft>
            </a:pPr>
            <a:r>
              <a:rPr sz="1400" b="0">
                <a:solidFill>
                  <a:srgbClr val="5B6372"/>
                </a:solidFill>
                <a:latin typeface="Arial"/>
              </a:rPr>
              <a:t>–  9:30am admin, outcomes and assessment briefing</a:t>
            </a:r>
          </a:p>
          <a:p>
            <a:pPr>
              <a:spcAft>
                <a:spcPts val="1000"/>
              </a:spcAft>
            </a:pPr>
            <a:r>
              <a:rPr sz="1400" b="0">
                <a:solidFill>
                  <a:srgbClr val="5B6372"/>
                </a:solidFill>
                <a:latin typeface="Arial"/>
              </a:rPr>
              <a:t>–  LU1: AI-assisted data cleanup, insight extraction and prompt briefing (Activities 1–2)</a:t>
            </a:r>
          </a:p>
          <a:p>
            <a:pPr>
              <a:spcAft>
                <a:spcPts val="1000"/>
              </a:spcAft>
            </a:pPr>
            <a:r>
              <a:rPr sz="1400" b="0">
                <a:solidFill>
                  <a:srgbClr val="5B6372"/>
                </a:solidFill>
                <a:latin typeface="Arial"/>
              </a:rPr>
              <a:t>–  LU2 begins: Microsoft infographic maker and PowerPoint refinement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Create, review and assess</a:t>
            </a:r>
          </a:p>
          <a:p>
            <a:pPr>
              <a:spcAft>
                <a:spcPts val="1000"/>
              </a:spcAft>
            </a:pPr>
            <a:r>
              <a:rPr sz="1400" b="0">
                <a:solidFill>
                  <a:srgbClr val="5B6372"/>
                </a:solidFill>
                <a:latin typeface="Arial"/>
              </a:rPr>
              <a:t>–  LU2: Copilot, text-to-image assets, AI analysis, Gemini Notebook-to-PPTX and PowerPoint refinement (Activities 3–6)</a:t>
            </a:r>
          </a:p>
          <a:p>
            <a:pPr>
              <a:spcAft>
                <a:spcPts val="1000"/>
              </a:spcAft>
            </a:pPr>
            <a:r>
              <a:rPr sz="1400" b="0">
                <a:solidFill>
                  <a:srgbClr val="5B6372"/>
                </a:solidFill>
                <a:latin typeface="Arial"/>
              </a:rPr>
              <a:t>–  LU3: peer coaching, budget and effectiveness (Activities 7–8)</a:t>
            </a:r>
          </a:p>
          <a:p>
            <a:pPr>
              <a:spcAft>
                <a:spcPts val="1000"/>
              </a:spcAft>
            </a:pPr>
            <a:r>
              <a:rPr sz="1400" b="0">
                <a:solidFill>
                  <a:srgbClr val="5B6372"/>
                </a:solidFill>
                <a:latin typeface="Arial"/>
              </a:rPr>
              <a:t>–  Assessment: WA-SAQ 30 min + PP 30 min, 5:30–6:30pm</a:t>
            </a:r>
          </a:p>
          <a:p>
            <a:pPr>
              <a:spcAft>
                <a:spcPts val="1000"/>
              </a:spcAft>
            </a:pPr>
            <a:r>
              <a:rPr sz="1600" b="0">
                <a:solidFill>
                  <a:srgbClr val="161B26"/>
                </a:solidFill>
                <a:latin typeface="Arial"/>
              </a:rPr>
              <a:t>•  Timing</a:t>
            </a:r>
          </a:p>
          <a:p>
            <a:pPr>
              <a:spcAft>
                <a:spcPts val="1000"/>
              </a:spcAft>
            </a:pPr>
            <a:r>
              <a:rPr sz="1400" b="0">
                <a:solidFill>
                  <a:srgbClr val="5B6372"/>
                </a:solidFill>
                <a:latin typeface="Arial"/>
              </a:rPr>
              <a:t>–  9:30am–6:30pm · 60-minute lunch · 10-minute breaks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Interpret infographic evidence and make proportionate data-driven decisions.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 with AI, then verify and refine editable evidence in PowerPoint.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Review audience outcomes, resource fit, governance and improvement priorities.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9" name="TextBox 8"/>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0" name="Rectangle 9"/>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4" name="TextBox 13"/>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5" name="Rectangle 14"/>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19" name="TextBox 18"/>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0" name="Rectangle 19"/>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4" name="TextBox 23"/>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5" name="Rectangle 24"/>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29" name="TextBox 28"/>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0" name="Rectangle 29"/>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4" name="TextBox 33"/>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(WA-SAQ) — nine open-ended questions, 30 minutes, open book.</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Practical Performance (PP) — three progressive tasks, 30 minutes, open book.</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is required. Learners must be assessed as Competent and complete the required digital attendance and TRAQOM steps.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7" name="Rectangle 6"/>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9" name="TextBox 8"/>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0" name="TextBox 9"/>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1" name="Rectangle 10"/>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3" name="TextBox 12"/>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4" name="Rectangle 13"/>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8" name="TextBox 17"/>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19" name="Rectangle 18"/>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4" name="Rectangle 23"/>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8" name="TextBox 27"/>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Practical Performance answers on the LMS.</a:t>
            </a:r>
          </a:p>
        </p:txBody>
      </p:sp>
      <p:sp>
        <p:nvSpPr>
          <p:cNvPr id="29" name="Rectangle 28"/>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3" name="TextBox 32"/>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4" name="Rectangle 33"/>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PRACTICE EXAM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Practice Before Assessment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practice portal to rehearse the assessment experience before the graded attempt.</a:t>
            </a:r>
          </a:p>
        </p:txBody>
      </p:sp>
      <p:sp>
        <p:nvSpPr>
          <p:cNvPr id="7" name="Rectangle 6"/>
          <p:cNvSpPr/>
          <p:nvPr/>
        </p:nvSpPr>
        <p:spPr>
          <a:xfrm>
            <a:off x="777240" y="1965960"/>
            <a:ext cx="3794760" cy="347472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3154680" cy="365760"/>
          </a:xfrm>
          <a:prstGeom prst="rect">
            <a:avLst/>
          </a:prstGeom>
          <a:noFill/>
        </p:spPr>
        <p:txBody>
          <a:bodyPr wrap="square" anchor="t">
            <a:spAutoFit/>
          </a:bodyPr>
          <a:lstStyle/>
          <a:p>
            <a:pPr algn="ctr">
              <a:spcAft>
                <a:spcPts val="400"/>
              </a:spcAft>
            </a:pPr>
            <a:r>
              <a:rPr sz="1200" b="1">
                <a:solidFill>
                  <a:srgbClr val="9CDCFE"/>
                </a:solidFill>
                <a:latin typeface="Arial"/>
              </a:rPr>
              <a:t>PRACTICE PORTAL</a:t>
            </a:r>
          </a:p>
        </p:txBody>
      </p:sp>
      <p:sp>
        <p:nvSpPr>
          <p:cNvPr id="9" name="Oval 8"/>
          <p:cNvSpPr/>
          <p:nvPr/>
        </p:nvSpPr>
        <p:spPr>
          <a:xfrm>
            <a:off x="2039112" y="2880360"/>
            <a:ext cx="1234440" cy="1234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39112" y="2880360"/>
            <a:ext cx="1234440" cy="1234440"/>
          </a:xfrm>
          <a:prstGeom prst="rect">
            <a:avLst/>
          </a:prstGeom>
          <a:noFill/>
        </p:spPr>
        <p:txBody>
          <a:bodyPr wrap="square" anchor="ctr">
            <a:spAutoFit/>
          </a:bodyPr>
          <a:lstStyle/>
          <a:p>
            <a:pPr algn="ctr">
              <a:spcAft>
                <a:spcPts val="400"/>
              </a:spcAft>
            </a:pPr>
            <a:r>
              <a:rPr sz="3800" b="1">
                <a:solidFill>
                  <a:srgbClr val="FFFFFF"/>
                </a:solidFill>
                <a:latin typeface="Arial"/>
              </a:rPr>
              <a:t>✓</a:t>
            </a:r>
          </a:p>
        </p:txBody>
      </p:sp>
      <p:sp>
        <p:nvSpPr>
          <p:cNvPr id="11" name="TextBox 10"/>
          <p:cNvSpPr txBox="1"/>
          <p:nvPr/>
        </p:nvSpPr>
        <p:spPr>
          <a:xfrm>
            <a:off x="1051560" y="4389120"/>
            <a:ext cx="3246120" cy="457200"/>
          </a:xfrm>
          <a:prstGeom prst="rect">
            <a:avLst/>
          </a:prstGeom>
          <a:noFill/>
        </p:spPr>
        <p:txBody>
          <a:bodyPr wrap="square" anchor="t">
            <a:spAutoFit/>
          </a:bodyPr>
          <a:lstStyle/>
          <a:p>
            <a:pPr algn="ctr">
              <a:spcAft>
                <a:spcPts val="400"/>
              </a:spcAft>
            </a:pPr>
            <a:r>
              <a:rPr sz="1500" b="1">
                <a:solidFill>
                  <a:srgbClr val="FFFFFF"/>
                </a:solidFill>
                <a:latin typeface="Arial"/>
              </a:rPr>
              <a:t>TGS-2026064178</a:t>
            </a:r>
          </a:p>
        </p:txBody>
      </p:sp>
      <p:sp>
        <p:nvSpPr>
          <p:cNvPr id="12" name="Rectangle 11"/>
          <p:cNvSpPr/>
          <p:nvPr/>
        </p:nvSpPr>
        <p:spPr>
          <a:xfrm>
            <a:off x="4892040" y="1965960"/>
            <a:ext cx="651967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92040" y="196596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60" y="2039112"/>
            <a:ext cx="6016752" cy="256032"/>
          </a:xfrm>
          <a:prstGeom prst="rect">
            <a:avLst/>
          </a:prstGeom>
          <a:noFill/>
        </p:spPr>
        <p:txBody>
          <a:bodyPr wrap="square" anchor="t">
            <a:spAutoFit/>
          </a:bodyPr>
          <a:lstStyle/>
          <a:p>
            <a:pPr algn="l">
              <a:spcAft>
                <a:spcPts val="400"/>
              </a:spcAft>
            </a:pPr>
            <a:r>
              <a:rPr sz="1300" b="1">
                <a:solidFill>
                  <a:srgbClr val="1F6FEB"/>
                </a:solidFill>
                <a:latin typeface="Arial"/>
              </a:rPr>
              <a:t>Open the portal</a:t>
            </a:r>
          </a:p>
        </p:txBody>
      </p:sp>
      <p:sp>
        <p:nvSpPr>
          <p:cNvPr id="15" name="TextBox 14"/>
          <p:cNvSpPr txBox="1"/>
          <p:nvPr/>
        </p:nvSpPr>
        <p:spPr>
          <a:xfrm>
            <a:off x="5166360" y="2322576"/>
            <a:ext cx="6016752" cy="310896"/>
          </a:xfrm>
          <a:prstGeom prst="rect">
            <a:avLst/>
          </a:prstGeom>
          <a:noFill/>
        </p:spPr>
        <p:txBody>
          <a:bodyPr wrap="square" anchor="t">
            <a:spAutoFit/>
          </a:bodyPr>
          <a:lstStyle/>
          <a:p>
            <a:pPr algn="l">
              <a:spcAft>
                <a:spcPts val="400"/>
              </a:spcAft>
            </a:pPr>
            <a:r>
              <a:rPr sz="1050" b="0">
                <a:solidFill>
                  <a:srgbClr val="161B26"/>
                </a:solidFill>
                <a:latin typeface="Arial"/>
              </a:rPr>
              <a:t>Use the link below and locate the matching course code.</a:t>
            </a:r>
          </a:p>
        </p:txBody>
      </p:sp>
      <p:sp>
        <p:nvSpPr>
          <p:cNvPr id="16" name="Rectangle 15"/>
          <p:cNvSpPr/>
          <p:nvPr/>
        </p:nvSpPr>
        <p:spPr>
          <a:xfrm>
            <a:off x="4892040" y="2871216"/>
            <a:ext cx="651967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92040" y="2871216"/>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2944368"/>
            <a:ext cx="6016752" cy="256032"/>
          </a:xfrm>
          <a:prstGeom prst="rect">
            <a:avLst/>
          </a:prstGeom>
          <a:noFill/>
        </p:spPr>
        <p:txBody>
          <a:bodyPr wrap="square" anchor="t">
            <a:spAutoFit/>
          </a:bodyPr>
          <a:lstStyle/>
          <a:p>
            <a:pPr algn="l">
              <a:spcAft>
                <a:spcPts val="400"/>
              </a:spcAft>
            </a:pPr>
            <a:r>
              <a:rPr sz="1300" b="1">
                <a:solidFill>
                  <a:srgbClr val="10B981"/>
                </a:solidFill>
                <a:latin typeface="Arial"/>
              </a:rPr>
              <a:t>Rehearse the format</a:t>
            </a:r>
          </a:p>
        </p:txBody>
      </p:sp>
      <p:sp>
        <p:nvSpPr>
          <p:cNvPr id="19" name="TextBox 18"/>
          <p:cNvSpPr txBox="1"/>
          <p:nvPr/>
        </p:nvSpPr>
        <p:spPr>
          <a:xfrm>
            <a:off x="5166360" y="3227832"/>
            <a:ext cx="6016752" cy="310896"/>
          </a:xfrm>
          <a:prstGeom prst="rect">
            <a:avLst/>
          </a:prstGeom>
          <a:noFill/>
        </p:spPr>
        <p:txBody>
          <a:bodyPr wrap="square" anchor="t">
            <a:spAutoFit/>
          </a:bodyPr>
          <a:lstStyle/>
          <a:p>
            <a:pPr algn="l">
              <a:spcAft>
                <a:spcPts val="400"/>
              </a:spcAft>
            </a:pPr>
            <a:r>
              <a:rPr sz="1050" b="0">
                <a:solidFill>
                  <a:srgbClr val="161B26"/>
                </a:solidFill>
                <a:latin typeface="Arial"/>
              </a:rPr>
              <a:t>Practise answering within the stated time and evidence requirements.</a:t>
            </a:r>
          </a:p>
        </p:txBody>
      </p:sp>
      <p:sp>
        <p:nvSpPr>
          <p:cNvPr id="20" name="Rectangle 19"/>
          <p:cNvSpPr/>
          <p:nvPr/>
        </p:nvSpPr>
        <p:spPr>
          <a:xfrm>
            <a:off x="4892040" y="3776472"/>
            <a:ext cx="651967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92040" y="3776472"/>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3849624"/>
            <a:ext cx="6016752" cy="256032"/>
          </a:xfrm>
          <a:prstGeom prst="rect">
            <a:avLst/>
          </a:prstGeom>
          <a:noFill/>
        </p:spPr>
        <p:txBody>
          <a:bodyPr wrap="square" anchor="t">
            <a:spAutoFit/>
          </a:bodyPr>
          <a:lstStyle/>
          <a:p>
            <a:pPr algn="l">
              <a:spcAft>
                <a:spcPts val="400"/>
              </a:spcAft>
            </a:pPr>
            <a:r>
              <a:rPr sz="1300" b="1">
                <a:solidFill>
                  <a:srgbClr val="7C3AED"/>
                </a:solidFill>
                <a:latin typeface="Arial"/>
              </a:rPr>
              <a:t>Review—not memorise</a:t>
            </a:r>
          </a:p>
        </p:txBody>
      </p:sp>
      <p:sp>
        <p:nvSpPr>
          <p:cNvPr id="23" name="TextBox 22"/>
          <p:cNvSpPr txBox="1"/>
          <p:nvPr/>
        </p:nvSpPr>
        <p:spPr>
          <a:xfrm>
            <a:off x="5166360" y="4133088"/>
            <a:ext cx="6016752" cy="310896"/>
          </a:xfrm>
          <a:prstGeom prst="rect">
            <a:avLst/>
          </a:prstGeom>
          <a:noFill/>
        </p:spPr>
        <p:txBody>
          <a:bodyPr wrap="square" anchor="t">
            <a:spAutoFit/>
          </a:bodyPr>
          <a:lstStyle/>
          <a:p>
            <a:pPr algn="l">
              <a:spcAft>
                <a:spcPts val="400"/>
              </a:spcAft>
            </a:pPr>
            <a:r>
              <a:rPr sz="1050" b="0">
                <a:solidFill>
                  <a:srgbClr val="161B26"/>
                </a:solidFill>
                <a:latin typeface="Arial"/>
              </a:rPr>
              <a:t>Use the feedback to locate gaps in reasoning, evidence and communication.</a:t>
            </a:r>
          </a:p>
        </p:txBody>
      </p:sp>
      <p:sp>
        <p:nvSpPr>
          <p:cNvPr id="24" name="Rectangle 23"/>
          <p:cNvSpPr/>
          <p:nvPr/>
        </p:nvSpPr>
        <p:spPr>
          <a:xfrm>
            <a:off x="4892040" y="4681728"/>
            <a:ext cx="651967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92040" y="4681728"/>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66360" y="4754880"/>
            <a:ext cx="6016752" cy="256032"/>
          </a:xfrm>
          <a:prstGeom prst="rect">
            <a:avLst/>
          </a:prstGeom>
          <a:noFill/>
        </p:spPr>
        <p:txBody>
          <a:bodyPr wrap="square" anchor="t">
            <a:spAutoFit/>
          </a:bodyPr>
          <a:lstStyle/>
          <a:p>
            <a:pPr algn="l">
              <a:spcAft>
                <a:spcPts val="400"/>
              </a:spcAft>
            </a:pPr>
            <a:r>
              <a:rPr sz="1300" b="1">
                <a:solidFill>
                  <a:srgbClr val="F59E0B"/>
                </a:solidFill>
                <a:latin typeface="Arial"/>
              </a:rPr>
              <a:t>Keep the assessment fair</a:t>
            </a:r>
          </a:p>
        </p:txBody>
      </p:sp>
      <p:sp>
        <p:nvSpPr>
          <p:cNvPr id="27" name="TextBox 26"/>
          <p:cNvSpPr txBox="1"/>
          <p:nvPr/>
        </p:nvSpPr>
        <p:spPr>
          <a:xfrm>
            <a:off x="5166360" y="5038344"/>
            <a:ext cx="6016752" cy="310896"/>
          </a:xfrm>
          <a:prstGeom prst="rect">
            <a:avLst/>
          </a:prstGeom>
          <a:noFill/>
        </p:spPr>
        <p:txBody>
          <a:bodyPr wrap="square" anchor="t">
            <a:spAutoFit/>
          </a:bodyPr>
          <a:lstStyle/>
          <a:p>
            <a:pPr algn="l">
              <a:spcAft>
                <a:spcPts val="400"/>
              </a:spcAft>
            </a:pPr>
            <a:r>
              <a:rPr sz="1050" b="0">
                <a:solidFill>
                  <a:srgbClr val="161B26"/>
                </a:solidFill>
                <a:latin typeface="Arial"/>
              </a:rPr>
              <a:t>Practice content supports preparation; the graded paper remains confidential.</a:t>
            </a:r>
          </a:p>
        </p:txBody>
      </p:sp>
      <p:sp>
        <p:nvSpPr>
          <p:cNvPr id="28" name="Rectangle 27"/>
          <p:cNvSpPr/>
          <p:nvPr/>
        </p:nvSpPr>
        <p:spPr>
          <a:xfrm>
            <a:off x="777240" y="571500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71500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715000"/>
            <a:ext cx="10058400" cy="530352"/>
          </a:xfrm>
          <a:prstGeom prst="rect">
            <a:avLst/>
          </a:prstGeom>
          <a:noFill/>
        </p:spPr>
        <p:txBody>
          <a:bodyPr wrap="square" anchor="ctr">
            <a:spAutoFit/>
          </a:bodyPr>
          <a:lstStyle/>
          <a:p>
            <a:pPr algn="l">
              <a:spcAft>
                <a:spcPts val="400"/>
              </a:spcAft>
            </a:pPr>
            <a:r>
              <a:rPr sz="1400" b="1">
                <a:solidFill>
                  <a:srgbClr val="161B26"/>
                </a:solidFill>
                <a:latin typeface="Arial"/>
                <a:hlinkClick r:id="rId2"/>
              </a:rPr>
              <a:t>https://exams.tertiaryinfotech.com/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Infographics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Purpose · Types · Audience · Metrics · Planning · Insight extraction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push dir="l"/>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Introduction to Infographics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infographic combines concise text, data, shapes, colour, charts and icons to reveal information and relationships.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Chronology, timeline, process, comparison, statistical, mind-map, numerical and hierarchical formats answer different questions.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AI-first workflow gathers approved sources, cleans and analyses data, extracts candidate insights, then routes verified evidence into visual generation.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Insight extraction distinguishes what the chart shows, what it means, why it matters and what action is justified.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zoom/>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AI-First Workflow — From Sources to Verified Insights</a:t>
            </a:r>
          </a:p>
        </p:txBody>
      </p:sp>
      <p:sp>
        <p:nvSpPr>
          <p:cNvPr id="6" name="Rectangle 5"/>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Approved files, URLs, transcripts and datasets; record origin and access date.</a:t>
            </a:r>
          </a:p>
        </p:txBody>
      </p:sp>
      <p:sp>
        <p:nvSpPr>
          <p:cNvPr id="12" name="Chevron 11"/>
          <p:cNvSpPr/>
          <p:nvPr/>
        </p:nvSpPr>
        <p:spPr>
          <a:xfrm>
            <a:off x="3248406"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32454"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632454"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Remove duplicates, standardise units and labels, identify missing values and retain the raw source.</a:t>
            </a:r>
          </a:p>
        </p:txBody>
      </p:sp>
      <p:sp>
        <p:nvSpPr>
          <p:cNvPr id="19" name="Chevron 18"/>
          <p:cNvSpPr/>
          <p:nvPr/>
        </p:nvSpPr>
        <p:spPr>
          <a:xfrm>
            <a:off x="5975604"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6359652"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6359652"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Ask AI for patterns, exceptions and comparisons, then reproduce critical calculations in Excel.</a:t>
            </a:r>
          </a:p>
        </p:txBody>
      </p:sp>
      <p:sp>
        <p:nvSpPr>
          <p:cNvPr id="26" name="Chevron 25"/>
          <p:cNvSpPr/>
          <p:nvPr/>
        </p:nvSpPr>
        <p:spPr>
          <a:xfrm>
            <a:off x="8702802"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9086850"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2" name="TextBox 31"/>
          <p:cNvSpPr txBox="1"/>
          <p:nvPr/>
        </p:nvSpPr>
        <p:spPr>
          <a:xfrm>
            <a:off x="9086850"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citations, caveats and forbidden claims.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may propose patterns and transformations; keep raw sources and reproduce decision-critical calculations before visual generation.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AI-First Workflow — From Generation to Accountable PowerPoint</a:t>
            </a:r>
          </a:p>
        </p:txBody>
      </p:sp>
      <p:sp>
        <p:nvSpPr>
          <p:cNvPr id="6" name="Rectangle 5"/>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29028"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1" name="TextBox 10"/>
          <p:cNvSpPr txBox="1"/>
          <p:nvPr/>
        </p:nvSpPr>
        <p:spPr>
          <a:xfrm>
            <a:off x="905256"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Create infographic or slide-deck options from the verified brief and source pack.</a:t>
            </a:r>
          </a:p>
        </p:txBody>
      </p:sp>
      <p:sp>
        <p:nvSpPr>
          <p:cNvPr id="12" name="Chevron 11"/>
          <p:cNvSpPr/>
          <p:nvPr/>
        </p:nvSpPr>
        <p:spPr>
          <a:xfrm>
            <a:off x="415747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5292"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4541520"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PowerPoint</a:t>
            </a:r>
          </a:p>
        </p:txBody>
      </p:sp>
      <p:sp>
        <p:nvSpPr>
          <p:cNvPr id="18" name="TextBox 17"/>
          <p:cNvSpPr txBox="1"/>
          <p:nvPr/>
        </p:nvSpPr>
        <p:spPr>
          <a:xfrm>
            <a:off x="4541520"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Download or rebuild in PPTX; restore editability, charts, source labels, brand and accessibility.</a:t>
            </a:r>
          </a:p>
        </p:txBody>
      </p:sp>
      <p:sp>
        <p:nvSpPr>
          <p:cNvPr id="19" name="Chevron 18"/>
          <p:cNvSpPr/>
          <p:nvPr/>
        </p:nvSpPr>
        <p:spPr>
          <a:xfrm>
            <a:off x="779373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1556"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8177784"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25" name="TextBox 24"/>
          <p:cNvSpPr txBox="1"/>
          <p:nvPr/>
        </p:nvSpPr>
        <p:spPr>
          <a:xfrm>
            <a:off x="8177784"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Compare every claim to source, record prompts and human changes, approve and export.</a:t>
            </a:r>
          </a:p>
        </p:txBody>
      </p:sp>
      <p:sp>
        <p:nvSpPr>
          <p:cNvPr id="26" name="Rectangle 2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Do not manually draw a full infographic from scratch when approved AI can create the first direction; use PowerPoint for editability, accuracy, brand and release control.</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VISUAL DATA STORYTELLING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Infographics Work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An effective infographic reduces friction between evidence and understanding.</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Attention</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Visual hierarchy helps the audience locate the important message quickly.</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Compression</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Words, data and relationships are combined into a scannable structure.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Comparison</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Position, length, order and colour make differences and patterns visible.</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Memory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 coherent visual story gives the audience meaningful anchors for recall.</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Action</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final implication connects what is seen to what the audience should do.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FORMAT FIT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Types Answer Different Questions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Select the form by the relationship the audience must understand.</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Question</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form</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Change</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What happened across time?</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Chronology or timeline</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Process</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does it work?</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Instructional flow, cycle or roadmap</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Comparison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Which option differs and by how much?</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Bar, dot plot or comparison cards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Distribution</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Where are values concentrated?</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Histogram, ranked bar or box plot</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Hierarchy</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are parts organised?</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Tree, pyramid or organisation chart</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Relationships</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 ideas connect?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Mind map, network or matrix</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PLANNING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Plan an Infographic in Six Decisions</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Audience and action</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Business question</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Evidence and metrics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Infographic form</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Wireframe and hierarchy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Review and release</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the business question is unclear, a template or AI tool will produce a faster version of the wrong story.</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Insight Extraction Prompts</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SHOW</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values, differences or trends are visible?</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MEAN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interpretation is plausible but not overstated?</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3000" b="1">
                <a:solidFill>
                  <a:srgbClr val="7C3AED"/>
                </a:solidFill>
                <a:latin typeface="Arial"/>
              </a:rPr>
              <a:t>MATTER</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Why does the pattern matter to this audience?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ACT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proportionate next step is supported?</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LIMIT</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sample, denominator or uncertainty qualifies it?</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CHECK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Can another reader reproduce the claim?</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Separate observation from interpretation before writing the recommendation.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accelerates analysis; the source evidence still decides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AI accelerates analysis; the source evidence still decides?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Observation</a:t>
            </a:r>
          </a:p>
          <a:p>
            <a:pPr algn="l">
              <a:spcAft>
                <a:spcPts val="300"/>
              </a:spcAft>
            </a:pPr>
            <a:r>
              <a:rPr sz="1200" b="0">
                <a:solidFill>
                  <a:srgbClr val="5B6372"/>
                </a:solidFill>
                <a:latin typeface="Arial"/>
              </a:rPr>
              <a:t>What values, differences, trends or outliers are 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Interpretation</a:t>
            </a:r>
          </a:p>
          <a:p>
            <a:pPr algn="l">
              <a:spcAft>
                <a:spcPts val="300"/>
              </a:spcAft>
            </a:pPr>
            <a:r>
              <a:rPr sz="1200" b="0">
                <a:solidFill>
                  <a:srgbClr val="5B6372"/>
                </a:solidFill>
                <a:latin typeface="Arial"/>
              </a:rPr>
              <a:t>What relationship is suggested without claiming unsupported causation?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Implication</a:t>
            </a:r>
          </a:p>
          <a:p>
            <a:pPr algn="l">
              <a:spcAft>
                <a:spcPts val="300"/>
              </a:spcAft>
            </a:pPr>
            <a:r>
              <a:rPr sz="1200" b="0">
                <a:solidFill>
                  <a:srgbClr val="5B6372"/>
                </a:solidFill>
                <a:latin typeface="Arial"/>
              </a:rPr>
              <a:t>Why does the finding matter to the stated audience?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What proportionate next step is supported by the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Collect, Clean, Analyse, Verify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Register the approved CSV, workbook and research notes.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Standardise labels, units and missing-value handling without changing raw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Prompt AI for patterns, exceptions and competing explanations.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Reproduce critical calculations and trace every claim to a source.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caveats.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Pattern vs Unsupported Story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Defensible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Overclaim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Repeat customers rate delivery 8 points higher</a:t>
            </a:r>
          </a:p>
          <a:p>
            <a:pPr>
              <a:spcAft>
                <a:spcPts val="1000"/>
              </a:spcAft>
            </a:pPr>
            <a:r>
              <a:rPr sz="1600" b="0">
                <a:solidFill>
                  <a:srgbClr val="161B26"/>
                </a:solidFill>
                <a:latin typeface="Arial"/>
              </a:rPr>
              <a:t>•  The result applies to this sample and period</a:t>
            </a:r>
          </a:p>
          <a:p>
            <a:pPr>
              <a:spcAft>
                <a:spcPts val="1000"/>
              </a:spcAft>
            </a:pPr>
            <a:r>
              <a:rPr sz="1600" b="0">
                <a:solidFill>
                  <a:srgbClr val="161B26"/>
                </a:solidFill>
                <a:latin typeface="Arial"/>
              </a:rPr>
              <a:t>•  Test delivery messaging in the next campaign</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Delivery causes loyalty</a:t>
            </a:r>
          </a:p>
          <a:p>
            <a:pPr>
              <a:spcAft>
                <a:spcPts val="1000"/>
              </a:spcAft>
            </a:pPr>
            <a:r>
              <a:rPr sz="1600" b="0">
                <a:solidFill>
                  <a:srgbClr val="161B26"/>
                </a:solidFill>
                <a:latin typeface="Arial"/>
              </a:rPr>
              <a:t>•  All customers prefer delivery</a:t>
            </a:r>
          </a:p>
          <a:p>
            <a:pPr>
              <a:spcAft>
                <a:spcPts val="1000"/>
              </a:spcAft>
            </a:pPr>
            <a:r>
              <a:rPr sz="1600" b="0">
                <a:solidFill>
                  <a:srgbClr val="161B26"/>
                </a:solidFill>
                <a:latin typeface="Arial"/>
              </a:rPr>
              <a:t>•  Shift the entire budget immediately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Northstar Retail Customer Pulse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78%</a:t>
            </a:r>
          </a:p>
          <a:p>
            <a:pPr algn="l">
              <a:spcAft>
                <a:spcPts val="300"/>
              </a:spcAft>
            </a:pPr>
            <a:r>
              <a:rPr sz="1200" b="0">
                <a:solidFill>
                  <a:srgbClr val="5B6372"/>
                </a:solidFill>
                <a:latin typeface="Arial"/>
              </a:rPr>
              <a:t>Overall satisfaction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86%</a:t>
            </a:r>
          </a:p>
          <a:p>
            <a:pPr algn="l">
              <a:spcAft>
                <a:spcPts val="300"/>
              </a:spcAft>
            </a:pPr>
            <a:r>
              <a:rPr sz="1200" b="0">
                <a:solidFill>
                  <a:srgbClr val="5B6372"/>
                </a:solidFill>
                <a:latin typeface="Arial"/>
              </a:rPr>
              <a:t>Repeat-customer satisfaction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69%</a:t>
            </a:r>
          </a:p>
          <a:p>
            <a:pPr algn="l">
              <a:spcAft>
                <a:spcPts val="300"/>
              </a:spcAft>
            </a:pPr>
            <a:r>
              <a:rPr sz="1200" b="0">
                <a:solidFill>
                  <a:srgbClr val="5B6372"/>
                </a:solidFill>
                <a:latin typeface="Arial"/>
              </a:rPr>
              <a:t>First-time-customer satisfaction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+11 pts</a:t>
            </a:r>
          </a:p>
          <a:p>
            <a:pPr algn="l">
              <a:spcAft>
                <a:spcPts val="300"/>
              </a:spcAft>
            </a:pPr>
            <a:r>
              <a:rPr sz="1200" b="0">
                <a:solidFill>
                  <a:srgbClr val="5B6372"/>
                </a:solidFill>
                <a:latin typeface="Arial"/>
              </a:rPr>
              <a:t>Mobile-app users vs non-users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420</a:t>
            </a:r>
          </a:p>
          <a:p>
            <a:pPr algn="l">
              <a:spcAft>
                <a:spcPts val="300"/>
              </a:spcAft>
            </a:pPr>
            <a:r>
              <a:rPr sz="1200" b="0">
                <a:solidFill>
                  <a:srgbClr val="5B6372"/>
                </a:solidFill>
                <a:latin typeface="Arial"/>
              </a:rPr>
              <a:t>Survey responses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Q2 2026</a:t>
            </a:r>
          </a:p>
          <a:p>
            <a:pPr algn="l">
              <a:spcAft>
                <a:spcPts val="300"/>
              </a:spcAft>
            </a:pPr>
            <a:r>
              <a:rPr sz="1200" b="0">
                <a:solidFill>
                  <a:srgbClr val="5B6372"/>
                </a:solidFill>
                <a:latin typeface="Arial"/>
              </a:rPr>
              <a:t>Synthetic reporting period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 chart answers a question only when context travels with it</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Northstar Retail Singapore</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The satisfaction gap is useful for targeting a follow-up test, but the survey does not prove that the mobile app caused higher satisfaction.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to Clean Data and Extract Insights</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Retail's marketing lead has a one-page customer survey infographic built from 420 synthetic Q2 responses. Leadership wants to know which customer experience deserves further investigation.</a:t>
            </a:r>
          </a:p>
          <a:p>
            <a:pPr algn="l">
              <a:spcAft>
                <a:spcPts val="800"/>
              </a:spcAft>
            </a:pPr>
            <a:r>
              <a:rPr sz="1450" b="0">
                <a:solidFill>
                  <a:srgbClr val="161B26"/>
                </a:solidFill>
                <a:latin typeface="Arial"/>
              </a:rPr>
              <a:t>Use an approved AI assistant with the supplied CSV, workbook and source notes to produce a clean analysis and candidate insights. Verify every number in Excel before recommending one next step.</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cleaned analysis workbook, AI prompt/source log, annotated insight slide and one-sentence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to Clean Data and Extract Insights</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strongest visible pattern?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denominator or segment could change the interpretation?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be said confidently, and what cannot?</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business action is proportionate to the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wipe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to Clean Data and Extract Insights</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insight include context and uncertainty?</a:t>
            </a:r>
          </a:p>
          <a:p>
            <a:pPr>
              <a:spcAft>
                <a:spcPts val="900"/>
              </a:spcAft>
            </a:pPr>
            <a:r>
              <a:rPr sz="1450" b="0">
                <a:solidFill>
                  <a:srgbClr val="161B26"/>
                </a:solidFill>
                <a:latin typeface="Arial"/>
              </a:rPr>
              <a:t>•  Could the action be traced directly to the visual evidence?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insight clearly separates what the data shows, what it may mean, why it matters and what should happen next.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strong prompt is an executable design brief</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strong prompt is an executable design brief?</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Objective</a:t>
            </a:r>
          </a:p>
          <a:p>
            <a:pPr algn="l">
              <a:spcAft>
                <a:spcPts val="300"/>
              </a:spcAft>
            </a:pPr>
            <a:r>
              <a:rPr sz="1200" b="0">
                <a:solidFill>
                  <a:srgbClr val="5B6372"/>
                </a:solidFill>
                <a:latin typeface="Arial"/>
              </a:rPr>
              <a:t>The audience, question, decision and desired 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Only evidence that earns a place in the visual story.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Timeline, process, comparison, statistical, hierarchy or hybrid.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Wireframe</a:t>
            </a:r>
          </a:p>
          <a:p>
            <a:pPr algn="l">
              <a:spcAft>
                <a:spcPts val="300"/>
              </a:spcAft>
            </a:pPr>
            <a:r>
              <a:rPr sz="1200" b="0">
                <a:solidFill>
                  <a:srgbClr val="5B6372"/>
                </a:solidFill>
                <a:latin typeface="Arial"/>
              </a:rPr>
              <a:t>A low-fidelity map of title, sections, visuals, labels and flow.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 Before Generation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Define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objective and audience question.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Attach only approved sources and verified insights.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Specify</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hierarchy, infographic form, brand and accessibility rules.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Constrain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Forbid invented facts, unsupported causation and decorative clutter.</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Request two wireframe directions, then select by evidence fit.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Format Choice by Question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Question</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Useful form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happened over time?</a:t>
            </a:r>
          </a:p>
          <a:p>
            <a:pPr>
              <a:spcAft>
                <a:spcPts val="1000"/>
              </a:spcAft>
            </a:pPr>
            <a:r>
              <a:rPr sz="1600" b="0">
                <a:solidFill>
                  <a:srgbClr val="161B26"/>
                </a:solidFill>
                <a:latin typeface="Arial"/>
              </a:rPr>
              <a:t>•  How does the service work?</a:t>
            </a:r>
          </a:p>
          <a:p>
            <a:pPr>
              <a:spcAft>
                <a:spcPts val="1000"/>
              </a:spcAft>
            </a:pPr>
            <a:r>
              <a:rPr sz="1600" b="0">
                <a:solidFill>
                  <a:srgbClr val="161B26"/>
                </a:solidFill>
                <a:latin typeface="Arial"/>
              </a:rPr>
              <a:t>•  Which option performs better?</a:t>
            </a:r>
          </a:p>
          <a:p>
            <a:pPr>
              <a:spcAft>
                <a:spcPts val="1000"/>
              </a:spcAft>
            </a:pPr>
            <a:r>
              <a:rPr sz="1600" b="0">
                <a:solidFill>
                  <a:srgbClr val="161B26"/>
                </a:solidFill>
                <a:latin typeface="Arial"/>
              </a:rPr>
              <a:t>•  How are categories related?</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Timeline / chronology</a:t>
            </a:r>
          </a:p>
          <a:p>
            <a:pPr>
              <a:spcAft>
                <a:spcPts val="1000"/>
              </a:spcAft>
            </a:pPr>
            <a:r>
              <a:rPr sz="1600" b="0">
                <a:solidFill>
                  <a:srgbClr val="161B26"/>
                </a:solidFill>
                <a:latin typeface="Arial"/>
              </a:rPr>
              <a:t>•  Process / instructional</a:t>
            </a:r>
          </a:p>
          <a:p>
            <a:pPr>
              <a:spcAft>
                <a:spcPts val="1000"/>
              </a:spcAft>
            </a:pPr>
            <a:r>
              <a:rPr sz="1600" b="0">
                <a:solidFill>
                  <a:srgbClr val="161B26"/>
                </a:solidFill>
                <a:latin typeface="Arial"/>
              </a:rPr>
              <a:t>•  Comparison / statistical</a:t>
            </a:r>
          </a:p>
          <a:p>
            <a:pPr>
              <a:spcAft>
                <a:spcPts val="1000"/>
              </a:spcAft>
            </a:pPr>
            <a:r>
              <a:rPr sz="1600" b="0">
                <a:solidFill>
                  <a:srgbClr val="161B26"/>
                </a:solidFill>
                <a:latin typeface="Arial"/>
              </a:rPr>
              <a:t>•  Hierarchy / mind map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Wireframe Anatomy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a:t>
            </a:r>
          </a:p>
          <a:p>
            <a:pPr algn="l">
              <a:spcAft>
                <a:spcPts val="300"/>
              </a:spcAft>
            </a:pPr>
            <a:r>
              <a:rPr sz="1200" b="0">
                <a:solidFill>
                  <a:srgbClr val="5B6372"/>
                </a:solidFill>
                <a:latin typeface="Arial"/>
              </a:rPr>
              <a:t>Title states the audience-relevant message.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Source, timeframe, unit and scope.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One primary chart or process carries the proof.</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Guidance</a:t>
            </a:r>
          </a:p>
          <a:p>
            <a:pPr algn="l">
              <a:spcAft>
                <a:spcPts val="300"/>
              </a:spcAft>
            </a:pPr>
            <a:r>
              <a:rPr sz="1200" b="0">
                <a:solidFill>
                  <a:srgbClr val="5B6372"/>
                </a:solidFill>
                <a:latin typeface="Arial"/>
              </a:rPr>
              <a:t>Arrows, order and whitespace control the reading path.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A concise implication or next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Footer</a:t>
            </a:r>
          </a:p>
          <a:p>
            <a:pPr algn="l">
              <a:spcAft>
                <a:spcPts val="300"/>
              </a:spcAft>
            </a:pPr>
            <a:r>
              <a:rPr sz="1200" b="0">
                <a:solidFill>
                  <a:srgbClr val="5B6372"/>
                </a:solidFill>
                <a:latin typeface="Arial"/>
              </a:rPr>
              <a:t>Source, owner, date and accessibility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 an Evidence-Led Infographic Brief</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plans a sustainable-delivery campaign. The communication manager needs a portrait infographic showing the customer journey from order to low-emission delivery.</a:t>
            </a:r>
          </a:p>
          <a:p>
            <a:pPr algn="l">
              <a:spcAft>
                <a:spcPts val="800"/>
              </a:spcAft>
            </a:pPr>
            <a:r>
              <a:rPr sz="1450" b="0">
                <a:solidFill>
                  <a:srgbClr val="161B26"/>
                </a:solidFill>
                <a:latin typeface="Arial"/>
              </a:rPr>
              <a:t>Use the supplied prompt workbook to ask AI for two wireframe directions. Select one by evidence fit, then preserve it as the control brief for Microsoft 365 Copilot, Gemini Notebook or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prompt brief, two AI wireframe directions and one approved PowerPoint wireframe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 an Evidence-Led Infographic Brief</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audience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infographic type best reveals the relationship?</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content should be removed?</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should the reader's eye land first, second and last?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 an Evidence-Led Infographic Brief</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Could the wireframe be understood without colour?</a:t>
            </a:r>
          </a:p>
          <a:p>
            <a:pPr>
              <a:spcAft>
                <a:spcPts val="900"/>
              </a:spcAft>
            </a:pPr>
            <a:r>
              <a:rPr sz="1450" b="0">
                <a:solidFill>
                  <a:srgbClr val="161B26"/>
                </a:solidFill>
                <a:latin typeface="Arial"/>
              </a:rPr>
              <a:t>•  Does every placeholder have a message role?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wireframe communicates objective, hierarchy, evidence, flow, action and source space before visual styling begins.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Introduction to Infographics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Use AI to Clean Data and Extract Insights</a:t>
            </a:r>
          </a:p>
          <a:p>
            <a:pPr algn="l">
              <a:spcAft>
                <a:spcPts val="300"/>
              </a:spcAft>
            </a:pPr>
            <a:r>
              <a:rPr sz="1200" b="0">
                <a:solidFill>
                  <a:srgbClr val="5B6372"/>
                </a:solidFill>
                <a:latin typeface="Arial"/>
              </a:rPr>
              <a:t>You can now: use AI to organise and clean approved mock sources, then verify and convert candidate patterns into defensible business insights.</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Prompt an Evidence-Led Infographic Brief</a:t>
            </a:r>
          </a:p>
          <a:p>
            <a:pPr algn="l">
              <a:spcAft>
                <a:spcPts val="300"/>
              </a:spcAft>
            </a:pPr>
            <a:r>
              <a:rPr sz="1200" b="0">
                <a:solidFill>
                  <a:srgbClr val="5B6372"/>
                </a:solidFill>
                <a:latin typeface="Arial"/>
              </a:rPr>
              <a:t>You can now: turn verified insights into a structured AI brief and prompt that controls audience, message, evidence, form and output.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infographic is an argument made visible.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with the audience question, the evidence and the intended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zoom/>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Infographics in PowerPoint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Slide size · Grid · Shapes · Icons · Type · Colour · SmartArt · Charts ·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push dir="l"/>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Create Infographics in PowerPoint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Visual hierarchy uses scale, position, contrast, spacing and alignment to guide the reader through one intended path.</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PowerPoint is the editable refinement layer for AI-generated structure, imagery, text, shapes, SmartArt, native charts and Excel-linked data.</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Microsoft 365 Copilot can generate an infographic from a prompt or file; Gemini Notebook can turn selected sources into an infographic or slide deck for PowerPoint refinement.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Every AI-assisted output needs source verification, privacy review, brand control, accessibility checks and editable hand-off.</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Analyse and Generate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Data analyst</a:t>
            </a:r>
          </a:p>
          <a:p>
            <a:pPr algn="l">
              <a:spcAft>
                <a:spcPts val="300"/>
              </a:spcAft>
            </a:pPr>
            <a:r>
              <a:rPr sz="1100" b="0">
                <a:solidFill>
                  <a:srgbClr val="5B6372"/>
                </a:solidFill>
                <a:latin typeface="Arial"/>
              </a:rPr>
              <a:t>Using only the attached approved sources, create a source register, identify duplicates or conflicting definitions, clean the table, show formulas or transformations, and return five candidate insights with citations, caveats and a confidence note. Do not invent missing values.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Infographic</a:t>
            </a:r>
          </a:p>
          <a:p>
            <a:pPr algn="l">
              <a:spcAft>
                <a:spcPts val="300"/>
              </a:spcAft>
            </a:pPr>
            <a:r>
              <a:rPr sz="1100" b="0">
                <a:solidFill>
                  <a:srgbClr val="5B6372"/>
                </a:solidFill>
                <a:latin typeface="Arial"/>
              </a:rPr>
              <a:t>Create a one-page executive infographic for Singapore retail managers. Lead with one decision insight, show three supporting metrics, include a five-stage flow and a source footer. Use a clean professional style, strong hierarchy and no invented data. Leave critical labels editable.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Assets and Gemini Notebook-to-PPTX</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Text to image</a:t>
            </a:r>
          </a:p>
          <a:p>
            <a:pPr algn="l">
              <a:spcAft>
                <a:spcPts val="300"/>
              </a:spcAft>
            </a:pPr>
            <a:r>
              <a:rPr sz="1100" b="0">
                <a:solidFill>
                  <a:srgbClr val="5B6372"/>
                </a:solidFill>
                <a:latin typeface="Arial"/>
              </a:rPr>
              <a:t>Create a clean vector-like sustainability delivery illustration for a PowerPoint infographic: one electric van, one reusable parcel, a simple route and a feedback symbol. Transparent background, consistent blue/teal/violet/amber palette, no text, no logo, no watermark.</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Gemini Notebook deck</a:t>
            </a:r>
          </a:p>
          <a:p>
            <a:pPr algn="l">
              <a:spcAft>
                <a:spcPts val="300"/>
              </a:spcAft>
            </a:pPr>
            <a:r>
              <a:rPr sz="1100" b="0">
                <a:solidFill>
                  <a:srgbClr val="5B6372"/>
                </a:solidFill>
                <a:latin typeface="Arial"/>
              </a:rPr>
              <a:t>Create Presenter Slides for business stakeholders. Focus on the verified decision insight, use a concise professional style, include source-grounded comparisons and a final recommendation. Avoid claims not supported by selected sources. Download PowerPoint when available; otherwise download PDF and identify what must be rebuilt as editable native PowerPoint objects.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BRIEF · TWO ROUTES · ONE POWERPOINT MASTER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vs Gemini Notebook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same approved sources and scoring criteria; choose by task, governance and editability rather than novelty.</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Microsoft 365 Copilot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Gemini Notebook</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Starting point</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Prompt or uploaded file in Microsoft 365 Copilot</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Selected notebook sources: files, URLs, text or YouTube</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Best use</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Direct infographic creation and editing within the Microsoft ecosystem</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Source-grounded synthesis into an infographic or multi-slide narrative</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PowerPoint hand-off</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Copy/download or continue editing in Microsoft tools</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Download .pptx where available; otherwise preserve PDF and rebuild critical content in PowerPoint</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Control</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Brand kit, orientation, prompt and visual editor where available</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Source selection, format, language, length, orientation/detail/style and custom prompt</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Review risk</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Availability, editability and generated claims vary by licence and output</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Infographics/decks may contain visual or factual errors; revisions may not re-check sources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NATIVE CAPABILITY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PowerPoint's Editable Infographic Toolkit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simplest editable object that communicates the relationship.</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Layout</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Slide size, guides, gridlines, alignment, distribute, group and Selection Pane.</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Visual components</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Shapes, connectors, icons, stock images, text boxes and merged shapes.</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Structured diagrams</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SmartArt lists, cycles, processes, hierarchies and timelines.</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Data visualisation</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Native charts, embedded workbooks and Excel-linked data.</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Delivery</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Animations, transitions, comments, co-authoring and presenter-friendly export.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MICROSOFT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Maker and AI Designer: Use the Right Assist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Microsoft's current pages describe complementary template and Copilot workflows.</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assistance</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Human responsibility</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Infographic maker</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Templates for timelines, flowcharts, roadmaps, organisation charts and posters</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Choose by relationship; replace every placeholder and retain source context</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PowerPoint library</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Icons, stock images, shapes, fonts, SmartArt and charts</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Apply hierarchy, brand, accessibility and evidence standards</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generation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Suggest section titles, layouts, summaries and supporting AI images</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Verify every claim and rebuild decision-critical evidence as native objects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AI Designer</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Generate or improve slide layouts and image placement</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Compare options; preserve editability and maintain the approved master</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Collaboration</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Comments, mentions and real-time editing</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Control ownership, versions, reviewers and release status</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Export</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PPTX, PDF, JPG, slideshow and print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Test each channel for clipping, fonts, links and accessibility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RESPONSIBLE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Human-in-the-Loop AI Workflow</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Approved brief</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Structured prompt</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Two options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Fact and data check</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Rebuild and accessibility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Named approval</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can propose an infographic; it cannot own the truth, the data rights or the business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CONTROLLED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Editable PowerPoint Production Swimlane</a:t>
            </a:r>
          </a:p>
        </p:txBody>
      </p:sp>
      <p:sp>
        <p:nvSpPr>
          <p:cNvPr id="6" name="Rectangle 5"/>
          <p:cNvSpPr/>
          <p:nvPr/>
        </p:nvSpPr>
        <p:spPr>
          <a:xfrm>
            <a:off x="777240" y="2194560"/>
            <a:ext cx="1874519"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94560"/>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Content owner</a:t>
            </a:r>
          </a:p>
        </p:txBody>
      </p:sp>
      <p:sp>
        <p:nvSpPr>
          <p:cNvPr id="8" name="Rectangle 7"/>
          <p:cNvSpPr/>
          <p:nvPr/>
        </p:nvSpPr>
        <p:spPr>
          <a:xfrm>
            <a:off x="2834639"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34639"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1"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question</a:t>
            </a:r>
          </a:p>
        </p:txBody>
      </p:sp>
      <p:sp>
        <p:nvSpPr>
          <p:cNvPr id="11" name="Rectangle 10"/>
          <p:cNvSpPr/>
          <p:nvPr/>
        </p:nvSpPr>
        <p:spPr>
          <a:xfrm>
            <a:off x="5815583"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5583"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5"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Verify data</a:t>
            </a:r>
          </a:p>
        </p:txBody>
      </p:sp>
      <p:sp>
        <p:nvSpPr>
          <p:cNvPr id="14" name="Rectangle 13"/>
          <p:cNvSpPr/>
          <p:nvPr/>
        </p:nvSpPr>
        <p:spPr>
          <a:xfrm>
            <a:off x="8796527"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96527"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message</a:t>
            </a:r>
          </a:p>
        </p:txBody>
      </p:sp>
      <p:sp>
        <p:nvSpPr>
          <p:cNvPr id="17" name="Chevron 16"/>
          <p:cNvSpPr/>
          <p:nvPr/>
        </p:nvSpPr>
        <p:spPr>
          <a:xfrm>
            <a:off x="5669279"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8650223"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106674"/>
            <a:ext cx="1874519"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106674"/>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PowerPoint / AI</a:t>
            </a:r>
          </a:p>
        </p:txBody>
      </p:sp>
      <p:sp>
        <p:nvSpPr>
          <p:cNvPr id="21" name="Rectangle 20"/>
          <p:cNvSpPr/>
          <p:nvPr/>
        </p:nvSpPr>
        <p:spPr>
          <a:xfrm>
            <a:off x="2834639"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39"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1"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Generate options</a:t>
            </a:r>
          </a:p>
        </p:txBody>
      </p:sp>
      <p:sp>
        <p:nvSpPr>
          <p:cNvPr id="24" name="Rectangle 23"/>
          <p:cNvSpPr/>
          <p:nvPr/>
        </p:nvSpPr>
        <p:spPr>
          <a:xfrm>
            <a:off x="5815583"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15583"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5"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Build native objects</a:t>
            </a:r>
          </a:p>
        </p:txBody>
      </p:sp>
      <p:sp>
        <p:nvSpPr>
          <p:cNvPr id="27" name="Rectangle 26"/>
          <p:cNvSpPr/>
          <p:nvPr/>
        </p:nvSpPr>
        <p:spPr>
          <a:xfrm>
            <a:off x="8796527"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96527"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19"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Export formats</a:t>
            </a:r>
          </a:p>
        </p:txBody>
      </p:sp>
      <p:sp>
        <p:nvSpPr>
          <p:cNvPr id="30" name="Chevron 29"/>
          <p:cNvSpPr/>
          <p:nvPr/>
        </p:nvSpPr>
        <p:spPr>
          <a:xfrm>
            <a:off x="5669279"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8650223"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018788"/>
            <a:ext cx="1874519"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018788"/>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Designer</a:t>
            </a:r>
          </a:p>
        </p:txBody>
      </p:sp>
      <p:sp>
        <p:nvSpPr>
          <p:cNvPr id="34" name="Rectangle 33"/>
          <p:cNvSpPr/>
          <p:nvPr/>
        </p:nvSpPr>
        <p:spPr>
          <a:xfrm>
            <a:off x="2834639"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34639"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9231"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Apply hierarchy</a:t>
            </a:r>
          </a:p>
        </p:txBody>
      </p:sp>
      <p:sp>
        <p:nvSpPr>
          <p:cNvPr id="37" name="Rectangle 36"/>
          <p:cNvSpPr/>
          <p:nvPr/>
        </p:nvSpPr>
        <p:spPr>
          <a:xfrm>
            <a:off x="5815583"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15583"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5"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Check brand/access</a:t>
            </a:r>
          </a:p>
        </p:txBody>
      </p:sp>
      <p:sp>
        <p:nvSpPr>
          <p:cNvPr id="40" name="Rectangle 39"/>
          <p:cNvSpPr/>
          <p:nvPr/>
        </p:nvSpPr>
        <p:spPr>
          <a:xfrm>
            <a:off x="8796527"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96527"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19"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Maintain master</a:t>
            </a:r>
          </a:p>
        </p:txBody>
      </p:sp>
      <p:sp>
        <p:nvSpPr>
          <p:cNvPr id="43" name="Chevron 42"/>
          <p:cNvSpPr/>
          <p:nvPr/>
        </p:nvSpPr>
        <p:spPr>
          <a:xfrm>
            <a:off x="5669279"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evron 43"/>
          <p:cNvSpPr/>
          <p:nvPr/>
        </p:nvSpPr>
        <p:spPr>
          <a:xfrm>
            <a:off x="8650223"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4930902"/>
            <a:ext cx="1874519"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56" y="4930902"/>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Reviewer</a:t>
            </a:r>
          </a:p>
        </p:txBody>
      </p:sp>
      <p:sp>
        <p:nvSpPr>
          <p:cNvPr id="47" name="Rectangle 46"/>
          <p:cNvSpPr/>
          <p:nvPr/>
        </p:nvSpPr>
        <p:spPr>
          <a:xfrm>
            <a:off x="2834639"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34639"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99231"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Challenge claims</a:t>
            </a:r>
          </a:p>
        </p:txBody>
      </p:sp>
      <p:sp>
        <p:nvSpPr>
          <p:cNvPr id="50" name="Rectangle 49"/>
          <p:cNvSpPr/>
          <p:nvPr/>
        </p:nvSpPr>
        <p:spPr>
          <a:xfrm>
            <a:off x="5815583"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15583"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0175"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Test outputs</a:t>
            </a:r>
          </a:p>
        </p:txBody>
      </p:sp>
      <p:sp>
        <p:nvSpPr>
          <p:cNvPr id="53" name="Rectangle 52"/>
          <p:cNvSpPr/>
          <p:nvPr/>
        </p:nvSpPr>
        <p:spPr>
          <a:xfrm>
            <a:off x="8796527"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96527"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19"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release</a:t>
            </a:r>
          </a:p>
        </p:txBody>
      </p:sp>
      <p:sp>
        <p:nvSpPr>
          <p:cNvPr id="56" name="Chevron 55"/>
          <p:cNvSpPr/>
          <p:nvPr/>
        </p:nvSpPr>
        <p:spPr>
          <a:xfrm>
            <a:off x="5669279"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a:off x="8650223"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Decision-critical charts, labels and sources stay editable and traceable.</a:t>
            </a:r>
          </a:p>
        </p:txBody>
      </p:sp>
      <p:sp>
        <p:nvSpPr>
          <p:cNvPr id="61" name="TextBox 60"/>
          <p:cNvSpPr txBox="1"/>
          <p:nvPr/>
        </p:nvSpPr>
        <p:spPr>
          <a:xfrm>
            <a:off x="777240" y="195681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workflow synthesis</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DATA STORY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Native Chart Is Part of the Evidence Chain</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DATA</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CSV and workbook retain definitions and formulas</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CHART</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Native PowerPoint object keeps labels and values editable</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TITLE</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Action title states the supported insight</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CONTEXT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Source, period, unit and limitation travel with the chart</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UPDATE</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changed input can refresh the visual</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OWNER</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named person verifies and releases the final slide</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Screenshots break the update path and hide the calculation trail.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template adapted to the message, not the other way around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template adapted to the message, not the other way around?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Template fit</a:t>
            </a:r>
          </a:p>
          <a:p>
            <a:pPr algn="l">
              <a:spcAft>
                <a:spcPts val="300"/>
              </a:spcAft>
            </a:pPr>
            <a:r>
              <a:rPr sz="1200" b="0">
                <a:solidFill>
                  <a:srgbClr val="5B6372"/>
                </a:solidFill>
                <a:latin typeface="Arial"/>
              </a:rPr>
              <a:t>Choose a timeline, flowchart, roadmap, poster or comparison that matches the question.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system</a:t>
            </a:r>
          </a:p>
          <a:p>
            <a:pPr algn="l">
              <a:spcAft>
                <a:spcPts val="300"/>
              </a:spcAft>
            </a:pPr>
            <a:r>
              <a:rPr sz="1200" b="0">
                <a:solidFill>
                  <a:srgbClr val="5B6372"/>
                </a:solidFill>
                <a:latin typeface="Arial"/>
              </a:rPr>
              <a:t>Retain shapes, SmartArt, text, charts and brand elements as editable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control</a:t>
            </a:r>
          </a:p>
          <a:p>
            <a:pPr algn="l">
              <a:spcAft>
                <a:spcPts val="300"/>
              </a:spcAft>
            </a:pPr>
            <a:r>
              <a:rPr sz="1200" b="0">
                <a:solidFill>
                  <a:srgbClr val="5B6372"/>
                </a:solidFill>
                <a:latin typeface="Arial"/>
              </a:rPr>
              <a:t>Apply an approved palette, type hierarchy, logo and background deliberately.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 control</a:t>
            </a:r>
          </a:p>
          <a:p>
            <a:pPr algn="l">
              <a:spcAft>
                <a:spcPts val="300"/>
              </a:spcAft>
            </a:pPr>
            <a:r>
              <a:rPr sz="1200" b="0">
                <a:solidFill>
                  <a:srgbClr val="5B6372"/>
                </a:solidFill>
                <a:latin typeface="Arial"/>
              </a:rPr>
              <a:t>Replace every placeholder with verified data and source context.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Microsoft 365 Copilot, accessed 16 August 2026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Template-to-Infographic Workflow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Select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a template by relationship and output format.</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Audit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Identify all placeholders and inherited decorative elements.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Replace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Insert the approved message, data and visuals.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Align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Apply brand, grid, hierarchy and accessibility.</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Export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PPTX, PDF and image output.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Decoration vs Message Adaptation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Decoration-led</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Message-led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every template section</a:t>
            </a:r>
          </a:p>
          <a:p>
            <a:pPr>
              <a:spcAft>
                <a:spcPts val="1000"/>
              </a:spcAft>
            </a:pPr>
            <a:r>
              <a:rPr sz="1600" b="0">
                <a:solidFill>
                  <a:srgbClr val="161B26"/>
                </a:solidFill>
                <a:latin typeface="Arial"/>
              </a:rPr>
              <a:t>•  Choose colours first</a:t>
            </a:r>
          </a:p>
          <a:p>
            <a:pPr>
              <a:spcAft>
                <a:spcPts val="1000"/>
              </a:spcAft>
            </a:pPr>
            <a:r>
              <a:rPr sz="1600" b="0">
                <a:solidFill>
                  <a:srgbClr val="161B26"/>
                </a:solidFill>
                <a:latin typeface="Arial"/>
              </a:rPr>
              <a:t>•  Paste data into available boxes</a:t>
            </a:r>
          </a:p>
          <a:p>
            <a:pPr>
              <a:spcAft>
                <a:spcPts val="1000"/>
              </a:spcAft>
            </a:pPr>
            <a:r>
              <a:rPr sz="1600" b="0">
                <a:solidFill>
                  <a:srgbClr val="161B26"/>
                </a:solidFill>
                <a:latin typeface="Arial"/>
              </a:rPr>
              <a:t>•  Flatten the final slide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Remove any section that does not earn space</a:t>
            </a:r>
          </a:p>
          <a:p>
            <a:pPr>
              <a:spcAft>
                <a:spcPts val="1000"/>
              </a:spcAft>
            </a:pPr>
            <a:r>
              <a:rPr sz="1600" b="0">
                <a:solidFill>
                  <a:srgbClr val="161B26"/>
                </a:solidFill>
                <a:latin typeface="Arial"/>
              </a:rPr>
              <a:t>•  Use the approved hierarchy and brand</a:t>
            </a:r>
          </a:p>
          <a:p>
            <a:pPr>
              <a:spcAft>
                <a:spcPts val="1000"/>
              </a:spcAft>
            </a:pPr>
            <a:r>
              <a:rPr sz="1600" b="0">
                <a:solidFill>
                  <a:srgbClr val="161B26"/>
                </a:solidFill>
                <a:latin typeface="Arial"/>
              </a:rPr>
              <a:t>•  Choose the chart or shape for the relationship</a:t>
            </a:r>
          </a:p>
          <a:p>
            <a:pPr>
              <a:spcAft>
                <a:spcPts val="1000"/>
              </a:spcAft>
            </a:pPr>
            <a:r>
              <a:rPr sz="1600" b="0">
                <a:solidFill>
                  <a:srgbClr val="161B26"/>
                </a:solidFill>
                <a:latin typeface="Arial"/>
              </a:rPr>
              <a:t>•  Retain an editable master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Audit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Does the layout answer the audience question?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Are all placeholders replaced and all claims verified?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 at thumbnail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Are palette, type, logo and tone approved?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and alt text adequate?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Do PPTX, PDF and JPG render as intended?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 from Microsoft Infographic Maker</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 vertical five-stage sustainable-delivery journey for an employee town hall and social post.</a:t>
            </a:r>
          </a:p>
          <a:p>
            <a:pPr algn="l">
              <a:spcAft>
                <a:spcPts val="800"/>
              </a:spcAft>
            </a:pPr>
            <a:r>
              <a:rPr sz="1450" b="0">
                <a:solidFill>
                  <a:srgbClr val="161B26"/>
                </a:solidFill>
                <a:latin typeface="Arial"/>
              </a:rPr>
              <a:t>Start from a Microsoft infographic-maker template or the supplied editable sample. Adapt it to the approved wireframe; do not let inherited placeholders define the story.</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editable portrait template-based infographic in PPTX, PDF and JPG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 from Microsoft Infographic Maker</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Why does this template fit the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inherited element should be removed first?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remain editable?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export format fits each channel?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wipe dir="l"/>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Build from Microsoft Infographic Maker</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result still match the approved wireframe?</a:t>
            </a:r>
          </a:p>
          <a:p>
            <a:pPr>
              <a:spcAft>
                <a:spcPts val="900"/>
              </a:spcAft>
            </a:pPr>
            <a:r>
              <a:rPr sz="1450" b="0">
                <a:solidFill>
                  <a:srgbClr val="161B26"/>
                </a:solidFill>
                <a:latin typeface="Arial"/>
              </a:rPr>
              <a:t>•  Can another team member update the data without rebuilding the design?</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template-based infographic is message-led, branded, accessible, source-labelled and fully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generate the imagery; keep the information architecture editable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generate the imagery; keep the information architecture editable?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prompt</a:t>
            </a:r>
          </a:p>
          <a:p>
            <a:pPr algn="l">
              <a:spcAft>
                <a:spcPts val="300"/>
              </a:spcAft>
            </a:pPr>
            <a:r>
              <a:rPr sz="1200" b="0">
                <a:solidFill>
                  <a:srgbClr val="5B6372"/>
                </a:solidFill>
                <a:latin typeface="Arial"/>
              </a:rPr>
              <a:t>Specify subject, style, composition, palette, transparency and exclusions.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Generate one coherent family rather than unrelated visual styles.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meaning</a:t>
            </a:r>
          </a:p>
          <a:p>
            <a:pPr algn="l">
              <a:spcAft>
                <a:spcPts val="300"/>
              </a:spcAft>
            </a:pPr>
            <a:r>
              <a:rPr sz="1200" b="0">
                <a:solidFill>
                  <a:srgbClr val="5B6372"/>
                </a:solidFill>
                <a:latin typeface="Arial"/>
              </a:rPr>
              <a:t>Keep claims, labels, numbers, connectors and charts as native PowerPoint objects.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Provenance</a:t>
            </a:r>
          </a:p>
          <a:p>
            <a:pPr algn="l">
              <a:spcAft>
                <a:spcPts val="300"/>
              </a:spcAft>
            </a:pPr>
            <a:r>
              <a:rPr sz="1200" b="0">
                <a:solidFill>
                  <a:srgbClr val="5B6372"/>
                </a:solidFill>
                <a:latin typeface="Arial"/>
              </a:rPr>
              <a:t>Record tool, prompt, date, intended use, review and human changes.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Prompt-to-Asset-to-PowerPoint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Prompt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Describe use, subject, style, palette and constraints.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one asset sheet or a consistent set of separate visuals.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Inspect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Reject text errors, visual ambiguity, rights risks and inconsistent style.</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Insert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Place approved assets without treating them as measured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Add editable labels, shapes, connectors, alt text and source notes.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Generated Asset vs Information Evidence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AI image can support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PowerPoint must carry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Mood and visual metaphor</a:t>
            </a:r>
          </a:p>
          <a:p>
            <a:pPr>
              <a:spcAft>
                <a:spcPts val="1000"/>
              </a:spcAft>
            </a:pPr>
            <a:r>
              <a:rPr sz="1600" b="0">
                <a:solidFill>
                  <a:srgbClr val="161B26"/>
                </a:solidFill>
                <a:latin typeface="Arial"/>
              </a:rPr>
              <a:t>•  Consistent illustrative icon family</a:t>
            </a:r>
          </a:p>
          <a:p>
            <a:pPr>
              <a:spcAft>
                <a:spcPts val="1000"/>
              </a:spcAft>
            </a:pPr>
            <a:r>
              <a:rPr sz="1600" b="0">
                <a:solidFill>
                  <a:srgbClr val="161B26"/>
                </a:solidFill>
                <a:latin typeface="Arial"/>
              </a:rPr>
              <a:t>•  Background or hero imagery</a:t>
            </a:r>
          </a:p>
          <a:p>
            <a:pPr>
              <a:spcAft>
                <a:spcPts val="1000"/>
              </a:spcAft>
            </a:pPr>
            <a:r>
              <a:rPr sz="1600" b="0">
                <a:solidFill>
                  <a:srgbClr val="161B26"/>
                </a:solidFill>
                <a:latin typeface="Arial"/>
              </a:rPr>
              <a:t>•  Non-data decorative support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Verified numbers and claims</a:t>
            </a:r>
          </a:p>
          <a:p>
            <a:pPr>
              <a:spcAft>
                <a:spcPts val="1000"/>
              </a:spcAft>
            </a:pPr>
            <a:r>
              <a:rPr sz="1600" b="0">
                <a:solidFill>
                  <a:srgbClr val="161B26"/>
                </a:solidFill>
                <a:latin typeface="Arial"/>
              </a:rPr>
              <a:t>•  Editable labels and source notes</a:t>
            </a:r>
          </a:p>
          <a:p>
            <a:pPr>
              <a:spcAft>
                <a:spcPts val="1000"/>
              </a:spcAft>
            </a:pPr>
            <a:r>
              <a:rPr sz="1600" b="0">
                <a:solidFill>
                  <a:srgbClr val="161B26"/>
                </a:solidFill>
                <a:latin typeface="Arial"/>
              </a:rPr>
              <a:t>•  Native charts and meaningful connectors</a:t>
            </a:r>
          </a:p>
          <a:p>
            <a:pPr>
              <a:spcAft>
                <a:spcPts val="1000"/>
              </a:spcAft>
            </a:pPr>
            <a:r>
              <a:rPr sz="1600" b="0">
                <a:solidFill>
                  <a:srgbClr val="161B26"/>
                </a:solidFill>
                <a:latin typeface="Arial"/>
              </a:rPr>
              <a:t>•  Reading order and accessibility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Five-Stage Delivery Process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a:t>
            </a:r>
          </a:p>
          <a:p>
            <a:pPr algn="l">
              <a:spcAft>
                <a:spcPts val="300"/>
              </a:spcAft>
            </a:pPr>
            <a:r>
              <a:rPr sz="1200" b="0">
                <a:solidFill>
                  <a:srgbClr val="5B6372"/>
                </a:solidFill>
                <a:latin typeface="Arial"/>
              </a:rPr>
              <a:t>Order confirmed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Inventory reserved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a:t>
            </a:r>
          </a:p>
          <a:p>
            <a:pPr algn="l">
              <a:spcAft>
                <a:spcPts val="300"/>
              </a:spcAft>
            </a:pPr>
            <a:r>
              <a:rPr sz="1200" b="0">
                <a:solidFill>
                  <a:srgbClr val="5B6372"/>
                </a:solidFill>
                <a:latin typeface="Arial"/>
              </a:rPr>
              <a:t>Route optimised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a:t>
            </a:r>
          </a:p>
          <a:p>
            <a:pPr algn="l">
              <a:spcAft>
                <a:spcPts val="300"/>
              </a:spcAft>
            </a:pPr>
            <a:r>
              <a:rPr sz="1200" b="0">
                <a:solidFill>
                  <a:srgbClr val="5B6372"/>
                </a:solidFill>
                <a:latin typeface="Arial"/>
              </a:rPr>
              <a:t>Low-emission delivery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a:t>
            </a:r>
          </a:p>
          <a:p>
            <a:pPr algn="l">
              <a:spcAft>
                <a:spcPts val="300"/>
              </a:spcAft>
            </a:pPr>
            <a:r>
              <a:rPr sz="1200" b="0">
                <a:solidFill>
                  <a:srgbClr val="5B6372"/>
                </a:solidFill>
                <a:latin typeface="Arial"/>
              </a:rPr>
              <a:t>Customer feedback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a:t>
            </a:r>
          </a:p>
          <a:p>
            <a:pPr algn="l">
              <a:spcAft>
                <a:spcPts val="300"/>
              </a:spcAft>
            </a:pPr>
            <a:r>
              <a:rPr sz="1200" b="0">
                <a:solidFill>
                  <a:srgbClr val="5B6372"/>
                </a:solidFill>
                <a:latin typeface="Arial"/>
              </a:rPr>
              <a:t>One stage, one verb, one icon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 Visual Assets and Refine Them in PowerPoint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needs an editable five-stage process infographic for store managers. Use the supplied AI-generated sustainability asset sheet or regenerate a new set from the recorded text-to-image prompt.</a:t>
            </a:r>
          </a:p>
          <a:p>
            <a:pPr algn="l">
              <a:spcAft>
                <a:spcPts val="800"/>
              </a:spcAft>
            </a:pPr>
            <a:r>
              <a:rPr sz="1450" b="0">
                <a:solidFill>
                  <a:srgbClr val="161B26"/>
                </a:solidFill>
                <a:latin typeface="Arial"/>
              </a:rPr>
              <a:t>Use the images only as supporting visuals. Build all stage names, values, connectors, source labels and decision meaning as editable PowerPoint objects.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prompt log, consistent AI-generated asset set, editable five-stage infographic and reusable PowerPoint component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 Visual Assets and Refine Them in PowerPoint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visual property signals sequence?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is direct labelling still required?</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Would SmartArt clarify or constrain this design?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system remain reusable?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wipe dir="l"/>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 Visual Assets and Refine Them in PowerPoint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process be scanned left to right in five seconds?</a:t>
            </a:r>
          </a:p>
          <a:p>
            <a:pPr>
              <a:spcAft>
                <a:spcPts val="900"/>
              </a:spcAft>
            </a:pPr>
            <a:r>
              <a:rPr sz="1450" b="0">
                <a:solidFill>
                  <a:srgbClr val="161B26"/>
                </a:solidFill>
                <a:latin typeface="Arial"/>
              </a:rPr>
              <a:t>•  Are all objects aligned, grouped and editable?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process uses a consistent component system, real connectors, direct labels, purposeful whitespace and editable PowerPoint objects.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finds candidate patterns; Excel and PowerPoint make the evidence auditable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AI finds candidate patterns; Excel and PowerPoint make the evidence auditable?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fit</a:t>
            </a:r>
          </a:p>
          <a:p>
            <a:pPr algn="l">
              <a:spcAft>
                <a:spcPts val="300"/>
              </a:spcAft>
            </a:pPr>
            <a:r>
              <a:rPr sz="1200" b="0">
                <a:solidFill>
                  <a:srgbClr val="5B6372"/>
                </a:solidFill>
                <a:latin typeface="Arial"/>
              </a:rPr>
              <a:t>Select values that answer the business question and use consistent denominators.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 fit</a:t>
            </a:r>
          </a:p>
          <a:p>
            <a:pPr algn="l">
              <a:spcAft>
                <a:spcPts val="300"/>
              </a:spcAft>
            </a:pPr>
            <a:r>
              <a:rPr sz="1200" b="0">
                <a:solidFill>
                  <a:srgbClr val="5B6372"/>
                </a:solidFill>
                <a:latin typeface="Arial"/>
              </a:rPr>
              <a:t>Bar for comparison, line for time, scatter for relationship, composition only when part-to-whole matters.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integrity</a:t>
            </a:r>
          </a:p>
          <a:p>
            <a:pPr algn="l">
              <a:spcAft>
                <a:spcPts val="300"/>
              </a:spcAft>
            </a:pPr>
            <a:r>
              <a:rPr sz="1200" b="0">
                <a:solidFill>
                  <a:srgbClr val="5B6372"/>
                </a:solidFill>
                <a:latin typeface="Arial"/>
              </a:rPr>
              <a:t>Preserve units, timeframe, source and calculation logic.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Annotation</a:t>
            </a:r>
          </a:p>
          <a:p>
            <a:pPr algn="l">
              <a:spcAft>
                <a:spcPts val="300"/>
              </a:spcAft>
            </a:pPr>
            <a:r>
              <a:rPr sz="1200" b="0">
                <a:solidFill>
                  <a:srgbClr val="5B6372"/>
                </a:solidFill>
                <a:latin typeface="Arial"/>
              </a:rPr>
              <a:t>Use an action title, direct labels and one purposeful accent to reveal the takeaway.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Data-to-Decision Chart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Question</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which products to promote and why.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Prepare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Ask AI to flag data types, missing values, duplicates and inconsistent periods.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Choose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Select metric and chart based on the relationship.</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or paste a native editable PowerPoint chart.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action title, annotation and implication.</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Default Chart vs Decision Visual</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Default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Decision-ready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Generic chart title</a:t>
            </a:r>
          </a:p>
          <a:p>
            <a:pPr>
              <a:spcAft>
                <a:spcPts val="1000"/>
              </a:spcAft>
            </a:pPr>
            <a:r>
              <a:rPr sz="1600" b="0">
                <a:solidFill>
                  <a:srgbClr val="161B26"/>
                </a:solidFill>
                <a:latin typeface="Arial"/>
              </a:rPr>
              <a:t>•  Legend far from data</a:t>
            </a:r>
          </a:p>
          <a:p>
            <a:pPr>
              <a:spcAft>
                <a:spcPts val="1000"/>
              </a:spcAft>
            </a:pPr>
            <a:r>
              <a:rPr sz="1600" b="0">
                <a:solidFill>
                  <a:srgbClr val="161B26"/>
                </a:solidFill>
                <a:latin typeface="Arial"/>
              </a:rPr>
              <a:t>•  Rainbow series</a:t>
            </a:r>
          </a:p>
          <a:p>
            <a:pPr>
              <a:spcAft>
                <a:spcPts val="1000"/>
              </a:spcAft>
            </a:pPr>
            <a:r>
              <a:rPr sz="1600" b="0">
                <a:solidFill>
                  <a:srgbClr val="161B26"/>
                </a:solidFill>
                <a:latin typeface="Arial"/>
              </a:rPr>
              <a:t>•  No source or timeframe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Action title states the insight</a:t>
            </a:r>
          </a:p>
          <a:p>
            <a:pPr>
              <a:spcAft>
                <a:spcPts val="1000"/>
              </a:spcAft>
            </a:pPr>
            <a:r>
              <a:rPr sz="1600" b="0">
                <a:solidFill>
                  <a:srgbClr val="161B26"/>
                </a:solidFill>
                <a:latin typeface="Arial"/>
              </a:rPr>
              <a:t>•  Direct labels</a:t>
            </a:r>
          </a:p>
          <a:p>
            <a:pPr>
              <a:spcAft>
                <a:spcPts val="1000"/>
              </a:spcAft>
            </a:pPr>
            <a:r>
              <a:rPr sz="1600" b="0">
                <a:solidFill>
                  <a:srgbClr val="161B26"/>
                </a:solidFill>
                <a:latin typeface="Arial"/>
              </a:rPr>
              <a:t>•  One accent highlights the decision</a:t>
            </a:r>
          </a:p>
          <a:p>
            <a:pPr>
              <a:spcAft>
                <a:spcPts val="1000"/>
              </a:spcAft>
            </a:pPr>
            <a:r>
              <a:rPr sz="1600" b="0">
                <a:solidFill>
                  <a:srgbClr val="161B26"/>
                </a:solidFill>
                <a:latin typeface="Arial"/>
              </a:rPr>
              <a:t>•  Source, period and unit are visible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Product Promotion Signals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Beverages</a:t>
            </a:r>
          </a:p>
          <a:p>
            <a:pPr algn="l">
              <a:spcAft>
                <a:spcPts val="300"/>
              </a:spcAft>
            </a:pPr>
            <a:r>
              <a:rPr sz="1200" b="0">
                <a:solidFill>
                  <a:srgbClr val="5B6372"/>
                </a:solidFill>
                <a:latin typeface="Arial"/>
              </a:rPr>
              <a:t>Highest revenue; stable margin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Ready meals</a:t>
            </a:r>
          </a:p>
          <a:p>
            <a:pPr algn="l">
              <a:spcAft>
                <a:spcPts val="300"/>
              </a:spcAft>
            </a:pPr>
            <a:r>
              <a:rPr sz="1200" b="0">
                <a:solidFill>
                  <a:srgbClr val="5B6372"/>
                </a:solidFill>
                <a:latin typeface="Arial"/>
              </a:rPr>
              <a:t>Fastest Q2 growth; above-floor margin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Snacks</a:t>
            </a:r>
          </a:p>
          <a:p>
            <a:pPr algn="l">
              <a:spcAft>
                <a:spcPts val="300"/>
              </a:spcAft>
            </a:pPr>
            <a:r>
              <a:rPr sz="1200" b="0">
                <a:solidFill>
                  <a:srgbClr val="5B6372"/>
                </a:solidFill>
                <a:latin typeface="Arial"/>
              </a:rPr>
              <a:t>High volume; lower margin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Household</a:t>
            </a:r>
          </a:p>
          <a:p>
            <a:pPr algn="l">
              <a:spcAft>
                <a:spcPts val="300"/>
              </a:spcAft>
            </a:pPr>
            <a:r>
              <a:rPr sz="1200" b="0">
                <a:solidFill>
                  <a:srgbClr val="5B6372"/>
                </a:solidFill>
                <a:latin typeface="Arial"/>
              </a:rPr>
              <a:t>Seasonal spike; higher returns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Revenue + growth + margin, not volume alone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Test Ready Meals as the campaign hero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Analysis to Build a Native PowerPoint Data Story</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Northstar's marketing team must choose one product family for the next promotion. The supplied workbook contains monthly revenue, units, margin and returns for four categories.</a:t>
            </a:r>
          </a:p>
          <a:p>
            <a:pPr algn="l">
              <a:spcAft>
                <a:spcPts val="800"/>
              </a:spcAft>
            </a:pPr>
            <a:r>
              <a:rPr sz="1450" b="0">
                <a:solidFill>
                  <a:srgbClr val="161B26"/>
                </a:solidFill>
                <a:latin typeface="Arial"/>
              </a:rPr>
              <a:t>Prompt an approved AI assistant to analyse the workbook and propose candidate insights. Reproduce the selected calculations in Excel, then create an editable PowerPoint chart with an explicit decision implication.</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AI analysis log, verified formula workbook, native editable PowerPoint chart and annotated decision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Analysis to Build a Native PowerPoint Data Story</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metric answers the actual business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the chart show that a table does not?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context or caveat belongs on the slide?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product should be tested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wipe dir="l"/>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Use AI Analysis to Build a Native PowerPoint Data Story</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chart be updated from the workbook?</a:t>
            </a:r>
          </a:p>
          <a:p>
            <a:pPr>
              <a:spcAft>
                <a:spcPts val="900"/>
              </a:spcAft>
            </a:pPr>
            <a:r>
              <a:rPr sz="1450" b="0">
                <a:solidFill>
                  <a:srgbClr val="161B26"/>
                </a:solidFill>
                <a:latin typeface="Arial"/>
              </a:rPr>
              <a:t>•  Does the title state the conclusion rather than the topic?</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chart is native/editable, uses an appropriate form, retains source context and makes a proportionate product-promotion recommendation.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two AI routes, one verified brief, one accountable PowerPoint master</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two AI routes, one verified brief, one accountable PowerPoint master?</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Microsoft route</a:t>
            </a:r>
          </a:p>
          <a:p>
            <a:pPr algn="l">
              <a:spcAft>
                <a:spcPts val="300"/>
              </a:spcAft>
            </a:pPr>
            <a:r>
              <a:rPr sz="1200" b="0">
                <a:solidFill>
                  <a:srgbClr val="5B6372"/>
                </a:solidFill>
                <a:latin typeface="Arial"/>
              </a:rPr>
              <a:t>Use Design an infographic or Copilot in PowerPoint with a prompt and approved file.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Gemini Notebook route</a:t>
            </a:r>
          </a:p>
          <a:p>
            <a:pPr algn="l">
              <a:spcAft>
                <a:spcPts val="300"/>
              </a:spcAft>
            </a:pPr>
            <a:r>
              <a:rPr sz="1200" b="0">
                <a:solidFill>
                  <a:srgbClr val="5B6372"/>
                </a:solidFill>
                <a:latin typeface="Arial"/>
              </a:rPr>
              <a:t>Select sources, generate an Infographic and Presenter Slide Deck, then download .pptx where available or preserve PDF and rebuild critical content.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Fair comparison</a:t>
            </a:r>
          </a:p>
          <a:p>
            <a:pPr algn="l">
              <a:spcAft>
                <a:spcPts val="300"/>
              </a:spcAft>
            </a:pPr>
            <a:r>
              <a:rPr sz="1200" b="0">
                <a:solidFill>
                  <a:srgbClr val="5B6372"/>
                </a:solidFill>
                <a:latin typeface="Arial"/>
              </a:rPr>
              <a:t>Use the same brief, evidence and scoring criteria for both outputs.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Controlled master</a:t>
            </a:r>
          </a:p>
          <a:p>
            <a:pPr algn="l">
              <a:spcAft>
                <a:spcPts val="300"/>
              </a:spcAft>
            </a:pPr>
            <a:r>
              <a:rPr sz="1200" b="0">
                <a:solidFill>
                  <a:srgbClr val="5B6372"/>
                </a:solidFill>
                <a:latin typeface="Arial"/>
              </a:rPr>
              <a:t>Verify and refine the selected route in PowerPoint; retain prompt, sources and owner.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Microsoft Support and Google Gemini Notebook Help, accessed 16 August 2026</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Brief, Two AI Routes, One PPTX Master</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Load the approved source pack and freeze one comparison brief.</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Microsoft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Generate an infographic or presentation direction with Copilot.</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Gemini Notebook</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Generate an infographic and Presenter Slides; download PowerPoint where available, with PDF fallback.</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accuracy, citations, hierarchy, editability, brand, access and speed.</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verify and rebuild the accountable PowerPoint master.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vs Gemini Notebook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Microsoft 365 Copilot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Gemini Notebook</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Prompt or file to infographic</a:t>
            </a:r>
          </a:p>
          <a:p>
            <a:pPr>
              <a:spcAft>
                <a:spcPts val="1000"/>
              </a:spcAft>
            </a:pPr>
            <a:r>
              <a:rPr sz="1600" b="0">
                <a:solidFill>
                  <a:srgbClr val="161B26"/>
                </a:solidFill>
                <a:latin typeface="Arial"/>
              </a:rPr>
              <a:t>•  Direct Microsoft editing ecosystem</a:t>
            </a:r>
          </a:p>
          <a:p>
            <a:pPr>
              <a:spcAft>
                <a:spcPts val="1000"/>
              </a:spcAft>
            </a:pPr>
            <a:r>
              <a:rPr sz="1600" b="0">
                <a:solidFill>
                  <a:srgbClr val="161B26"/>
                </a:solidFill>
                <a:latin typeface="Arial"/>
              </a:rPr>
              <a:t>•  Brand/color options where available</a:t>
            </a:r>
          </a:p>
          <a:p>
            <a:pPr>
              <a:spcAft>
                <a:spcPts val="1000"/>
              </a:spcAft>
            </a:pPr>
            <a:r>
              <a:rPr sz="1600" b="0">
                <a:solidFill>
                  <a:srgbClr val="161B26"/>
                </a:solidFill>
                <a:latin typeface="Arial"/>
              </a:rPr>
              <a:t>•  Good for a fast visual starting point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Multiple selected sources and citations</a:t>
            </a:r>
          </a:p>
          <a:p>
            <a:pPr>
              <a:spcAft>
                <a:spcPts val="1000"/>
              </a:spcAft>
            </a:pPr>
            <a:r>
              <a:rPr sz="1600" b="0">
                <a:solidFill>
                  <a:srgbClr val="161B26"/>
                </a:solidFill>
                <a:latin typeface="Arial"/>
              </a:rPr>
              <a:t>•  Infographic plus source-grounded slide deck</a:t>
            </a:r>
          </a:p>
          <a:p>
            <a:pPr>
              <a:spcAft>
                <a:spcPts val="1000"/>
              </a:spcAft>
            </a:pPr>
            <a:r>
              <a:rPr sz="1600" b="0">
                <a:solidFill>
                  <a:srgbClr val="161B26"/>
                </a:solidFill>
                <a:latin typeface="Arial"/>
              </a:rPr>
              <a:t>•  Download .pptx where available; otherwise preserve PDF and rebuild critical content</a:t>
            </a:r>
          </a:p>
          <a:p>
            <a:pPr>
              <a:spcAft>
                <a:spcPts val="1000"/>
              </a:spcAft>
            </a:pPr>
            <a:r>
              <a:rPr sz="1600" b="0">
                <a:solidFill>
                  <a:srgbClr val="161B26"/>
                </a:solidFill>
                <a:latin typeface="Arial"/>
              </a:rPr>
              <a:t>•  Good for research synthesis and comparison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 Review Gate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Truth</a:t>
            </a:r>
          </a:p>
          <a:p>
            <a:pPr algn="l">
              <a:spcAft>
                <a:spcPts val="300"/>
              </a:spcAft>
            </a:pPr>
            <a:r>
              <a:rPr sz="1200" b="0">
                <a:solidFill>
                  <a:srgbClr val="5B6372"/>
                </a:solidFill>
                <a:latin typeface="Arial"/>
              </a:rPr>
              <a:t>Every fact and number matches the approved source.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Privacy</a:t>
            </a:r>
          </a:p>
          <a:p>
            <a:pPr algn="l">
              <a:spcAft>
                <a:spcPts val="300"/>
              </a:spcAft>
            </a:pPr>
            <a:r>
              <a:rPr sz="1200" b="0">
                <a:solidFill>
                  <a:srgbClr val="5B6372"/>
                </a:solidFill>
                <a:latin typeface="Arial"/>
              </a:rPr>
              <a:t>No personal or restricted data enters an unapproved service.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a:t>
            </a:r>
          </a:p>
          <a:p>
            <a:pPr algn="l">
              <a:spcAft>
                <a:spcPts val="300"/>
              </a:spcAft>
            </a:pPr>
            <a:r>
              <a:rPr sz="1200" b="0">
                <a:solidFill>
                  <a:srgbClr val="5B6372"/>
                </a:solidFill>
                <a:latin typeface="Arial"/>
              </a:rPr>
              <a:t>Images, icons, fonts and templates are permitted.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Reading order, contrast, labels and alt text are checked.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The approved master, voice and assets are applied.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a:t>
            </a:r>
          </a:p>
          <a:p>
            <a:pPr algn="l">
              <a:spcAft>
                <a:spcPts val="300"/>
              </a:spcAft>
            </a:pPr>
            <a:r>
              <a:rPr sz="1200" b="0">
                <a:solidFill>
                  <a:srgbClr val="5B6372"/>
                </a:solidFill>
                <a:latin typeface="Arial"/>
              </a:rPr>
              <a:t>A named human approves and remains accountable.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Compare Microsoft 365 Copilot and Gemini Notebook</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an executive infographic and short slide narrative summarising the sustainable-delivery pilot from a spreadsheet, policy note and stakeholder feedback summary.</a:t>
            </a:r>
          </a:p>
          <a:p>
            <a:pPr algn="l">
              <a:spcAft>
                <a:spcPts val="800"/>
              </a:spcAft>
            </a:pPr>
            <a:r>
              <a:rPr sz="1450" b="0">
                <a:solidFill>
                  <a:srgbClr val="161B26"/>
                </a:solidFill>
                <a:latin typeface="Arial"/>
              </a:rPr>
              <a:t>Run the same verified brief through Microsoft 365 Copilot and Gemini Notebook. Generate a Gemini Notebook Infographic plus Presenter Slides, preserve the deck as PPTX where available or PDF with a documented rebuild route, compare both routes and refine the selected master in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Microsoft output, Gemini Notebook infographic and downloaded PPTX or PDF, comparison scorecard, reviewed final PowerPoint and prompt/source log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Compare Microsoft 365 Copilot and Gemini Notebook</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the prompt include to prevent a generic output?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data cannot be sent to an unapproved service?</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be rebuilt as native PowerPoint objects?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signs off the final infographic?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wipe dir="l"/>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Compare Microsoft 365 Copilot and Gemini Notebook</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AI accelerate options without becoming the source of truth?</a:t>
            </a:r>
          </a:p>
          <a:p>
            <a:pPr>
              <a:spcAft>
                <a:spcPts val="900"/>
              </a:spcAft>
            </a:pPr>
            <a:r>
              <a:rPr sz="1450" b="0">
                <a:solidFill>
                  <a:srgbClr val="161B26"/>
                </a:solidFill>
                <a:latin typeface="Arial"/>
              </a:rPr>
              <a:t>•  Is the final result independently editable and auditable?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slide records the prompt, sources and human changes; all claims are verified and the decision evidence remains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Create Infographics in PowerPoint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Build from Microsoft Infographic Maker</a:t>
            </a:r>
          </a:p>
          <a:p>
            <a:pPr algn="l">
              <a:spcAft>
                <a:spcPts val="300"/>
              </a:spcAft>
            </a:pPr>
            <a:r>
              <a:rPr sz="1200" b="0">
                <a:solidFill>
                  <a:srgbClr val="5B6372"/>
                </a:solidFill>
                <a:latin typeface="Arial"/>
              </a:rPr>
              <a:t>You can now: adapt a Microsoft infographic template while preserving hierarchy, editability, brand and evidence.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Generate Visual Assets and Refine Them in PowerPoint</a:t>
            </a:r>
          </a:p>
          <a:p>
            <a:pPr algn="l">
              <a:spcAft>
                <a:spcPts val="300"/>
              </a:spcAft>
            </a:pPr>
            <a:r>
              <a:rPr sz="1200" b="0">
                <a:solidFill>
                  <a:srgbClr val="5B6372"/>
                </a:solidFill>
                <a:latin typeface="Arial"/>
              </a:rPr>
              <a:t>You can now: use text-to-image prompting to generate a consistent asset set, then combine it with editable PowerPoint labels, shapes, connectors and SmartArt.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Use AI Analysis to Build a Native PowerPoint Data Story</a:t>
            </a:r>
          </a:p>
          <a:p>
            <a:pPr algn="l">
              <a:spcAft>
                <a:spcPts val="300"/>
              </a:spcAft>
            </a:pPr>
            <a:r>
              <a:rPr sz="1200" b="0">
                <a:solidFill>
                  <a:srgbClr val="5B6372"/>
                </a:solidFill>
                <a:latin typeface="Arial"/>
              </a:rPr>
              <a:t>You can now: use AI to clean and analyse mock Excel data, verify calculations, then create a native editable chart and decision story in PowerPoint.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Compare Microsoft 365 Copilot and Gemini Notebook</a:t>
            </a:r>
          </a:p>
          <a:p>
            <a:pPr algn="l">
              <a:spcAft>
                <a:spcPts val="300"/>
              </a:spcAft>
            </a:pPr>
            <a:r>
              <a:rPr sz="1200" b="0">
                <a:solidFill>
                  <a:srgbClr val="5B6372"/>
                </a:solidFill>
                <a:latin typeface="Arial"/>
              </a:rPr>
              <a:t>You can now: generate the same source-grounded infographic brief in Microsoft 365 Copilot and Gemini Notebook, bring the Gemini Notebook deck into PowerPoint through PPTX download or a documented PDF rebuild route, and compare both routes before refinement.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fastest workflow keeps the message editable.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templates and AI for options; keep data, charts, labels and decisions under human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zoom/>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Review Infographics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Story · Context · Simplicity · Coaching · Budget · Effectiveness ·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push dir="l"/>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Review Infographics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Effective review separates message clarity, data integrity, visual hierarchy, accessibility, audience fit and business usefulness.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Coaching uses specific observations, questions and criteria rather than taste-based comments such as 'make it pop'.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Tool investment is evaluated through capability, licence, learning, production, governance, collaboration and maintenance costs.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Improvement is evidence-led: gather feedback, prioritise changes, revise the controlled master and retest the intended outcome.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Six Dimensions of Infographic Effectiveness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professional review connects design decisions to audience and business outcomes.</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Clarity</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audience can state the message and action without trainer explanation.</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Integrity</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Data, scale, context, source and uncertainty are accurate and visible.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Hierarchy</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reading order guides attention to evidence and implication.</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Accessibility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Contrast, text size, labels, alt text and non-colour cues support access.</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Engagement</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visual earns attention without chart junk or decorative distraction.</a:t>
            </a:r>
          </a:p>
        </p:txBody>
      </p:sp>
      <p:sp>
        <p:nvSpPr>
          <p:cNvPr id="27" name="Rectangle 26"/>
          <p:cNvSpPr/>
          <p:nvPr/>
        </p:nvSpPr>
        <p:spPr>
          <a:xfrm>
            <a:off x="6231636"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4928616"/>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5956" y="5093208"/>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Business fit</a:t>
            </a:r>
          </a:p>
        </p:txBody>
      </p:sp>
      <p:sp>
        <p:nvSpPr>
          <p:cNvPr id="30" name="TextBox 29"/>
          <p:cNvSpPr txBox="1"/>
          <p:nvPr/>
        </p:nvSpPr>
        <p:spPr>
          <a:xfrm>
            <a:off x="6505956"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output supports the stated decision, channel, resources and governance.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QUALITY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 and Don't: Review the Story, Not Just the Style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legacy deck's core dos and don'ts remain valid and are now tied to review criteria.</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Don't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Meaning</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Rely on iconography alone</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Use icons with direct labels and explanatory context</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Decoration</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Add chart junk, 3-D effects or unnecessary elements</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Keep graphical elements simple and purposeful</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Context</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Show a number without comparison, unit or source</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Provide scale, timeframe, denominator and implication</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Story</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Present isolated facts in template order</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Create a narrative that leads from question to evidence to action</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Scope</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Include every available piece of information</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Curate the minimum evidence needed for the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CONTINUOUS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Evidence-Led Improvement Loop</a:t>
            </a:r>
          </a:p>
        </p:txBody>
      </p:sp>
      <p:sp>
        <p:nvSpPr>
          <p:cNvPr id="6" name="Rectangle 5"/>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Observe audience outcome</a:t>
            </a:r>
          </a:p>
        </p:txBody>
      </p:sp>
      <p:sp>
        <p:nvSpPr>
          <p:cNvPr id="11" name="Chevron 10"/>
          <p:cNvSpPr/>
          <p:nvPr/>
        </p:nvSpPr>
        <p:spPr>
          <a:xfrm>
            <a:off x="270296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Diagnose six dimensions</a:t>
            </a:r>
          </a:p>
        </p:txBody>
      </p:sp>
      <p:sp>
        <p:nvSpPr>
          <p:cNvPr id="17" name="Chevron 16"/>
          <p:cNvSpPr/>
          <p:nvPr/>
        </p:nvSpPr>
        <p:spPr>
          <a:xfrm>
            <a:off x="488472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Prioritise by impact</a:t>
            </a:r>
          </a:p>
        </p:txBody>
      </p:sp>
      <p:sp>
        <p:nvSpPr>
          <p:cNvPr id="23" name="Chevron 22"/>
          <p:cNvSpPr/>
          <p:nvPr/>
        </p:nvSpPr>
        <p:spPr>
          <a:xfrm>
            <a:off x="706648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Assign and revise</a:t>
            </a:r>
          </a:p>
        </p:txBody>
      </p:sp>
      <p:sp>
        <p:nvSpPr>
          <p:cNvPr id="29" name="Chevron 28"/>
          <p:cNvSpPr/>
          <p:nvPr/>
        </p:nvSpPr>
        <p:spPr>
          <a:xfrm>
            <a:off x="92482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Retest and approve</a:t>
            </a:r>
          </a:p>
        </p:txBody>
      </p:sp>
      <p:sp>
        <p:nvSpPr>
          <p:cNvPr id="35" name="Rectangle 3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revision is complete only when the controlled master, evidence and acceptance check are updated together.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RESOURCE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Beyond the Licence Fee</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LICENCE</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Subscription, add-ons and user count</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LEARN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Training, templates and adoption support</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BUILD</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Production and collaboration time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REVIEW</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Data, brand, accessibility and legal checks</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MAINTAIN</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Updates, asset libraries and controlled masters</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REWORK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Errors, lock-in, export failures and continuity risk</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The lowest monthly price may create the highest total resource cost.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coaching that turns observation into an actionable improvement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coaching that turns observation into an actionable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Describe what the reader sees or experiences without judging intent.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a:t>
            </a:r>
          </a:p>
          <a:p>
            <a:pPr algn="l">
              <a:spcAft>
                <a:spcPts val="300"/>
              </a:spcAft>
            </a:pPr>
            <a:r>
              <a:rPr sz="1200" b="0">
                <a:solidFill>
                  <a:srgbClr val="5B6372"/>
                </a:solidFill>
                <a:latin typeface="Arial"/>
              </a:rPr>
              <a:t>Ask which audience, message, decision or constraint drove the choice.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Explain</a:t>
            </a:r>
          </a:p>
          <a:p>
            <a:pPr algn="l">
              <a:spcAft>
                <a:spcPts val="300"/>
              </a:spcAft>
            </a:pPr>
            <a:r>
              <a:rPr sz="1200" b="0">
                <a:solidFill>
                  <a:srgbClr val="5B6372"/>
                </a:solidFill>
                <a:latin typeface="Arial"/>
              </a:rPr>
              <a:t>Connect the issue to a principle or observed outcome.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a:t>
            </a:r>
          </a:p>
          <a:p>
            <a:pPr algn="l">
              <a:spcAft>
                <a:spcPts val="300"/>
              </a:spcAft>
            </a:pPr>
            <a:r>
              <a:rPr sz="1200" b="0">
                <a:solidFill>
                  <a:srgbClr val="5B6372"/>
                </a:solidFill>
                <a:latin typeface="Arial"/>
              </a:rPr>
              <a:t>Recommend one testable change and define what better looks like.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Observe, Ask, Explain, Suggest, Confirm</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Observe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visible issue specifically.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Ask</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Clarify the designer's goal and constraints.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Link to hierarchy, integrity, access or audience fit.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Suggest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Propose one prioritised change.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Confirm</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Agree the revision and acceptance check.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Taste Comment vs Coaching Feedback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Taste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Criteria-based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Make it pop</a:t>
            </a:r>
          </a:p>
          <a:p>
            <a:pPr>
              <a:spcAft>
                <a:spcPts val="1000"/>
              </a:spcAft>
            </a:pPr>
            <a:r>
              <a:rPr sz="1600" b="0">
                <a:solidFill>
                  <a:srgbClr val="161B26"/>
                </a:solidFill>
                <a:latin typeface="Arial"/>
              </a:rPr>
              <a:t>•  I don't like the colours</a:t>
            </a:r>
          </a:p>
          <a:p>
            <a:pPr>
              <a:spcAft>
                <a:spcPts val="1000"/>
              </a:spcAft>
            </a:pPr>
            <a:r>
              <a:rPr sz="1600" b="0">
                <a:solidFill>
                  <a:srgbClr val="161B26"/>
                </a:solidFill>
                <a:latin typeface="Arial"/>
              </a:rPr>
              <a:t>•  Add more icons</a:t>
            </a:r>
          </a:p>
          <a:p>
            <a:pPr>
              <a:spcAft>
                <a:spcPts val="1000"/>
              </a:spcAft>
            </a:pPr>
            <a:r>
              <a:rPr sz="1600" b="0">
                <a:solidFill>
                  <a:srgbClr val="161B26"/>
                </a:solidFill>
                <a:latin typeface="Arial"/>
              </a:rPr>
              <a:t>•  It feels boring</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title labels a topic but does not state the insight</a:t>
            </a:r>
          </a:p>
          <a:p>
            <a:pPr>
              <a:spcAft>
                <a:spcPts val="1000"/>
              </a:spcAft>
            </a:pPr>
            <a:r>
              <a:rPr sz="1600" b="0">
                <a:solidFill>
                  <a:srgbClr val="161B26"/>
                </a:solidFill>
                <a:latin typeface="Arial"/>
              </a:rPr>
              <a:t>•  Body text falls below the agreed size</a:t>
            </a:r>
          </a:p>
          <a:p>
            <a:pPr>
              <a:spcAft>
                <a:spcPts val="1000"/>
              </a:spcAft>
            </a:pPr>
            <a:r>
              <a:rPr sz="1600" b="0">
                <a:solidFill>
                  <a:srgbClr val="161B26"/>
                </a:solidFill>
                <a:latin typeface="Arial"/>
              </a:rPr>
              <a:t>•  Three icon styles disrupt the visual grammar</a:t>
            </a:r>
          </a:p>
          <a:p>
            <a:pPr>
              <a:spcAft>
                <a:spcPts val="1000"/>
              </a:spcAft>
            </a:pPr>
            <a:r>
              <a:rPr sz="1600" b="0">
                <a:solidFill>
                  <a:srgbClr val="161B26"/>
                </a:solidFill>
                <a:latin typeface="Arial"/>
              </a:rPr>
              <a:t>•  The accent does not guide attention to the decision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 Lens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a:t>
            </a:r>
          </a:p>
          <a:p>
            <a:pPr algn="l">
              <a:spcAft>
                <a:spcPts val="300"/>
              </a:spcAft>
            </a:pPr>
            <a:r>
              <a:rPr sz="1200" b="0">
                <a:solidFill>
                  <a:srgbClr val="5B6372"/>
                </a:solidFill>
                <a:latin typeface="Arial"/>
              </a:rPr>
              <a:t>Can the audience state the takeaway?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Are claims accurate, contextualised and sourced?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text size and alt text adequate?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Story</a:t>
            </a:r>
          </a:p>
          <a:p>
            <a:pPr algn="l">
              <a:spcAft>
                <a:spcPts val="300"/>
              </a:spcAft>
            </a:pPr>
            <a:r>
              <a:rPr sz="1200" b="0">
                <a:solidFill>
                  <a:srgbClr val="5B6372"/>
                </a:solidFill>
                <a:latin typeface="Arial"/>
              </a:rPr>
              <a:t>Do evidence and action connect logically?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Does the output match the audience and channel?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Each learner presents one infographic from Activities 3–6 to two peers. The group must distinguish aesthetic preference from evidence-based review.</a:t>
            </a:r>
          </a:p>
          <a:p>
            <a:pPr algn="l">
              <a:spcAft>
                <a:spcPts val="800"/>
              </a:spcAft>
            </a:pPr>
            <a:r>
              <a:rPr sz="1450" b="0">
                <a:solidFill>
                  <a:srgbClr val="161B26"/>
                </a:solidFill>
                <a:latin typeface="Arial"/>
              </a:rPr>
              <a:t>Capture two observations, two strengths, two improvements and one agreed revision. Then revise the master and record the change.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peer-review log, revised infographic and short reflection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7" name="Rectangle 6"/>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Designer</a:t>
            </a:r>
          </a:p>
        </p:txBody>
      </p:sp>
      <p:sp>
        <p:nvSpPr>
          <p:cNvPr id="10" name="TextBox 9"/>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1" name="TextBox 10"/>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explain the intended audience and message</a:t>
            </a:r>
          </a:p>
        </p:txBody>
      </p:sp>
      <p:sp>
        <p:nvSpPr>
          <p:cNvPr id="12" name="TextBox 11"/>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Listen without defending every choice; ask for evidence.</a:t>
            </a:r>
          </a:p>
        </p:txBody>
      </p:sp>
      <p:sp>
        <p:nvSpPr>
          <p:cNvPr id="13" name="Rectangle 12"/>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Reviewer</a:t>
            </a:r>
          </a:p>
        </p:txBody>
      </p:sp>
      <p:sp>
        <p:nvSpPr>
          <p:cNvPr id="16" name="TextBox 15"/>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7" name="TextBox 16"/>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give criteria-based feedback</a:t>
            </a:r>
          </a:p>
        </p:txBody>
      </p:sp>
      <p:sp>
        <p:nvSpPr>
          <p:cNvPr id="18" name="TextBox 17"/>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Use observations, questions and one prioritised suggestion.</a:t>
            </a:r>
          </a:p>
        </p:txBody>
      </p:sp>
      <p:sp>
        <p:nvSpPr>
          <p:cNvPr id="19" name="Rectangle 18"/>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Audience representative</a:t>
            </a:r>
          </a:p>
        </p:txBody>
      </p:sp>
      <p:sp>
        <p:nvSpPr>
          <p:cNvPr id="22" name="TextBox 21"/>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3" name="TextBox 22"/>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test comprehension</a:t>
            </a:r>
          </a:p>
        </p:txBody>
      </p:sp>
      <p:sp>
        <p:nvSpPr>
          <p:cNvPr id="24" name="TextBox 23"/>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State what you understood, what confused you and what action you would take.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wipe dir="l"/>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did the audience understand first?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issue has the greatest decision impact?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feedback is evidence-based rather than taste?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change be tested?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wipe dir="l"/>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Peer Coaching and Story Review</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the feedback specific and respectful?</a:t>
            </a:r>
          </a:p>
          <a:p>
            <a:pPr>
              <a:spcAft>
                <a:spcPts val="900"/>
              </a:spcAft>
            </a:pPr>
            <a:r>
              <a:rPr sz="1450" b="0">
                <a:solidFill>
                  <a:srgbClr val="161B26"/>
                </a:solidFill>
                <a:latin typeface="Arial"/>
              </a:rPr>
              <a:t>•  Did the revision improve the intended outcome rather than merely change the style?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review log contains observed evidence, a principle-based diagnosis, one prioritised change, a named owner and an acceptance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tool and resource decision tied to business outcomes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tool and resource decision tied to business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Templates, native charts, AI generation, brand control, collaboration and export.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Total cost</a:t>
            </a:r>
          </a:p>
          <a:p>
            <a:pPr algn="l">
              <a:spcAft>
                <a:spcPts val="300"/>
              </a:spcAft>
            </a:pPr>
            <a:r>
              <a:rPr sz="1200" b="0">
                <a:solidFill>
                  <a:srgbClr val="5B6372"/>
                </a:solidFill>
                <a:latin typeface="Arial"/>
              </a:rPr>
              <a:t>Licence, learning, production time, governance, maintenance and rework.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Effectiveness</a:t>
            </a:r>
          </a:p>
          <a:p>
            <a:pPr algn="l">
              <a:spcAft>
                <a:spcPts val="300"/>
              </a:spcAft>
            </a:pPr>
            <a:r>
              <a:rPr sz="1200" b="0">
                <a:solidFill>
                  <a:srgbClr val="5B6372"/>
                </a:solidFill>
                <a:latin typeface="Arial"/>
              </a:rPr>
              <a:t>Clarity, comprehension, engagement, action, accuracy and accessibility.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Data handling, rights, lock-in, editability, continuity and auditability.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Investment Decision Loop</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Need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outputs, volume, users and business outcomes.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capability, cost, workflow and risk.</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Pilot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the same brief in shortlisted workflows.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Measure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Collect quality, time, adoption and outcome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Decide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Recommend tools, budget, controls and review date.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Low Price vs Low Total Cost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Licence-only view</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Total-resource view</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fee</a:t>
            </a:r>
          </a:p>
          <a:p>
            <a:pPr>
              <a:spcAft>
                <a:spcPts val="1000"/>
              </a:spcAft>
            </a:pPr>
            <a:r>
              <a:rPr sz="1600" b="0">
                <a:solidFill>
                  <a:srgbClr val="161B26"/>
                </a:solidFill>
                <a:latin typeface="Arial"/>
              </a:rPr>
              <a:t>•  Template count</a:t>
            </a:r>
          </a:p>
          <a:p>
            <a:pPr>
              <a:spcAft>
                <a:spcPts val="1000"/>
              </a:spcAft>
            </a:pPr>
            <a:r>
              <a:rPr sz="1600" b="0">
                <a:solidFill>
                  <a:srgbClr val="161B26"/>
                </a:solidFill>
                <a:latin typeface="Arial"/>
              </a:rPr>
              <a:t>•  AI generation speed</a:t>
            </a:r>
          </a:p>
          <a:p>
            <a:pPr>
              <a:spcAft>
                <a:spcPts val="1000"/>
              </a:spcAft>
            </a:pPr>
            <a:r>
              <a:rPr sz="1600" b="0">
                <a:solidFill>
                  <a:srgbClr val="161B26"/>
                </a:solidFill>
                <a:latin typeface="Arial"/>
              </a:rPr>
              <a:t>•  Headline export feature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Licence + learning + review + maintenance</a:t>
            </a:r>
          </a:p>
          <a:p>
            <a:pPr>
              <a:spcAft>
                <a:spcPts val="1000"/>
              </a:spcAft>
            </a:pPr>
            <a:r>
              <a:rPr sz="1600" b="0">
                <a:solidFill>
                  <a:srgbClr val="161B26"/>
                </a:solidFill>
                <a:latin typeface="Arial"/>
              </a:rPr>
              <a:t>•  Brand and accessibility control</a:t>
            </a:r>
          </a:p>
          <a:p>
            <a:pPr>
              <a:spcAft>
                <a:spcPts val="1000"/>
              </a:spcAft>
            </a:pPr>
            <a:r>
              <a:rPr sz="1600" b="0">
                <a:solidFill>
                  <a:srgbClr val="161B26"/>
                </a:solidFill>
                <a:latin typeface="Arial"/>
              </a:rPr>
              <a:t>•  Editability and collaboration</a:t>
            </a:r>
          </a:p>
          <a:p>
            <a:pPr>
              <a:spcAft>
                <a:spcPts val="1000"/>
              </a:spcAft>
            </a:pPr>
            <a:r>
              <a:rPr sz="1600" b="0">
                <a:solidFill>
                  <a:srgbClr val="161B26"/>
                </a:solidFill>
                <a:latin typeface="Arial"/>
              </a:rPr>
              <a:t>•  Governance, continuity and rework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Scorecard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35%</a:t>
            </a:r>
          </a:p>
          <a:p>
            <a:pPr algn="l">
              <a:spcAft>
                <a:spcPts val="300"/>
              </a:spcAft>
            </a:pPr>
            <a:r>
              <a:rPr sz="1200" b="0">
                <a:solidFill>
                  <a:srgbClr val="5B6372"/>
                </a:solidFill>
                <a:latin typeface="Arial"/>
              </a:rPr>
              <a:t>Message and data effectiveness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a:t>
            </a:r>
          </a:p>
          <a:p>
            <a:pPr algn="l">
              <a:spcAft>
                <a:spcPts val="300"/>
              </a:spcAft>
            </a:pPr>
            <a:r>
              <a:rPr sz="1200" b="0">
                <a:solidFill>
                  <a:srgbClr val="5B6372"/>
                </a:solidFill>
                <a:latin typeface="Arial"/>
              </a:rPr>
              <a:t>Editability and workflow fit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Brand and accessibility control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Privacy, rights and governance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Total resource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option passes with unverified data or public answer-key risk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and Effectiveness Decision</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can fund one standard workflow for 12 staff. Options include PowerPoint templates only, PowerPoint with Copilot, Gemini Notebook with PowerPoint, or a mixed AI workflow with PowerPoint as the controlled final-production layer.</a:t>
            </a:r>
          </a:p>
          <a:p>
            <a:pPr algn="l">
              <a:spcAft>
                <a:spcPts val="800"/>
              </a:spcAft>
            </a:pPr>
            <a:r>
              <a:rPr sz="1450" b="0">
                <a:solidFill>
                  <a:srgbClr val="161B26"/>
                </a:solidFill>
                <a:latin typeface="Arial"/>
              </a:rPr>
              <a:t>Use the supplied budget workbook and effectiveness evidence to recommend a 12-month tool, training and governance plan aligned with business outcomes.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weighted tool-investment scorecard and one-page resource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and Effectiveness Decision</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business outcomes define effectiveness?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hidden resource costs could reverse the decision?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risks are hard gates rather than weighted preferences?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When should the investment be reviewed?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wipe dir="l"/>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and Effectiveness Decision</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Does the recommendation distinguish price from total cost?</a:t>
            </a:r>
          </a:p>
          <a:p>
            <a:pPr>
              <a:spcAft>
                <a:spcPts val="900"/>
              </a:spcAft>
            </a:pPr>
            <a:r>
              <a:rPr sz="1450" b="0">
                <a:solidFill>
                  <a:srgbClr val="161B26"/>
                </a:solidFill>
                <a:latin typeface="Arial"/>
              </a:rPr>
              <a:t>•  Are effectiveness criteria linked to observed business outcomes?</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recommendation names the preferred workflow, budget, ownership, governance controls, success metrics and review 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Review Infographics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Peer Coaching and Story Review</a:t>
            </a:r>
          </a:p>
          <a:p>
            <a:pPr algn="l">
              <a:spcAft>
                <a:spcPts val="300"/>
              </a:spcAft>
            </a:pPr>
            <a:r>
              <a:rPr sz="1200" b="0">
                <a:solidFill>
                  <a:srgbClr val="5B6372"/>
                </a:solidFill>
                <a:latin typeface="Arial"/>
              </a:rPr>
              <a:t>You can now: give specific criteria-based feedback and revise an infographic to improve clarity, story and accessibility.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Budget and Effectiveness Decision</a:t>
            </a:r>
          </a:p>
          <a:p>
            <a:pPr algn="l">
              <a:spcAft>
                <a:spcPts val="300"/>
              </a:spcAft>
            </a:pPr>
            <a:r>
              <a:rPr sz="1200" b="0">
                <a:solidFill>
                  <a:srgbClr val="5B6372"/>
                </a:solidFill>
                <a:latin typeface="Arial"/>
              </a:rPr>
              <a:t>You can now: compare infographic-tool investment options and recommend a resource plan using effectiveness and governance criteria.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beautiful visual can still fail the business question.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clarity, accuracy, accessibility, engagement, resource fit and the action the audience can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zoom/>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1</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an infographic with Microsoft 365 Copilot</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Edit with Copilot in PowerPoint</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Google Gemini Notebook Help: Generate an Infographic</a:t>
            </a:r>
          </a:p>
          <a:p>
            <a:pPr algn="l">
              <a:spcAft>
                <a:spcPts val="300"/>
              </a:spcAft>
            </a:pPr>
            <a:r>
              <a:rPr sz="1000" b="0">
                <a:solidFill>
                  <a:srgbClr val="5B6372"/>
                </a:solidFill>
                <a:latin typeface="Arial"/>
              </a:rPr>
              <a:t>support.google.com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Google Gemini Notebook Help: Generate a Slide Deck</a:t>
            </a:r>
          </a:p>
          <a:p>
            <a:pPr algn="l">
              <a:spcAft>
                <a:spcPts val="300"/>
              </a:spcAft>
            </a:pPr>
            <a:r>
              <a:rPr sz="1000" b="0">
                <a:solidFill>
                  <a:srgbClr val="5B6372"/>
                </a:solidFill>
                <a:latin typeface="Arial"/>
              </a:rPr>
              <a:t>support.google.com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Analytics Vidhya: Infographics and PPTs with NotebookLM (now Gemini Notebook)</a:t>
            </a:r>
          </a:p>
          <a:p>
            <a:pPr algn="l">
              <a:spcAft>
                <a:spcPts val="300"/>
              </a:spcAft>
            </a:pPr>
            <a:r>
              <a:rPr sz="1000" b="0">
                <a:solidFill>
                  <a:srgbClr val="5B6372"/>
                </a:solidFill>
                <a:latin typeface="Arial"/>
              </a:rPr>
              <a:t>analyticsvidhya.com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Alex McFarland: Create infographics with NotebookLM (now Gemini Notebook)</a:t>
            </a:r>
          </a:p>
          <a:p>
            <a:pPr algn="l">
              <a:spcAft>
                <a:spcPts val="300"/>
              </a:spcAft>
            </a:pPr>
            <a:r>
              <a:rPr sz="1000" b="0">
                <a:solidFill>
                  <a:srgbClr val="5B6372"/>
                </a:solidFill>
                <a:latin typeface="Arial"/>
              </a:rPr>
              <a:t>alexmcfarland.substack.com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Paul J Lipsky: NotebookLM infographic style prompts (now Gemini Notebook)</a:t>
            </a:r>
          </a:p>
          <a:p>
            <a:pPr algn="l">
              <a:spcAft>
                <a:spcPts val="300"/>
              </a:spcAft>
            </a:pPr>
            <a:r>
              <a:rPr sz="1000" b="0">
                <a:solidFill>
                  <a:srgbClr val="5B6372"/>
                </a:solidFill>
                <a:latin typeface="Arial"/>
              </a:rPr>
              <a:t>youtube.com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or remove chart titles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alternative text</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Make presentations accessible</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3</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Change slide size</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Align or arrange objects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Insert icons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Use charts and graphs</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SmartArt graphics</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4</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400" b="1">
                <a:solidFill>
                  <a:srgbClr val="161B26"/>
                </a:solidFill>
                <a:latin typeface="Arial"/>
              </a:rPr>
              <a:t>W3C: Understanding Success Criterion 1.4.3 Contrast</a:t>
            </a:r>
          </a:p>
          <a:p>
            <a:pPr algn="l">
              <a:spcAft>
                <a:spcPts val="300"/>
              </a:spcAft>
            </a:pPr>
            <a:r>
              <a:rPr sz="1000" b="0">
                <a:solidFill>
                  <a:srgbClr val="5B6372"/>
                </a:solidFill>
                <a:latin typeface="Arial"/>
              </a:rPr>
              <a:t>w3.org</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400" b="1">
                <a:solidFill>
                  <a:srgbClr val="161B26"/>
                </a:solidFill>
                <a:latin typeface="Arial"/>
              </a:rPr>
              <a:t>Datawrapper Academy: What to consider when creating charts</a:t>
            </a:r>
          </a:p>
          <a:p>
            <a:pPr algn="l">
              <a:spcAft>
                <a:spcPts val="300"/>
              </a:spcAft>
            </a:pPr>
            <a:r>
              <a:rPr sz="1000" b="0">
                <a:solidFill>
                  <a:srgbClr val="5B6372"/>
                </a:solidFill>
                <a:latin typeface="Arial"/>
              </a:rPr>
              <a:t>academy.datawrapper.de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CLEAR Infographic Workflow</a:t>
            </a:r>
          </a:p>
        </p:txBody>
      </p:sp>
      <p:sp>
        <p:nvSpPr>
          <p:cNvPr id="6" name="TextBox 5"/>
          <p:cNvSpPr txBox="1"/>
          <p:nvPr/>
        </p:nvSpPr>
        <p:spPr>
          <a:xfrm>
            <a:off x="777240"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01</a:t>
            </a:r>
          </a:p>
        </p:txBody>
      </p:sp>
      <p:sp>
        <p:nvSpPr>
          <p:cNvPr id="7" name="TextBox 6"/>
          <p:cNvSpPr txBox="1"/>
          <p:nvPr/>
        </p:nvSpPr>
        <p:spPr>
          <a:xfrm>
            <a:off x="777240"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Collect</a:t>
            </a:r>
          </a:p>
        </p:txBody>
      </p:sp>
      <p:sp>
        <p:nvSpPr>
          <p:cNvPr id="8" name="TextBox 7"/>
          <p:cNvSpPr txBox="1"/>
          <p:nvPr/>
        </p:nvSpPr>
        <p:spPr>
          <a:xfrm>
            <a:off x="777240"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Use approved AI tools to gather and organise relevant files, URLs, video transcripts and datasets.</a:t>
            </a:r>
          </a:p>
        </p:txBody>
      </p:sp>
      <p:sp>
        <p:nvSpPr>
          <p:cNvPr id="9" name="TextBox 8"/>
          <p:cNvSpPr txBox="1"/>
          <p:nvPr/>
        </p:nvSpPr>
        <p:spPr>
          <a:xfrm>
            <a:off x="2966313"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02</a:t>
            </a:r>
          </a:p>
        </p:txBody>
      </p:sp>
      <p:sp>
        <p:nvSpPr>
          <p:cNvPr id="10" name="TextBox 9"/>
          <p:cNvSpPr txBox="1"/>
          <p:nvPr/>
        </p:nvSpPr>
        <p:spPr>
          <a:xfrm>
            <a:off x="2966313" y="2697480"/>
            <a:ext cx="1878177" cy="685800"/>
          </a:xfrm>
          <a:prstGeom prst="rect">
            <a:avLst/>
          </a:prstGeom>
          <a:noFill/>
        </p:spPr>
        <p:txBody>
          <a:bodyPr wrap="square" anchor="t">
            <a:spAutoFit/>
          </a:bodyPr>
          <a:lstStyle/>
          <a:p>
            <a:pPr algn="l">
              <a:spcAft>
                <a:spcPts val="400"/>
              </a:spcAft>
            </a:pPr>
            <a:r>
              <a:rPr sz="1600" b="1">
                <a:solidFill>
                  <a:srgbClr val="10B981"/>
                </a:solidFill>
                <a:latin typeface="Arial"/>
              </a:rPr>
              <a:t>Analyse</a:t>
            </a:r>
          </a:p>
        </p:txBody>
      </p:sp>
      <p:sp>
        <p:nvSpPr>
          <p:cNvPr id="11" name="TextBox 10"/>
          <p:cNvSpPr txBox="1"/>
          <p:nvPr/>
        </p:nvSpPr>
        <p:spPr>
          <a:xfrm>
            <a:off x="2966313"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Clean the data, reconcile units and periods, test patterns and extract candidate insights with citations.</a:t>
            </a:r>
          </a:p>
        </p:txBody>
      </p:sp>
      <p:sp>
        <p:nvSpPr>
          <p:cNvPr id="12" name="TextBox 11"/>
          <p:cNvSpPr txBox="1"/>
          <p:nvPr/>
        </p:nvSpPr>
        <p:spPr>
          <a:xfrm>
            <a:off x="5155386"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03</a:t>
            </a:r>
          </a:p>
        </p:txBody>
      </p:sp>
      <p:sp>
        <p:nvSpPr>
          <p:cNvPr id="13" name="TextBox 12"/>
          <p:cNvSpPr txBox="1"/>
          <p:nvPr/>
        </p:nvSpPr>
        <p:spPr>
          <a:xfrm>
            <a:off x="5155386" y="2697480"/>
            <a:ext cx="1878177" cy="685800"/>
          </a:xfrm>
          <a:prstGeom prst="rect">
            <a:avLst/>
          </a:prstGeom>
          <a:noFill/>
        </p:spPr>
        <p:txBody>
          <a:bodyPr wrap="square" anchor="t">
            <a:spAutoFit/>
          </a:bodyPr>
          <a:lstStyle/>
          <a:p>
            <a:pPr algn="l">
              <a:spcAft>
                <a:spcPts val="400"/>
              </a:spcAft>
            </a:pPr>
            <a:r>
              <a:rPr sz="1600" b="1">
                <a:solidFill>
                  <a:srgbClr val="7C3AED"/>
                </a:solidFill>
                <a:latin typeface="Arial"/>
              </a:rPr>
              <a:t>Generate</a:t>
            </a:r>
          </a:p>
        </p:txBody>
      </p:sp>
      <p:sp>
        <p:nvSpPr>
          <p:cNvPr id="14" name="TextBox 13"/>
          <p:cNvSpPr txBox="1"/>
          <p:nvPr/>
        </p:nvSpPr>
        <p:spPr>
          <a:xfrm>
            <a:off x="5155386"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Prompt Microsoft 365 Copilot, Gemini Notebook or a text-to-image tool for evidence-led visual directions.</a:t>
            </a:r>
          </a:p>
        </p:txBody>
      </p:sp>
      <p:sp>
        <p:nvSpPr>
          <p:cNvPr id="15" name="TextBox 14"/>
          <p:cNvSpPr txBox="1"/>
          <p:nvPr/>
        </p:nvSpPr>
        <p:spPr>
          <a:xfrm>
            <a:off x="7344459"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04</a:t>
            </a:r>
          </a:p>
        </p:txBody>
      </p:sp>
      <p:sp>
        <p:nvSpPr>
          <p:cNvPr id="16" name="TextBox 15"/>
          <p:cNvSpPr txBox="1"/>
          <p:nvPr/>
        </p:nvSpPr>
        <p:spPr>
          <a:xfrm>
            <a:off x="7344459" y="2697480"/>
            <a:ext cx="1878177" cy="685800"/>
          </a:xfrm>
          <a:prstGeom prst="rect">
            <a:avLst/>
          </a:prstGeom>
          <a:noFill/>
        </p:spPr>
        <p:txBody>
          <a:bodyPr wrap="square" anchor="t">
            <a:spAutoFit/>
          </a:bodyPr>
          <a:lstStyle/>
          <a:p>
            <a:pPr algn="l">
              <a:spcAft>
                <a:spcPts val="400"/>
              </a:spcAft>
            </a:pPr>
            <a:r>
              <a:rPr sz="1600" b="1">
                <a:solidFill>
                  <a:srgbClr val="F59E0B"/>
                </a:solidFill>
                <a:latin typeface="Arial"/>
              </a:rPr>
              <a:t>Refine</a:t>
            </a:r>
          </a:p>
        </p:txBody>
      </p:sp>
      <p:sp>
        <p:nvSpPr>
          <p:cNvPr id="17" name="TextBox 16"/>
          <p:cNvSpPr txBox="1"/>
          <p:nvPr/>
        </p:nvSpPr>
        <p:spPr>
          <a:xfrm>
            <a:off x="7344459"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Convert or rebuild the selected direction in PowerPoint with editable text, charts, labels and brand controls.</a:t>
            </a:r>
          </a:p>
        </p:txBody>
      </p:sp>
      <p:sp>
        <p:nvSpPr>
          <p:cNvPr id="18" name="TextBox 17"/>
          <p:cNvSpPr txBox="1"/>
          <p:nvPr/>
        </p:nvSpPr>
        <p:spPr>
          <a:xfrm>
            <a:off x="9533532"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05</a:t>
            </a:r>
          </a:p>
        </p:txBody>
      </p:sp>
      <p:sp>
        <p:nvSpPr>
          <p:cNvPr id="19" name="TextBox 18"/>
          <p:cNvSpPr txBox="1"/>
          <p:nvPr/>
        </p:nvSpPr>
        <p:spPr>
          <a:xfrm>
            <a:off x="9533532"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Verify</a:t>
            </a:r>
          </a:p>
        </p:txBody>
      </p:sp>
      <p:sp>
        <p:nvSpPr>
          <p:cNvPr id="20" name="TextBox 19"/>
          <p:cNvSpPr txBox="1"/>
          <p:nvPr/>
        </p:nvSpPr>
        <p:spPr>
          <a:xfrm>
            <a:off x="9533532"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Audit truth, privacy, rights, accessibility, provenance and export before release.</a:t>
            </a:r>
          </a:p>
        </p:txBody>
      </p:sp>
      <p:sp>
        <p:nvSpPr>
          <p:cNvPr id="21" name="Rectangle 20"/>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Clarify the question, link the evidence, edit the visual hierarchy, audit the truth and release the right format.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Converted visual patterns into contextualised, defensible recommendations.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Generated options with Copilot, Gemini Notebook and text-to-image AI, then refined editable charts, labels and decisions.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Used peer evidence, resource criteria and governance to improve and invest.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Nine open-ended questions — 30 minutes, open book.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Three progressive tasks — 30 minutes, open book.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move from approved sources to AI-assisted insights and infographic options, then deliver an accurate, editable and accountable PowerPoint master.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Infographics and Data Visualization with PowerPoint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