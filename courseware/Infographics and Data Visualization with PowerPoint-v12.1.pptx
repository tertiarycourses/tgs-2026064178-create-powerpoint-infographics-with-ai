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rtiary-infotech-logo.png"/>
          <p:cNvPicPr>
            <a:picLocks noChangeAspect="1"/>
          </p:cNvPicPr>
          <p:nvPr/>
        </p:nvPicPr>
        <p:blipFill>
          <a:blip r:embed="rId3"/>
          <a:stretch>
            <a:fillRect/>
          </a:stretch>
        </p:blipFill>
        <p:spPr>
          <a:xfrm>
            <a:off x="777240" y="640080"/>
            <a:ext cx="960120" cy="960120"/>
          </a:xfrm>
          <a:prstGeom prst="rect">
            <a:avLst/>
          </a:prstGeom>
        </p:spPr>
      </p:pic>
      <p:sp>
        <p:nvSpPr>
          <p:cNvPr id="7" name="Rectangle 6"/>
          <p:cNvSpPr/>
          <p:nvPr/>
        </p:nvSpPr>
        <p:spPr>
          <a:xfrm>
            <a:off x="9784080" y="658368"/>
            <a:ext cx="16916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0" y="822960"/>
            <a:ext cx="1691640" cy="365760"/>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9" name="TextBox 8"/>
          <p:cNvSpPr txBox="1"/>
          <p:nvPr/>
        </p:nvSpPr>
        <p:spPr>
          <a:xfrm>
            <a:off x="9784080" y="1188720"/>
            <a:ext cx="1691640" cy="320040"/>
          </a:xfrm>
          <a:prstGeom prst="rect">
            <a:avLst/>
          </a:prstGeom>
          <a:noFill/>
        </p:spPr>
        <p:txBody>
          <a:bodyPr wrap="square" anchor="t">
            <a:spAutoFit/>
          </a:bodyPr>
          <a:lstStyle/>
          <a:p>
            <a:pPr algn="ctr">
              <a:spcAft>
                <a:spcPts val="400"/>
              </a:spcAft>
            </a:pPr>
            <a:r>
              <a:rPr sz="900" b="1">
                <a:solidFill>
                  <a:srgbClr val="FFFFFF"/>
                </a:solidFill>
                <a:latin typeface="Arial"/>
              </a:rPr>
              <a:t>COURSE</a:t>
            </a:r>
          </a:p>
        </p:txBody>
      </p:sp>
      <p:sp>
        <p:nvSpPr>
          <p:cNvPr id="10" name="TextBox 9"/>
          <p:cNvSpPr txBox="1"/>
          <p:nvPr/>
        </p:nvSpPr>
        <p:spPr>
          <a:xfrm>
            <a:off x="822960" y="1920240"/>
            <a:ext cx="539496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1" name="TextBox 10"/>
          <p:cNvSpPr txBox="1"/>
          <p:nvPr/>
        </p:nvSpPr>
        <p:spPr>
          <a:xfrm>
            <a:off x="822960" y="2423160"/>
            <a:ext cx="5303520" cy="1828800"/>
          </a:xfrm>
          <a:prstGeom prst="rect">
            <a:avLst/>
          </a:prstGeom>
          <a:noFill/>
        </p:spPr>
        <p:txBody>
          <a:bodyPr wrap="square" anchor="t">
            <a:spAutoFit/>
          </a:bodyPr>
          <a:lstStyle/>
          <a:p>
            <a:pPr algn="l">
              <a:spcAft>
                <a:spcPts val="400"/>
              </a:spcAft>
            </a:pPr>
            <a:r>
              <a:rPr sz="3200" b="1">
                <a:solidFill>
                  <a:srgbClr val="161B26"/>
                </a:solidFill>
                <a:latin typeface="Arial"/>
              </a:rPr>
              <a:t>Infographics and Data Visualization with PowerPoint</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54864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TGS-2026064178</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806440"/>
            <a:ext cx="5486400" cy="365760"/>
          </a:xfrm>
          <a:prstGeom prst="rect">
            <a:avLst/>
          </a:prstGeom>
          <a:noFill/>
        </p:spPr>
        <p:txBody>
          <a:bodyPr wrap="square" anchor="t">
            <a:spAutoFit/>
          </a:bodyPr>
          <a:lstStyle/>
          <a:p>
            <a:pPr algn="l">
              <a:spcAft>
                <a:spcPts val="400"/>
              </a:spcAft>
            </a:pPr>
            <a:r>
              <a:rPr sz="1200" b="0">
                <a:solidFill>
                  <a:srgbClr val="5B6372"/>
                </a:solidFill>
                <a:latin typeface="Arial"/>
              </a:rPr>
              <a:t>Version v12.1  ·  16 August 2026</a:t>
            </a:r>
          </a:p>
        </p:txBody>
      </p:sp>
      <p:sp>
        <p:nvSpPr>
          <p:cNvPr id="15" name="TextBox 14"/>
          <p:cNvSpPr txBox="1"/>
          <p:nvPr/>
        </p:nvSpPr>
        <p:spPr>
          <a:xfrm>
            <a:off x="822960" y="6236208"/>
            <a:ext cx="6400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a:t>
            </a:r>
          </a:p>
        </p:txBody>
      </p:sp>
    </p:spTree>
  </p:cSld>
  <p:clrMapOvr>
    <a:masterClrMapping/>
  </p:clrMapOvr>
  <p:transition spd="fast" advClick="1">
    <p:zoom/>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General Trainer</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before delivery</a:t>
            </a:r>
          </a:p>
        </p:txBody>
      </p:sp>
      <p:sp>
        <p:nvSpPr>
          <p:cNvPr id="12" name="Rectangle 11"/>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5" name="Rectangle 14"/>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8" name="Rectangle 17"/>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1" name="Rectangle 20"/>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4" name="Rectangle 23"/>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7" name="Rectangle 26"/>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2" name="Rectangle 11"/>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5" name="Rectangle 14"/>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 / CREDENTIALS</a:t>
            </a:r>
          </a:p>
          <a:p>
            <a:pPr algn="l">
              <a:spcAft>
                <a:spcPts val="300"/>
              </a:spcAft>
            </a:pPr>
            <a:r>
              <a:rPr sz="1400" b="0">
                <a:solidFill>
                  <a:srgbClr val="161B26"/>
                </a:solidFill>
                <a:latin typeface="Arial"/>
              </a:rPr>
              <a:t>20+ years of training and industry experience.</a:t>
            </a:r>
          </a:p>
        </p:txBody>
      </p:sp>
      <p:sp>
        <p:nvSpPr>
          <p:cNvPr id="18" name="Rectangle 17"/>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PowerPoint, data visualisation, generative AI and workplace productivity.</a:t>
            </a:r>
          </a:p>
        </p:txBody>
      </p:sp>
      <p:sp>
        <p:nvSpPr>
          <p:cNvPr id="21" name="Rectangle 20"/>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Let's Know Each Other</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name and organisation / role.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410712"/>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experience with PowerPoint, charts or infographics (if any).</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946904"/>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One visual communication habit you want to improve during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Actively participate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 eligibility.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ACCREDITATION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Skills Framework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Title</a:t>
            </a:r>
          </a:p>
          <a:p>
            <a:pPr algn="l">
              <a:spcAft>
                <a:spcPts val="300"/>
              </a:spcAft>
            </a:pPr>
            <a:r>
              <a:rPr sz="1300" b="0">
                <a:solidFill>
                  <a:srgbClr val="5B6372"/>
                </a:solidFill>
                <a:latin typeface="Arial"/>
              </a:rPr>
              <a:t>Infographics and Data Visualisation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Code</a:t>
            </a:r>
          </a:p>
          <a:p>
            <a:pPr algn="l">
              <a:spcAft>
                <a:spcPts val="300"/>
              </a:spcAft>
            </a:pPr>
            <a:r>
              <a:rPr sz="1300" b="0">
                <a:solidFill>
                  <a:srgbClr val="5B6372"/>
                </a:solidFill>
                <a:latin typeface="Arial"/>
              </a:rPr>
              <a:t>TOU-DAT-4004-1.1-1</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Proficiency Level</a:t>
            </a:r>
          </a:p>
          <a:p>
            <a:pPr algn="l">
              <a:spcAft>
                <a:spcPts val="300"/>
              </a:spcAft>
            </a:pPr>
            <a:r>
              <a:rPr sz="1300" b="0">
                <a:solidFill>
                  <a:srgbClr val="5B6372"/>
                </a:solidFill>
                <a:latin typeface="Arial"/>
              </a:rPr>
              <a:t>Skills Framework for Tourism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Structure</a:t>
            </a:r>
          </a:p>
          <a:p>
            <a:pPr algn="l">
              <a:spcAft>
                <a:spcPts val="300"/>
              </a:spcAft>
            </a:pPr>
            <a:r>
              <a:rPr sz="1300" b="0">
                <a:solidFill>
                  <a:srgbClr val="5B6372"/>
                </a:solidFill>
                <a:latin typeface="Arial"/>
              </a:rPr>
              <a:t>3 Learning Units aligned to the 3 approved Learning Outcomes.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3 LEARNING UNITS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Outline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LU1 — Introduction to Infographics</a:t>
            </a:r>
          </a:p>
          <a:p>
            <a:pPr algn="l">
              <a:spcAft>
                <a:spcPts val="300"/>
              </a:spcAft>
            </a:pPr>
            <a:r>
              <a:rPr sz="1200" b="0">
                <a:solidFill>
                  <a:srgbClr val="5B6372"/>
                </a:solidFill>
                <a:latin typeface="Arial"/>
              </a:rPr>
              <a:t>Purpose · Types · Audience · Metrics · Planning · Insight extraction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LU2 — Create Infographics in PowerPoint</a:t>
            </a:r>
          </a:p>
          <a:p>
            <a:pPr algn="l">
              <a:spcAft>
                <a:spcPts val="300"/>
              </a:spcAft>
            </a:pPr>
            <a:r>
              <a:rPr sz="1200" b="0">
                <a:solidFill>
                  <a:srgbClr val="5B6372"/>
                </a:solidFill>
                <a:latin typeface="Arial"/>
              </a:rPr>
              <a:t>Slide size · Grid · Shapes · Icons · Type · Colour · SmartArt · Charts · AI</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LU3 — Review Infographics</a:t>
            </a:r>
          </a:p>
          <a:p>
            <a:pPr algn="l">
              <a:spcAft>
                <a:spcPts val="300"/>
              </a:spcAft>
            </a:pPr>
            <a:r>
              <a:rPr sz="1200" b="0">
                <a:solidFill>
                  <a:srgbClr val="5B6372"/>
                </a:solidFill>
                <a:latin typeface="Arial"/>
              </a:rPr>
              <a:t>Story · Context · Simplicity · Coaching · Budget · Effectiveness · Improvement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1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&amp; Assessment</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Morning — Plan and interpret</a:t>
            </a:r>
          </a:p>
          <a:p>
            <a:pPr>
              <a:spcAft>
                <a:spcPts val="1000"/>
              </a:spcAft>
            </a:pPr>
            <a:r>
              <a:rPr sz="1400" b="0">
                <a:solidFill>
                  <a:srgbClr val="5B6372"/>
                </a:solidFill>
                <a:latin typeface="Arial"/>
              </a:rPr>
              <a:t>–  9:30am admin, outcomes and assessment briefing</a:t>
            </a:r>
          </a:p>
          <a:p>
            <a:pPr>
              <a:spcAft>
                <a:spcPts val="1000"/>
              </a:spcAft>
            </a:pPr>
            <a:r>
              <a:rPr sz="1400" b="0">
                <a:solidFill>
                  <a:srgbClr val="5B6372"/>
                </a:solidFill>
                <a:latin typeface="Arial"/>
              </a:rPr>
              <a:t>–  LU1: AI-assisted data cleanup, insight extraction and prompt briefing (Activities 1–2)</a:t>
            </a:r>
          </a:p>
          <a:p>
            <a:pPr>
              <a:spcAft>
                <a:spcPts val="1000"/>
              </a:spcAft>
            </a:pPr>
            <a:r>
              <a:rPr sz="1400" b="0">
                <a:solidFill>
                  <a:srgbClr val="5B6372"/>
                </a:solidFill>
                <a:latin typeface="Arial"/>
              </a:rPr>
              <a:t>–  LU2 begins: Microsoft infographic maker and PowerPoint refinement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Afternoon — Create, review and assess</a:t>
            </a:r>
          </a:p>
          <a:p>
            <a:pPr>
              <a:spcAft>
                <a:spcPts val="1000"/>
              </a:spcAft>
            </a:pPr>
            <a:r>
              <a:rPr sz="1400" b="0">
                <a:solidFill>
                  <a:srgbClr val="5B6372"/>
                </a:solidFill>
                <a:latin typeface="Arial"/>
              </a:rPr>
              <a:t>–  LU2: Copilot, text-to-image assets, AI analysis, Gemini Notebook-to-PPTX and PowerPoint refinement (Activities 3–6)</a:t>
            </a:r>
          </a:p>
          <a:p>
            <a:pPr>
              <a:spcAft>
                <a:spcPts val="1000"/>
              </a:spcAft>
            </a:pPr>
            <a:r>
              <a:rPr sz="1400" b="0">
                <a:solidFill>
                  <a:srgbClr val="5B6372"/>
                </a:solidFill>
                <a:latin typeface="Arial"/>
              </a:rPr>
              <a:t>–  LU3: peer coaching, budget and effectiveness (Activities 7–8)</a:t>
            </a:r>
          </a:p>
          <a:p>
            <a:pPr>
              <a:spcAft>
                <a:spcPts val="1000"/>
              </a:spcAft>
            </a:pPr>
            <a:r>
              <a:rPr sz="1400" b="0">
                <a:solidFill>
                  <a:srgbClr val="5B6372"/>
                </a:solidFill>
                <a:latin typeface="Arial"/>
              </a:rPr>
              <a:t>–  Assessment: WA-SAQ 30 min + PP 30 min, 5:30–6:30pm</a:t>
            </a:r>
          </a:p>
          <a:p>
            <a:pPr>
              <a:spcAft>
                <a:spcPts val="1000"/>
              </a:spcAft>
            </a:pPr>
            <a:r>
              <a:rPr sz="1600" b="0">
                <a:solidFill>
                  <a:srgbClr val="161B26"/>
                </a:solidFill>
                <a:latin typeface="Arial"/>
              </a:rPr>
              <a:t>•  Timing</a:t>
            </a:r>
          </a:p>
          <a:p>
            <a:pPr>
              <a:spcAft>
                <a:spcPts val="1000"/>
              </a:spcAft>
            </a:pPr>
            <a:r>
              <a:rPr sz="1400" b="0">
                <a:solidFill>
                  <a:srgbClr val="5B6372"/>
                </a:solidFill>
                <a:latin typeface="Arial"/>
              </a:rPr>
              <a:t>–  9:30am–6:30pm · 60-minute lunch · 10-minute breaks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Learning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Draw Insights</a:t>
            </a:r>
          </a:p>
          <a:p>
            <a:pPr algn="l">
              <a:spcAft>
                <a:spcPts val="300"/>
              </a:spcAft>
            </a:pPr>
            <a:r>
              <a:rPr sz="1300" b="0">
                <a:solidFill>
                  <a:srgbClr val="5B6372"/>
                </a:solidFill>
                <a:latin typeface="Arial"/>
              </a:rPr>
              <a:t>Interpret infographic evidence and make proportionate data-driven decisions.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in PowerPoint</a:t>
            </a:r>
          </a:p>
          <a:p>
            <a:pPr algn="l">
              <a:spcAft>
                <a:spcPts val="300"/>
              </a:spcAft>
            </a:pPr>
            <a:r>
              <a:rPr sz="1300" b="0">
                <a:solidFill>
                  <a:srgbClr val="5B6372"/>
                </a:solidFill>
                <a:latin typeface="Arial"/>
              </a:rPr>
              <a:t>Generate with AI, then verify and refine editable evidence in PowerPoint.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 Effectiveness</a:t>
            </a:r>
          </a:p>
          <a:p>
            <a:pPr algn="l">
              <a:spcAft>
                <a:spcPts val="300"/>
              </a:spcAft>
            </a:pPr>
            <a:r>
              <a:rPr sz="1300" b="0">
                <a:solidFill>
                  <a:srgbClr val="5B6372"/>
                </a:solidFill>
                <a:latin typeface="Arial"/>
              </a:rPr>
              <a:t>Review audience outcomes, resource fit, governance and improvement priorities.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Briefing for Assessment</a:t>
            </a:r>
          </a:p>
        </p:txBody>
      </p:sp>
      <p:sp>
        <p:nvSpPr>
          <p:cNvPr id="5" name="Rectangle 4"/>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9" name="TextBox 8"/>
          <p:cNvSpPr txBox="1"/>
          <p:nvPr/>
        </p:nvSpPr>
        <p:spPr>
          <a:xfrm>
            <a:off x="1764792" y="187452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0" name="Rectangle 9"/>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4" name="TextBox 13"/>
          <p:cNvSpPr txBox="1"/>
          <p:nvPr/>
        </p:nvSpPr>
        <p:spPr>
          <a:xfrm>
            <a:off x="1764792" y="2642616"/>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5" name="Rectangle 14"/>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19" name="TextBox 18"/>
          <p:cNvSpPr txBox="1"/>
          <p:nvPr/>
        </p:nvSpPr>
        <p:spPr>
          <a:xfrm>
            <a:off x="1764792" y="3410712"/>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0" name="Rectangle 19"/>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4" name="TextBox 23"/>
          <p:cNvSpPr txBox="1"/>
          <p:nvPr/>
        </p:nvSpPr>
        <p:spPr>
          <a:xfrm>
            <a:off x="1764792" y="4178808"/>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Use a black/blue pen for hard-copy assessments.</a:t>
            </a:r>
          </a:p>
        </p:txBody>
      </p:sp>
      <p:sp>
        <p:nvSpPr>
          <p:cNvPr id="25" name="Rectangle 24"/>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29" name="TextBox 28"/>
          <p:cNvSpPr txBox="1"/>
          <p:nvPr/>
        </p:nvSpPr>
        <p:spPr>
          <a:xfrm>
            <a:off x="1764792" y="4946904"/>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liquid paper / correction tape.</a:t>
            </a:r>
          </a:p>
        </p:txBody>
      </p:sp>
      <p:sp>
        <p:nvSpPr>
          <p:cNvPr id="30" name="Rectangle 29"/>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4" name="TextBox 33"/>
          <p:cNvSpPr txBox="1"/>
          <p:nvPr/>
        </p:nvSpPr>
        <p:spPr>
          <a:xfrm>
            <a:off x="1764792" y="571500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wipe dir="l"/>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Written Assessment (WA-SAQ) — nine open-ended questions, 30 minutes, open book.</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279623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Practical Performance (PP) — three progressive tasks, 30 minutes, open book.</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71795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Format: Open Book — slides, Learner Guide and approved materials only.</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63966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 minimum of 75% attendance is required. Learners must be assessed as Competent and complete the required digital attendance and TRAQOM steps.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556138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An appeal process is available if required.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WA-SAQ then Practical Performance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Courseware &amp; Assessment on the LMS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7" name="Rectangle 6"/>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tiary-infotech-logo.png"/>
          <p:cNvPicPr>
            <a:picLocks noChangeAspect="1"/>
          </p:cNvPicPr>
          <p:nvPr/>
        </p:nvPicPr>
        <p:blipFill>
          <a:blip r:embed="rId2"/>
          <a:stretch>
            <a:fillRect/>
          </a:stretch>
        </p:blipFill>
        <p:spPr>
          <a:xfrm>
            <a:off x="1143000" y="2468880"/>
            <a:ext cx="502920" cy="502920"/>
          </a:xfrm>
          <a:prstGeom prst="rect">
            <a:avLst/>
          </a:prstGeom>
        </p:spPr>
      </p:pic>
      <p:sp>
        <p:nvSpPr>
          <p:cNvPr id="9" name="TextBox 8"/>
          <p:cNvSpPr txBox="1"/>
          <p:nvPr/>
        </p:nvSpPr>
        <p:spPr>
          <a:xfrm>
            <a:off x="777240" y="3200400"/>
            <a:ext cx="3749039" cy="457200"/>
          </a:xfrm>
          <a:prstGeom prst="rect">
            <a:avLst/>
          </a:prstGeom>
          <a:noFill/>
        </p:spPr>
        <p:txBody>
          <a:bodyPr wrap="square" anchor="t">
            <a:spAutoFit/>
          </a:bodyPr>
          <a:lstStyle/>
          <a:p>
            <a:pPr algn="ctr">
              <a:spcAft>
                <a:spcPts val="400"/>
              </a:spcAft>
            </a:pPr>
            <a:r>
              <a:rPr sz="1800" b="1">
                <a:solidFill>
                  <a:srgbClr val="FFFFFF"/>
                </a:solidFill>
                <a:latin typeface="Arial"/>
              </a:rPr>
              <a:t>Tertiary Infotech Academy</a:t>
            </a:r>
          </a:p>
        </p:txBody>
      </p:sp>
      <p:sp>
        <p:nvSpPr>
          <p:cNvPr id="10" name="TextBox 9"/>
          <p:cNvSpPr txBox="1"/>
          <p:nvPr/>
        </p:nvSpPr>
        <p:spPr>
          <a:xfrm>
            <a:off x="777240" y="370332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and TMS for SSG courses</a:t>
            </a:r>
          </a:p>
        </p:txBody>
      </p:sp>
      <p:sp>
        <p:nvSpPr>
          <p:cNvPr id="11" name="Rectangle 10"/>
          <p:cNvSpPr/>
          <p:nvPr/>
        </p:nvSpPr>
        <p:spPr>
          <a:xfrm>
            <a:off x="1737360" y="42976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42976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3" name="TextBox 12"/>
          <p:cNvSpPr txBox="1"/>
          <p:nvPr/>
        </p:nvSpPr>
        <p:spPr>
          <a:xfrm>
            <a:off x="777240" y="502920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4" name="Rectangle 13"/>
          <p:cNvSpPr/>
          <p:nvPr/>
        </p:nvSpPr>
        <p:spPr>
          <a:xfrm>
            <a:off x="4800600" y="2148840"/>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2148840"/>
            <a:ext cx="91440" cy="740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29200" y="229057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29057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8" name="TextBox 17"/>
          <p:cNvSpPr txBox="1"/>
          <p:nvPr/>
        </p:nvSpPr>
        <p:spPr>
          <a:xfrm>
            <a:off x="5669280" y="2148840"/>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00" b="0">
                <a:solidFill>
                  <a:srgbClr val="5B6372"/>
                </a:solidFill>
                <a:latin typeface="Arial"/>
              </a:rPr>
              <a:t>Log in with your registered email (OTP or password).</a:t>
            </a:r>
          </a:p>
        </p:txBody>
      </p:sp>
      <p:sp>
        <p:nvSpPr>
          <p:cNvPr id="19" name="Rectangle 18"/>
          <p:cNvSpPr/>
          <p:nvPr/>
        </p:nvSpPr>
        <p:spPr>
          <a:xfrm>
            <a:off x="4800600" y="3090672"/>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0600" y="3090672"/>
            <a:ext cx="91440" cy="740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029200" y="323240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323240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5669280" y="3090672"/>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Download materials</a:t>
            </a:r>
          </a:p>
          <a:p>
            <a:pPr algn="l">
              <a:spcAft>
                <a:spcPts val="200"/>
              </a:spcAft>
            </a:pPr>
            <a:r>
              <a:rPr sz="1100" b="0">
                <a:solidFill>
                  <a:srgbClr val="5B6372"/>
                </a:solidFill>
                <a:latin typeface="Arial"/>
              </a:rPr>
              <a:t>Slides and the Learner Guide from the course page — your open-book references.</a:t>
            </a:r>
          </a:p>
        </p:txBody>
      </p:sp>
      <p:sp>
        <p:nvSpPr>
          <p:cNvPr id="24" name="Rectangle 23"/>
          <p:cNvSpPr/>
          <p:nvPr/>
        </p:nvSpPr>
        <p:spPr>
          <a:xfrm>
            <a:off x="4800600" y="4032504"/>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00600" y="4032504"/>
            <a:ext cx="91440" cy="740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29200" y="4174236"/>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417423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8" name="TextBox 27"/>
          <p:cNvSpPr txBox="1"/>
          <p:nvPr/>
        </p:nvSpPr>
        <p:spPr>
          <a:xfrm>
            <a:off x="5669280" y="4032504"/>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Submit answers</a:t>
            </a:r>
          </a:p>
          <a:p>
            <a:pPr algn="l">
              <a:spcAft>
                <a:spcPts val="200"/>
              </a:spcAft>
            </a:pPr>
            <a:r>
              <a:rPr sz="1100" b="0">
                <a:solidFill>
                  <a:srgbClr val="5B6372"/>
                </a:solidFill>
                <a:latin typeface="Arial"/>
              </a:rPr>
              <a:t>Upload your Written Assessment and Practical Performance answers on the LMS.</a:t>
            </a:r>
          </a:p>
        </p:txBody>
      </p:sp>
      <p:sp>
        <p:nvSpPr>
          <p:cNvPr id="29" name="Rectangle 28"/>
          <p:cNvSpPr/>
          <p:nvPr/>
        </p:nvSpPr>
        <p:spPr>
          <a:xfrm>
            <a:off x="4800600" y="4974336"/>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00600" y="4974336"/>
            <a:ext cx="91440" cy="740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029200" y="5116068"/>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0" y="511606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3" name="TextBox 32"/>
          <p:cNvSpPr txBox="1"/>
          <p:nvPr/>
        </p:nvSpPr>
        <p:spPr>
          <a:xfrm>
            <a:off x="5669280" y="4974336"/>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TRAQOM survey</a:t>
            </a:r>
          </a:p>
          <a:p>
            <a:pPr algn="l">
              <a:spcAft>
                <a:spcPts val="200"/>
              </a:spcAft>
            </a:pPr>
            <a:r>
              <a:rPr sz="1100" b="0">
                <a:solidFill>
                  <a:srgbClr val="5B6372"/>
                </a:solidFill>
                <a:latin typeface="Arial"/>
              </a:rPr>
              <a:t>Complete the TRAQOM survey via the QR code shown on the LMS.</a:t>
            </a:r>
          </a:p>
        </p:txBody>
      </p:sp>
      <p:sp>
        <p:nvSpPr>
          <p:cNvPr id="34" name="Rectangle 33"/>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870448"/>
            <a:ext cx="914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870448"/>
            <a:ext cx="10058400" cy="457200"/>
          </a:xfrm>
          <a:prstGeom prst="rect">
            <a:avLst/>
          </a:prstGeom>
          <a:noFill/>
        </p:spPr>
        <p:txBody>
          <a:bodyPr wrap="square" anchor="ctr">
            <a:spAutoFit/>
          </a:bodyPr>
          <a:lstStyle/>
          <a:p>
            <a:pPr algn="l">
              <a:spcAft>
                <a:spcPts val="400"/>
              </a:spcAft>
            </a:pPr>
            <a:r>
              <a:rPr sz="1300" b="1">
                <a:solidFill>
                  <a:srgbClr val="161B26"/>
                </a:solidFill>
                <a:latin typeface="Arial"/>
              </a:rPr>
              <a:t>https://lms-tms.tertiaryinfotech.com/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Infographics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Purpose · Types · Audience · Metrics · Planning · Insight extraction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push dir="l"/>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Introduction to Infographics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infographic combines concise text, data, shapes, colour, charts and icons to reveal information and relationships.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Chronology, timeline, process, comparison, statistical, mind-map, numerical and hierarchical formats answer different questions.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AI-first workflow gathers approved sources, cleans and analyses data, extracts candidate insights, then routes verified evidence into visual generation.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Insight extraction distinguishes what the chart shows, what it means, why it matters and what action is justified.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zoom/>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DEFAULT MODERN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AI-First Workflow — From Sources to Verified Insights</a:t>
            </a:r>
          </a:p>
        </p:txBody>
      </p:sp>
      <p:sp>
        <p:nvSpPr>
          <p:cNvPr id="6" name="Rectangle 5"/>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74495"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Collect</a:t>
            </a:r>
          </a:p>
        </p:txBody>
      </p:sp>
      <p:sp>
        <p:nvSpPr>
          <p:cNvPr id="11" name="TextBox 10"/>
          <p:cNvSpPr txBox="1"/>
          <p:nvPr/>
        </p:nvSpPr>
        <p:spPr>
          <a:xfrm>
            <a:off x="905256"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Approved files, URLs, transcripts and datasets; record origin and access date.</a:t>
            </a:r>
          </a:p>
        </p:txBody>
      </p:sp>
      <p:sp>
        <p:nvSpPr>
          <p:cNvPr id="12" name="Chevron 11"/>
          <p:cNvSpPr/>
          <p:nvPr/>
        </p:nvSpPr>
        <p:spPr>
          <a:xfrm>
            <a:off x="3248406"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4438"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01693"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632454"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Clean</a:t>
            </a:r>
          </a:p>
        </p:txBody>
      </p:sp>
      <p:sp>
        <p:nvSpPr>
          <p:cNvPr id="18" name="TextBox 17"/>
          <p:cNvSpPr txBox="1"/>
          <p:nvPr/>
        </p:nvSpPr>
        <p:spPr>
          <a:xfrm>
            <a:off x="3632454"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Remove duplicates, standardise units and labels, identify missing values and retain the raw source.</a:t>
            </a:r>
          </a:p>
        </p:txBody>
      </p:sp>
      <p:sp>
        <p:nvSpPr>
          <p:cNvPr id="19" name="Chevron 18"/>
          <p:cNvSpPr/>
          <p:nvPr/>
        </p:nvSpPr>
        <p:spPr>
          <a:xfrm>
            <a:off x="5975604"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28891"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6359652"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Analyse</a:t>
            </a:r>
          </a:p>
        </p:txBody>
      </p:sp>
      <p:sp>
        <p:nvSpPr>
          <p:cNvPr id="25" name="TextBox 24"/>
          <p:cNvSpPr txBox="1"/>
          <p:nvPr/>
        </p:nvSpPr>
        <p:spPr>
          <a:xfrm>
            <a:off x="6359652"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Ask AI for patterns, exceptions and comparisons, then reproduce critical calculations in Excel.</a:t>
            </a:r>
          </a:p>
        </p:txBody>
      </p:sp>
      <p:sp>
        <p:nvSpPr>
          <p:cNvPr id="26" name="Chevron 25"/>
          <p:cNvSpPr/>
          <p:nvPr/>
        </p:nvSpPr>
        <p:spPr>
          <a:xfrm>
            <a:off x="8702802"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58834"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56089"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9086850"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Extract</a:t>
            </a:r>
          </a:p>
        </p:txBody>
      </p:sp>
      <p:sp>
        <p:nvSpPr>
          <p:cNvPr id="32" name="TextBox 31"/>
          <p:cNvSpPr txBox="1"/>
          <p:nvPr/>
        </p:nvSpPr>
        <p:spPr>
          <a:xfrm>
            <a:off x="9086850"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Write show–mean–matter–act insights with citations, caveats and forbidden claims.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AI may propose patterns and transformations; keep raw sources and reproduce decision-critical calculations before visual generation.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DEFAULT MODERN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AI-First Workflow — From Generation to Accountable PowerPoint</a:t>
            </a:r>
          </a:p>
        </p:txBody>
      </p:sp>
      <p:sp>
        <p:nvSpPr>
          <p:cNvPr id="6" name="Rectangle 5"/>
          <p:cNvSpPr/>
          <p:nvPr/>
        </p:nvSpPr>
        <p:spPr>
          <a:xfrm>
            <a:off x="777240"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129028"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2902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11" name="TextBox 10"/>
          <p:cNvSpPr txBox="1"/>
          <p:nvPr/>
        </p:nvSpPr>
        <p:spPr>
          <a:xfrm>
            <a:off x="905256"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Create infographic or slide-deck options from the verified brief and source pack.</a:t>
            </a:r>
          </a:p>
        </p:txBody>
      </p:sp>
      <p:sp>
        <p:nvSpPr>
          <p:cNvPr id="12" name="Chevron 11"/>
          <p:cNvSpPr/>
          <p:nvPr/>
        </p:nvSpPr>
        <p:spPr>
          <a:xfrm>
            <a:off x="4157472"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65292"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529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4541520"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PowerPoint</a:t>
            </a:r>
          </a:p>
        </p:txBody>
      </p:sp>
      <p:sp>
        <p:nvSpPr>
          <p:cNvPr id="18" name="TextBox 17"/>
          <p:cNvSpPr txBox="1"/>
          <p:nvPr/>
        </p:nvSpPr>
        <p:spPr>
          <a:xfrm>
            <a:off x="4541520"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Download or rebuild in PPTX; restore editability, charts, source labels, brand and accessibility.</a:t>
            </a:r>
          </a:p>
        </p:txBody>
      </p:sp>
      <p:sp>
        <p:nvSpPr>
          <p:cNvPr id="19" name="Chevron 18"/>
          <p:cNvSpPr/>
          <p:nvPr/>
        </p:nvSpPr>
        <p:spPr>
          <a:xfrm>
            <a:off x="7793736"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01556"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155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8177784"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25" name="TextBox 24"/>
          <p:cNvSpPr txBox="1"/>
          <p:nvPr/>
        </p:nvSpPr>
        <p:spPr>
          <a:xfrm>
            <a:off x="8177784"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Compare every claim to source, record prompts and human changes, approve and export.</a:t>
            </a:r>
          </a:p>
        </p:txBody>
      </p:sp>
      <p:sp>
        <p:nvSpPr>
          <p:cNvPr id="26" name="Rectangle 2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Do not manually draw a full infographic from scratch when approved AI can create the first direction; use PowerPoint for editability, accuracy, brand and release control.</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VISUAL DATA STORYTELLING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Why Infographics Work</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An effective infographic reduces friction between evidence and understanding.</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Attention</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Visual hierarchy helps the audience locate the important message quickly.</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Compression</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Words, data and relationships are combined into a scannable structure.</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Comparison</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Position, length, order and colour make differences and patterns visible.</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Memory</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A coherent visual story gives the audience meaningful anchors for recall.</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Action</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final implication connects what is seen to what the audience should do.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FORMAT FIT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Infographic Types Answer Different Questions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Select the form by the relationship the audience must understand.</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Question</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Useful form</a:t>
            </a:r>
          </a:p>
        </p:txBody>
      </p:sp>
      <p:sp>
        <p:nvSpPr>
          <p:cNvPr id="11" name="Rectangle 10"/>
          <p:cNvSpPr/>
          <p:nvPr/>
        </p:nvSpPr>
        <p:spPr>
          <a:xfrm>
            <a:off x="777240" y="256032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Change</a:t>
            </a:r>
          </a:p>
        </p:txBody>
      </p:sp>
      <p:sp>
        <p:nvSpPr>
          <p:cNvPr id="13" name="Rectangle 12"/>
          <p:cNvSpPr/>
          <p:nvPr/>
        </p:nvSpPr>
        <p:spPr>
          <a:xfrm>
            <a:off x="2926080"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What happened across time?</a:t>
            </a:r>
          </a:p>
        </p:txBody>
      </p:sp>
      <p:sp>
        <p:nvSpPr>
          <p:cNvPr id="15" name="Rectangle 14"/>
          <p:cNvSpPr/>
          <p:nvPr/>
        </p:nvSpPr>
        <p:spPr>
          <a:xfrm>
            <a:off x="7168896"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Chronology or timeline</a:t>
            </a:r>
          </a:p>
        </p:txBody>
      </p:sp>
      <p:sp>
        <p:nvSpPr>
          <p:cNvPr id="17" name="Rectangle 16"/>
          <p:cNvSpPr/>
          <p:nvPr/>
        </p:nvSpPr>
        <p:spPr>
          <a:xfrm>
            <a:off x="777240" y="315468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15468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Process</a:t>
            </a:r>
          </a:p>
        </p:txBody>
      </p:sp>
      <p:sp>
        <p:nvSpPr>
          <p:cNvPr id="19" name="Rectangle 18"/>
          <p:cNvSpPr/>
          <p:nvPr/>
        </p:nvSpPr>
        <p:spPr>
          <a:xfrm>
            <a:off x="2926080"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does it work?</a:t>
            </a:r>
          </a:p>
        </p:txBody>
      </p:sp>
      <p:sp>
        <p:nvSpPr>
          <p:cNvPr id="21" name="Rectangle 20"/>
          <p:cNvSpPr/>
          <p:nvPr/>
        </p:nvSpPr>
        <p:spPr>
          <a:xfrm>
            <a:off x="7168896"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Instructional flow, cycle or roadmap</a:t>
            </a:r>
          </a:p>
        </p:txBody>
      </p:sp>
      <p:sp>
        <p:nvSpPr>
          <p:cNvPr id="23" name="Rectangle 22"/>
          <p:cNvSpPr/>
          <p:nvPr/>
        </p:nvSpPr>
        <p:spPr>
          <a:xfrm>
            <a:off x="777240" y="374904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4904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Comparison</a:t>
            </a:r>
          </a:p>
        </p:txBody>
      </p:sp>
      <p:sp>
        <p:nvSpPr>
          <p:cNvPr id="25" name="Rectangle 24"/>
          <p:cNvSpPr/>
          <p:nvPr/>
        </p:nvSpPr>
        <p:spPr>
          <a:xfrm>
            <a:off x="2926080"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Which option differs and by how much?</a:t>
            </a:r>
          </a:p>
        </p:txBody>
      </p:sp>
      <p:sp>
        <p:nvSpPr>
          <p:cNvPr id="27" name="Rectangle 26"/>
          <p:cNvSpPr/>
          <p:nvPr/>
        </p:nvSpPr>
        <p:spPr>
          <a:xfrm>
            <a:off x="7168896"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Bar, dot plot or comparison cards</a:t>
            </a:r>
          </a:p>
        </p:txBody>
      </p:sp>
      <p:sp>
        <p:nvSpPr>
          <p:cNvPr id="29" name="Rectangle 28"/>
          <p:cNvSpPr/>
          <p:nvPr/>
        </p:nvSpPr>
        <p:spPr>
          <a:xfrm>
            <a:off x="777240" y="434340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4340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Distribution</a:t>
            </a:r>
          </a:p>
        </p:txBody>
      </p:sp>
      <p:sp>
        <p:nvSpPr>
          <p:cNvPr id="31" name="Rectangle 30"/>
          <p:cNvSpPr/>
          <p:nvPr/>
        </p:nvSpPr>
        <p:spPr>
          <a:xfrm>
            <a:off x="2926080"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Where are values concentrated?</a:t>
            </a:r>
          </a:p>
        </p:txBody>
      </p:sp>
      <p:sp>
        <p:nvSpPr>
          <p:cNvPr id="33" name="Rectangle 32"/>
          <p:cNvSpPr/>
          <p:nvPr/>
        </p:nvSpPr>
        <p:spPr>
          <a:xfrm>
            <a:off x="7168896"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Histogram, ranked bar or box plot</a:t>
            </a:r>
          </a:p>
        </p:txBody>
      </p:sp>
      <p:sp>
        <p:nvSpPr>
          <p:cNvPr id="35" name="Rectangle 34"/>
          <p:cNvSpPr/>
          <p:nvPr/>
        </p:nvSpPr>
        <p:spPr>
          <a:xfrm>
            <a:off x="777240" y="493776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3776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Hierarchy</a:t>
            </a:r>
          </a:p>
        </p:txBody>
      </p:sp>
      <p:sp>
        <p:nvSpPr>
          <p:cNvPr id="37" name="Rectangle 36"/>
          <p:cNvSpPr/>
          <p:nvPr/>
        </p:nvSpPr>
        <p:spPr>
          <a:xfrm>
            <a:off x="2926080"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are parts organised?</a:t>
            </a:r>
          </a:p>
        </p:txBody>
      </p:sp>
      <p:sp>
        <p:nvSpPr>
          <p:cNvPr id="39" name="Rectangle 38"/>
          <p:cNvSpPr/>
          <p:nvPr/>
        </p:nvSpPr>
        <p:spPr>
          <a:xfrm>
            <a:off x="7168896"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Tree, pyramid or organisation chart</a:t>
            </a:r>
          </a:p>
        </p:txBody>
      </p:sp>
      <p:sp>
        <p:nvSpPr>
          <p:cNvPr id="41" name="Rectangle 40"/>
          <p:cNvSpPr/>
          <p:nvPr/>
        </p:nvSpPr>
        <p:spPr>
          <a:xfrm>
            <a:off x="777240" y="553212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321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Relationships</a:t>
            </a:r>
          </a:p>
        </p:txBody>
      </p:sp>
      <p:sp>
        <p:nvSpPr>
          <p:cNvPr id="43" name="Rectangle 42"/>
          <p:cNvSpPr/>
          <p:nvPr/>
        </p:nvSpPr>
        <p:spPr>
          <a:xfrm>
            <a:off x="2926080"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do ideas connect?</a:t>
            </a:r>
          </a:p>
        </p:txBody>
      </p:sp>
      <p:sp>
        <p:nvSpPr>
          <p:cNvPr id="45" name="Rectangle 44"/>
          <p:cNvSpPr/>
          <p:nvPr/>
        </p:nvSpPr>
        <p:spPr>
          <a:xfrm>
            <a:off x="7168896"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Mind map, network or matrix</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PLANNING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Plan an Infographic in Six Decisions</a:t>
            </a:r>
          </a:p>
        </p:txBody>
      </p:sp>
      <p:sp>
        <p:nvSpPr>
          <p:cNvPr id="6" name="Rectangle 5"/>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1996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96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Audience and action</a:t>
            </a:r>
          </a:p>
        </p:txBody>
      </p:sp>
      <p:sp>
        <p:nvSpPr>
          <p:cNvPr id="11" name="Chevron 10"/>
          <p:cNvSpPr/>
          <p:nvPr/>
        </p:nvSpPr>
        <p:spPr>
          <a:xfrm>
            <a:off x="23393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38094"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094"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2741676"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Business question</a:t>
            </a:r>
          </a:p>
        </p:txBody>
      </p:sp>
      <p:sp>
        <p:nvSpPr>
          <p:cNvPr id="17" name="Chevron 16"/>
          <p:cNvSpPr/>
          <p:nvPr/>
        </p:nvSpPr>
        <p:spPr>
          <a:xfrm>
            <a:off x="415747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6226"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22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4559808"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Evidence and metrics</a:t>
            </a:r>
          </a:p>
        </p:txBody>
      </p:sp>
      <p:sp>
        <p:nvSpPr>
          <p:cNvPr id="23" name="Chevron 22"/>
          <p:cNvSpPr/>
          <p:nvPr/>
        </p:nvSpPr>
        <p:spPr>
          <a:xfrm>
            <a:off x="597560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4358"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435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6377940"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Infographic form</a:t>
            </a:r>
          </a:p>
        </p:txBody>
      </p:sp>
      <p:sp>
        <p:nvSpPr>
          <p:cNvPr id="29" name="Chevron 28"/>
          <p:cNvSpPr/>
          <p:nvPr/>
        </p:nvSpPr>
        <p:spPr>
          <a:xfrm>
            <a:off x="779373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92490"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2490"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8196072"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Wireframe and hierarchy</a:t>
            </a:r>
          </a:p>
        </p:txBody>
      </p:sp>
      <p:sp>
        <p:nvSpPr>
          <p:cNvPr id="35" name="Chevron 34"/>
          <p:cNvSpPr/>
          <p:nvPr/>
        </p:nvSpPr>
        <p:spPr>
          <a:xfrm>
            <a:off x="9611868"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1062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062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0" name="TextBox 39"/>
          <p:cNvSpPr txBox="1"/>
          <p:nvPr/>
        </p:nvSpPr>
        <p:spPr>
          <a:xfrm>
            <a:off x="1001420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Review and release</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If the business question is unclear, a template or AI tool will produce a faster version of the wrong story.</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WORKED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Insight Extraction Prompts</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SHOW</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values, differences or trends are visible?</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MEAN</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interpretation is plausible but not overstated?</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3000" b="1">
                <a:solidFill>
                  <a:srgbClr val="7C3AED"/>
                </a:solidFill>
                <a:latin typeface="Arial"/>
              </a:rPr>
              <a:t>MATTER</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Why does the pattern matter to this audience?</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4000" b="1">
                <a:solidFill>
                  <a:srgbClr val="F59E0B"/>
                </a:solidFill>
                <a:latin typeface="Arial"/>
              </a:rPr>
              <a:t>ACT</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proportionate next step is supported?</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LIMIT</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sample, denominator or uncertainty qualifies it?</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CHECK</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Can another reader reproduce the claim?</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Separate observation from interpretation before writing the recommendation.</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AI accelerates analysis; the source evidence still decides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AI accelerates analysis; the source evidence still decides?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Observation</a:t>
            </a:r>
          </a:p>
          <a:p>
            <a:pPr algn="l">
              <a:spcAft>
                <a:spcPts val="300"/>
              </a:spcAft>
            </a:pPr>
            <a:r>
              <a:rPr sz="1200" b="0">
                <a:solidFill>
                  <a:srgbClr val="5B6372"/>
                </a:solidFill>
                <a:latin typeface="Arial"/>
              </a:rPr>
              <a:t>What values, differences, trends or outliers are visible?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Interpretation</a:t>
            </a:r>
          </a:p>
          <a:p>
            <a:pPr algn="l">
              <a:spcAft>
                <a:spcPts val="300"/>
              </a:spcAft>
            </a:pPr>
            <a:r>
              <a:rPr sz="1200" b="0">
                <a:solidFill>
                  <a:srgbClr val="5B6372"/>
                </a:solidFill>
                <a:latin typeface="Arial"/>
              </a:rPr>
              <a:t>What relationship is suggested without claiming unsupported causation?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Implication</a:t>
            </a:r>
          </a:p>
          <a:p>
            <a:pPr algn="l">
              <a:spcAft>
                <a:spcPts val="300"/>
              </a:spcAft>
            </a:pPr>
            <a:r>
              <a:rPr sz="1200" b="0">
                <a:solidFill>
                  <a:srgbClr val="5B6372"/>
                </a:solidFill>
                <a:latin typeface="Arial"/>
              </a:rPr>
              <a:t>Why does the finding matter to the stated audience?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What proportionate next step is supported by the evidence?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Collect, Clean, Analyse, Verify</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Collect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Register the approved CSV, workbook and research notes.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Clean</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Standardise labels, units and missing-value handling without changing raw evidence.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Analyse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Prompt AI for patterns, exceptions and competing explanations.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Reproduce critical calculations and trace every claim to a source.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Extract</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show–mean–matter–act insights with caveats.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Pattern vs Unsupported Story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Defensible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Overclaim</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Repeat customers rate delivery 8 points higher</a:t>
            </a:r>
          </a:p>
          <a:p>
            <a:pPr>
              <a:spcAft>
                <a:spcPts val="1000"/>
              </a:spcAft>
            </a:pPr>
            <a:r>
              <a:rPr sz="1600" b="0">
                <a:solidFill>
                  <a:srgbClr val="161B26"/>
                </a:solidFill>
                <a:latin typeface="Arial"/>
              </a:rPr>
              <a:t>•  The result applies to this sample and period</a:t>
            </a:r>
          </a:p>
          <a:p>
            <a:pPr>
              <a:spcAft>
                <a:spcPts val="1000"/>
              </a:spcAft>
            </a:pPr>
            <a:r>
              <a:rPr sz="1600" b="0">
                <a:solidFill>
                  <a:srgbClr val="161B26"/>
                </a:solidFill>
                <a:latin typeface="Arial"/>
              </a:rPr>
              <a:t>•  Test delivery messaging in the next campaign</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Delivery causes loyalty</a:t>
            </a:r>
          </a:p>
          <a:p>
            <a:pPr>
              <a:spcAft>
                <a:spcPts val="1000"/>
              </a:spcAft>
            </a:pPr>
            <a:r>
              <a:rPr sz="1600" b="0">
                <a:solidFill>
                  <a:srgbClr val="161B26"/>
                </a:solidFill>
                <a:latin typeface="Arial"/>
              </a:rPr>
              <a:t>•  All customers prefer delivery</a:t>
            </a:r>
          </a:p>
          <a:p>
            <a:pPr>
              <a:spcAft>
                <a:spcPts val="1000"/>
              </a:spcAft>
            </a:pPr>
            <a:r>
              <a:rPr sz="1600" b="0">
                <a:solidFill>
                  <a:srgbClr val="161B26"/>
                </a:solidFill>
                <a:latin typeface="Arial"/>
              </a:rPr>
              <a:t>•  Shift the entire budget immediately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Northstar Retail Customer Pulse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78%</a:t>
            </a:r>
          </a:p>
          <a:p>
            <a:pPr algn="l">
              <a:spcAft>
                <a:spcPts val="300"/>
              </a:spcAft>
            </a:pPr>
            <a:r>
              <a:rPr sz="1200" b="0">
                <a:solidFill>
                  <a:srgbClr val="5B6372"/>
                </a:solidFill>
                <a:latin typeface="Arial"/>
              </a:rPr>
              <a:t>Overall satisfaction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86%</a:t>
            </a:r>
          </a:p>
          <a:p>
            <a:pPr algn="l">
              <a:spcAft>
                <a:spcPts val="300"/>
              </a:spcAft>
            </a:pPr>
            <a:r>
              <a:rPr sz="1200" b="0">
                <a:solidFill>
                  <a:srgbClr val="5B6372"/>
                </a:solidFill>
                <a:latin typeface="Arial"/>
              </a:rPr>
              <a:t>Repeat-customer satisfaction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69%</a:t>
            </a:r>
          </a:p>
          <a:p>
            <a:pPr algn="l">
              <a:spcAft>
                <a:spcPts val="300"/>
              </a:spcAft>
            </a:pPr>
            <a:r>
              <a:rPr sz="1200" b="0">
                <a:solidFill>
                  <a:srgbClr val="5B6372"/>
                </a:solidFill>
                <a:latin typeface="Arial"/>
              </a:rPr>
              <a:t>First-time-customer satisfaction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+11 pts</a:t>
            </a:r>
          </a:p>
          <a:p>
            <a:pPr algn="l">
              <a:spcAft>
                <a:spcPts val="300"/>
              </a:spcAft>
            </a:pPr>
            <a:r>
              <a:rPr sz="1200" b="0">
                <a:solidFill>
                  <a:srgbClr val="5B6372"/>
                </a:solidFill>
                <a:latin typeface="Arial"/>
              </a:rPr>
              <a:t>Mobile-app users vs non-users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420</a:t>
            </a:r>
          </a:p>
          <a:p>
            <a:pPr algn="l">
              <a:spcAft>
                <a:spcPts val="300"/>
              </a:spcAft>
            </a:pPr>
            <a:r>
              <a:rPr sz="1200" b="0">
                <a:solidFill>
                  <a:srgbClr val="5B6372"/>
                </a:solidFill>
                <a:latin typeface="Arial"/>
              </a:rPr>
              <a:t>Survey responses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Q2 2026</a:t>
            </a:r>
          </a:p>
          <a:p>
            <a:pPr algn="l">
              <a:spcAft>
                <a:spcPts val="300"/>
              </a:spcAft>
            </a:pPr>
            <a:r>
              <a:rPr sz="1200" b="0">
                <a:solidFill>
                  <a:srgbClr val="5B6372"/>
                </a:solidFill>
                <a:latin typeface="Arial"/>
              </a:rPr>
              <a:t>Synthetic reporting period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A chart answers a question only when context travels with it</a:t>
            </a:r>
          </a:p>
        </p:txBody>
      </p:sp>
      <p:sp>
        <p:nvSpPr>
          <p:cNvPr id="6" name="Rectangle 5"/>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0" name="TextBox 9"/>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Northstar Retail Singapore</a:t>
            </a:r>
          </a:p>
        </p:txBody>
      </p:sp>
      <p:sp>
        <p:nvSpPr>
          <p:cNvPr id="11" name="TextBox 10"/>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The satisfaction gap is useful for targeting a follow-up test, but the survey does not prove that the mobile app caused higher satisfaction.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350"/>
                                        <p:tgtEl>
                                          <p:spTgt spid="10"/>
                                        </p:tgtEl>
                                      </p:cBhvr>
                                    </p:animEffect>
                                    <p:anim calcmode="lin" valueType="num">
                                      <p:cBhvr additive="base">
                                        <p:cTn id="3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to Clean Data and Extract Insights</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Retail's marketing lead has a one-page customer survey infographic built from 420 synthetic Q2 responses. Leadership wants to know which customer experience deserves further investigation.</a:t>
            </a:r>
          </a:p>
          <a:p>
            <a:pPr algn="l">
              <a:spcAft>
                <a:spcPts val="800"/>
              </a:spcAft>
            </a:pPr>
            <a:r>
              <a:rPr sz="1450" b="0">
                <a:solidFill>
                  <a:srgbClr val="161B26"/>
                </a:solidFill>
                <a:latin typeface="Arial"/>
              </a:rPr>
              <a:t>Use an approved AI assistant with the supplied CSV, workbook and source notes to produce a clean analysis and candidate insights. Verify every number in Excel before recommending one next step.</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cleaned analysis workbook, AI prompt/source log, annotated insight slide and one-sentence recommendation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to Clean Data and Extract Insights</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strongest visible pattern?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denominator or segment could change the interpretation?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can be said confidently, and what cannot?</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business action is proportionate to the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wipe dir="l"/>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to Clean Data and Extract Insights</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insight include context and uncertainty?</a:t>
            </a:r>
          </a:p>
          <a:p>
            <a:pPr>
              <a:spcAft>
                <a:spcPts val="900"/>
              </a:spcAft>
            </a:pPr>
            <a:r>
              <a:rPr sz="1450" b="0">
                <a:solidFill>
                  <a:srgbClr val="161B26"/>
                </a:solidFill>
                <a:latin typeface="Arial"/>
              </a:rPr>
              <a:t>•  Could the action be traced directly to the visual evidence?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insight clearly separates what the data shows, what it may mean, why it matters and what should happen next.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strong prompt is an executable design brief</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strong prompt is an executable design brief?</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Objective</a:t>
            </a:r>
          </a:p>
          <a:p>
            <a:pPr algn="l">
              <a:spcAft>
                <a:spcPts val="300"/>
              </a:spcAft>
            </a:pPr>
            <a:r>
              <a:rPr sz="1200" b="0">
                <a:solidFill>
                  <a:srgbClr val="5B6372"/>
                </a:solidFill>
                <a:latin typeface="Arial"/>
              </a:rPr>
              <a:t>The audience, question, decision and desired action.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Content</a:t>
            </a:r>
          </a:p>
          <a:p>
            <a:pPr algn="l">
              <a:spcAft>
                <a:spcPts val="300"/>
              </a:spcAft>
            </a:pPr>
            <a:r>
              <a:rPr sz="1200" b="0">
                <a:solidFill>
                  <a:srgbClr val="5B6372"/>
                </a:solidFill>
                <a:latin typeface="Arial"/>
              </a:rPr>
              <a:t>Only evidence that earns a place in the visual story.</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Timeline, process, comparison, statistical, hierarchy or hybrid.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Wireframe</a:t>
            </a:r>
          </a:p>
          <a:p>
            <a:pPr algn="l">
              <a:spcAft>
                <a:spcPts val="300"/>
              </a:spcAft>
            </a:pPr>
            <a:r>
              <a:rPr sz="1200" b="0">
                <a:solidFill>
                  <a:srgbClr val="5B6372"/>
                </a:solidFill>
                <a:latin typeface="Arial"/>
              </a:rPr>
              <a:t>A low-fidelity map of title, sections, visuals, labels and flow.</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 Before Generation</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Define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the objective and audience question.</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Attach only approved sources and verified insights.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Specify</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hierarchy, infographic form, brand and accessibility rules.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Constrain</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Forbid invented facts, unsupported causation and decorative clutter.</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Request two wireframe directions, then select by evidence fit.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Format Choice by Question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Question</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Useful form</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What happened over time?</a:t>
            </a:r>
          </a:p>
          <a:p>
            <a:pPr>
              <a:spcAft>
                <a:spcPts val="1000"/>
              </a:spcAft>
            </a:pPr>
            <a:r>
              <a:rPr sz="1600" b="0">
                <a:solidFill>
                  <a:srgbClr val="161B26"/>
                </a:solidFill>
                <a:latin typeface="Arial"/>
              </a:rPr>
              <a:t>•  How does the service work?</a:t>
            </a:r>
          </a:p>
          <a:p>
            <a:pPr>
              <a:spcAft>
                <a:spcPts val="1000"/>
              </a:spcAft>
            </a:pPr>
            <a:r>
              <a:rPr sz="1600" b="0">
                <a:solidFill>
                  <a:srgbClr val="161B26"/>
                </a:solidFill>
                <a:latin typeface="Arial"/>
              </a:rPr>
              <a:t>•  Which option performs better?</a:t>
            </a:r>
          </a:p>
          <a:p>
            <a:pPr>
              <a:spcAft>
                <a:spcPts val="1000"/>
              </a:spcAft>
            </a:pPr>
            <a:r>
              <a:rPr sz="1600" b="0">
                <a:solidFill>
                  <a:srgbClr val="161B26"/>
                </a:solidFill>
                <a:latin typeface="Arial"/>
              </a:rPr>
              <a:t>•  How are categories related?</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Timeline / chronology</a:t>
            </a:r>
          </a:p>
          <a:p>
            <a:pPr>
              <a:spcAft>
                <a:spcPts val="1000"/>
              </a:spcAft>
            </a:pPr>
            <a:r>
              <a:rPr sz="1600" b="0">
                <a:solidFill>
                  <a:srgbClr val="161B26"/>
                </a:solidFill>
                <a:latin typeface="Arial"/>
              </a:rPr>
              <a:t>•  Process / instructional</a:t>
            </a:r>
          </a:p>
          <a:p>
            <a:pPr>
              <a:spcAft>
                <a:spcPts val="1000"/>
              </a:spcAft>
            </a:pPr>
            <a:r>
              <a:rPr sz="1600" b="0">
                <a:solidFill>
                  <a:srgbClr val="161B26"/>
                </a:solidFill>
                <a:latin typeface="Arial"/>
              </a:rPr>
              <a:t>•  Comparison / statistical</a:t>
            </a:r>
          </a:p>
          <a:p>
            <a:pPr>
              <a:spcAft>
                <a:spcPts val="1000"/>
              </a:spcAft>
            </a:pPr>
            <a:r>
              <a:rPr sz="1600" b="0">
                <a:solidFill>
                  <a:srgbClr val="161B26"/>
                </a:solidFill>
                <a:latin typeface="Arial"/>
              </a:rPr>
              <a:t>•  Hierarchy / mind map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Wireframe Anatomy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Hook</a:t>
            </a:r>
          </a:p>
          <a:p>
            <a:pPr algn="l">
              <a:spcAft>
                <a:spcPts val="300"/>
              </a:spcAft>
            </a:pPr>
            <a:r>
              <a:rPr sz="1200" b="0">
                <a:solidFill>
                  <a:srgbClr val="5B6372"/>
                </a:solidFill>
                <a:latin typeface="Arial"/>
              </a:rPr>
              <a:t>Title states the audience-relevant message.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Source, timeframe, unit and scope.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One primary chart or process carries the proof.</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Guidance</a:t>
            </a:r>
          </a:p>
          <a:p>
            <a:pPr algn="l">
              <a:spcAft>
                <a:spcPts val="300"/>
              </a:spcAft>
            </a:pPr>
            <a:r>
              <a:rPr sz="1200" b="0">
                <a:solidFill>
                  <a:srgbClr val="5B6372"/>
                </a:solidFill>
                <a:latin typeface="Arial"/>
              </a:rPr>
              <a:t>Arrows, order and whitespace control the reading path.</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A concise implication or next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Footer</a:t>
            </a:r>
          </a:p>
          <a:p>
            <a:pPr algn="l">
              <a:spcAft>
                <a:spcPts val="300"/>
              </a:spcAft>
            </a:pPr>
            <a:r>
              <a:rPr sz="1200" b="0">
                <a:solidFill>
                  <a:srgbClr val="5B6372"/>
                </a:solidFill>
                <a:latin typeface="Arial"/>
              </a:rPr>
              <a:t>Source, owner, date and accessibility notes.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 an Evidence-Led Infographic Brief</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plans a sustainable-delivery campaign. The communication manager needs a portrait infographic showing the customer journey from order to low-emission delivery.</a:t>
            </a:r>
          </a:p>
          <a:p>
            <a:pPr algn="l">
              <a:spcAft>
                <a:spcPts val="800"/>
              </a:spcAft>
            </a:pPr>
            <a:r>
              <a:rPr sz="1450" b="0">
                <a:solidFill>
                  <a:srgbClr val="161B26"/>
                </a:solidFill>
                <a:latin typeface="Arial"/>
              </a:rPr>
              <a:t>Use the supplied prompt workbook to ask AI for two wireframe directions. Select one by evidence fit, then preserve it as the control brief for Microsoft 365 Copilot, Gemini Notebook or PowerPoint.</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structured prompt brief, two AI wireframe directions and one approved PowerPoint wireframe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 an Evidence-Led Infographic Brief</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single audience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infographic type best reveals the relationship?</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content should be removed?</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should the reader's eye land first, second and last?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wipe dir="l"/>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 an Evidence-Led Infographic Brief</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Could the wireframe be understood without colour?</a:t>
            </a:r>
          </a:p>
          <a:p>
            <a:pPr>
              <a:spcAft>
                <a:spcPts val="900"/>
              </a:spcAft>
            </a:pPr>
            <a:r>
              <a:rPr sz="1450" b="0">
                <a:solidFill>
                  <a:srgbClr val="161B26"/>
                </a:solidFill>
                <a:latin typeface="Arial"/>
              </a:rPr>
              <a:t>•  Does every placeholder have a message role?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wireframe communicates objective, hierarchy, evidence, flow, action and source space before visual styling begins.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Introduction to Infographics</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Use AI to Clean Data and Extract Insights</a:t>
            </a:r>
          </a:p>
          <a:p>
            <a:pPr algn="l">
              <a:spcAft>
                <a:spcPts val="300"/>
              </a:spcAft>
            </a:pPr>
            <a:r>
              <a:rPr sz="1200" b="0">
                <a:solidFill>
                  <a:srgbClr val="5B6372"/>
                </a:solidFill>
                <a:latin typeface="Arial"/>
              </a:rPr>
              <a:t>You can now: use AI to organise and clean approved mock sources, then verify and convert candidate patterns into defensible business insights.</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Prompt an Evidence-Led Infographic Brief</a:t>
            </a:r>
          </a:p>
          <a:p>
            <a:pPr algn="l">
              <a:spcAft>
                <a:spcPts val="300"/>
              </a:spcAft>
            </a:pPr>
            <a:r>
              <a:rPr sz="1200" b="0">
                <a:solidFill>
                  <a:srgbClr val="5B6372"/>
                </a:solidFill>
                <a:latin typeface="Arial"/>
              </a:rPr>
              <a:t>You can now: turn verified insights into a structured AI brief and prompt that controls audience, message, evidence, form and output.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LU1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infographic is an argument made visible.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Start with the audience question, the evidence and the intended decision.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zoom/>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Create Infographics in PowerPoint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Slide size · Grid · Shapes · Icons · Type · Colour · SmartArt · Charts ·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push dir="l"/>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Create Infographics in PowerPoint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Visual hierarchy uses scale, position, contrast, spacing and alignment to guide the reader through one intended path.</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PowerPoint is the editable refinement layer for AI-generated structure, imagery, text, shapes, SmartArt, native charts and Excel-linked data.</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Microsoft 365 Copilot can generate an infographic from a prompt or file; Gemini Notebook can turn selected sources into an infographic or slide deck for PowerPoint refinement.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Every AI-assisted output needs source verification, privacy review, brand control, accessibility checks and editable hand-off.</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 PATTERNS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Copy-Ready Prompts — Analyse and Generate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Data analyst</a:t>
            </a:r>
          </a:p>
          <a:p>
            <a:pPr algn="l">
              <a:spcAft>
                <a:spcPts val="300"/>
              </a:spcAft>
            </a:pPr>
            <a:r>
              <a:rPr sz="1100" b="0">
                <a:solidFill>
                  <a:srgbClr val="5B6372"/>
                </a:solidFill>
                <a:latin typeface="Arial"/>
              </a:rPr>
              <a:t>Using only the attached approved sources, create a source register, identify duplicates or conflicting definitions, clean the table, show formulas or transformations, and return five candidate insights with citations, caveats and a confidence note. Do not invent missing values.</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Infographic</a:t>
            </a:r>
          </a:p>
          <a:p>
            <a:pPr algn="l">
              <a:spcAft>
                <a:spcPts val="300"/>
              </a:spcAft>
            </a:pPr>
            <a:r>
              <a:rPr sz="1100" b="0">
                <a:solidFill>
                  <a:srgbClr val="5B6372"/>
                </a:solidFill>
                <a:latin typeface="Arial"/>
              </a:rPr>
              <a:t>Create a one-page executive infographic for Singapore retail managers. Lead with one decision insight, show three supporting metrics, include a five-stage flow and a source footer. Use a clean professional style, strong hierarchy and no invented data. Leave critical labels editable.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50"/>
                                        <p:tgtEl>
                                          <p:spTgt spid="15"/>
                                        </p:tgtEl>
                                      </p:cBhvr>
                                    </p:animEffect>
                                    <p:anim calcmode="lin" valueType="num">
                                      <p:cBhvr additive="base">
                                        <p:cTn id="5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350"/>
                                        <p:tgtEl>
                                          <p:spTgt spid="13"/>
                                        </p:tgtEl>
                                      </p:cBhvr>
                                    </p:animEffect>
                                    <p:anim calcmode="lin" valueType="num">
                                      <p:cBhvr additive="base">
                                        <p:cTn id="6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350"/>
                                        <p:tgtEl>
                                          <p:spTgt spid="14"/>
                                        </p:tgtEl>
                                      </p:cBhvr>
                                    </p:animEffect>
                                    <p:anim calcmode="lin" valueType="num">
                                      <p:cBhvr additive="base">
                                        <p:cTn id="7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 PATTERNS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Copy-Ready Prompts — Assets and Gemini Notebook-to-PPTX</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Text to image</a:t>
            </a:r>
          </a:p>
          <a:p>
            <a:pPr algn="l">
              <a:spcAft>
                <a:spcPts val="300"/>
              </a:spcAft>
            </a:pPr>
            <a:r>
              <a:rPr sz="1100" b="0">
                <a:solidFill>
                  <a:srgbClr val="5B6372"/>
                </a:solidFill>
                <a:latin typeface="Arial"/>
              </a:rPr>
              <a:t>Create a clean vector-like sustainability delivery illustration for a PowerPoint infographic: one electric van, one reusable parcel, a simple route and a feedback symbol. Transparent background, consistent blue/teal/violet/amber palette, no text, no logo, no watermark.</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Gemini Notebook deck</a:t>
            </a:r>
          </a:p>
          <a:p>
            <a:pPr algn="l">
              <a:spcAft>
                <a:spcPts val="300"/>
              </a:spcAft>
            </a:pPr>
            <a:r>
              <a:rPr sz="1100" b="0">
                <a:solidFill>
                  <a:srgbClr val="5B6372"/>
                </a:solidFill>
                <a:latin typeface="Arial"/>
              </a:rPr>
              <a:t>Create Presenter Slides for business stakeholders. Focus on the verified decision insight, use a concise professional style, include source-grounded comparisons and a final recommendation. Avoid claims not supported by selected sources. Download PowerPoint when available; otherwise download PDF and identify what must be rebuilt as editable native PowerPoint objects.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50"/>
                                        <p:tgtEl>
                                          <p:spTgt spid="15"/>
                                        </p:tgtEl>
                                      </p:cBhvr>
                                    </p:animEffect>
                                    <p:anim calcmode="lin" valueType="num">
                                      <p:cBhvr additive="base">
                                        <p:cTn id="5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350"/>
                                        <p:tgtEl>
                                          <p:spTgt spid="13"/>
                                        </p:tgtEl>
                                      </p:cBhvr>
                                    </p:animEffect>
                                    <p:anim calcmode="lin" valueType="num">
                                      <p:cBhvr additive="base">
                                        <p:cTn id="6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350"/>
                                        <p:tgtEl>
                                          <p:spTgt spid="14"/>
                                        </p:tgtEl>
                                      </p:cBhvr>
                                    </p:animEffect>
                                    <p:anim calcmode="lin" valueType="num">
                                      <p:cBhvr additive="base">
                                        <p:cTn id="7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BRIEF · TWO ROUTES · ONE POWERPOINT MASTER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Microsoft 365 Copilot vs Gemini Notebook</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Use the same approved sources and scoring criteria; choose by task, governance and editability rather than novelty.</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Microsoft 365 Copilot</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Gemini Notebook</a:t>
            </a:r>
          </a:p>
        </p:txBody>
      </p:sp>
      <p:sp>
        <p:nvSpPr>
          <p:cNvPr id="11" name="Rectangle 10"/>
          <p:cNvSpPr/>
          <p:nvPr/>
        </p:nvSpPr>
        <p:spPr>
          <a:xfrm>
            <a:off x="777240" y="2560320"/>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Starting point</a:t>
            </a:r>
          </a:p>
        </p:txBody>
      </p:sp>
      <p:sp>
        <p:nvSpPr>
          <p:cNvPr id="13" name="Rectangle 12"/>
          <p:cNvSpPr/>
          <p:nvPr/>
        </p:nvSpPr>
        <p:spPr>
          <a:xfrm>
            <a:off x="2926080"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Prompt or uploaded file in Microsoft 365 Copilot</a:t>
            </a:r>
          </a:p>
        </p:txBody>
      </p:sp>
      <p:sp>
        <p:nvSpPr>
          <p:cNvPr id="15" name="Rectangle 14"/>
          <p:cNvSpPr/>
          <p:nvPr/>
        </p:nvSpPr>
        <p:spPr>
          <a:xfrm>
            <a:off x="7168896"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Selected notebook sources: files, URLs, text or YouTube</a:t>
            </a:r>
          </a:p>
        </p:txBody>
      </p:sp>
      <p:sp>
        <p:nvSpPr>
          <p:cNvPr id="17" name="Rectangle 16"/>
          <p:cNvSpPr/>
          <p:nvPr/>
        </p:nvSpPr>
        <p:spPr>
          <a:xfrm>
            <a:off x="777240" y="3273552"/>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73552"/>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Best use</a:t>
            </a:r>
          </a:p>
        </p:txBody>
      </p:sp>
      <p:sp>
        <p:nvSpPr>
          <p:cNvPr id="19" name="Rectangle 18"/>
          <p:cNvSpPr/>
          <p:nvPr/>
        </p:nvSpPr>
        <p:spPr>
          <a:xfrm>
            <a:off x="2926080"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Direct infographic creation and editing within the Microsoft ecosystem</a:t>
            </a:r>
          </a:p>
        </p:txBody>
      </p:sp>
      <p:sp>
        <p:nvSpPr>
          <p:cNvPr id="21" name="Rectangle 20"/>
          <p:cNvSpPr/>
          <p:nvPr/>
        </p:nvSpPr>
        <p:spPr>
          <a:xfrm>
            <a:off x="7168896"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Source-grounded synthesis into an infographic or multi-slide narrative</a:t>
            </a:r>
          </a:p>
        </p:txBody>
      </p:sp>
      <p:sp>
        <p:nvSpPr>
          <p:cNvPr id="23" name="Rectangle 22"/>
          <p:cNvSpPr/>
          <p:nvPr/>
        </p:nvSpPr>
        <p:spPr>
          <a:xfrm>
            <a:off x="777240" y="3986784"/>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986784"/>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PowerPoint hand-off</a:t>
            </a:r>
          </a:p>
        </p:txBody>
      </p:sp>
      <p:sp>
        <p:nvSpPr>
          <p:cNvPr id="25" name="Rectangle 24"/>
          <p:cNvSpPr/>
          <p:nvPr/>
        </p:nvSpPr>
        <p:spPr>
          <a:xfrm>
            <a:off x="2926080"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Copy/download or continue editing in Microsoft tools</a:t>
            </a:r>
          </a:p>
        </p:txBody>
      </p:sp>
      <p:sp>
        <p:nvSpPr>
          <p:cNvPr id="27" name="Rectangle 26"/>
          <p:cNvSpPr/>
          <p:nvPr/>
        </p:nvSpPr>
        <p:spPr>
          <a:xfrm>
            <a:off x="7168896"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Download .pptx where available; otherwise preserve PDF and rebuild critical content in PowerPoint</a:t>
            </a:r>
          </a:p>
        </p:txBody>
      </p:sp>
      <p:sp>
        <p:nvSpPr>
          <p:cNvPr id="29" name="Rectangle 28"/>
          <p:cNvSpPr/>
          <p:nvPr/>
        </p:nvSpPr>
        <p:spPr>
          <a:xfrm>
            <a:off x="777240" y="4700016"/>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00016"/>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Control</a:t>
            </a:r>
          </a:p>
        </p:txBody>
      </p:sp>
      <p:sp>
        <p:nvSpPr>
          <p:cNvPr id="31" name="Rectangle 30"/>
          <p:cNvSpPr/>
          <p:nvPr/>
        </p:nvSpPr>
        <p:spPr>
          <a:xfrm>
            <a:off x="2926080"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Brand kit, orientation, prompt and visual editor where available</a:t>
            </a:r>
          </a:p>
        </p:txBody>
      </p:sp>
      <p:sp>
        <p:nvSpPr>
          <p:cNvPr id="33" name="Rectangle 32"/>
          <p:cNvSpPr/>
          <p:nvPr/>
        </p:nvSpPr>
        <p:spPr>
          <a:xfrm>
            <a:off x="7168896"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Source selection, format, language, length, orientation/detail/style and custom prompt</a:t>
            </a:r>
          </a:p>
        </p:txBody>
      </p:sp>
      <p:sp>
        <p:nvSpPr>
          <p:cNvPr id="35" name="Rectangle 34"/>
          <p:cNvSpPr/>
          <p:nvPr/>
        </p:nvSpPr>
        <p:spPr>
          <a:xfrm>
            <a:off x="777240" y="5413248"/>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413248"/>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Review risk</a:t>
            </a:r>
          </a:p>
        </p:txBody>
      </p:sp>
      <p:sp>
        <p:nvSpPr>
          <p:cNvPr id="37" name="Rectangle 36"/>
          <p:cNvSpPr/>
          <p:nvPr/>
        </p:nvSpPr>
        <p:spPr>
          <a:xfrm>
            <a:off x="2926080"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Availability, editability and generated claims vary by licence and output</a:t>
            </a:r>
          </a:p>
        </p:txBody>
      </p:sp>
      <p:sp>
        <p:nvSpPr>
          <p:cNvPr id="39" name="Rectangle 38"/>
          <p:cNvSpPr/>
          <p:nvPr/>
        </p:nvSpPr>
        <p:spPr>
          <a:xfrm>
            <a:off x="7168896"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Infographics/decks may contain visual or factual errors; revisions may not re-check sources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NATIVE CAPABILITY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PowerPoint's Editable Infographic Toolkit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Use the simplest editable object that communicates the relationship.</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Layout</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Slide size, guides, gridlines, alignment, distribute, group and Selection Pane.</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Visual components</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Shapes, connectors, icons, stock images, text boxes and merged shapes.</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Structured diagrams</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SmartArt lists, cycles, processes, hierarchies and timelines.</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Data visualisation</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Native charts, embedded workbooks and Excel-linked data.</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Delivery</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Animations, transitions, comments, co-authoring and presenter-friendly export.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MICROSOFT 2026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Infographic Maker and AI Designer: Use the Right Assist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Microsoft's current pages describe complementary template and Copilot workflows.</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Useful assistance</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Human responsibility</a:t>
            </a:r>
          </a:p>
        </p:txBody>
      </p:sp>
      <p:sp>
        <p:nvSpPr>
          <p:cNvPr id="11" name="Rectangle 10"/>
          <p:cNvSpPr/>
          <p:nvPr/>
        </p:nvSpPr>
        <p:spPr>
          <a:xfrm>
            <a:off x="777240" y="256032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Infographic maker</a:t>
            </a:r>
          </a:p>
        </p:txBody>
      </p:sp>
      <p:sp>
        <p:nvSpPr>
          <p:cNvPr id="13" name="Rectangle 12"/>
          <p:cNvSpPr/>
          <p:nvPr/>
        </p:nvSpPr>
        <p:spPr>
          <a:xfrm>
            <a:off x="2926080"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Templates for timelines, flowcharts, roadmaps, organisation charts and posters</a:t>
            </a:r>
          </a:p>
        </p:txBody>
      </p:sp>
      <p:sp>
        <p:nvSpPr>
          <p:cNvPr id="15" name="Rectangle 14"/>
          <p:cNvSpPr/>
          <p:nvPr/>
        </p:nvSpPr>
        <p:spPr>
          <a:xfrm>
            <a:off x="7168896"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Choose by relationship; replace every placeholder and retain source context</a:t>
            </a:r>
          </a:p>
        </p:txBody>
      </p:sp>
      <p:sp>
        <p:nvSpPr>
          <p:cNvPr id="17" name="Rectangle 16"/>
          <p:cNvSpPr/>
          <p:nvPr/>
        </p:nvSpPr>
        <p:spPr>
          <a:xfrm>
            <a:off x="777240" y="315468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15468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PowerPoint library</a:t>
            </a:r>
          </a:p>
        </p:txBody>
      </p:sp>
      <p:sp>
        <p:nvSpPr>
          <p:cNvPr id="19" name="Rectangle 18"/>
          <p:cNvSpPr/>
          <p:nvPr/>
        </p:nvSpPr>
        <p:spPr>
          <a:xfrm>
            <a:off x="2926080"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Icons, stock images, shapes, fonts, SmartArt and charts</a:t>
            </a:r>
          </a:p>
        </p:txBody>
      </p:sp>
      <p:sp>
        <p:nvSpPr>
          <p:cNvPr id="21" name="Rectangle 20"/>
          <p:cNvSpPr/>
          <p:nvPr/>
        </p:nvSpPr>
        <p:spPr>
          <a:xfrm>
            <a:off x="7168896"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Apply hierarchy, brand, accessibility and evidence standards</a:t>
            </a:r>
          </a:p>
        </p:txBody>
      </p:sp>
      <p:sp>
        <p:nvSpPr>
          <p:cNvPr id="23" name="Rectangle 22"/>
          <p:cNvSpPr/>
          <p:nvPr/>
        </p:nvSpPr>
        <p:spPr>
          <a:xfrm>
            <a:off x="777240" y="374904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4904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Copilot generation</a:t>
            </a:r>
          </a:p>
        </p:txBody>
      </p:sp>
      <p:sp>
        <p:nvSpPr>
          <p:cNvPr id="25" name="Rectangle 24"/>
          <p:cNvSpPr/>
          <p:nvPr/>
        </p:nvSpPr>
        <p:spPr>
          <a:xfrm>
            <a:off x="2926080"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Suggest section titles, layouts, summaries and supporting AI images</a:t>
            </a:r>
          </a:p>
        </p:txBody>
      </p:sp>
      <p:sp>
        <p:nvSpPr>
          <p:cNvPr id="27" name="Rectangle 26"/>
          <p:cNvSpPr/>
          <p:nvPr/>
        </p:nvSpPr>
        <p:spPr>
          <a:xfrm>
            <a:off x="7168896"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Verify every claim and rebuild decision-critical evidence as native objects</a:t>
            </a:r>
          </a:p>
        </p:txBody>
      </p:sp>
      <p:sp>
        <p:nvSpPr>
          <p:cNvPr id="29" name="Rectangle 28"/>
          <p:cNvSpPr/>
          <p:nvPr/>
        </p:nvSpPr>
        <p:spPr>
          <a:xfrm>
            <a:off x="777240" y="434340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4340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AI Designer</a:t>
            </a:r>
          </a:p>
        </p:txBody>
      </p:sp>
      <p:sp>
        <p:nvSpPr>
          <p:cNvPr id="31" name="Rectangle 30"/>
          <p:cNvSpPr/>
          <p:nvPr/>
        </p:nvSpPr>
        <p:spPr>
          <a:xfrm>
            <a:off x="2926080"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Generate or improve slide layouts and image placement</a:t>
            </a:r>
          </a:p>
        </p:txBody>
      </p:sp>
      <p:sp>
        <p:nvSpPr>
          <p:cNvPr id="33" name="Rectangle 32"/>
          <p:cNvSpPr/>
          <p:nvPr/>
        </p:nvSpPr>
        <p:spPr>
          <a:xfrm>
            <a:off x="7168896"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Compare options; preserve editability and maintain the approved master</a:t>
            </a:r>
          </a:p>
        </p:txBody>
      </p:sp>
      <p:sp>
        <p:nvSpPr>
          <p:cNvPr id="35" name="Rectangle 34"/>
          <p:cNvSpPr/>
          <p:nvPr/>
        </p:nvSpPr>
        <p:spPr>
          <a:xfrm>
            <a:off x="777240" y="493776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3776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Collaboration</a:t>
            </a:r>
          </a:p>
        </p:txBody>
      </p:sp>
      <p:sp>
        <p:nvSpPr>
          <p:cNvPr id="37" name="Rectangle 36"/>
          <p:cNvSpPr/>
          <p:nvPr/>
        </p:nvSpPr>
        <p:spPr>
          <a:xfrm>
            <a:off x="2926080"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Comments, mentions and real-time editing</a:t>
            </a:r>
          </a:p>
        </p:txBody>
      </p:sp>
      <p:sp>
        <p:nvSpPr>
          <p:cNvPr id="39" name="Rectangle 38"/>
          <p:cNvSpPr/>
          <p:nvPr/>
        </p:nvSpPr>
        <p:spPr>
          <a:xfrm>
            <a:off x="7168896"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Control ownership, versions, reviewers and release status</a:t>
            </a:r>
          </a:p>
        </p:txBody>
      </p:sp>
      <p:sp>
        <p:nvSpPr>
          <p:cNvPr id="41" name="Rectangle 40"/>
          <p:cNvSpPr/>
          <p:nvPr/>
        </p:nvSpPr>
        <p:spPr>
          <a:xfrm>
            <a:off x="777240" y="553212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321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Export</a:t>
            </a:r>
          </a:p>
        </p:txBody>
      </p:sp>
      <p:sp>
        <p:nvSpPr>
          <p:cNvPr id="43" name="Rectangle 42"/>
          <p:cNvSpPr/>
          <p:nvPr/>
        </p:nvSpPr>
        <p:spPr>
          <a:xfrm>
            <a:off x="2926080"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PPTX, PDF, JPG, slideshow and print</a:t>
            </a:r>
          </a:p>
        </p:txBody>
      </p:sp>
      <p:sp>
        <p:nvSpPr>
          <p:cNvPr id="45" name="Rectangle 44"/>
          <p:cNvSpPr/>
          <p:nvPr/>
        </p:nvSpPr>
        <p:spPr>
          <a:xfrm>
            <a:off x="7168896"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Test each channel for clipping, fonts, links and accessibility</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RESPONSIBLE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Human-in-the-Loop AI Workflow</a:t>
            </a:r>
          </a:p>
        </p:txBody>
      </p:sp>
      <p:sp>
        <p:nvSpPr>
          <p:cNvPr id="6" name="Rectangle 5"/>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1996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96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Approved brief</a:t>
            </a:r>
          </a:p>
        </p:txBody>
      </p:sp>
      <p:sp>
        <p:nvSpPr>
          <p:cNvPr id="11" name="Chevron 10"/>
          <p:cNvSpPr/>
          <p:nvPr/>
        </p:nvSpPr>
        <p:spPr>
          <a:xfrm>
            <a:off x="23393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38094"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094"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2741676"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Structured prompt</a:t>
            </a:r>
          </a:p>
        </p:txBody>
      </p:sp>
      <p:sp>
        <p:nvSpPr>
          <p:cNvPr id="17" name="Chevron 16"/>
          <p:cNvSpPr/>
          <p:nvPr/>
        </p:nvSpPr>
        <p:spPr>
          <a:xfrm>
            <a:off x="415747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6226"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22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4559808"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Two options</a:t>
            </a:r>
          </a:p>
        </p:txBody>
      </p:sp>
      <p:sp>
        <p:nvSpPr>
          <p:cNvPr id="23" name="Chevron 22"/>
          <p:cNvSpPr/>
          <p:nvPr/>
        </p:nvSpPr>
        <p:spPr>
          <a:xfrm>
            <a:off x="597560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4358"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435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6377940"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Fact and data check</a:t>
            </a:r>
          </a:p>
        </p:txBody>
      </p:sp>
      <p:sp>
        <p:nvSpPr>
          <p:cNvPr id="29" name="Chevron 28"/>
          <p:cNvSpPr/>
          <p:nvPr/>
        </p:nvSpPr>
        <p:spPr>
          <a:xfrm>
            <a:off x="779373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92490"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2490"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8196072"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Rebuild and accessibility</a:t>
            </a:r>
          </a:p>
        </p:txBody>
      </p:sp>
      <p:sp>
        <p:nvSpPr>
          <p:cNvPr id="35" name="Chevron 34"/>
          <p:cNvSpPr/>
          <p:nvPr/>
        </p:nvSpPr>
        <p:spPr>
          <a:xfrm>
            <a:off x="9611868"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1062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062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0" name="TextBox 39"/>
          <p:cNvSpPr txBox="1"/>
          <p:nvPr/>
        </p:nvSpPr>
        <p:spPr>
          <a:xfrm>
            <a:off x="1001420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Named approval</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AI can propose an infographic; it cannot own the truth, the data rights or the business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CONTROLLED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Editable PowerPoint Production Swimlane</a:t>
            </a:r>
          </a:p>
        </p:txBody>
      </p:sp>
      <p:sp>
        <p:nvSpPr>
          <p:cNvPr id="6" name="Rectangle 5"/>
          <p:cNvSpPr/>
          <p:nvPr/>
        </p:nvSpPr>
        <p:spPr>
          <a:xfrm>
            <a:off x="777240" y="2194560"/>
            <a:ext cx="1874519"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194560"/>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Content owner</a:t>
            </a:r>
          </a:p>
        </p:txBody>
      </p:sp>
      <p:sp>
        <p:nvSpPr>
          <p:cNvPr id="8" name="Rectangle 7"/>
          <p:cNvSpPr/>
          <p:nvPr/>
        </p:nvSpPr>
        <p:spPr>
          <a:xfrm>
            <a:off x="2834639"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34639"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9231"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question</a:t>
            </a:r>
          </a:p>
        </p:txBody>
      </p:sp>
      <p:sp>
        <p:nvSpPr>
          <p:cNvPr id="11" name="Rectangle 10"/>
          <p:cNvSpPr/>
          <p:nvPr/>
        </p:nvSpPr>
        <p:spPr>
          <a:xfrm>
            <a:off x="5815583"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15583"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5"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Verify data</a:t>
            </a:r>
          </a:p>
        </p:txBody>
      </p:sp>
      <p:sp>
        <p:nvSpPr>
          <p:cNvPr id="14" name="Rectangle 13"/>
          <p:cNvSpPr/>
          <p:nvPr/>
        </p:nvSpPr>
        <p:spPr>
          <a:xfrm>
            <a:off x="8796527"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96527"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19"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message</a:t>
            </a:r>
          </a:p>
        </p:txBody>
      </p:sp>
      <p:sp>
        <p:nvSpPr>
          <p:cNvPr id="17" name="Chevron 16"/>
          <p:cNvSpPr/>
          <p:nvPr/>
        </p:nvSpPr>
        <p:spPr>
          <a:xfrm>
            <a:off x="5669279" y="2495169"/>
            <a:ext cx="109728" cy="18288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evron 17"/>
          <p:cNvSpPr/>
          <p:nvPr/>
        </p:nvSpPr>
        <p:spPr>
          <a:xfrm>
            <a:off x="8650223" y="2495169"/>
            <a:ext cx="109728" cy="18288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106674"/>
            <a:ext cx="1874519"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106674"/>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PowerPoint / AI</a:t>
            </a:r>
          </a:p>
        </p:txBody>
      </p:sp>
      <p:sp>
        <p:nvSpPr>
          <p:cNvPr id="21" name="Rectangle 20"/>
          <p:cNvSpPr/>
          <p:nvPr/>
        </p:nvSpPr>
        <p:spPr>
          <a:xfrm>
            <a:off x="2834639"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34639"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9231"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Generate options</a:t>
            </a:r>
          </a:p>
        </p:txBody>
      </p:sp>
      <p:sp>
        <p:nvSpPr>
          <p:cNvPr id="24" name="Rectangle 23"/>
          <p:cNvSpPr/>
          <p:nvPr/>
        </p:nvSpPr>
        <p:spPr>
          <a:xfrm>
            <a:off x="5815583"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15583"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5"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Build native objects</a:t>
            </a:r>
          </a:p>
        </p:txBody>
      </p:sp>
      <p:sp>
        <p:nvSpPr>
          <p:cNvPr id="27" name="Rectangle 26"/>
          <p:cNvSpPr/>
          <p:nvPr/>
        </p:nvSpPr>
        <p:spPr>
          <a:xfrm>
            <a:off x="8796527"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96527"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19"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Export formats</a:t>
            </a:r>
          </a:p>
        </p:txBody>
      </p:sp>
      <p:sp>
        <p:nvSpPr>
          <p:cNvPr id="30" name="Chevron 29"/>
          <p:cNvSpPr/>
          <p:nvPr/>
        </p:nvSpPr>
        <p:spPr>
          <a:xfrm>
            <a:off x="5669279" y="3407283"/>
            <a:ext cx="109728" cy="1828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evron 30"/>
          <p:cNvSpPr/>
          <p:nvPr/>
        </p:nvSpPr>
        <p:spPr>
          <a:xfrm>
            <a:off x="8650223" y="3407283"/>
            <a:ext cx="109728" cy="1828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018788"/>
            <a:ext cx="1874519"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 y="4018788"/>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Designer</a:t>
            </a:r>
          </a:p>
        </p:txBody>
      </p:sp>
      <p:sp>
        <p:nvSpPr>
          <p:cNvPr id="34" name="Rectangle 33"/>
          <p:cNvSpPr/>
          <p:nvPr/>
        </p:nvSpPr>
        <p:spPr>
          <a:xfrm>
            <a:off x="2834639"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834639"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99231"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Apply hierarchy</a:t>
            </a:r>
          </a:p>
        </p:txBody>
      </p:sp>
      <p:sp>
        <p:nvSpPr>
          <p:cNvPr id="37" name="Rectangle 36"/>
          <p:cNvSpPr/>
          <p:nvPr/>
        </p:nvSpPr>
        <p:spPr>
          <a:xfrm>
            <a:off x="5815583"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15583"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80175"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Check brand/access</a:t>
            </a:r>
          </a:p>
        </p:txBody>
      </p:sp>
      <p:sp>
        <p:nvSpPr>
          <p:cNvPr id="40" name="Rectangle 39"/>
          <p:cNvSpPr/>
          <p:nvPr/>
        </p:nvSpPr>
        <p:spPr>
          <a:xfrm>
            <a:off x="8796527"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796527"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19"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Maintain master</a:t>
            </a:r>
          </a:p>
        </p:txBody>
      </p:sp>
      <p:sp>
        <p:nvSpPr>
          <p:cNvPr id="43" name="Chevron 42"/>
          <p:cNvSpPr/>
          <p:nvPr/>
        </p:nvSpPr>
        <p:spPr>
          <a:xfrm>
            <a:off x="5669279" y="4319397"/>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hevron 43"/>
          <p:cNvSpPr/>
          <p:nvPr/>
        </p:nvSpPr>
        <p:spPr>
          <a:xfrm>
            <a:off x="8650223" y="4319397"/>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 y="4930902"/>
            <a:ext cx="1874519"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56" y="4930902"/>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Reviewer</a:t>
            </a:r>
          </a:p>
        </p:txBody>
      </p:sp>
      <p:sp>
        <p:nvSpPr>
          <p:cNvPr id="47" name="Rectangle 46"/>
          <p:cNvSpPr/>
          <p:nvPr/>
        </p:nvSpPr>
        <p:spPr>
          <a:xfrm>
            <a:off x="2834639"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834639"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99231"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Challenge claims</a:t>
            </a:r>
          </a:p>
        </p:txBody>
      </p:sp>
      <p:sp>
        <p:nvSpPr>
          <p:cNvPr id="50" name="Rectangle 49"/>
          <p:cNvSpPr/>
          <p:nvPr/>
        </p:nvSpPr>
        <p:spPr>
          <a:xfrm>
            <a:off x="5815583"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15583"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80175"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Test outputs</a:t>
            </a:r>
          </a:p>
        </p:txBody>
      </p:sp>
      <p:sp>
        <p:nvSpPr>
          <p:cNvPr id="53" name="Rectangle 52"/>
          <p:cNvSpPr/>
          <p:nvPr/>
        </p:nvSpPr>
        <p:spPr>
          <a:xfrm>
            <a:off x="8796527"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796527"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61119"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release</a:t>
            </a:r>
          </a:p>
        </p:txBody>
      </p:sp>
      <p:sp>
        <p:nvSpPr>
          <p:cNvPr id="56" name="Chevron 55"/>
          <p:cNvSpPr/>
          <p:nvPr/>
        </p:nvSpPr>
        <p:spPr>
          <a:xfrm>
            <a:off x="5669279" y="5231511"/>
            <a:ext cx="109728" cy="1828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hevron 56"/>
          <p:cNvSpPr/>
          <p:nvPr/>
        </p:nvSpPr>
        <p:spPr>
          <a:xfrm>
            <a:off x="8650223" y="5231511"/>
            <a:ext cx="109728" cy="1828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77240" y="58978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Decision-critical charts, labels and sources stay editable and traceable.</a:t>
            </a:r>
          </a:p>
        </p:txBody>
      </p:sp>
      <p:sp>
        <p:nvSpPr>
          <p:cNvPr id="61" name="TextBox 60"/>
          <p:cNvSpPr txBox="1"/>
          <p:nvPr/>
        </p:nvSpPr>
        <p:spPr>
          <a:xfrm>
            <a:off x="777240" y="195681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workflow synthesis</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DATA STORY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Native Chart Is Part of the Evidence Chain</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DATA</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CSV and workbook retain definitions and formulas</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CHART</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Native PowerPoint object keeps labels and values editable</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TITLE</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Action title states the supported insight</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3000" b="1">
                <a:solidFill>
                  <a:srgbClr val="F59E0B"/>
                </a:solidFill>
                <a:latin typeface="Arial"/>
              </a:rPr>
              <a:t>CONTEXT</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Source, period, unit and limitation travel with the chart</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UPDATE</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 changed input can refresh the visual</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OWNER</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 named person verifies and releases the final slide</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Screenshots break the update path and hide the calculation trail.</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template adapted to the message, not the other way around</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 template adapted to the message, not the other way around?</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Template fit</a:t>
            </a:r>
          </a:p>
          <a:p>
            <a:pPr algn="l">
              <a:spcAft>
                <a:spcPts val="300"/>
              </a:spcAft>
            </a:pPr>
            <a:r>
              <a:rPr sz="1200" b="0">
                <a:solidFill>
                  <a:srgbClr val="5B6372"/>
                </a:solidFill>
                <a:latin typeface="Arial"/>
              </a:rPr>
              <a:t>Choose a timeline, flowchart, roadmap, poster or comparison that matches the question.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Editable system</a:t>
            </a:r>
          </a:p>
          <a:p>
            <a:pPr algn="l">
              <a:spcAft>
                <a:spcPts val="300"/>
              </a:spcAft>
            </a:pPr>
            <a:r>
              <a:rPr sz="1200" b="0">
                <a:solidFill>
                  <a:srgbClr val="5B6372"/>
                </a:solidFill>
                <a:latin typeface="Arial"/>
              </a:rPr>
              <a:t>Retain shapes, SmartArt, text, charts and brand elements as editable objects.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control</a:t>
            </a:r>
          </a:p>
          <a:p>
            <a:pPr algn="l">
              <a:spcAft>
                <a:spcPts val="300"/>
              </a:spcAft>
            </a:pPr>
            <a:r>
              <a:rPr sz="1200" b="0">
                <a:solidFill>
                  <a:srgbClr val="5B6372"/>
                </a:solidFill>
                <a:latin typeface="Arial"/>
              </a:rPr>
              <a:t>Apply an approved palette, type hierarchy, logo and background deliberately.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 control</a:t>
            </a:r>
          </a:p>
          <a:p>
            <a:pPr algn="l">
              <a:spcAft>
                <a:spcPts val="300"/>
              </a:spcAft>
            </a:pPr>
            <a:r>
              <a:rPr sz="1200" b="0">
                <a:solidFill>
                  <a:srgbClr val="5B6372"/>
                </a:solidFill>
                <a:latin typeface="Arial"/>
              </a:rPr>
              <a:t>Replace every placeholder with verified data and source context.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Microsoft Support — Create an infographic with Microsoft 365 Copilot, accessed 16 August 2026</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Template-to-Infographic Workflow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Select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Choose a template by relationship and output format.</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Audit</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Identify all placeholders and inherited decorative elements.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Replace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Insert the approved message, data and visuals.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Align</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Apply brand, grid, hierarchy and accessibility.</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Export</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Test PPTX, PDF and image output.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 Decoration vs Message Adaptation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Decoration-led</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Message-led</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Keep every template section</a:t>
            </a:r>
          </a:p>
          <a:p>
            <a:pPr>
              <a:spcAft>
                <a:spcPts val="1000"/>
              </a:spcAft>
            </a:pPr>
            <a:r>
              <a:rPr sz="1600" b="0">
                <a:solidFill>
                  <a:srgbClr val="161B26"/>
                </a:solidFill>
                <a:latin typeface="Arial"/>
              </a:rPr>
              <a:t>•  Choose colours first</a:t>
            </a:r>
          </a:p>
          <a:p>
            <a:pPr>
              <a:spcAft>
                <a:spcPts val="1000"/>
              </a:spcAft>
            </a:pPr>
            <a:r>
              <a:rPr sz="1600" b="0">
                <a:solidFill>
                  <a:srgbClr val="161B26"/>
                </a:solidFill>
                <a:latin typeface="Arial"/>
              </a:rPr>
              <a:t>•  Paste data into available boxes</a:t>
            </a:r>
          </a:p>
          <a:p>
            <a:pPr>
              <a:spcAft>
                <a:spcPts val="1000"/>
              </a:spcAft>
            </a:pPr>
            <a:r>
              <a:rPr sz="1600" b="0">
                <a:solidFill>
                  <a:srgbClr val="161B26"/>
                </a:solidFill>
                <a:latin typeface="Arial"/>
              </a:rPr>
              <a:t>•  Flatten the final slide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Remove any section that does not earn space</a:t>
            </a:r>
          </a:p>
          <a:p>
            <a:pPr>
              <a:spcAft>
                <a:spcPts val="1000"/>
              </a:spcAft>
            </a:pPr>
            <a:r>
              <a:rPr sz="1600" b="0">
                <a:solidFill>
                  <a:srgbClr val="161B26"/>
                </a:solidFill>
                <a:latin typeface="Arial"/>
              </a:rPr>
              <a:t>•  Use the approved hierarchy and brand</a:t>
            </a:r>
          </a:p>
          <a:p>
            <a:pPr>
              <a:spcAft>
                <a:spcPts val="1000"/>
              </a:spcAft>
            </a:pPr>
            <a:r>
              <a:rPr sz="1600" b="0">
                <a:solidFill>
                  <a:srgbClr val="161B26"/>
                </a:solidFill>
                <a:latin typeface="Arial"/>
              </a:rPr>
              <a:t>•  Choose the chart or shape for the relationship</a:t>
            </a:r>
          </a:p>
          <a:p>
            <a:pPr>
              <a:spcAft>
                <a:spcPts val="1000"/>
              </a:spcAft>
            </a:pPr>
            <a:r>
              <a:rPr sz="1600" b="0">
                <a:solidFill>
                  <a:srgbClr val="161B26"/>
                </a:solidFill>
                <a:latin typeface="Arial"/>
              </a:rPr>
              <a:t>•  Retain an editable master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 Audit Checklist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Does the layout answer the audience question?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a:t>
            </a:r>
          </a:p>
          <a:p>
            <a:pPr algn="l">
              <a:spcAft>
                <a:spcPts val="300"/>
              </a:spcAft>
            </a:pPr>
            <a:r>
              <a:rPr sz="1200" b="0">
                <a:solidFill>
                  <a:srgbClr val="5B6372"/>
                </a:solidFill>
                <a:latin typeface="Arial"/>
              </a:rPr>
              <a:t>Are all placeholders replaced and all claims verified?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Is the reading order obvious at thumbnail size?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a:t>
            </a:r>
          </a:p>
          <a:p>
            <a:pPr algn="l">
              <a:spcAft>
                <a:spcPts val="300"/>
              </a:spcAft>
            </a:pPr>
            <a:r>
              <a:rPr sz="1200" b="0">
                <a:solidFill>
                  <a:srgbClr val="5B6372"/>
                </a:solidFill>
                <a:latin typeface="Arial"/>
              </a:rPr>
              <a:t>Are palette, type, logo and tone approved?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Are contrast, labels and alt text adequate?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a:t>
            </a:r>
          </a:p>
          <a:p>
            <a:pPr algn="l">
              <a:spcAft>
                <a:spcPts val="300"/>
              </a:spcAft>
            </a:pPr>
            <a:r>
              <a:rPr sz="1200" b="0">
                <a:solidFill>
                  <a:srgbClr val="5B6372"/>
                </a:solidFill>
                <a:latin typeface="Arial"/>
              </a:rPr>
              <a:t>Do PPTX, PDF and JPG render as intended?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Build from Microsoft Infographic Maker</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wants a vertical five-stage sustainable-delivery journey for an employee town hall and social post.</a:t>
            </a:r>
          </a:p>
          <a:p>
            <a:pPr algn="l">
              <a:spcAft>
                <a:spcPts val="800"/>
              </a:spcAft>
            </a:pPr>
            <a:r>
              <a:rPr sz="1450" b="0">
                <a:solidFill>
                  <a:srgbClr val="161B26"/>
                </a:solidFill>
                <a:latin typeface="Arial"/>
              </a:rPr>
              <a:t>Start from a Microsoft infographic-maker template or the supplied editable sample. Adapt it to the approved wireframe; do not let inherited placeholders define the story.</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editable portrait template-based infographic in PPTX, PDF and JPG</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Build from Microsoft Infographic Maker</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Why does this template fit the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inherited element should be removed first?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remain editable?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export format fits each channel?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wipe dir="l"/>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Build from Microsoft Infographic Maker</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result still match the approved wireframe?</a:t>
            </a:r>
          </a:p>
          <a:p>
            <a:pPr>
              <a:spcAft>
                <a:spcPts val="900"/>
              </a:spcAft>
            </a:pPr>
            <a:r>
              <a:rPr sz="1450" b="0">
                <a:solidFill>
                  <a:srgbClr val="161B26"/>
                </a:solidFill>
                <a:latin typeface="Arial"/>
              </a:rPr>
              <a:t>•  Can another team member update the data without rebuilding the design?</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template-based infographic is message-led, branded, accessible, source-labelled and fully editable.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generate the imagery; keep the information architecture editable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generate the imagery; keep the information architecture editable?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 prompt</a:t>
            </a:r>
          </a:p>
          <a:p>
            <a:pPr algn="l">
              <a:spcAft>
                <a:spcPts val="300"/>
              </a:spcAft>
            </a:pPr>
            <a:r>
              <a:rPr sz="1200" b="0">
                <a:solidFill>
                  <a:srgbClr val="5B6372"/>
                </a:solidFill>
                <a:latin typeface="Arial"/>
              </a:rPr>
              <a:t>Specify subject, style, composition, palette, transparency and exclusions.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Consistency</a:t>
            </a:r>
          </a:p>
          <a:p>
            <a:pPr algn="l">
              <a:spcAft>
                <a:spcPts val="300"/>
              </a:spcAft>
            </a:pPr>
            <a:r>
              <a:rPr sz="1200" b="0">
                <a:solidFill>
                  <a:srgbClr val="5B6372"/>
                </a:solidFill>
                <a:latin typeface="Arial"/>
              </a:rPr>
              <a:t>Generate one coherent family rather than unrelated visual styles.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Editable meaning</a:t>
            </a:r>
          </a:p>
          <a:p>
            <a:pPr algn="l">
              <a:spcAft>
                <a:spcPts val="300"/>
              </a:spcAft>
            </a:pPr>
            <a:r>
              <a:rPr sz="1200" b="0">
                <a:solidFill>
                  <a:srgbClr val="5B6372"/>
                </a:solidFill>
                <a:latin typeface="Arial"/>
              </a:rPr>
              <a:t>Keep claims, labels, numbers, connectors and charts as native PowerPoint objects.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Provenance</a:t>
            </a:r>
          </a:p>
          <a:p>
            <a:pPr algn="l">
              <a:spcAft>
                <a:spcPts val="300"/>
              </a:spcAft>
            </a:pPr>
            <a:r>
              <a:rPr sz="1200" b="0">
                <a:solidFill>
                  <a:srgbClr val="5B6372"/>
                </a:solidFill>
                <a:latin typeface="Arial"/>
              </a:rPr>
              <a:t>Record tool, prompt, date, intended use, review and human changes.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Prompt-to-Asset-to-PowerPoint</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Prompt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Describe use, subject, style, palette and constraints.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one asset sheet or a consistent set of separate visuals.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Inspect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Reject text errors, visual ambiguity, rights risks and inconsistent style.</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Insert</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Place approved assets without treating them as measured evidence.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Refine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Add editable labels, shapes, connectors, alt text and source notes.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Generated Asset vs Information Evidence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AI image can support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PowerPoint must carry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Mood and visual metaphor</a:t>
            </a:r>
          </a:p>
          <a:p>
            <a:pPr>
              <a:spcAft>
                <a:spcPts val="1000"/>
              </a:spcAft>
            </a:pPr>
            <a:r>
              <a:rPr sz="1600" b="0">
                <a:solidFill>
                  <a:srgbClr val="161B26"/>
                </a:solidFill>
                <a:latin typeface="Arial"/>
              </a:rPr>
              <a:t>•  Consistent illustrative icon family</a:t>
            </a:r>
          </a:p>
          <a:p>
            <a:pPr>
              <a:spcAft>
                <a:spcPts val="1000"/>
              </a:spcAft>
            </a:pPr>
            <a:r>
              <a:rPr sz="1600" b="0">
                <a:solidFill>
                  <a:srgbClr val="161B26"/>
                </a:solidFill>
                <a:latin typeface="Arial"/>
              </a:rPr>
              <a:t>•  Background or hero imagery</a:t>
            </a:r>
          </a:p>
          <a:p>
            <a:pPr>
              <a:spcAft>
                <a:spcPts val="1000"/>
              </a:spcAft>
            </a:pPr>
            <a:r>
              <a:rPr sz="1600" b="0">
                <a:solidFill>
                  <a:srgbClr val="161B26"/>
                </a:solidFill>
                <a:latin typeface="Arial"/>
              </a:rPr>
              <a:t>•  Non-data decorative support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Verified numbers and claims</a:t>
            </a:r>
          </a:p>
          <a:p>
            <a:pPr>
              <a:spcAft>
                <a:spcPts val="1000"/>
              </a:spcAft>
            </a:pPr>
            <a:r>
              <a:rPr sz="1600" b="0">
                <a:solidFill>
                  <a:srgbClr val="161B26"/>
                </a:solidFill>
                <a:latin typeface="Arial"/>
              </a:rPr>
              <a:t>•  Editable labels and source notes</a:t>
            </a:r>
          </a:p>
          <a:p>
            <a:pPr>
              <a:spcAft>
                <a:spcPts val="1000"/>
              </a:spcAft>
            </a:pPr>
            <a:r>
              <a:rPr sz="1600" b="0">
                <a:solidFill>
                  <a:srgbClr val="161B26"/>
                </a:solidFill>
                <a:latin typeface="Arial"/>
              </a:rPr>
              <a:t>•  Native charts and meaningful connectors</a:t>
            </a:r>
          </a:p>
          <a:p>
            <a:pPr>
              <a:spcAft>
                <a:spcPts val="1000"/>
              </a:spcAft>
            </a:pPr>
            <a:r>
              <a:rPr sz="1600" b="0">
                <a:solidFill>
                  <a:srgbClr val="161B26"/>
                </a:solidFill>
                <a:latin typeface="Arial"/>
              </a:rPr>
              <a:t>•  Reading order and accessibility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Five-Stage Delivery Process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a:t>
            </a:r>
          </a:p>
          <a:p>
            <a:pPr algn="l">
              <a:spcAft>
                <a:spcPts val="300"/>
              </a:spcAft>
            </a:pPr>
            <a:r>
              <a:rPr sz="1200" b="0">
                <a:solidFill>
                  <a:srgbClr val="5B6372"/>
                </a:solidFill>
                <a:latin typeface="Arial"/>
              </a:rPr>
              <a:t>Order confirmed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a:t>
            </a:r>
          </a:p>
          <a:p>
            <a:pPr algn="l">
              <a:spcAft>
                <a:spcPts val="300"/>
              </a:spcAft>
            </a:pPr>
            <a:r>
              <a:rPr sz="1200" b="0">
                <a:solidFill>
                  <a:srgbClr val="5B6372"/>
                </a:solidFill>
                <a:latin typeface="Arial"/>
              </a:rPr>
              <a:t>Inventory reserved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a:t>
            </a:r>
          </a:p>
          <a:p>
            <a:pPr algn="l">
              <a:spcAft>
                <a:spcPts val="300"/>
              </a:spcAft>
            </a:pPr>
            <a:r>
              <a:rPr sz="1200" b="0">
                <a:solidFill>
                  <a:srgbClr val="5B6372"/>
                </a:solidFill>
                <a:latin typeface="Arial"/>
              </a:rPr>
              <a:t>Route optimised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a:t>
            </a:r>
          </a:p>
          <a:p>
            <a:pPr algn="l">
              <a:spcAft>
                <a:spcPts val="300"/>
              </a:spcAft>
            </a:pPr>
            <a:r>
              <a:rPr sz="1200" b="0">
                <a:solidFill>
                  <a:srgbClr val="5B6372"/>
                </a:solidFill>
                <a:latin typeface="Arial"/>
              </a:rPr>
              <a:t>Low-emission delivery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a:t>
            </a:r>
          </a:p>
          <a:p>
            <a:pPr algn="l">
              <a:spcAft>
                <a:spcPts val="300"/>
              </a:spcAft>
            </a:pPr>
            <a:r>
              <a:rPr sz="1200" b="0">
                <a:solidFill>
                  <a:srgbClr val="5B6372"/>
                </a:solidFill>
                <a:latin typeface="Arial"/>
              </a:rPr>
              <a:t>Customer feedback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Rule</a:t>
            </a:r>
          </a:p>
          <a:p>
            <a:pPr algn="l">
              <a:spcAft>
                <a:spcPts val="300"/>
              </a:spcAft>
            </a:pPr>
            <a:r>
              <a:rPr sz="1200" b="0">
                <a:solidFill>
                  <a:srgbClr val="5B6372"/>
                </a:solidFill>
                <a:latin typeface="Arial"/>
              </a:rPr>
              <a:t>One stage, one verb, one icon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 Visual Assets and Refine Them in PowerPoint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needs an editable five-stage process infographic for store managers. Use the supplied AI-generated sustainability asset sheet or regenerate a new set from the recorded text-to-image prompt.</a:t>
            </a:r>
          </a:p>
          <a:p>
            <a:pPr algn="l">
              <a:spcAft>
                <a:spcPts val="800"/>
              </a:spcAft>
            </a:pPr>
            <a:r>
              <a:rPr sz="1450" b="0">
                <a:solidFill>
                  <a:srgbClr val="161B26"/>
                </a:solidFill>
                <a:latin typeface="Arial"/>
              </a:rPr>
              <a:t>Use the images only as supporting visuals. Build all stage names, values, connectors, source labels and decision meaning as editable PowerPoint objects.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prompt log, consistent AI-generated asset set, editable five-stage infographic and reusable PowerPoint component slide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 Visual Assets and Refine Them in PowerPoint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visual property signals sequence?</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is direct labelling still required?</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Would SmartArt clarify or constrain this design?</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the system remain reusable?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wipe dir="l"/>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 Visual Assets and Refine Them in PowerPoint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Can the process be scanned left to right in five seconds?</a:t>
            </a:r>
          </a:p>
          <a:p>
            <a:pPr>
              <a:spcAft>
                <a:spcPts val="900"/>
              </a:spcAft>
            </a:pPr>
            <a:r>
              <a:rPr sz="1450" b="0">
                <a:solidFill>
                  <a:srgbClr val="161B26"/>
                </a:solidFill>
                <a:latin typeface="Arial"/>
              </a:rPr>
              <a:t>•  Are all objects aligned, grouped and editable?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process uses a consistent component system, real connectors, direct labels, purposeful whitespace and editable PowerPoint objects.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AI finds candidate patterns; Excel and PowerPoint make the evidence auditable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AI finds candidate patterns; Excel and PowerPoint make the evidence auditable?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Metric fit</a:t>
            </a:r>
          </a:p>
          <a:p>
            <a:pPr algn="l">
              <a:spcAft>
                <a:spcPts val="300"/>
              </a:spcAft>
            </a:pPr>
            <a:r>
              <a:rPr sz="1200" b="0">
                <a:solidFill>
                  <a:srgbClr val="5B6372"/>
                </a:solidFill>
                <a:latin typeface="Arial"/>
              </a:rPr>
              <a:t>Select values that answer the business question and use consistent denominators.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Chart fit</a:t>
            </a:r>
          </a:p>
          <a:p>
            <a:pPr algn="l">
              <a:spcAft>
                <a:spcPts val="300"/>
              </a:spcAft>
            </a:pPr>
            <a:r>
              <a:rPr sz="1200" b="0">
                <a:solidFill>
                  <a:srgbClr val="5B6372"/>
                </a:solidFill>
                <a:latin typeface="Arial"/>
              </a:rPr>
              <a:t>Bar for comparison, line for time, scatter for relationship, composition only when part-to-whole matters.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integrity</a:t>
            </a:r>
          </a:p>
          <a:p>
            <a:pPr algn="l">
              <a:spcAft>
                <a:spcPts val="300"/>
              </a:spcAft>
            </a:pPr>
            <a:r>
              <a:rPr sz="1200" b="0">
                <a:solidFill>
                  <a:srgbClr val="5B6372"/>
                </a:solidFill>
                <a:latin typeface="Arial"/>
              </a:rPr>
              <a:t>Preserve units, timeframe, source and calculation logic.</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Annotation</a:t>
            </a:r>
          </a:p>
          <a:p>
            <a:pPr algn="l">
              <a:spcAft>
                <a:spcPts val="300"/>
              </a:spcAft>
            </a:pPr>
            <a:r>
              <a:rPr sz="1200" b="0">
                <a:solidFill>
                  <a:srgbClr val="5B6372"/>
                </a:solidFill>
                <a:latin typeface="Arial"/>
              </a:rPr>
              <a:t>Use an action title, direct labels and one purposeful accent to reveal the takeaway.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Data-to-Decision Chart</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Question</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Define which products to promote and why.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Prepare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Ask AI to flag data types, missing values, duplicates and inconsistent periods.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Choose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Select metric and chart based on the relationship.</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or paste a native editable PowerPoint chart.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Explain</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the action title, annotation and implication.</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Default Chart vs Decision Visual</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Default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Decision-ready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Generic chart title</a:t>
            </a:r>
          </a:p>
          <a:p>
            <a:pPr>
              <a:spcAft>
                <a:spcPts val="1000"/>
              </a:spcAft>
            </a:pPr>
            <a:r>
              <a:rPr sz="1600" b="0">
                <a:solidFill>
                  <a:srgbClr val="161B26"/>
                </a:solidFill>
                <a:latin typeface="Arial"/>
              </a:rPr>
              <a:t>•  Legend far from data</a:t>
            </a:r>
          </a:p>
          <a:p>
            <a:pPr>
              <a:spcAft>
                <a:spcPts val="1000"/>
              </a:spcAft>
            </a:pPr>
            <a:r>
              <a:rPr sz="1600" b="0">
                <a:solidFill>
                  <a:srgbClr val="161B26"/>
                </a:solidFill>
                <a:latin typeface="Arial"/>
              </a:rPr>
              <a:t>•  Rainbow series</a:t>
            </a:r>
          </a:p>
          <a:p>
            <a:pPr>
              <a:spcAft>
                <a:spcPts val="1000"/>
              </a:spcAft>
            </a:pPr>
            <a:r>
              <a:rPr sz="1600" b="0">
                <a:solidFill>
                  <a:srgbClr val="161B26"/>
                </a:solidFill>
                <a:latin typeface="Arial"/>
              </a:rPr>
              <a:t>•  No source or timeframe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Action title states the insight</a:t>
            </a:r>
          </a:p>
          <a:p>
            <a:pPr>
              <a:spcAft>
                <a:spcPts val="1000"/>
              </a:spcAft>
            </a:pPr>
            <a:r>
              <a:rPr sz="1600" b="0">
                <a:solidFill>
                  <a:srgbClr val="161B26"/>
                </a:solidFill>
                <a:latin typeface="Arial"/>
              </a:rPr>
              <a:t>•  Direct labels</a:t>
            </a:r>
          </a:p>
          <a:p>
            <a:pPr>
              <a:spcAft>
                <a:spcPts val="1000"/>
              </a:spcAft>
            </a:pPr>
            <a:r>
              <a:rPr sz="1600" b="0">
                <a:solidFill>
                  <a:srgbClr val="161B26"/>
                </a:solidFill>
                <a:latin typeface="Arial"/>
              </a:rPr>
              <a:t>•  One accent highlights the decision</a:t>
            </a:r>
          </a:p>
          <a:p>
            <a:pPr>
              <a:spcAft>
                <a:spcPts val="1000"/>
              </a:spcAft>
            </a:pPr>
            <a:r>
              <a:rPr sz="1600" b="0">
                <a:solidFill>
                  <a:srgbClr val="161B26"/>
                </a:solidFill>
                <a:latin typeface="Arial"/>
              </a:rPr>
              <a:t>•  Source, period and unit are visible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Product Promotion Signals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Beverages</a:t>
            </a:r>
          </a:p>
          <a:p>
            <a:pPr algn="l">
              <a:spcAft>
                <a:spcPts val="300"/>
              </a:spcAft>
            </a:pPr>
            <a:r>
              <a:rPr sz="1200" b="0">
                <a:solidFill>
                  <a:srgbClr val="5B6372"/>
                </a:solidFill>
                <a:latin typeface="Arial"/>
              </a:rPr>
              <a:t>Highest revenue; stable margin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Ready meals</a:t>
            </a:r>
          </a:p>
          <a:p>
            <a:pPr algn="l">
              <a:spcAft>
                <a:spcPts val="300"/>
              </a:spcAft>
            </a:pPr>
            <a:r>
              <a:rPr sz="1200" b="0">
                <a:solidFill>
                  <a:srgbClr val="5B6372"/>
                </a:solidFill>
                <a:latin typeface="Arial"/>
              </a:rPr>
              <a:t>Fastest Q2 growth; above-floor margin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Snacks</a:t>
            </a:r>
          </a:p>
          <a:p>
            <a:pPr algn="l">
              <a:spcAft>
                <a:spcPts val="300"/>
              </a:spcAft>
            </a:pPr>
            <a:r>
              <a:rPr sz="1200" b="0">
                <a:solidFill>
                  <a:srgbClr val="5B6372"/>
                </a:solidFill>
                <a:latin typeface="Arial"/>
              </a:rPr>
              <a:t>High volume; lower margin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Household</a:t>
            </a:r>
          </a:p>
          <a:p>
            <a:pPr algn="l">
              <a:spcAft>
                <a:spcPts val="300"/>
              </a:spcAft>
            </a:pPr>
            <a:r>
              <a:rPr sz="1200" b="0">
                <a:solidFill>
                  <a:srgbClr val="5B6372"/>
                </a:solidFill>
                <a:latin typeface="Arial"/>
              </a:rPr>
              <a:t>Seasonal spike; higher returns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a:t>
            </a:r>
          </a:p>
          <a:p>
            <a:pPr algn="l">
              <a:spcAft>
                <a:spcPts val="300"/>
              </a:spcAft>
            </a:pPr>
            <a:r>
              <a:rPr sz="1200" b="0">
                <a:solidFill>
                  <a:srgbClr val="5B6372"/>
                </a:solidFill>
                <a:latin typeface="Arial"/>
              </a:rPr>
              <a:t>Revenue + growth + margin, not volume alone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Test Ready Meals as the campaign hero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Analysis to Build a Native PowerPoint Data Story</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Northstar's marketing team must choose one product family for the next promotion. The supplied workbook contains monthly revenue, units, margin and returns for four categories.</a:t>
            </a:r>
          </a:p>
          <a:p>
            <a:pPr algn="l">
              <a:spcAft>
                <a:spcPts val="800"/>
              </a:spcAft>
            </a:pPr>
            <a:r>
              <a:rPr sz="1450" b="0">
                <a:solidFill>
                  <a:srgbClr val="161B26"/>
                </a:solidFill>
                <a:latin typeface="Arial"/>
              </a:rPr>
              <a:t>Prompt an approved AI assistant to analyse the workbook and propose candidate insights. Reproduce the selected calculations in Excel, then create an editable PowerPoint chart with an explicit decision implication.</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AI analysis log, verified formula workbook, native editable PowerPoint chart and annotated decision slide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Analysis to Build a Native PowerPoint Data Story</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metric answers the actual business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does the chart show that a table does not?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context or caveat belongs on the slide?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product should be tested and why?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wipe dir="l"/>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Analysis to Build a Native PowerPoint Data Story</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Can the chart be updated from the workbook?</a:t>
            </a:r>
          </a:p>
          <a:p>
            <a:pPr>
              <a:spcAft>
                <a:spcPts val="900"/>
              </a:spcAft>
            </a:pPr>
            <a:r>
              <a:rPr sz="1450" b="0">
                <a:solidFill>
                  <a:srgbClr val="161B26"/>
                </a:solidFill>
                <a:latin typeface="Arial"/>
              </a:rPr>
              <a:t>•  Does the title state the conclusion rather than the topic?</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chart is native/editable, uses an appropriate form, retains source context and makes a proportionate product-promotion recommendation.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two AI routes, one verified brief, one accountable PowerPoint master</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two AI routes, one verified brief, one accountable PowerPoint master?</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Microsoft route</a:t>
            </a:r>
          </a:p>
          <a:p>
            <a:pPr algn="l">
              <a:spcAft>
                <a:spcPts val="300"/>
              </a:spcAft>
            </a:pPr>
            <a:r>
              <a:rPr sz="1200" b="0">
                <a:solidFill>
                  <a:srgbClr val="5B6372"/>
                </a:solidFill>
                <a:latin typeface="Arial"/>
              </a:rPr>
              <a:t>Use Design an infographic or Copilot in PowerPoint with a prompt and approved file.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Gemini Notebook route</a:t>
            </a:r>
          </a:p>
          <a:p>
            <a:pPr algn="l">
              <a:spcAft>
                <a:spcPts val="300"/>
              </a:spcAft>
            </a:pPr>
            <a:r>
              <a:rPr sz="1200" b="0">
                <a:solidFill>
                  <a:srgbClr val="5B6372"/>
                </a:solidFill>
                <a:latin typeface="Arial"/>
              </a:rPr>
              <a:t>Select sources, generate an Infographic and Presenter Slide Deck, then download .pptx where available or preserve PDF and rebuild critical content.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Fair comparison</a:t>
            </a:r>
          </a:p>
          <a:p>
            <a:pPr algn="l">
              <a:spcAft>
                <a:spcPts val="300"/>
              </a:spcAft>
            </a:pPr>
            <a:r>
              <a:rPr sz="1200" b="0">
                <a:solidFill>
                  <a:srgbClr val="5B6372"/>
                </a:solidFill>
                <a:latin typeface="Arial"/>
              </a:rPr>
              <a:t>Use the same brief, evidence and scoring criteria for both outputs.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Controlled master</a:t>
            </a:r>
          </a:p>
          <a:p>
            <a:pPr algn="l">
              <a:spcAft>
                <a:spcPts val="300"/>
              </a:spcAft>
            </a:pPr>
            <a:r>
              <a:rPr sz="1200" b="0">
                <a:solidFill>
                  <a:srgbClr val="5B6372"/>
                </a:solidFill>
                <a:latin typeface="Arial"/>
              </a:rPr>
              <a:t>Verify and refine the selected route in PowerPoint; retain prompt, sources and owner.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Microsoft Support and Google Gemini Notebook Help, accessed 16 August 2026</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One Brief, Two AI Routes, One PPTX Master</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Load the approved source pack and freeze one comparison brief.</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Microsoft</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Generate an infographic or presentation direction with Copilot.</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Gemini Notebook</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Generate an infographic and Presenter Slides; download PowerPoint where available, with PDF fallback.</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Compare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Score accuracy, citations, hierarchy, editability, brand, access and speed.</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Refine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Choose, verify and rebuild the accountable PowerPoint master.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Microsoft 365 Copilot vs Gemini Notebook</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Microsoft 365 Copilot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Gemini Notebook</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Prompt or file to infographic</a:t>
            </a:r>
          </a:p>
          <a:p>
            <a:pPr>
              <a:spcAft>
                <a:spcPts val="1000"/>
              </a:spcAft>
            </a:pPr>
            <a:r>
              <a:rPr sz="1600" b="0">
                <a:solidFill>
                  <a:srgbClr val="161B26"/>
                </a:solidFill>
                <a:latin typeface="Arial"/>
              </a:rPr>
              <a:t>•  Direct Microsoft editing ecosystem</a:t>
            </a:r>
          </a:p>
          <a:p>
            <a:pPr>
              <a:spcAft>
                <a:spcPts val="1000"/>
              </a:spcAft>
            </a:pPr>
            <a:r>
              <a:rPr sz="1600" b="0">
                <a:solidFill>
                  <a:srgbClr val="161B26"/>
                </a:solidFill>
                <a:latin typeface="Arial"/>
              </a:rPr>
              <a:t>•  Brand/color options where available</a:t>
            </a:r>
          </a:p>
          <a:p>
            <a:pPr>
              <a:spcAft>
                <a:spcPts val="1000"/>
              </a:spcAft>
            </a:pPr>
            <a:r>
              <a:rPr sz="1600" b="0">
                <a:solidFill>
                  <a:srgbClr val="161B26"/>
                </a:solidFill>
                <a:latin typeface="Arial"/>
              </a:rPr>
              <a:t>•  Good for a fast visual starting point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Multiple selected sources and citations</a:t>
            </a:r>
          </a:p>
          <a:p>
            <a:pPr>
              <a:spcAft>
                <a:spcPts val="1000"/>
              </a:spcAft>
            </a:pPr>
            <a:r>
              <a:rPr sz="1600" b="0">
                <a:solidFill>
                  <a:srgbClr val="161B26"/>
                </a:solidFill>
                <a:latin typeface="Arial"/>
              </a:rPr>
              <a:t>•  Infographic plus source-grounded slide deck</a:t>
            </a:r>
          </a:p>
          <a:p>
            <a:pPr>
              <a:spcAft>
                <a:spcPts val="1000"/>
              </a:spcAft>
            </a:pPr>
            <a:r>
              <a:rPr sz="1600" b="0">
                <a:solidFill>
                  <a:srgbClr val="161B26"/>
                </a:solidFill>
                <a:latin typeface="Arial"/>
              </a:rPr>
              <a:t>•  Download .pptx where available; otherwise preserve PDF and rebuild critical content</a:t>
            </a:r>
          </a:p>
          <a:p>
            <a:pPr>
              <a:spcAft>
                <a:spcPts val="1000"/>
              </a:spcAft>
            </a:pPr>
            <a:r>
              <a:rPr sz="1600" b="0">
                <a:solidFill>
                  <a:srgbClr val="161B26"/>
                </a:solidFill>
                <a:latin typeface="Arial"/>
              </a:rPr>
              <a:t>•  Good for research synthesis and comparison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AI Review Gate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Truth</a:t>
            </a:r>
          </a:p>
          <a:p>
            <a:pPr algn="l">
              <a:spcAft>
                <a:spcPts val="300"/>
              </a:spcAft>
            </a:pPr>
            <a:r>
              <a:rPr sz="1200" b="0">
                <a:solidFill>
                  <a:srgbClr val="5B6372"/>
                </a:solidFill>
                <a:latin typeface="Arial"/>
              </a:rPr>
              <a:t>Every fact and number matches the approved source.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Privacy</a:t>
            </a:r>
          </a:p>
          <a:p>
            <a:pPr algn="l">
              <a:spcAft>
                <a:spcPts val="300"/>
              </a:spcAft>
            </a:pPr>
            <a:r>
              <a:rPr sz="1200" b="0">
                <a:solidFill>
                  <a:srgbClr val="5B6372"/>
                </a:solidFill>
                <a:latin typeface="Arial"/>
              </a:rPr>
              <a:t>No personal or restricted data enters an unapproved service.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Rights</a:t>
            </a:r>
          </a:p>
          <a:p>
            <a:pPr algn="l">
              <a:spcAft>
                <a:spcPts val="300"/>
              </a:spcAft>
            </a:pPr>
            <a:r>
              <a:rPr sz="1200" b="0">
                <a:solidFill>
                  <a:srgbClr val="5B6372"/>
                </a:solidFill>
                <a:latin typeface="Arial"/>
              </a:rPr>
              <a:t>Images, icons, fonts and templates are permitted.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Reading order, contrast, labels and alt text are checked.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a:t>
            </a:r>
          </a:p>
          <a:p>
            <a:pPr algn="l">
              <a:spcAft>
                <a:spcPts val="300"/>
              </a:spcAft>
            </a:pPr>
            <a:r>
              <a:rPr sz="1200" b="0">
                <a:solidFill>
                  <a:srgbClr val="5B6372"/>
                </a:solidFill>
                <a:latin typeface="Arial"/>
              </a:rPr>
              <a:t>The approved master, voice and assets are applied.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Owner</a:t>
            </a:r>
          </a:p>
          <a:p>
            <a:pPr algn="l">
              <a:spcAft>
                <a:spcPts val="300"/>
              </a:spcAft>
            </a:pPr>
            <a:r>
              <a:rPr sz="1200" b="0">
                <a:solidFill>
                  <a:srgbClr val="5B6372"/>
                </a:solidFill>
                <a:latin typeface="Arial"/>
              </a:rPr>
              <a:t>A named human approves and remains accountable.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Compare Microsoft 365 Copilot and Gemini Notebook</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wants an executive infographic and short slide narrative summarising the sustainable-delivery pilot from a spreadsheet, policy note and stakeholder feedback summary.</a:t>
            </a:r>
          </a:p>
          <a:p>
            <a:pPr algn="l">
              <a:spcAft>
                <a:spcPts val="800"/>
              </a:spcAft>
            </a:pPr>
            <a:r>
              <a:rPr sz="1450" b="0">
                <a:solidFill>
                  <a:srgbClr val="161B26"/>
                </a:solidFill>
                <a:latin typeface="Arial"/>
              </a:rPr>
              <a:t>Run the same verified brief through Microsoft 365 Copilot and Gemini Notebook. Generate a Gemini Notebook Infographic plus Presenter Slides, preserve the deck as PPTX where available or PDF with a documented rebuild route, compare both routes and refine the selected master in PowerPoint.</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Microsoft output, Gemini Notebook infographic and downloaded PPTX or PDF, comparison scorecard, reviewed final PowerPoint and prompt/source log</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Compare Microsoft 365 Copilot and Gemini Notebook</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the prompt include to prevent a generic output?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data cannot be sent to an unapproved service?</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be rebuilt as native PowerPoint objects?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Who signs off the final infographic?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wipe dir="l"/>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Compare Microsoft 365 Copilot and Gemini Notebook</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AI accelerate options without becoming the source of truth?</a:t>
            </a:r>
          </a:p>
          <a:p>
            <a:pPr>
              <a:spcAft>
                <a:spcPts val="900"/>
              </a:spcAft>
            </a:pPr>
            <a:r>
              <a:rPr sz="1450" b="0">
                <a:solidFill>
                  <a:srgbClr val="161B26"/>
                </a:solidFill>
                <a:latin typeface="Arial"/>
              </a:rPr>
              <a:t>•  Is the final result independently editable and auditable?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slide records the prompt, sources and human changes; all claims are verified and the decision evidence remains editable.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Create Infographics in PowerPoint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Build from Microsoft Infographic Maker</a:t>
            </a:r>
          </a:p>
          <a:p>
            <a:pPr algn="l">
              <a:spcAft>
                <a:spcPts val="300"/>
              </a:spcAft>
            </a:pPr>
            <a:r>
              <a:rPr sz="1200" b="0">
                <a:solidFill>
                  <a:srgbClr val="5B6372"/>
                </a:solidFill>
                <a:latin typeface="Arial"/>
              </a:rPr>
              <a:t>You can now: adapt a Microsoft infographic template while preserving hierarchy, editability, brand and evidence.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Generate Visual Assets and Refine Them in PowerPoint</a:t>
            </a:r>
          </a:p>
          <a:p>
            <a:pPr algn="l">
              <a:spcAft>
                <a:spcPts val="300"/>
              </a:spcAft>
            </a:pPr>
            <a:r>
              <a:rPr sz="1200" b="0">
                <a:solidFill>
                  <a:srgbClr val="5B6372"/>
                </a:solidFill>
                <a:latin typeface="Arial"/>
              </a:rPr>
              <a:t>You can now: use text-to-image prompting to generate a consistent asset set, then combine it with editable PowerPoint labels, shapes, connectors and SmartArt.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Use AI Analysis to Build a Native PowerPoint Data Story</a:t>
            </a:r>
          </a:p>
          <a:p>
            <a:pPr algn="l">
              <a:spcAft>
                <a:spcPts val="300"/>
              </a:spcAft>
            </a:pPr>
            <a:r>
              <a:rPr sz="1200" b="0">
                <a:solidFill>
                  <a:srgbClr val="5B6372"/>
                </a:solidFill>
                <a:latin typeface="Arial"/>
              </a:rPr>
              <a:t>You can now: use AI to clean and analyse mock Excel data, verify calculations, then create a native editable chart and decision story in PowerPoint.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Compare Microsoft 365 Copilot and Gemini Notebook</a:t>
            </a:r>
          </a:p>
          <a:p>
            <a:pPr algn="l">
              <a:spcAft>
                <a:spcPts val="300"/>
              </a:spcAft>
            </a:pPr>
            <a:r>
              <a:rPr sz="1200" b="0">
                <a:solidFill>
                  <a:srgbClr val="5B6372"/>
                </a:solidFill>
                <a:latin typeface="Arial"/>
              </a:rPr>
              <a:t>You can now: generate the same source-grounded infographic brief in Microsoft 365 Copilot and Gemini Notebook, bring the Gemini Notebook deck into PowerPoint through PPTX download or a documented PDF rebuild route, and compare both routes before refinement.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LU2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fastest workflow keeps the message editable.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templates and AI for options; keep data, charts, labels and decisions under human control.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zoom/>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Review Infographics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Story · Context · Simplicity · Coaching · Budget · Effectiveness · Improvement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push dir="l"/>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Review Infographics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Effective review separates message clarity, data integrity, visual hierarchy, accessibility, audience fit and business usefulness.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Coaching uses specific observations, questions and criteria rather than taste-based comments such as 'make it pop'.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Tool investment is evaluated through capability, licence, learning, production, governance, collaboration and maintenance costs.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Improvement is evidence-led: gather feedback, prioritise changes, revise the controlled master and retest the intended outcome.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REVIEW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Six Dimensions of Infographic Effectiveness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professional review connects design decisions to audience and business outcomes.</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Clarity</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audience can state the message and action without trainer explanation.</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Integrity</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Data, scale, context, source and uncertainty are accurate and visible.</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Hierarchy</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reading order guides attention to evidence and implication.</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Accessibility</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Contrast, text size, labels, alt text and non-colour cues support access.</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Engagement</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visual earns attention without chart junk or decorative distraction.</a:t>
            </a:r>
          </a:p>
        </p:txBody>
      </p:sp>
      <p:sp>
        <p:nvSpPr>
          <p:cNvPr id="27" name="Rectangle 26"/>
          <p:cNvSpPr/>
          <p:nvPr/>
        </p:nvSpPr>
        <p:spPr>
          <a:xfrm>
            <a:off x="6231636"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4928616"/>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05956" y="5093208"/>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Business fit</a:t>
            </a:r>
          </a:p>
        </p:txBody>
      </p:sp>
      <p:sp>
        <p:nvSpPr>
          <p:cNvPr id="30" name="TextBox 29"/>
          <p:cNvSpPr txBox="1"/>
          <p:nvPr/>
        </p:nvSpPr>
        <p:spPr>
          <a:xfrm>
            <a:off x="6505956"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output supports the stated decision, channel, resources and governance.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QUALITY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Do and Don't: Review the Story, Not Just the Style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legacy deck's core dos and don'ts remain valid and are now tied to review criteria.</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Don't</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Do</a:t>
            </a:r>
          </a:p>
        </p:txBody>
      </p:sp>
      <p:sp>
        <p:nvSpPr>
          <p:cNvPr id="11" name="Rectangle 10"/>
          <p:cNvSpPr/>
          <p:nvPr/>
        </p:nvSpPr>
        <p:spPr>
          <a:xfrm>
            <a:off x="777240" y="2560320"/>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Meaning</a:t>
            </a:r>
          </a:p>
        </p:txBody>
      </p:sp>
      <p:sp>
        <p:nvSpPr>
          <p:cNvPr id="13" name="Rectangle 12"/>
          <p:cNvSpPr/>
          <p:nvPr/>
        </p:nvSpPr>
        <p:spPr>
          <a:xfrm>
            <a:off x="2926080"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Rely on iconography alone</a:t>
            </a:r>
          </a:p>
        </p:txBody>
      </p:sp>
      <p:sp>
        <p:nvSpPr>
          <p:cNvPr id="15" name="Rectangle 14"/>
          <p:cNvSpPr/>
          <p:nvPr/>
        </p:nvSpPr>
        <p:spPr>
          <a:xfrm>
            <a:off x="7168896"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Use icons with direct labels and explanatory context</a:t>
            </a:r>
          </a:p>
        </p:txBody>
      </p:sp>
      <p:sp>
        <p:nvSpPr>
          <p:cNvPr id="17" name="Rectangle 16"/>
          <p:cNvSpPr/>
          <p:nvPr/>
        </p:nvSpPr>
        <p:spPr>
          <a:xfrm>
            <a:off x="777240" y="3273552"/>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73552"/>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Decoration</a:t>
            </a:r>
          </a:p>
        </p:txBody>
      </p:sp>
      <p:sp>
        <p:nvSpPr>
          <p:cNvPr id="19" name="Rectangle 18"/>
          <p:cNvSpPr/>
          <p:nvPr/>
        </p:nvSpPr>
        <p:spPr>
          <a:xfrm>
            <a:off x="2926080"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Add chart junk, 3-D effects or unnecessary elements</a:t>
            </a:r>
          </a:p>
        </p:txBody>
      </p:sp>
      <p:sp>
        <p:nvSpPr>
          <p:cNvPr id="21" name="Rectangle 20"/>
          <p:cNvSpPr/>
          <p:nvPr/>
        </p:nvSpPr>
        <p:spPr>
          <a:xfrm>
            <a:off x="7168896"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Keep graphical elements simple and purposeful</a:t>
            </a:r>
          </a:p>
        </p:txBody>
      </p:sp>
      <p:sp>
        <p:nvSpPr>
          <p:cNvPr id="23" name="Rectangle 22"/>
          <p:cNvSpPr/>
          <p:nvPr/>
        </p:nvSpPr>
        <p:spPr>
          <a:xfrm>
            <a:off x="777240" y="3986784"/>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986784"/>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Context</a:t>
            </a:r>
          </a:p>
        </p:txBody>
      </p:sp>
      <p:sp>
        <p:nvSpPr>
          <p:cNvPr id="25" name="Rectangle 24"/>
          <p:cNvSpPr/>
          <p:nvPr/>
        </p:nvSpPr>
        <p:spPr>
          <a:xfrm>
            <a:off x="2926080"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Show a number without comparison, unit or source</a:t>
            </a:r>
          </a:p>
        </p:txBody>
      </p:sp>
      <p:sp>
        <p:nvSpPr>
          <p:cNvPr id="27" name="Rectangle 26"/>
          <p:cNvSpPr/>
          <p:nvPr/>
        </p:nvSpPr>
        <p:spPr>
          <a:xfrm>
            <a:off x="7168896"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Provide scale, timeframe, denominator and implication</a:t>
            </a:r>
          </a:p>
        </p:txBody>
      </p:sp>
      <p:sp>
        <p:nvSpPr>
          <p:cNvPr id="29" name="Rectangle 28"/>
          <p:cNvSpPr/>
          <p:nvPr/>
        </p:nvSpPr>
        <p:spPr>
          <a:xfrm>
            <a:off x="777240" y="4700016"/>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00016"/>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Story</a:t>
            </a:r>
          </a:p>
        </p:txBody>
      </p:sp>
      <p:sp>
        <p:nvSpPr>
          <p:cNvPr id="31" name="Rectangle 30"/>
          <p:cNvSpPr/>
          <p:nvPr/>
        </p:nvSpPr>
        <p:spPr>
          <a:xfrm>
            <a:off x="2926080"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Present isolated facts in template order</a:t>
            </a:r>
          </a:p>
        </p:txBody>
      </p:sp>
      <p:sp>
        <p:nvSpPr>
          <p:cNvPr id="33" name="Rectangle 32"/>
          <p:cNvSpPr/>
          <p:nvPr/>
        </p:nvSpPr>
        <p:spPr>
          <a:xfrm>
            <a:off x="7168896"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Create a narrative that leads from question to evidence to action</a:t>
            </a:r>
          </a:p>
        </p:txBody>
      </p:sp>
      <p:sp>
        <p:nvSpPr>
          <p:cNvPr id="35" name="Rectangle 34"/>
          <p:cNvSpPr/>
          <p:nvPr/>
        </p:nvSpPr>
        <p:spPr>
          <a:xfrm>
            <a:off x="777240" y="5413248"/>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413248"/>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Scope</a:t>
            </a:r>
          </a:p>
        </p:txBody>
      </p:sp>
      <p:sp>
        <p:nvSpPr>
          <p:cNvPr id="37" name="Rectangle 36"/>
          <p:cNvSpPr/>
          <p:nvPr/>
        </p:nvSpPr>
        <p:spPr>
          <a:xfrm>
            <a:off x="2926080"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Include every available piece of information</a:t>
            </a:r>
          </a:p>
        </p:txBody>
      </p:sp>
      <p:sp>
        <p:nvSpPr>
          <p:cNvPr id="39" name="Rectangle 38"/>
          <p:cNvSpPr/>
          <p:nvPr/>
        </p:nvSpPr>
        <p:spPr>
          <a:xfrm>
            <a:off x="7168896"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Curate the minimum evidence needed for the decision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CONTINUOUS IMPROVEMENT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Evidence-Led Improvement Loop</a:t>
            </a:r>
          </a:p>
        </p:txBody>
      </p:sp>
      <p:sp>
        <p:nvSpPr>
          <p:cNvPr id="6" name="Rectangle 5"/>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Observe audience outcome</a:t>
            </a:r>
          </a:p>
        </p:txBody>
      </p:sp>
      <p:sp>
        <p:nvSpPr>
          <p:cNvPr id="11" name="Chevron 10"/>
          <p:cNvSpPr/>
          <p:nvPr/>
        </p:nvSpPr>
        <p:spPr>
          <a:xfrm>
            <a:off x="270296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Diagnose six dimensions</a:t>
            </a:r>
          </a:p>
        </p:txBody>
      </p:sp>
      <p:sp>
        <p:nvSpPr>
          <p:cNvPr id="17" name="Chevron 16"/>
          <p:cNvSpPr/>
          <p:nvPr/>
        </p:nvSpPr>
        <p:spPr>
          <a:xfrm>
            <a:off x="488472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Prioritise by impact</a:t>
            </a:r>
          </a:p>
        </p:txBody>
      </p:sp>
      <p:sp>
        <p:nvSpPr>
          <p:cNvPr id="23" name="Chevron 22"/>
          <p:cNvSpPr/>
          <p:nvPr/>
        </p:nvSpPr>
        <p:spPr>
          <a:xfrm>
            <a:off x="706648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Assign and revise</a:t>
            </a:r>
          </a:p>
        </p:txBody>
      </p:sp>
      <p:sp>
        <p:nvSpPr>
          <p:cNvPr id="29" name="Chevron 28"/>
          <p:cNvSpPr/>
          <p:nvPr/>
        </p:nvSpPr>
        <p:spPr>
          <a:xfrm>
            <a:off x="92482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Retest and approve</a:t>
            </a:r>
          </a:p>
        </p:txBody>
      </p:sp>
      <p:sp>
        <p:nvSpPr>
          <p:cNvPr id="35" name="Rectangle 3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revision is complete only when the controlled master, evidence and acceptance check are updated together.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RESOURCE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Tool Investment: Beyond the Licence Fee</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LICENCE</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Subscription, add-ons and user count</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LEARN</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Training, templates and adoption support</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BUILD</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Production and collaboration time</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3000" b="1">
                <a:solidFill>
                  <a:srgbClr val="F59E0B"/>
                </a:solidFill>
                <a:latin typeface="Arial"/>
              </a:rPr>
              <a:t>REVIEW</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Data, brand, accessibility and legal checks</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MAINTAIN</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Updates, asset libraries and controlled masters</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3000" b="1">
                <a:solidFill>
                  <a:srgbClr val="10B981"/>
                </a:solidFill>
                <a:latin typeface="Arial"/>
              </a:rPr>
              <a:t>REWORK</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Errors, lock-in, export failures and continuity risk</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The lowest monthly price may create the highest total resource cost.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coaching that turns observation into an actionable improvement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coaching that turns observation into an actionable improvement?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Observe</a:t>
            </a:r>
          </a:p>
          <a:p>
            <a:pPr algn="l">
              <a:spcAft>
                <a:spcPts val="300"/>
              </a:spcAft>
            </a:pPr>
            <a:r>
              <a:rPr sz="1200" b="0">
                <a:solidFill>
                  <a:srgbClr val="5B6372"/>
                </a:solidFill>
                <a:latin typeface="Arial"/>
              </a:rPr>
              <a:t>Describe what the reader sees or experiences without judging intent.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Question</a:t>
            </a:r>
          </a:p>
          <a:p>
            <a:pPr algn="l">
              <a:spcAft>
                <a:spcPts val="300"/>
              </a:spcAft>
            </a:pPr>
            <a:r>
              <a:rPr sz="1200" b="0">
                <a:solidFill>
                  <a:srgbClr val="5B6372"/>
                </a:solidFill>
                <a:latin typeface="Arial"/>
              </a:rPr>
              <a:t>Ask which audience, message, decision or constraint drove the choice.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Explain</a:t>
            </a:r>
          </a:p>
          <a:p>
            <a:pPr algn="l">
              <a:spcAft>
                <a:spcPts val="300"/>
              </a:spcAft>
            </a:pPr>
            <a:r>
              <a:rPr sz="1200" b="0">
                <a:solidFill>
                  <a:srgbClr val="5B6372"/>
                </a:solidFill>
                <a:latin typeface="Arial"/>
              </a:rPr>
              <a:t>Connect the issue to a principle or observed outcome.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Suggest</a:t>
            </a:r>
          </a:p>
          <a:p>
            <a:pPr algn="l">
              <a:spcAft>
                <a:spcPts val="300"/>
              </a:spcAft>
            </a:pPr>
            <a:r>
              <a:rPr sz="1200" b="0">
                <a:solidFill>
                  <a:srgbClr val="5B6372"/>
                </a:solidFill>
                <a:latin typeface="Arial"/>
              </a:rPr>
              <a:t>Recommend one testable change and define what better looks like.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Observe, Ask, Explain, Suggest, Confirm</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Observe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the visible issue specifically.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Ask</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Clarify the designer's goal and constraints.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Explain</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Link to hierarchy, integrity, access or audience fit.</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Suggest</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Propose one prioritised change.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Confirm</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Agree the revision and acceptance check.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Taste Comment vs Coaching Feedback</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Taste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Criteria-based</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Make it pop</a:t>
            </a:r>
          </a:p>
          <a:p>
            <a:pPr>
              <a:spcAft>
                <a:spcPts val="1000"/>
              </a:spcAft>
            </a:pPr>
            <a:r>
              <a:rPr sz="1600" b="0">
                <a:solidFill>
                  <a:srgbClr val="161B26"/>
                </a:solidFill>
                <a:latin typeface="Arial"/>
              </a:rPr>
              <a:t>•  I don't like the colours</a:t>
            </a:r>
          </a:p>
          <a:p>
            <a:pPr>
              <a:spcAft>
                <a:spcPts val="1000"/>
              </a:spcAft>
            </a:pPr>
            <a:r>
              <a:rPr sz="1600" b="0">
                <a:solidFill>
                  <a:srgbClr val="161B26"/>
                </a:solidFill>
                <a:latin typeface="Arial"/>
              </a:rPr>
              <a:t>•  Add more icons</a:t>
            </a:r>
          </a:p>
          <a:p>
            <a:pPr>
              <a:spcAft>
                <a:spcPts val="1000"/>
              </a:spcAft>
            </a:pPr>
            <a:r>
              <a:rPr sz="1600" b="0">
                <a:solidFill>
                  <a:srgbClr val="161B26"/>
                </a:solidFill>
                <a:latin typeface="Arial"/>
              </a:rPr>
              <a:t>•  It feels boring</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title labels a topic but does not state the insight</a:t>
            </a:r>
          </a:p>
          <a:p>
            <a:pPr>
              <a:spcAft>
                <a:spcPts val="1000"/>
              </a:spcAft>
            </a:pPr>
            <a:r>
              <a:rPr sz="1600" b="0">
                <a:solidFill>
                  <a:srgbClr val="161B26"/>
                </a:solidFill>
                <a:latin typeface="Arial"/>
              </a:rPr>
              <a:t>•  Body text falls below the agreed size</a:t>
            </a:r>
          </a:p>
          <a:p>
            <a:pPr>
              <a:spcAft>
                <a:spcPts val="1000"/>
              </a:spcAft>
            </a:pPr>
            <a:r>
              <a:rPr sz="1600" b="0">
                <a:solidFill>
                  <a:srgbClr val="161B26"/>
                </a:solidFill>
                <a:latin typeface="Arial"/>
              </a:rPr>
              <a:t>•  Three icon styles disrupt the visual grammar</a:t>
            </a:r>
          </a:p>
          <a:p>
            <a:pPr>
              <a:spcAft>
                <a:spcPts val="1000"/>
              </a:spcAft>
            </a:pPr>
            <a:r>
              <a:rPr sz="1600" b="0">
                <a:solidFill>
                  <a:srgbClr val="161B26"/>
                </a:solidFill>
                <a:latin typeface="Arial"/>
              </a:rPr>
              <a:t>•  The accent does not guide attention to the decision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Review Lens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Message</a:t>
            </a:r>
          </a:p>
          <a:p>
            <a:pPr algn="l">
              <a:spcAft>
                <a:spcPts val="300"/>
              </a:spcAft>
            </a:pPr>
            <a:r>
              <a:rPr sz="1200" b="0">
                <a:solidFill>
                  <a:srgbClr val="5B6372"/>
                </a:solidFill>
                <a:latin typeface="Arial"/>
              </a:rPr>
              <a:t>Can the audience state the takeaway?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Are claims accurate, contextualised and sourced?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Is the reading order obvious?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Are contrast, labels, text size and alt text adequate?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Story</a:t>
            </a:r>
          </a:p>
          <a:p>
            <a:pPr algn="l">
              <a:spcAft>
                <a:spcPts val="300"/>
              </a:spcAft>
            </a:pPr>
            <a:r>
              <a:rPr sz="1200" b="0">
                <a:solidFill>
                  <a:srgbClr val="5B6372"/>
                </a:solidFill>
                <a:latin typeface="Arial"/>
              </a:rPr>
              <a:t>Do evidence and action connect logically?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Fit</a:t>
            </a:r>
          </a:p>
          <a:p>
            <a:pPr algn="l">
              <a:spcAft>
                <a:spcPts val="300"/>
              </a:spcAft>
            </a:pPr>
            <a:r>
              <a:rPr sz="1200" b="0">
                <a:solidFill>
                  <a:srgbClr val="5B6372"/>
                </a:solidFill>
                <a:latin typeface="Arial"/>
              </a:rPr>
              <a:t>Does the output match the audience and channel?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Peer Coaching and Story Review</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Each learner presents one infographic from Activities 3–6 to two peers. The group must distinguish aesthetic preference from evidence-based review.</a:t>
            </a:r>
          </a:p>
          <a:p>
            <a:pPr algn="l">
              <a:spcAft>
                <a:spcPts val="800"/>
              </a:spcAft>
            </a:pPr>
            <a:r>
              <a:rPr sz="1450" b="0">
                <a:solidFill>
                  <a:srgbClr val="161B26"/>
                </a:solidFill>
                <a:latin typeface="Arial"/>
              </a:rPr>
              <a:t>Capture two observations, two strengths, two improvements and one agreed revision. Then revise the master and record the change.</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completed peer-review log, revised infographic and short reflection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Peer Coaching and Story Review</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7" name="Rectangle 6"/>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Designer</a:t>
            </a:r>
          </a:p>
        </p:txBody>
      </p:sp>
      <p:sp>
        <p:nvSpPr>
          <p:cNvPr id="10" name="TextBox 9"/>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1" name="TextBox 10"/>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explain the intended audience and message</a:t>
            </a:r>
          </a:p>
        </p:txBody>
      </p:sp>
      <p:sp>
        <p:nvSpPr>
          <p:cNvPr id="12" name="TextBox 11"/>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Listen without defending every choice; ask for evidence.</a:t>
            </a:r>
          </a:p>
        </p:txBody>
      </p:sp>
      <p:sp>
        <p:nvSpPr>
          <p:cNvPr id="13" name="Rectangle 12"/>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Reviewer</a:t>
            </a:r>
          </a:p>
        </p:txBody>
      </p:sp>
      <p:sp>
        <p:nvSpPr>
          <p:cNvPr id="16" name="TextBox 15"/>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7" name="TextBox 16"/>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give criteria-based feedback</a:t>
            </a:r>
          </a:p>
        </p:txBody>
      </p:sp>
      <p:sp>
        <p:nvSpPr>
          <p:cNvPr id="18" name="TextBox 17"/>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Use observations, questions and one prioritised suggestion.</a:t>
            </a:r>
          </a:p>
        </p:txBody>
      </p:sp>
      <p:sp>
        <p:nvSpPr>
          <p:cNvPr id="19" name="Rectangle 18"/>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Audience representative</a:t>
            </a:r>
          </a:p>
        </p:txBody>
      </p:sp>
      <p:sp>
        <p:nvSpPr>
          <p:cNvPr id="22" name="TextBox 21"/>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3" name="TextBox 22"/>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test comprehension</a:t>
            </a:r>
          </a:p>
        </p:txBody>
      </p:sp>
      <p:sp>
        <p:nvSpPr>
          <p:cNvPr id="24" name="TextBox 23"/>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State what you understood, what confused you and what action you would take.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wipe dir="l"/>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Peer Coaching and Story Review</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did the audience understand first?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issue has the greatest decision impact?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feedback is evidence-based rather than taste?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the change be tested?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wipe dir="l"/>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Peer Coaching and Story Review</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Was the feedback specific and respectful?</a:t>
            </a:r>
          </a:p>
          <a:p>
            <a:pPr>
              <a:spcAft>
                <a:spcPts val="900"/>
              </a:spcAft>
            </a:pPr>
            <a:r>
              <a:rPr sz="1450" b="0">
                <a:solidFill>
                  <a:srgbClr val="161B26"/>
                </a:solidFill>
                <a:latin typeface="Arial"/>
              </a:rPr>
              <a:t>•  Did the revision improve the intended outcome rather than merely change the style?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review log contains observed evidence, a principle-based diagnosis, one prioritised change, a named owner and an acceptance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tool and resource decision tied to business outcomes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 tool and resource decision tied to business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Capability</a:t>
            </a:r>
          </a:p>
          <a:p>
            <a:pPr algn="l">
              <a:spcAft>
                <a:spcPts val="300"/>
              </a:spcAft>
            </a:pPr>
            <a:r>
              <a:rPr sz="1200" b="0">
                <a:solidFill>
                  <a:srgbClr val="5B6372"/>
                </a:solidFill>
                <a:latin typeface="Arial"/>
              </a:rPr>
              <a:t>Templates, native charts, AI generation, brand control, collaboration and export.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Total cost</a:t>
            </a:r>
          </a:p>
          <a:p>
            <a:pPr algn="l">
              <a:spcAft>
                <a:spcPts val="300"/>
              </a:spcAft>
            </a:pPr>
            <a:r>
              <a:rPr sz="1200" b="0">
                <a:solidFill>
                  <a:srgbClr val="5B6372"/>
                </a:solidFill>
                <a:latin typeface="Arial"/>
              </a:rPr>
              <a:t>Licence, learning, production time, governance, maintenance and rework.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Effectiveness</a:t>
            </a:r>
          </a:p>
          <a:p>
            <a:pPr algn="l">
              <a:spcAft>
                <a:spcPts val="300"/>
              </a:spcAft>
            </a:pPr>
            <a:r>
              <a:rPr sz="1200" b="0">
                <a:solidFill>
                  <a:srgbClr val="5B6372"/>
                </a:solidFill>
                <a:latin typeface="Arial"/>
              </a:rPr>
              <a:t>Clarity, comprehension, engagement, action, accuracy and accessibility.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Risk</a:t>
            </a:r>
          </a:p>
          <a:p>
            <a:pPr algn="l">
              <a:spcAft>
                <a:spcPts val="300"/>
              </a:spcAft>
            </a:pPr>
            <a:r>
              <a:rPr sz="1200" b="0">
                <a:solidFill>
                  <a:srgbClr val="5B6372"/>
                </a:solidFill>
                <a:latin typeface="Arial"/>
              </a:rPr>
              <a:t>Data handling, rights, lock-in, editability, continuity and auditability.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Investment Decision Loop</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Need</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Define outputs, volume, users and business outcomes.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Compare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Score capability, cost, workflow and risk.</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Pilot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Test the same brief in shortlisted workflows.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Measure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Collect quality, time, adoption and outcome evidence.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Decide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Recommend tools, budget, controls and review date.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Low Price vs Low Total Cost</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Licence-only view</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Total-resource view</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Monthly fee</a:t>
            </a:r>
          </a:p>
          <a:p>
            <a:pPr>
              <a:spcAft>
                <a:spcPts val="1000"/>
              </a:spcAft>
            </a:pPr>
            <a:r>
              <a:rPr sz="1600" b="0">
                <a:solidFill>
                  <a:srgbClr val="161B26"/>
                </a:solidFill>
                <a:latin typeface="Arial"/>
              </a:rPr>
              <a:t>•  Template count</a:t>
            </a:r>
          </a:p>
          <a:p>
            <a:pPr>
              <a:spcAft>
                <a:spcPts val="1000"/>
              </a:spcAft>
            </a:pPr>
            <a:r>
              <a:rPr sz="1600" b="0">
                <a:solidFill>
                  <a:srgbClr val="161B26"/>
                </a:solidFill>
                <a:latin typeface="Arial"/>
              </a:rPr>
              <a:t>•  AI generation speed</a:t>
            </a:r>
          </a:p>
          <a:p>
            <a:pPr>
              <a:spcAft>
                <a:spcPts val="1000"/>
              </a:spcAft>
            </a:pPr>
            <a:r>
              <a:rPr sz="1600" b="0">
                <a:solidFill>
                  <a:srgbClr val="161B26"/>
                </a:solidFill>
                <a:latin typeface="Arial"/>
              </a:rPr>
              <a:t>•  Headline export feature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Licence + learning + review + maintenance</a:t>
            </a:r>
          </a:p>
          <a:p>
            <a:pPr>
              <a:spcAft>
                <a:spcPts val="1000"/>
              </a:spcAft>
            </a:pPr>
            <a:r>
              <a:rPr sz="1600" b="0">
                <a:solidFill>
                  <a:srgbClr val="161B26"/>
                </a:solidFill>
                <a:latin typeface="Arial"/>
              </a:rPr>
              <a:t>•  Brand and accessibility control</a:t>
            </a:r>
          </a:p>
          <a:p>
            <a:pPr>
              <a:spcAft>
                <a:spcPts val="1000"/>
              </a:spcAft>
            </a:pPr>
            <a:r>
              <a:rPr sz="1600" b="0">
                <a:solidFill>
                  <a:srgbClr val="161B26"/>
                </a:solidFill>
                <a:latin typeface="Arial"/>
              </a:rPr>
              <a:t>•  Editability and collaboration</a:t>
            </a:r>
          </a:p>
          <a:p>
            <a:pPr>
              <a:spcAft>
                <a:spcPts val="1000"/>
              </a:spcAft>
            </a:pPr>
            <a:r>
              <a:rPr sz="1600" b="0">
                <a:solidFill>
                  <a:srgbClr val="161B26"/>
                </a:solidFill>
                <a:latin typeface="Arial"/>
              </a:rPr>
              <a:t>•  Governance, continuity and rework risk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Tool Investment Scorecard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35%</a:t>
            </a:r>
          </a:p>
          <a:p>
            <a:pPr algn="l">
              <a:spcAft>
                <a:spcPts val="300"/>
              </a:spcAft>
            </a:pPr>
            <a:r>
              <a:rPr sz="1200" b="0">
                <a:solidFill>
                  <a:srgbClr val="5B6372"/>
                </a:solidFill>
                <a:latin typeface="Arial"/>
              </a:rPr>
              <a:t>Message and data effectiveness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20%</a:t>
            </a:r>
          </a:p>
          <a:p>
            <a:pPr algn="l">
              <a:spcAft>
                <a:spcPts val="300"/>
              </a:spcAft>
            </a:pPr>
            <a:r>
              <a:rPr sz="1200" b="0">
                <a:solidFill>
                  <a:srgbClr val="5B6372"/>
                </a:solidFill>
                <a:latin typeface="Arial"/>
              </a:rPr>
              <a:t>Editability and workflow fit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Brand and accessibility control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Privacy, rights and governance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Total resource cost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a:t>
            </a:r>
          </a:p>
          <a:p>
            <a:pPr algn="l">
              <a:spcAft>
                <a:spcPts val="300"/>
              </a:spcAft>
            </a:pPr>
            <a:r>
              <a:rPr sz="1200" b="0">
                <a:solidFill>
                  <a:srgbClr val="5B6372"/>
                </a:solidFill>
                <a:latin typeface="Arial"/>
              </a:rPr>
              <a:t>No option passes with unverified data or public answer-key risk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Budget and Effectiveness Decision</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can fund one standard workflow for 12 staff. Options include PowerPoint templates only, PowerPoint with Copilot, Gemini Notebook with PowerPoint, or a mixed AI workflow with PowerPoint as the controlled final-production layer.</a:t>
            </a:r>
          </a:p>
          <a:p>
            <a:pPr algn="l">
              <a:spcAft>
                <a:spcPts val="800"/>
              </a:spcAft>
            </a:pPr>
            <a:r>
              <a:rPr sz="1450" b="0">
                <a:solidFill>
                  <a:srgbClr val="161B26"/>
                </a:solidFill>
                <a:latin typeface="Arial"/>
              </a:rPr>
              <a:t>Use the supplied budget workbook and effectiveness evidence to recommend a 12-month tool, training and governance plan aligned with business outcomes.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weighted tool-investment scorecard and one-page resource recommendation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Budget and Effectiveness Decision</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business outcomes define effectiveness?</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hidden resource costs could reverse the decision?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risks are hard gates rather than weighted preferences?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When should the investment be reviewed?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wipe dir="l"/>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Budget and Effectiveness Decision</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Does the recommendation distinguish price from total cost?</a:t>
            </a:r>
          </a:p>
          <a:p>
            <a:pPr>
              <a:spcAft>
                <a:spcPts val="900"/>
              </a:spcAft>
            </a:pPr>
            <a:r>
              <a:rPr sz="1450" b="0">
                <a:solidFill>
                  <a:srgbClr val="161B26"/>
                </a:solidFill>
                <a:latin typeface="Arial"/>
              </a:rPr>
              <a:t>•  Are effectiveness criteria linked to observed business outcomes?</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recommendation names the preferred workflow, budget, ownership, governance controls, success metrics and review date.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Review Infographics</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Peer Coaching and Story Review</a:t>
            </a:r>
          </a:p>
          <a:p>
            <a:pPr algn="l">
              <a:spcAft>
                <a:spcPts val="300"/>
              </a:spcAft>
            </a:pPr>
            <a:r>
              <a:rPr sz="1200" b="0">
                <a:solidFill>
                  <a:srgbClr val="5B6372"/>
                </a:solidFill>
                <a:latin typeface="Arial"/>
              </a:rPr>
              <a:t>You can now: give specific criteria-based feedback and revise an infographic to improve clarity, story and accessibility.</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Budget and Effectiveness Decision</a:t>
            </a:r>
          </a:p>
          <a:p>
            <a:pPr algn="l">
              <a:spcAft>
                <a:spcPts val="300"/>
              </a:spcAft>
            </a:pPr>
            <a:r>
              <a:rPr sz="1200" b="0">
                <a:solidFill>
                  <a:srgbClr val="5B6372"/>
                </a:solidFill>
                <a:latin typeface="Arial"/>
              </a:rPr>
              <a:t>You can now: compare infographic-tool investment options and recommend a resource plan using effectiveness and governance criteria.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beautiful visual can still fail the business question.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Review clarity, accuracy, accessibility, engagement, resource fit and the action the audience can take.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zoom/>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1</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Create an infographic with Microsoft 365 Copilot</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Edit with Copilot in PowerPoint</a:t>
            </a:r>
          </a:p>
          <a:p>
            <a:pPr algn="l">
              <a:spcAft>
                <a:spcPts val="300"/>
              </a:spcAft>
            </a:pPr>
            <a:r>
              <a:rPr sz="1000" b="0">
                <a:solidFill>
                  <a:srgbClr val="5B6372"/>
                </a:solidFill>
                <a:latin typeface="Arial"/>
              </a:rPr>
              <a:t>support.microsoft.com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Google Gemini Notebook Help: Generate an Infographic</a:t>
            </a:r>
          </a:p>
          <a:p>
            <a:pPr algn="l">
              <a:spcAft>
                <a:spcPts val="300"/>
              </a:spcAft>
            </a:pPr>
            <a:r>
              <a:rPr sz="1000" b="0">
                <a:solidFill>
                  <a:srgbClr val="5B6372"/>
                </a:solidFill>
                <a:latin typeface="Arial"/>
              </a:rPr>
              <a:t>support.google.com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Google Gemini Notebook Help: Generate a Slide Deck</a:t>
            </a:r>
          </a:p>
          <a:p>
            <a:pPr algn="l">
              <a:spcAft>
                <a:spcPts val="300"/>
              </a:spcAft>
            </a:pPr>
            <a:r>
              <a:rPr sz="1000" b="0">
                <a:solidFill>
                  <a:srgbClr val="5B6372"/>
                </a:solidFill>
                <a:latin typeface="Arial"/>
              </a:rPr>
              <a:t>support.google.com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Analytics Vidhya: Infographics and PPTs with NotebookLM (now Gemini Notebook)</a:t>
            </a:r>
          </a:p>
          <a:p>
            <a:pPr algn="l">
              <a:spcAft>
                <a:spcPts val="300"/>
              </a:spcAft>
            </a:pPr>
            <a:r>
              <a:rPr sz="1000" b="0">
                <a:solidFill>
                  <a:srgbClr val="5B6372"/>
                </a:solidFill>
                <a:latin typeface="Arial"/>
              </a:rPr>
              <a:t>analyticsvidhya.com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Alex McFarland: Create infographics with NotebookLM (now Gemini Notebook)</a:t>
            </a:r>
          </a:p>
          <a:p>
            <a:pPr algn="l">
              <a:spcAft>
                <a:spcPts val="300"/>
              </a:spcAft>
            </a:pPr>
            <a:r>
              <a:rPr sz="1000" b="0">
                <a:solidFill>
                  <a:srgbClr val="5B6372"/>
                </a:solidFill>
                <a:latin typeface="Arial"/>
              </a:rPr>
              <a:t>alexmcfarland.substack.com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Paul J Lipsky: NotebookLM infographic style prompts (now Gemini Notebook)</a:t>
            </a:r>
          </a:p>
          <a:p>
            <a:pPr algn="l">
              <a:spcAft>
                <a:spcPts val="300"/>
              </a:spcAft>
            </a:pPr>
            <a:r>
              <a:rPr sz="1000" b="0">
                <a:solidFill>
                  <a:srgbClr val="5B6372"/>
                </a:solidFill>
                <a:latin typeface="Arial"/>
              </a:rPr>
              <a:t>youtube.com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or remove chart titles</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alternative text</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Make presentations accessible</a:t>
            </a:r>
          </a:p>
          <a:p>
            <a:pPr algn="l">
              <a:spcAft>
                <a:spcPts val="300"/>
              </a:spcAft>
            </a:pPr>
            <a:r>
              <a:rPr sz="1000" b="0">
                <a:solidFill>
                  <a:srgbClr val="5B6372"/>
                </a:solidFill>
                <a:latin typeface="Arial"/>
              </a:rPr>
              <a:t>support.microsoft.com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3</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Change slide size</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Align or arrange objects</a:t>
            </a:r>
          </a:p>
          <a:p>
            <a:pPr algn="l">
              <a:spcAft>
                <a:spcPts val="300"/>
              </a:spcAft>
            </a:pPr>
            <a:r>
              <a:rPr sz="1000" b="0">
                <a:solidFill>
                  <a:srgbClr val="5B6372"/>
                </a:solidFill>
                <a:latin typeface="Arial"/>
              </a:rPr>
              <a:t>support.microsoft.com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Insert icons</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Use charts and graphs</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SmartArt graphics</a:t>
            </a:r>
          </a:p>
          <a:p>
            <a:pPr algn="l">
              <a:spcAft>
                <a:spcPts val="300"/>
              </a:spcAft>
            </a:pPr>
            <a:r>
              <a:rPr sz="1000" b="0">
                <a:solidFill>
                  <a:srgbClr val="5B6372"/>
                </a:solidFill>
                <a:latin typeface="Arial"/>
              </a:rPr>
              <a:t>support.microsoft.com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4</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400" b="1">
                <a:solidFill>
                  <a:srgbClr val="161B26"/>
                </a:solidFill>
                <a:latin typeface="Arial"/>
              </a:rPr>
              <a:t>W3C: Understanding Success Criterion 1.4.3 Contrast</a:t>
            </a:r>
          </a:p>
          <a:p>
            <a:pPr algn="l">
              <a:spcAft>
                <a:spcPts val="300"/>
              </a:spcAft>
            </a:pPr>
            <a:r>
              <a:rPr sz="1000" b="0">
                <a:solidFill>
                  <a:srgbClr val="5B6372"/>
                </a:solidFill>
                <a:latin typeface="Arial"/>
              </a:rPr>
              <a:t>w3.org</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400" b="1">
                <a:solidFill>
                  <a:srgbClr val="161B26"/>
                </a:solidFill>
                <a:latin typeface="Arial"/>
              </a:rPr>
              <a:t>Datawrapper Academy: What to consider when creating charts</a:t>
            </a:r>
          </a:p>
          <a:p>
            <a:pPr algn="l">
              <a:spcAft>
                <a:spcPts val="300"/>
              </a:spcAft>
            </a:pPr>
            <a:r>
              <a:rPr sz="1000" b="0">
                <a:solidFill>
                  <a:srgbClr val="5B6372"/>
                </a:solidFill>
                <a:latin typeface="Arial"/>
              </a:rPr>
              <a:t>academy.datawrapper.de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CLEAR Infographic Workflow</a:t>
            </a:r>
          </a:p>
        </p:txBody>
      </p:sp>
      <p:sp>
        <p:nvSpPr>
          <p:cNvPr id="6" name="TextBox 5"/>
          <p:cNvSpPr txBox="1"/>
          <p:nvPr/>
        </p:nvSpPr>
        <p:spPr>
          <a:xfrm>
            <a:off x="777240"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01</a:t>
            </a:r>
          </a:p>
        </p:txBody>
      </p:sp>
      <p:sp>
        <p:nvSpPr>
          <p:cNvPr id="7" name="TextBox 6"/>
          <p:cNvSpPr txBox="1"/>
          <p:nvPr/>
        </p:nvSpPr>
        <p:spPr>
          <a:xfrm>
            <a:off x="777240" y="2697480"/>
            <a:ext cx="1878177" cy="685800"/>
          </a:xfrm>
          <a:prstGeom prst="rect">
            <a:avLst/>
          </a:prstGeom>
          <a:noFill/>
        </p:spPr>
        <p:txBody>
          <a:bodyPr wrap="square" anchor="t">
            <a:spAutoFit/>
          </a:bodyPr>
          <a:lstStyle/>
          <a:p>
            <a:pPr algn="l">
              <a:spcAft>
                <a:spcPts val="400"/>
              </a:spcAft>
            </a:pPr>
            <a:r>
              <a:rPr sz="1600" b="1">
                <a:solidFill>
                  <a:srgbClr val="1F6FEB"/>
                </a:solidFill>
                <a:latin typeface="Arial"/>
              </a:rPr>
              <a:t>Collect</a:t>
            </a:r>
          </a:p>
        </p:txBody>
      </p:sp>
      <p:sp>
        <p:nvSpPr>
          <p:cNvPr id="8" name="TextBox 7"/>
          <p:cNvSpPr txBox="1"/>
          <p:nvPr/>
        </p:nvSpPr>
        <p:spPr>
          <a:xfrm>
            <a:off x="777240"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Use approved AI tools to gather and organise relevant files, URLs, video transcripts and datasets.</a:t>
            </a:r>
          </a:p>
        </p:txBody>
      </p:sp>
      <p:sp>
        <p:nvSpPr>
          <p:cNvPr id="9" name="TextBox 8"/>
          <p:cNvSpPr txBox="1"/>
          <p:nvPr/>
        </p:nvSpPr>
        <p:spPr>
          <a:xfrm>
            <a:off x="2966313"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02</a:t>
            </a:r>
          </a:p>
        </p:txBody>
      </p:sp>
      <p:sp>
        <p:nvSpPr>
          <p:cNvPr id="10" name="TextBox 9"/>
          <p:cNvSpPr txBox="1"/>
          <p:nvPr/>
        </p:nvSpPr>
        <p:spPr>
          <a:xfrm>
            <a:off x="2966313" y="2697480"/>
            <a:ext cx="1878177" cy="685800"/>
          </a:xfrm>
          <a:prstGeom prst="rect">
            <a:avLst/>
          </a:prstGeom>
          <a:noFill/>
        </p:spPr>
        <p:txBody>
          <a:bodyPr wrap="square" anchor="t">
            <a:spAutoFit/>
          </a:bodyPr>
          <a:lstStyle/>
          <a:p>
            <a:pPr algn="l">
              <a:spcAft>
                <a:spcPts val="400"/>
              </a:spcAft>
            </a:pPr>
            <a:r>
              <a:rPr sz="1600" b="1">
                <a:solidFill>
                  <a:srgbClr val="10B981"/>
                </a:solidFill>
                <a:latin typeface="Arial"/>
              </a:rPr>
              <a:t>Analyse</a:t>
            </a:r>
          </a:p>
        </p:txBody>
      </p:sp>
      <p:sp>
        <p:nvSpPr>
          <p:cNvPr id="11" name="TextBox 10"/>
          <p:cNvSpPr txBox="1"/>
          <p:nvPr/>
        </p:nvSpPr>
        <p:spPr>
          <a:xfrm>
            <a:off x="2966313"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Clean the data, reconcile units and periods, test patterns and extract candidate insights with citations.</a:t>
            </a:r>
          </a:p>
        </p:txBody>
      </p:sp>
      <p:sp>
        <p:nvSpPr>
          <p:cNvPr id="12" name="TextBox 11"/>
          <p:cNvSpPr txBox="1"/>
          <p:nvPr/>
        </p:nvSpPr>
        <p:spPr>
          <a:xfrm>
            <a:off x="5155386"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03</a:t>
            </a:r>
          </a:p>
        </p:txBody>
      </p:sp>
      <p:sp>
        <p:nvSpPr>
          <p:cNvPr id="13" name="TextBox 12"/>
          <p:cNvSpPr txBox="1"/>
          <p:nvPr/>
        </p:nvSpPr>
        <p:spPr>
          <a:xfrm>
            <a:off x="5155386" y="2697480"/>
            <a:ext cx="1878177" cy="685800"/>
          </a:xfrm>
          <a:prstGeom prst="rect">
            <a:avLst/>
          </a:prstGeom>
          <a:noFill/>
        </p:spPr>
        <p:txBody>
          <a:bodyPr wrap="square" anchor="t">
            <a:spAutoFit/>
          </a:bodyPr>
          <a:lstStyle/>
          <a:p>
            <a:pPr algn="l">
              <a:spcAft>
                <a:spcPts val="400"/>
              </a:spcAft>
            </a:pPr>
            <a:r>
              <a:rPr sz="1600" b="1">
                <a:solidFill>
                  <a:srgbClr val="7C3AED"/>
                </a:solidFill>
                <a:latin typeface="Arial"/>
              </a:rPr>
              <a:t>Generate</a:t>
            </a:r>
          </a:p>
        </p:txBody>
      </p:sp>
      <p:sp>
        <p:nvSpPr>
          <p:cNvPr id="14" name="TextBox 13"/>
          <p:cNvSpPr txBox="1"/>
          <p:nvPr/>
        </p:nvSpPr>
        <p:spPr>
          <a:xfrm>
            <a:off x="5155386"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Prompt Microsoft 365 Copilot, Gemini Notebook or a text-to-image tool for evidence-led visual directions.</a:t>
            </a:r>
          </a:p>
        </p:txBody>
      </p:sp>
      <p:sp>
        <p:nvSpPr>
          <p:cNvPr id="15" name="TextBox 14"/>
          <p:cNvSpPr txBox="1"/>
          <p:nvPr/>
        </p:nvSpPr>
        <p:spPr>
          <a:xfrm>
            <a:off x="7344459"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04</a:t>
            </a:r>
          </a:p>
        </p:txBody>
      </p:sp>
      <p:sp>
        <p:nvSpPr>
          <p:cNvPr id="16" name="TextBox 15"/>
          <p:cNvSpPr txBox="1"/>
          <p:nvPr/>
        </p:nvSpPr>
        <p:spPr>
          <a:xfrm>
            <a:off x="7344459" y="2697480"/>
            <a:ext cx="1878177" cy="685800"/>
          </a:xfrm>
          <a:prstGeom prst="rect">
            <a:avLst/>
          </a:prstGeom>
          <a:noFill/>
        </p:spPr>
        <p:txBody>
          <a:bodyPr wrap="square" anchor="t">
            <a:spAutoFit/>
          </a:bodyPr>
          <a:lstStyle/>
          <a:p>
            <a:pPr algn="l">
              <a:spcAft>
                <a:spcPts val="400"/>
              </a:spcAft>
            </a:pPr>
            <a:r>
              <a:rPr sz="1600" b="1">
                <a:solidFill>
                  <a:srgbClr val="F59E0B"/>
                </a:solidFill>
                <a:latin typeface="Arial"/>
              </a:rPr>
              <a:t>Refine</a:t>
            </a:r>
          </a:p>
        </p:txBody>
      </p:sp>
      <p:sp>
        <p:nvSpPr>
          <p:cNvPr id="17" name="TextBox 16"/>
          <p:cNvSpPr txBox="1"/>
          <p:nvPr/>
        </p:nvSpPr>
        <p:spPr>
          <a:xfrm>
            <a:off x="7344459"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Convert or rebuild the selected direction in PowerPoint with editable text, charts, labels and brand controls.</a:t>
            </a:r>
          </a:p>
        </p:txBody>
      </p:sp>
      <p:sp>
        <p:nvSpPr>
          <p:cNvPr id="18" name="TextBox 17"/>
          <p:cNvSpPr txBox="1"/>
          <p:nvPr/>
        </p:nvSpPr>
        <p:spPr>
          <a:xfrm>
            <a:off x="9533532"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05</a:t>
            </a:r>
          </a:p>
        </p:txBody>
      </p:sp>
      <p:sp>
        <p:nvSpPr>
          <p:cNvPr id="19" name="TextBox 18"/>
          <p:cNvSpPr txBox="1"/>
          <p:nvPr/>
        </p:nvSpPr>
        <p:spPr>
          <a:xfrm>
            <a:off x="9533532" y="2697480"/>
            <a:ext cx="1878177" cy="685800"/>
          </a:xfrm>
          <a:prstGeom prst="rect">
            <a:avLst/>
          </a:prstGeom>
          <a:noFill/>
        </p:spPr>
        <p:txBody>
          <a:bodyPr wrap="square" anchor="t">
            <a:spAutoFit/>
          </a:bodyPr>
          <a:lstStyle/>
          <a:p>
            <a:pPr algn="l">
              <a:spcAft>
                <a:spcPts val="400"/>
              </a:spcAft>
            </a:pPr>
            <a:r>
              <a:rPr sz="1600" b="1">
                <a:solidFill>
                  <a:srgbClr val="1F6FEB"/>
                </a:solidFill>
                <a:latin typeface="Arial"/>
              </a:rPr>
              <a:t>Verify</a:t>
            </a:r>
          </a:p>
        </p:txBody>
      </p:sp>
      <p:sp>
        <p:nvSpPr>
          <p:cNvPr id="20" name="TextBox 19"/>
          <p:cNvSpPr txBox="1"/>
          <p:nvPr/>
        </p:nvSpPr>
        <p:spPr>
          <a:xfrm>
            <a:off x="9533532"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Audit truth, privacy, rights, accessibility, provenance and export before release.</a:t>
            </a:r>
          </a:p>
        </p:txBody>
      </p:sp>
      <p:sp>
        <p:nvSpPr>
          <p:cNvPr id="21" name="Rectangle 20"/>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Clarify the question, link the evidence, edit the visual hierarchy, audit the truth and release the right format.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Achieved</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Draw Insights</a:t>
            </a:r>
          </a:p>
          <a:p>
            <a:pPr algn="l">
              <a:spcAft>
                <a:spcPts val="300"/>
              </a:spcAft>
            </a:pPr>
            <a:r>
              <a:rPr sz="1300" b="0">
                <a:solidFill>
                  <a:srgbClr val="5B6372"/>
                </a:solidFill>
                <a:latin typeface="Arial"/>
              </a:rPr>
              <a:t>Converted visual patterns into contextualised, defensible recommendations.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in PowerPoint</a:t>
            </a:r>
          </a:p>
          <a:p>
            <a:pPr algn="l">
              <a:spcAft>
                <a:spcPts val="300"/>
              </a:spcAft>
            </a:pPr>
            <a:r>
              <a:rPr sz="1300" b="0">
                <a:solidFill>
                  <a:srgbClr val="5B6372"/>
                </a:solidFill>
                <a:latin typeface="Arial"/>
              </a:rPr>
              <a:t>Generated options with Copilot, Gemini Notebook and text-to-image AI, then refined editable charts, labels and decisions.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 Effectiveness</a:t>
            </a:r>
          </a:p>
          <a:p>
            <a:pPr algn="l">
              <a:spcAft>
                <a:spcPts val="300"/>
              </a:spcAft>
            </a:pPr>
            <a:r>
              <a:rPr sz="1300" b="0">
                <a:solidFill>
                  <a:srgbClr val="5B6372"/>
                </a:solidFill>
                <a:latin typeface="Arial"/>
              </a:rPr>
              <a:t>Used peer evidence, resource criteria and governance to improve and invest.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(WA-SAQ)</a:t>
            </a:r>
          </a:p>
          <a:p>
            <a:pPr algn="l">
              <a:spcAft>
                <a:spcPts val="300"/>
              </a:spcAft>
            </a:pPr>
            <a:r>
              <a:rPr sz="1200" b="0">
                <a:solidFill>
                  <a:srgbClr val="5B6372"/>
                </a:solidFill>
                <a:latin typeface="Arial"/>
              </a:rPr>
              <a:t>Nine open-ended questions — 30 minutes, open book.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Three progressive tasks — 30 minutes, open book.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Submit</a:t>
            </a:r>
          </a:p>
          <a:p>
            <a:pPr algn="l">
              <a:spcAft>
                <a:spcPts val="300"/>
              </a:spcAft>
            </a:pPr>
            <a:r>
              <a:rPr sz="1200" b="0">
                <a:solidFill>
                  <a:srgbClr val="5B6372"/>
                </a:solidFill>
                <a:latin typeface="Arial"/>
              </a:rPr>
              <a:t>On the LMS — lms-tms.tertiaryinfotech.com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WA-SAQ then Practical Performance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move from approved sources to AI-assisted insights and infographic options, then deliver an accurate, editable and accountable PowerPoint master.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