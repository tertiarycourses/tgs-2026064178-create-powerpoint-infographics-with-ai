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393" r:id="rId144"/>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m365.cloud.microsoft/"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cover-hero-v2.png"/>
          <p:cNvPicPr>
            <a:picLocks noChangeAspect="1"/>
          </p:cNvPicPr>
          <p:nvPr/>
        </p:nvPicPr>
        <p:blipFill>
          <a:blip r:embed="rId2"/>
          <a:stretch>
            <a:fillRect/>
          </a:stretch>
        </p:blipFill>
        <p:spPr>
          <a:xfrm>
            <a:off x="0" y="0"/>
            <a:ext cx="12191695" cy="6858000"/>
          </a:xfrm>
          <a:prstGeom prst="rect">
            <a:avLst/>
          </a:prstGeom>
        </p:spPr>
      </p:pic>
      <p:sp>
        <p:nvSpPr>
          <p:cNvPr id="4" name="Rectangle 3"/>
          <p:cNvSpPr/>
          <p:nvPr/>
        </p:nvSpPr>
        <p:spPr>
          <a:xfrm>
            <a:off x="0" y="0"/>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ertiary-infotech-logo.png"/>
          <p:cNvPicPr>
            <a:picLocks noChangeAspect="1"/>
          </p:cNvPicPr>
          <p:nvPr/>
        </p:nvPicPr>
        <p:blipFill>
          <a:blip r:embed="rId3"/>
          <a:stretch>
            <a:fillRect/>
          </a:stretch>
        </p:blipFill>
        <p:spPr>
          <a:xfrm>
            <a:off x="777240" y="640080"/>
            <a:ext cx="960120" cy="960120"/>
          </a:xfrm>
          <a:prstGeom prst="rect">
            <a:avLst/>
          </a:prstGeom>
        </p:spPr>
      </p:pic>
      <p:sp>
        <p:nvSpPr>
          <p:cNvPr id="7" name="Rectangle 6"/>
          <p:cNvSpPr/>
          <p:nvPr/>
        </p:nvSpPr>
        <p:spPr>
          <a:xfrm>
            <a:off x="9784080" y="658368"/>
            <a:ext cx="16916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784080" y="822960"/>
            <a:ext cx="1691640" cy="365760"/>
          </a:xfrm>
          <a:prstGeom prst="rect">
            <a:avLst/>
          </a:prstGeom>
          <a:noFill/>
        </p:spPr>
        <p:txBody>
          <a:bodyPr wrap="square" anchor="t">
            <a:spAutoFit/>
          </a:bodyPr>
          <a:lstStyle/>
          <a:p>
            <a:pPr algn="ctr">
              <a:spcAft>
                <a:spcPts val="400"/>
              </a:spcAft>
            </a:pPr>
            <a:r>
              <a:rPr sz="2200" b="1">
                <a:solidFill>
                  <a:srgbClr val="FFFFFF"/>
                </a:solidFill>
                <a:latin typeface="Arial"/>
              </a:rPr>
              <a:t>WSQ</a:t>
            </a:r>
          </a:p>
        </p:txBody>
      </p:sp>
      <p:sp>
        <p:nvSpPr>
          <p:cNvPr id="9" name="TextBox 8"/>
          <p:cNvSpPr txBox="1"/>
          <p:nvPr/>
        </p:nvSpPr>
        <p:spPr>
          <a:xfrm>
            <a:off x="9784080" y="1188720"/>
            <a:ext cx="1691640" cy="320040"/>
          </a:xfrm>
          <a:prstGeom prst="rect">
            <a:avLst/>
          </a:prstGeom>
          <a:noFill/>
        </p:spPr>
        <p:txBody>
          <a:bodyPr wrap="square" anchor="t">
            <a:spAutoFit/>
          </a:bodyPr>
          <a:lstStyle/>
          <a:p>
            <a:pPr algn="ctr">
              <a:spcAft>
                <a:spcPts val="400"/>
              </a:spcAft>
            </a:pPr>
            <a:r>
              <a:rPr sz="900" b="1">
                <a:solidFill>
                  <a:srgbClr val="FFFFFF"/>
                </a:solidFill>
                <a:latin typeface="Arial"/>
              </a:rPr>
              <a:t>COURSE</a:t>
            </a:r>
          </a:p>
        </p:txBody>
      </p:sp>
      <p:sp>
        <p:nvSpPr>
          <p:cNvPr id="10" name="TextBox 9"/>
          <p:cNvSpPr txBox="1"/>
          <p:nvPr/>
        </p:nvSpPr>
        <p:spPr>
          <a:xfrm>
            <a:off x="822960" y="1920240"/>
            <a:ext cx="5394960" cy="548640"/>
          </a:xfrm>
          <a:prstGeom prst="rect">
            <a:avLst/>
          </a:prstGeom>
          <a:noFill/>
        </p:spPr>
        <p:txBody>
          <a:bodyPr wrap="square" anchor="t">
            <a:spAutoFit/>
          </a:bodyPr>
          <a:lstStyle/>
          <a:p>
            <a:pPr algn="l">
              <a:spcAft>
                <a:spcPts val="400"/>
              </a:spcAft>
            </a:pPr>
            <a:r>
              <a:rPr sz="1600" b="1">
                <a:solidFill>
                  <a:srgbClr val="1F6FEB"/>
                </a:solidFill>
                <a:latin typeface="Arial"/>
              </a:rPr>
              <a:t>COURSE SLIDES  ·  WSQ</a:t>
            </a:r>
          </a:p>
        </p:txBody>
      </p:sp>
      <p:sp>
        <p:nvSpPr>
          <p:cNvPr id="11" name="TextBox 10"/>
          <p:cNvSpPr txBox="1"/>
          <p:nvPr/>
        </p:nvSpPr>
        <p:spPr>
          <a:xfrm>
            <a:off x="822960" y="2423160"/>
            <a:ext cx="5303520" cy="1828800"/>
          </a:xfrm>
          <a:prstGeom prst="rect">
            <a:avLst/>
          </a:prstGeom>
          <a:noFill/>
        </p:spPr>
        <p:txBody>
          <a:bodyPr wrap="square" anchor="t">
            <a:spAutoFit/>
          </a:bodyPr>
          <a:lstStyle/>
          <a:p>
            <a:pPr algn="l">
              <a:spcAft>
                <a:spcPts val="400"/>
              </a:spcAft>
            </a:pPr>
            <a:r>
              <a:rPr sz="3200" b="1">
                <a:solidFill>
                  <a:srgbClr val="161B26"/>
                </a:solidFill>
                <a:latin typeface="Arial"/>
              </a:rPr>
              <a:t>Create Powerpoint Infographics with AI</a:t>
            </a:r>
          </a:p>
        </p:txBody>
      </p:sp>
      <p:sp>
        <p:nvSpPr>
          <p:cNvPr id="12" name="Rectangle 11"/>
          <p:cNvSpPr/>
          <p:nvPr/>
        </p:nvSpPr>
        <p:spPr>
          <a:xfrm>
            <a:off x="841248" y="4343400"/>
            <a:ext cx="2194560" cy="548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4617720"/>
            <a:ext cx="5486400" cy="1280160"/>
          </a:xfrm>
          <a:prstGeom prst="rect">
            <a:avLst/>
          </a:prstGeom>
          <a:noFill/>
        </p:spPr>
        <p:txBody>
          <a:bodyPr wrap="square" anchor="t">
            <a:spAutoFit/>
          </a:bodyPr>
          <a:lstStyle/>
          <a:p>
            <a:pPr algn="l">
              <a:spcAft>
                <a:spcPts val="600"/>
              </a:spcAft>
            </a:pPr>
            <a:r>
              <a:rPr sz="1600" b="0">
                <a:solidFill>
                  <a:srgbClr val="5B6372"/>
                </a:solidFill>
                <a:latin typeface="Arial"/>
              </a:rPr>
              <a:t>WSQ Course Code: TGS-2026064178</a:t>
            </a:r>
          </a:p>
          <a:p>
            <a:pPr algn="l">
              <a:spcAft>
                <a:spcPts val="600"/>
              </a:spcAft>
            </a:pPr>
            <a:r>
              <a:rPr sz="1400" b="0">
                <a:solidFill>
                  <a:srgbClr val="5B6372"/>
                </a:solidFill>
                <a:latin typeface="Arial"/>
              </a:rPr>
              <a:t>Conducted by Tertiary Infotech Academy Pte Ltd  ·  UEN 201200696W</a:t>
            </a:r>
          </a:p>
        </p:txBody>
      </p:sp>
      <p:sp>
        <p:nvSpPr>
          <p:cNvPr id="14" name="TextBox 13"/>
          <p:cNvSpPr txBox="1"/>
          <p:nvPr/>
        </p:nvSpPr>
        <p:spPr>
          <a:xfrm>
            <a:off x="822960" y="5806440"/>
            <a:ext cx="5486400" cy="365760"/>
          </a:xfrm>
          <a:prstGeom prst="rect">
            <a:avLst/>
          </a:prstGeom>
          <a:noFill/>
        </p:spPr>
        <p:txBody>
          <a:bodyPr wrap="square" anchor="t">
            <a:spAutoFit/>
          </a:bodyPr>
          <a:lstStyle/>
          <a:p>
            <a:pPr algn="l">
              <a:spcAft>
                <a:spcPts val="400"/>
              </a:spcAft>
            </a:pPr>
            <a:r>
              <a:rPr sz="1200" b="0">
                <a:solidFill>
                  <a:srgbClr val="5B6372"/>
                </a:solidFill>
                <a:latin typeface="Arial"/>
              </a:rPr>
              <a:t>Version v13.2  ·  5 September 2026</a:t>
            </a:r>
          </a:p>
        </p:txBody>
      </p:sp>
      <p:sp>
        <p:nvSpPr>
          <p:cNvPr id="15" name="TextBox 14"/>
          <p:cNvSpPr txBox="1"/>
          <p:nvPr/>
        </p:nvSpPr>
        <p:spPr>
          <a:xfrm>
            <a:off x="822960" y="6236208"/>
            <a:ext cx="6400800" cy="310896"/>
          </a:xfrm>
          <a:prstGeom prst="rect">
            <a:avLst/>
          </a:prstGeom>
          <a:noFill/>
        </p:spPr>
        <p:txBody>
          <a:bodyPr wrap="square" anchor="t">
            <a:spAutoFit/>
          </a:bodyPr>
          <a:lstStyle/>
          <a:p>
            <a:pPr algn="l">
              <a:spcAft>
                <a:spcPts val="400"/>
              </a:spcAft>
            </a:pPr>
            <a:r>
              <a:rPr sz="1000" b="0">
                <a:solidFill>
                  <a:srgbClr val="5B6372"/>
                </a:solidFill>
                <a:latin typeface="Arial"/>
              </a:rPr>
              <a:t>© 2026 Tertiary Infotech Academy Pte Ltd</a:t>
            </a:r>
          </a:p>
        </p:txBody>
      </p:sp>
    </p:spTree>
  </p:cSld>
  <p:clrMapOvr>
    <a:masterClrMapping/>
  </p:clrMapOvr>
  <p:transition spd="fast" advClick="1">
    <p:zoom/>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COURSE ADMINISTRATION</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Welcome &amp; Housekeeping</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a:t>
            </a:r>
          </a:p>
        </p:txBody>
      </p:sp>
    </p:spTree>
  </p:cSld>
  <p:clrMapOvr>
    <a:masterClrMapping/>
  </p:clrMapOvr>
  <p:transition spd="fast" advClick="1">
    <p:fade/>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350"/>
                                        <p:tgtEl>
                                          <p:spTgt spid="4"/>
                                        </p:tgtEl>
                                      </p:cBhvr>
                                    </p:animEffect>
                                    <p:anim calcmode="lin" valueType="num">
                                      <p:cBhvr additive="base">
                                        <p:cTn id="15" dur="350" fill="hold"/>
                                        <p:tgtEl>
                                          <p:spTgt spid="4"/>
                                        </p:tgtEl>
                                        <p:attrNameLst>
                                          <p:attrName>ppt_y</p:attrName>
                                        </p:attrNameLst>
                                      </p:cBhvr>
                                      <p:tavLst>
                                        <p:tav tm="0">
                                          <p:val>
                                            <p:strVal val="#ppt_y+0.0350"/>
                                          </p:val>
                                        </p:tav>
                                        <p:tav tm="100000">
                                          <p:val>
                                            <p:strVal val="#ppt_y"/>
                                          </p:val>
                                        </p:tav>
                                      </p:tavLst>
                                    </p:anim>
                                  </p:childTnLst>
                                </p:cTn>
                              </p:par>
                            </p:childTnLst>
                          </p:cTn>
                        </p:par>
                      </p:childTnLst>
                    </p:cTn>
                  </p:par>
                  <p:par>
                    <p:cTn id="20" fill="hold">
                      <p:stCondLst>
                        <p:cond delay="0"/>
                      </p:stCondLst>
                      <p:childTnLst>
                        <p:par>
                          <p:cTn id="21" fill="hold">
                            <p:stCondLst>
                              <p:cond delay="0"/>
                            </p:stCondLst>
                            <p:childTnLst>
                              <p:par>
                                <p:cTn id="22" presetID="10" presetClass="entr" presetSubtype="0" fill="hold" grpId="0" nodeType="afterEffect">
                                  <p:stCondLst>
                                    <p:cond delay="0"/>
                                  </p:stCondLst>
                                  <p:childTnLst>
                                    <p:set>
                                      <p:cBhvr>
                                        <p:cTn id="23" dur="1" fill="hold">
                                          <p:stCondLst>
                                            <p:cond delay="0"/>
                                          </p:stCondLst>
                                        </p:cTn>
                                        <p:tgtEl>
                                          <p:spTgt spid="5"/>
                                        </p:tgtEl>
                                        <p:attrNameLst>
                                          <p:attrName>style.visibility</p:attrName>
                                        </p:attrNameLst>
                                      </p:cBhvr>
                                      <p:to>
                                        <p:strVal val="visible"/>
                                      </p:to>
                                    </p:set>
                                    <p:animEffect transition="in" filter="fade">
                                      <p:cBhvr>
                                        <p:cTn id="24" dur="350"/>
                                        <p:tgtEl>
                                          <p:spTgt spid="5"/>
                                        </p:tgtEl>
                                      </p:cBhvr>
                                    </p:animEffect>
                                    <p:anim calcmode="lin" valueType="num">
                                      <p:cBhvr additive="base">
                                        <p:cTn id="25" dur="350" fill="hold"/>
                                        <p:tgtEl>
                                          <p:spTgt spid="5"/>
                                        </p:tgtEl>
                                        <p:attrNameLst>
                                          <p:attrName>ppt_y</p:attrName>
                                        </p:attrNameLst>
                                      </p:cBhvr>
                                      <p:tavLst>
                                        <p:tav tm="0">
                                          <p:val>
                                            <p:strVal val="#ppt_y+0.0350"/>
                                          </p:val>
                                        </p:tav>
                                        <p:tav tm="100000">
                                          <p:val>
                                            <p:strVal val="#ppt_y"/>
                                          </p:val>
                                        </p:tav>
                                      </p:tavLst>
                                    </p:anim>
                                  </p:childTnLst>
                                </p:cTn>
                              </p:par>
                            </p:childTnLst>
                          </p:cTn>
                        </p:par>
                      </p:childTnLst>
                    </p:cTn>
                  </p:par>
                  <p:par>
                    <p:cTn id="30" fill="hold">
                      <p:stCondLst>
                        <p:cond delay="0"/>
                      </p:stCondLst>
                      <p:childTnLst>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6"/>
                                        </p:tgtEl>
                                        <p:attrNameLst>
                                          <p:attrName>style.visibility</p:attrName>
                                        </p:attrNameLst>
                                      </p:cBhvr>
                                      <p:to>
                                        <p:strVal val="visible"/>
                                      </p:to>
                                    </p:set>
                                    <p:animEffect transition="in" filter="fade">
                                      <p:cBhvr>
                                        <p:cTn id="34" dur="350"/>
                                        <p:tgtEl>
                                          <p:spTgt spid="6"/>
                                        </p:tgtEl>
                                      </p:cBhvr>
                                    </p:animEffect>
                                    <p:anim calcmode="lin" valueType="num">
                                      <p:cBhvr additive="base">
                                        <p:cTn id="35" dur="350" fill="hold"/>
                                        <p:tgtEl>
                                          <p:spTgt spid="6"/>
                                        </p:tgtEl>
                                        <p:attrNameLst>
                                          <p:attrName>ppt_y</p:attrName>
                                        </p:attrNameLst>
                                      </p:cBhvr>
                                      <p:tavLst>
                                        <p:tav tm="0">
                                          <p:val>
                                            <p:strVal val="#ppt_y+0.0350"/>
                                          </p:val>
                                        </p:tav>
                                        <p:tav tm="100000">
                                          <p:val>
                                            <p:strVal val="#ppt_y"/>
                                          </p:val>
                                        </p:tav>
                                      </p:tavLst>
                                    </p:anim>
                                  </p:childTnLst>
                                </p:cTn>
                              </p:par>
                            </p:childTnLst>
                          </p:cTn>
                        </p:par>
                      </p:childTnLst>
                    </p:cTn>
                  </p:par>
                </p:childTnLst>
                <p:prevCondLst>
                  <p:cond evt="onPrev" delay="0">
                    <p:tgtEl>
                      <p:sldTgt/>
                    </p:tgtEl>
                  </p:cond>
                </p:prevCondLst>
                <p:nextCondLst>
                  <p:cond evt="onNext" delay="0">
                    <p:tgtEl>
                      <p:sldTgt/>
                    </p:tgtEl>
                  </p:cond>
                </p:nextCondLst>
              </p:cTn>
            </p:seq>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SSG DIGITAL ATTENDANCE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Digital Attendance (Mandatory)</a:t>
            </a:r>
          </a:p>
        </p:txBody>
      </p:sp>
      <p:sp>
        <p:nvSpPr>
          <p:cNvPr id="6" name="Rectangle 5"/>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0" name="TextBox 9"/>
          <p:cNvSpPr txBox="1"/>
          <p:nvPr/>
        </p:nvSpPr>
        <p:spPr>
          <a:xfrm>
            <a:off x="1764792" y="1874520"/>
            <a:ext cx="9427464" cy="768096"/>
          </a:xfrm>
          <a:prstGeom prst="rect">
            <a:avLst/>
          </a:prstGeom>
          <a:noFill/>
        </p:spPr>
        <p:txBody>
          <a:bodyPr wrap="square" anchor="ctr">
            <a:spAutoFit/>
          </a:bodyPr>
          <a:lstStyle/>
          <a:p>
            <a:pPr algn="l">
              <a:spcAft>
                <a:spcPts val="400"/>
              </a:spcAft>
            </a:pPr>
            <a:r>
              <a:rPr sz="1500" b="0">
                <a:solidFill>
                  <a:srgbClr val="161B26"/>
                </a:solidFill>
                <a:latin typeface="Arial"/>
              </a:rPr>
              <a:t>It is mandatory to take the AM, PM and Assessment digital attendance for WSQ-funded courses.</a:t>
            </a:r>
          </a:p>
        </p:txBody>
      </p:sp>
      <p:sp>
        <p:nvSpPr>
          <p:cNvPr id="11" name="Rectangle 10"/>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33272" y="31181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5" name="TextBox 14"/>
          <p:cNvSpPr txBox="1"/>
          <p:nvPr/>
        </p:nvSpPr>
        <p:spPr>
          <a:xfrm>
            <a:off x="1764792" y="3026664"/>
            <a:ext cx="9427464" cy="768096"/>
          </a:xfrm>
          <a:prstGeom prst="rect">
            <a:avLst/>
          </a:prstGeom>
          <a:noFill/>
        </p:spPr>
        <p:txBody>
          <a:bodyPr wrap="square" anchor="ctr">
            <a:spAutoFit/>
          </a:bodyPr>
          <a:lstStyle/>
          <a:p>
            <a:pPr algn="l">
              <a:spcAft>
                <a:spcPts val="400"/>
              </a:spcAft>
            </a:pPr>
            <a:r>
              <a:rPr sz="1500" b="0">
                <a:solidFill>
                  <a:srgbClr val="161B26"/>
                </a:solidFill>
                <a:latin typeface="Arial"/>
              </a:rPr>
              <a:t>The trainer/administrator displays the digital attendance QR code from the SSG portal.</a:t>
            </a:r>
          </a:p>
        </p:txBody>
      </p:sp>
      <p:sp>
        <p:nvSpPr>
          <p:cNvPr id="16" name="Rectangle 15"/>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33272" y="42702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0" name="TextBox 19"/>
          <p:cNvSpPr txBox="1"/>
          <p:nvPr/>
        </p:nvSpPr>
        <p:spPr>
          <a:xfrm>
            <a:off x="1764792" y="4178808"/>
            <a:ext cx="9427464" cy="768096"/>
          </a:xfrm>
          <a:prstGeom prst="rect">
            <a:avLst/>
          </a:prstGeom>
          <a:noFill/>
        </p:spPr>
        <p:txBody>
          <a:bodyPr wrap="square" anchor="ctr">
            <a:spAutoFit/>
          </a:bodyPr>
          <a:lstStyle/>
          <a:p>
            <a:pPr algn="l">
              <a:spcAft>
                <a:spcPts val="400"/>
              </a:spcAft>
            </a:pPr>
            <a:r>
              <a:rPr sz="1500" b="0">
                <a:solidFill>
                  <a:srgbClr val="161B26"/>
                </a:solidFill>
                <a:latin typeface="Arial"/>
              </a:rPr>
              <a:t>Scan the QR code with your mobile phone camera and submit your attendance.</a:t>
            </a:r>
          </a:p>
        </p:txBody>
      </p:sp>
      <p:sp>
        <p:nvSpPr>
          <p:cNvPr id="21" name="Rectangle 20"/>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033272"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5" name="TextBox 24"/>
          <p:cNvSpPr txBox="1"/>
          <p:nvPr/>
        </p:nvSpPr>
        <p:spPr>
          <a:xfrm>
            <a:off x="1764792" y="5330952"/>
            <a:ext cx="9427464" cy="768096"/>
          </a:xfrm>
          <a:prstGeom prst="rect">
            <a:avLst/>
          </a:prstGeom>
          <a:noFill/>
        </p:spPr>
        <p:txBody>
          <a:bodyPr wrap="square" anchor="ctr">
            <a:spAutoFit/>
          </a:bodyPr>
          <a:lstStyle/>
          <a:p>
            <a:pPr algn="l">
              <a:spcAft>
                <a:spcPts val="400"/>
              </a:spcAft>
            </a:pPr>
            <a:r>
              <a:rPr sz="1500" b="0">
                <a:solidFill>
                  <a:srgbClr val="161B26"/>
                </a:solidFill>
                <a:latin typeface="Arial"/>
              </a:rPr>
              <a:t>A minimum of 75% attendance is required to be eligible for assessment and funding.</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a:t>
            </a:r>
          </a:p>
        </p:txBody>
      </p:sp>
    </p:spTree>
  </p:cSld>
  <p:clrMapOvr>
    <a:masterClrMapping/>
  </p:clrMapOvr>
  <p:transition spd="fast" advClick="1">
    <p:fade/>
  </p:transition>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5B6372"/>
                </a:solidFill>
                <a:latin typeface="Arial"/>
              </a:rPr>
              <a:t>YOUR TRAINER · GENERAL</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About the Trainer</a:t>
            </a:r>
          </a:p>
        </p:txBody>
      </p:sp>
      <p:sp>
        <p:nvSpPr>
          <p:cNvPr id="6" name="Rectangle 5"/>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109728"/>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668780" y="2286000"/>
            <a:ext cx="1554480" cy="1554480"/>
          </a:xfrm>
          <a:prstGeom prst="ellipse">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668780" y="2286000"/>
            <a:ext cx="1554480" cy="1554480"/>
          </a:xfrm>
          <a:prstGeom prst="rect">
            <a:avLst/>
          </a:prstGeom>
          <a:noFill/>
        </p:spPr>
        <p:txBody>
          <a:bodyPr wrap="square" anchor="ctr">
            <a:spAutoFit/>
          </a:bodyPr>
          <a:lstStyle/>
          <a:p>
            <a:pPr algn="ctr">
              <a:spcAft>
                <a:spcPts val="400"/>
              </a:spcAft>
            </a:pPr>
            <a:r>
              <a:rPr sz="4400" b="1">
                <a:solidFill>
                  <a:srgbClr val="FFFFFF"/>
                </a:solidFill>
                <a:latin typeface="Arial"/>
              </a:rPr>
              <a:t>?</a:t>
            </a:r>
          </a:p>
        </p:txBody>
      </p:sp>
      <p:sp>
        <p:nvSpPr>
          <p:cNvPr id="10" name="TextBox 9"/>
          <p:cNvSpPr txBox="1"/>
          <p:nvPr/>
        </p:nvSpPr>
        <p:spPr>
          <a:xfrm>
            <a:off x="914400" y="4160520"/>
            <a:ext cx="3063240" cy="548640"/>
          </a:xfrm>
          <a:prstGeom prst="rect">
            <a:avLst/>
          </a:prstGeom>
          <a:noFill/>
        </p:spPr>
        <p:txBody>
          <a:bodyPr wrap="square" anchor="t">
            <a:spAutoFit/>
          </a:bodyPr>
          <a:lstStyle/>
          <a:p>
            <a:pPr algn="ctr">
              <a:spcAft>
                <a:spcPts val="400"/>
              </a:spcAft>
            </a:pPr>
            <a:r>
              <a:rPr sz="2100" b="1">
                <a:solidFill>
                  <a:srgbClr val="161B26"/>
                </a:solidFill>
                <a:latin typeface="Arial"/>
              </a:rPr>
              <a:t>General Trainer</a:t>
            </a:r>
          </a:p>
        </p:txBody>
      </p:sp>
      <p:sp>
        <p:nvSpPr>
          <p:cNvPr id="11" name="TextBox 10"/>
          <p:cNvSpPr txBox="1"/>
          <p:nvPr/>
        </p:nvSpPr>
        <p:spPr>
          <a:xfrm>
            <a:off x="914400" y="4754880"/>
            <a:ext cx="3063240" cy="1097280"/>
          </a:xfrm>
          <a:prstGeom prst="rect">
            <a:avLst/>
          </a:prstGeom>
          <a:noFill/>
        </p:spPr>
        <p:txBody>
          <a:bodyPr wrap="square" anchor="t">
            <a:spAutoFit/>
          </a:bodyPr>
          <a:lstStyle/>
          <a:p>
            <a:pPr algn="ctr">
              <a:spcAft>
                <a:spcPts val="400"/>
              </a:spcAft>
            </a:pPr>
            <a:r>
              <a:rPr sz="1300" b="0">
                <a:solidFill>
                  <a:srgbClr val="5B6372"/>
                </a:solidFill>
                <a:latin typeface="Arial"/>
              </a:rPr>
              <a:t>Complete before delivery</a:t>
            </a:r>
          </a:p>
        </p:txBody>
      </p:sp>
      <p:sp>
        <p:nvSpPr>
          <p:cNvPr id="12" name="Rectangle 11"/>
          <p:cNvSpPr/>
          <p:nvPr/>
        </p:nvSpPr>
        <p:spPr>
          <a:xfrm>
            <a:off x="4480560" y="178308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480560" y="1783080"/>
            <a:ext cx="91440" cy="563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773168" y="1783080"/>
            <a:ext cx="6400800" cy="563880"/>
          </a:xfrm>
          <a:prstGeom prst="rect">
            <a:avLst/>
          </a:prstGeom>
          <a:noFill/>
        </p:spPr>
        <p:txBody>
          <a:bodyPr wrap="square" anchor="ctr">
            <a:spAutoFit/>
          </a:bodyPr>
          <a:lstStyle/>
          <a:p>
            <a:pPr algn="l">
              <a:spcAft>
                <a:spcPts val="300"/>
              </a:spcAft>
            </a:pPr>
            <a:r>
              <a:rPr sz="1100" b="1">
                <a:solidFill>
                  <a:srgbClr val="1F6FEB"/>
                </a:solidFill>
                <a:latin typeface="Arial"/>
              </a:rPr>
              <a:t>NAME</a:t>
            </a:r>
          </a:p>
          <a:p>
            <a:pPr algn="l">
              <a:spcAft>
                <a:spcPts val="300"/>
              </a:spcAft>
            </a:pPr>
            <a:r>
              <a:rPr sz="1300" b="0">
                <a:solidFill>
                  <a:srgbClr val="E2E8F0"/>
                </a:solidFill>
                <a:latin typeface="Arial"/>
              </a:rPr>
              <a:t>____________________________________________</a:t>
            </a:r>
          </a:p>
        </p:txBody>
      </p:sp>
      <p:sp>
        <p:nvSpPr>
          <p:cNvPr id="15" name="Rectangle 14"/>
          <p:cNvSpPr/>
          <p:nvPr/>
        </p:nvSpPr>
        <p:spPr>
          <a:xfrm>
            <a:off x="4480560" y="252984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80560" y="2529840"/>
            <a:ext cx="91440" cy="563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773168" y="2529840"/>
            <a:ext cx="6400800" cy="563880"/>
          </a:xfrm>
          <a:prstGeom prst="rect">
            <a:avLst/>
          </a:prstGeom>
          <a:noFill/>
        </p:spPr>
        <p:txBody>
          <a:bodyPr wrap="square" anchor="ctr">
            <a:spAutoFit/>
          </a:bodyPr>
          <a:lstStyle/>
          <a:p>
            <a:pPr algn="l">
              <a:spcAft>
                <a:spcPts val="300"/>
              </a:spcAft>
            </a:pPr>
            <a:r>
              <a:rPr sz="1100" b="1">
                <a:solidFill>
                  <a:srgbClr val="10B981"/>
                </a:solidFill>
                <a:latin typeface="Arial"/>
              </a:rPr>
              <a:t>TITLE / DESIGNATION</a:t>
            </a:r>
          </a:p>
          <a:p>
            <a:pPr algn="l">
              <a:spcAft>
                <a:spcPts val="300"/>
              </a:spcAft>
            </a:pPr>
            <a:r>
              <a:rPr sz="1300" b="0">
                <a:solidFill>
                  <a:srgbClr val="E2E8F0"/>
                </a:solidFill>
                <a:latin typeface="Arial"/>
              </a:rPr>
              <a:t>____________________________________________</a:t>
            </a:r>
          </a:p>
        </p:txBody>
      </p:sp>
      <p:sp>
        <p:nvSpPr>
          <p:cNvPr id="18" name="Rectangle 17"/>
          <p:cNvSpPr/>
          <p:nvPr/>
        </p:nvSpPr>
        <p:spPr>
          <a:xfrm>
            <a:off x="4480560" y="327660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480560" y="3276600"/>
            <a:ext cx="91440" cy="563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773168" y="3276600"/>
            <a:ext cx="6400800" cy="563880"/>
          </a:xfrm>
          <a:prstGeom prst="rect">
            <a:avLst/>
          </a:prstGeom>
          <a:noFill/>
        </p:spPr>
        <p:txBody>
          <a:bodyPr wrap="square" anchor="ctr">
            <a:spAutoFit/>
          </a:bodyPr>
          <a:lstStyle/>
          <a:p>
            <a:pPr algn="l">
              <a:spcAft>
                <a:spcPts val="300"/>
              </a:spcAft>
            </a:pPr>
            <a:r>
              <a:rPr sz="1100" b="1">
                <a:solidFill>
                  <a:srgbClr val="7C3AED"/>
                </a:solidFill>
                <a:latin typeface="Arial"/>
              </a:rPr>
              <a:t>QUALIFICATIONS</a:t>
            </a:r>
          </a:p>
          <a:p>
            <a:pPr algn="l">
              <a:spcAft>
                <a:spcPts val="300"/>
              </a:spcAft>
            </a:pPr>
            <a:r>
              <a:rPr sz="1300" b="0">
                <a:solidFill>
                  <a:srgbClr val="E2E8F0"/>
                </a:solidFill>
                <a:latin typeface="Arial"/>
              </a:rPr>
              <a:t>____________________________________________</a:t>
            </a:r>
          </a:p>
        </p:txBody>
      </p:sp>
      <p:sp>
        <p:nvSpPr>
          <p:cNvPr id="21" name="Rectangle 20"/>
          <p:cNvSpPr/>
          <p:nvPr/>
        </p:nvSpPr>
        <p:spPr>
          <a:xfrm>
            <a:off x="4480560" y="402336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480560" y="4023360"/>
            <a:ext cx="91440" cy="563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773168" y="4023360"/>
            <a:ext cx="6400800" cy="563880"/>
          </a:xfrm>
          <a:prstGeom prst="rect">
            <a:avLst/>
          </a:prstGeom>
          <a:noFill/>
        </p:spPr>
        <p:txBody>
          <a:bodyPr wrap="square" anchor="ctr">
            <a:spAutoFit/>
          </a:bodyPr>
          <a:lstStyle/>
          <a:p>
            <a:pPr algn="l">
              <a:spcAft>
                <a:spcPts val="300"/>
              </a:spcAft>
            </a:pPr>
            <a:r>
              <a:rPr sz="1100" b="1">
                <a:solidFill>
                  <a:srgbClr val="F59E0B"/>
                </a:solidFill>
                <a:latin typeface="Arial"/>
              </a:rPr>
              <a:t>AREAS OF EXPERTISE</a:t>
            </a:r>
          </a:p>
          <a:p>
            <a:pPr algn="l">
              <a:spcAft>
                <a:spcPts val="300"/>
              </a:spcAft>
            </a:pPr>
            <a:r>
              <a:rPr sz="1300" b="0">
                <a:solidFill>
                  <a:srgbClr val="E2E8F0"/>
                </a:solidFill>
                <a:latin typeface="Arial"/>
              </a:rPr>
              <a:t>____________________________________________</a:t>
            </a:r>
          </a:p>
        </p:txBody>
      </p:sp>
      <p:sp>
        <p:nvSpPr>
          <p:cNvPr id="24" name="Rectangle 23"/>
          <p:cNvSpPr/>
          <p:nvPr/>
        </p:nvSpPr>
        <p:spPr>
          <a:xfrm>
            <a:off x="4480560" y="477012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480560" y="4770120"/>
            <a:ext cx="91440" cy="563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73168" y="4770120"/>
            <a:ext cx="6400800" cy="563880"/>
          </a:xfrm>
          <a:prstGeom prst="rect">
            <a:avLst/>
          </a:prstGeom>
          <a:noFill/>
        </p:spPr>
        <p:txBody>
          <a:bodyPr wrap="square" anchor="ctr">
            <a:spAutoFit/>
          </a:bodyPr>
          <a:lstStyle/>
          <a:p>
            <a:pPr algn="l">
              <a:spcAft>
                <a:spcPts val="300"/>
              </a:spcAft>
            </a:pPr>
            <a:r>
              <a:rPr sz="1100" b="1">
                <a:solidFill>
                  <a:srgbClr val="1F6FEB"/>
                </a:solidFill>
                <a:latin typeface="Arial"/>
              </a:rPr>
              <a:t>TRAINING &amp; INDUSTRY EXPERIENCE</a:t>
            </a:r>
          </a:p>
          <a:p>
            <a:pPr algn="l">
              <a:spcAft>
                <a:spcPts val="300"/>
              </a:spcAft>
            </a:pPr>
            <a:r>
              <a:rPr sz="1300" b="0">
                <a:solidFill>
                  <a:srgbClr val="E2E8F0"/>
                </a:solidFill>
                <a:latin typeface="Arial"/>
              </a:rPr>
              <a:t>____________________________________________</a:t>
            </a:r>
          </a:p>
        </p:txBody>
      </p:sp>
      <p:sp>
        <p:nvSpPr>
          <p:cNvPr id="27" name="Rectangle 26"/>
          <p:cNvSpPr/>
          <p:nvPr/>
        </p:nvSpPr>
        <p:spPr>
          <a:xfrm>
            <a:off x="4480560" y="551688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480560" y="5516880"/>
            <a:ext cx="91440" cy="563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73168" y="5516880"/>
            <a:ext cx="6400800" cy="563880"/>
          </a:xfrm>
          <a:prstGeom prst="rect">
            <a:avLst/>
          </a:prstGeom>
          <a:noFill/>
        </p:spPr>
        <p:txBody>
          <a:bodyPr wrap="square" anchor="ctr">
            <a:spAutoFit/>
          </a:bodyPr>
          <a:lstStyle/>
          <a:p>
            <a:pPr algn="l">
              <a:spcAft>
                <a:spcPts val="300"/>
              </a:spcAft>
            </a:pPr>
            <a:r>
              <a:rPr sz="1100" b="1">
                <a:solidFill>
                  <a:srgbClr val="10B981"/>
                </a:solidFill>
                <a:latin typeface="Arial"/>
              </a:rPr>
              <a:t>CONTACT</a:t>
            </a:r>
          </a:p>
          <a:p>
            <a:pPr algn="l">
              <a:spcAft>
                <a:spcPts val="300"/>
              </a:spcAft>
            </a:pPr>
            <a:r>
              <a:rPr sz="1300" b="0">
                <a:solidFill>
                  <a:srgbClr val="E2E8F0"/>
                </a:solidFill>
                <a:latin typeface="Arial"/>
              </a:rPr>
              <a:t>____________________________________________</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a:t>
            </a:r>
          </a:p>
        </p:txBody>
      </p:sp>
    </p:spTree>
  </p:cSld>
  <p:clrMapOvr>
    <a:masterClrMapping/>
  </p:clrMapOvr>
  <p:transition spd="fast" advClick="1">
    <p:fade/>
  </p:transition>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YOUR TRAINER</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About the Trainer</a:t>
            </a:r>
          </a:p>
        </p:txBody>
      </p:sp>
      <p:sp>
        <p:nvSpPr>
          <p:cNvPr id="6" name="Rectangle 5"/>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668780" y="2286000"/>
            <a:ext cx="1554480" cy="155448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668780" y="2286000"/>
            <a:ext cx="1554480" cy="1554480"/>
          </a:xfrm>
          <a:prstGeom prst="rect">
            <a:avLst/>
          </a:prstGeom>
          <a:noFill/>
        </p:spPr>
        <p:txBody>
          <a:bodyPr wrap="square" anchor="ctr">
            <a:spAutoFit/>
          </a:bodyPr>
          <a:lstStyle/>
          <a:p>
            <a:pPr algn="ctr">
              <a:spcAft>
                <a:spcPts val="400"/>
              </a:spcAft>
            </a:pPr>
            <a:r>
              <a:rPr sz="4400" b="1">
                <a:solidFill>
                  <a:srgbClr val="FFFFFF"/>
                </a:solidFill>
                <a:latin typeface="Arial"/>
              </a:rPr>
              <a:t>AA</a:t>
            </a:r>
          </a:p>
        </p:txBody>
      </p:sp>
      <p:sp>
        <p:nvSpPr>
          <p:cNvPr id="10" name="TextBox 9"/>
          <p:cNvSpPr txBox="1"/>
          <p:nvPr/>
        </p:nvSpPr>
        <p:spPr>
          <a:xfrm>
            <a:off x="914400" y="4160520"/>
            <a:ext cx="3063240" cy="548640"/>
          </a:xfrm>
          <a:prstGeom prst="rect">
            <a:avLst/>
          </a:prstGeom>
          <a:noFill/>
        </p:spPr>
        <p:txBody>
          <a:bodyPr wrap="square" anchor="t">
            <a:spAutoFit/>
          </a:bodyPr>
          <a:lstStyle/>
          <a:p>
            <a:pPr algn="ctr">
              <a:spcAft>
                <a:spcPts val="400"/>
              </a:spcAft>
            </a:pPr>
            <a:r>
              <a:rPr sz="2100" b="1">
                <a:solidFill>
                  <a:srgbClr val="161B26"/>
                </a:solidFill>
                <a:latin typeface="Arial"/>
              </a:rPr>
              <a:t>Dr. Alfred Ang</a:t>
            </a:r>
          </a:p>
        </p:txBody>
      </p:sp>
      <p:sp>
        <p:nvSpPr>
          <p:cNvPr id="11" name="TextBox 10"/>
          <p:cNvSpPr txBox="1"/>
          <p:nvPr/>
        </p:nvSpPr>
        <p:spPr>
          <a:xfrm>
            <a:off x="914400" y="4754880"/>
            <a:ext cx="3063240" cy="1097280"/>
          </a:xfrm>
          <a:prstGeom prst="rect">
            <a:avLst/>
          </a:prstGeom>
          <a:noFill/>
        </p:spPr>
        <p:txBody>
          <a:bodyPr wrap="square" anchor="t">
            <a:spAutoFit/>
          </a:bodyPr>
          <a:lstStyle/>
          <a:p>
            <a:pPr algn="ctr">
              <a:spcAft>
                <a:spcPts val="400"/>
              </a:spcAft>
            </a:pPr>
            <a:r>
              <a:rPr sz="1300" b="0">
                <a:solidFill>
                  <a:srgbClr val="5B6372"/>
                </a:solidFill>
                <a:latin typeface="Arial"/>
              </a:rPr>
              <a:t>Principal Trainer
Tertiary Infotech Academy Pte. Ltd.</a:t>
            </a:r>
          </a:p>
        </p:txBody>
      </p:sp>
      <p:sp>
        <p:nvSpPr>
          <p:cNvPr id="12" name="Rectangle 11"/>
          <p:cNvSpPr/>
          <p:nvPr/>
        </p:nvSpPr>
        <p:spPr>
          <a:xfrm>
            <a:off x="4480560" y="178308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480560" y="1783080"/>
            <a:ext cx="91440" cy="9372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773168" y="1783080"/>
            <a:ext cx="6400800" cy="937260"/>
          </a:xfrm>
          <a:prstGeom prst="rect">
            <a:avLst/>
          </a:prstGeom>
          <a:noFill/>
        </p:spPr>
        <p:txBody>
          <a:bodyPr wrap="square" anchor="ctr">
            <a:spAutoFit/>
          </a:bodyPr>
          <a:lstStyle/>
          <a:p>
            <a:pPr algn="l">
              <a:spcAft>
                <a:spcPts val="300"/>
              </a:spcAft>
            </a:pPr>
            <a:r>
              <a:rPr sz="1100" b="1">
                <a:solidFill>
                  <a:srgbClr val="1F6FEB"/>
                </a:solidFill>
                <a:latin typeface="Arial"/>
              </a:rPr>
              <a:t>ROLE</a:t>
            </a:r>
          </a:p>
          <a:p>
            <a:pPr algn="l">
              <a:spcAft>
                <a:spcPts val="300"/>
              </a:spcAft>
            </a:pPr>
            <a:r>
              <a:rPr sz="1400" b="0">
                <a:solidFill>
                  <a:srgbClr val="161B26"/>
                </a:solidFill>
                <a:latin typeface="Arial"/>
              </a:rPr>
              <a:t>Principal Trainer, Tertiary Infotech Academy Pte. Ltd.</a:t>
            </a:r>
          </a:p>
        </p:txBody>
      </p:sp>
      <p:sp>
        <p:nvSpPr>
          <p:cNvPr id="15" name="Rectangle 14"/>
          <p:cNvSpPr/>
          <p:nvPr/>
        </p:nvSpPr>
        <p:spPr>
          <a:xfrm>
            <a:off x="4480560" y="290322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80560" y="2903220"/>
            <a:ext cx="91440" cy="9372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773168" y="2903220"/>
            <a:ext cx="6400800" cy="937260"/>
          </a:xfrm>
          <a:prstGeom prst="rect">
            <a:avLst/>
          </a:prstGeom>
          <a:noFill/>
        </p:spPr>
        <p:txBody>
          <a:bodyPr wrap="square" anchor="ctr">
            <a:spAutoFit/>
          </a:bodyPr>
          <a:lstStyle/>
          <a:p>
            <a:pPr algn="l">
              <a:spcAft>
                <a:spcPts val="300"/>
              </a:spcAft>
            </a:pPr>
            <a:r>
              <a:rPr sz="1100" b="1">
                <a:solidFill>
                  <a:srgbClr val="10B981"/>
                </a:solidFill>
                <a:latin typeface="Arial"/>
              </a:rPr>
              <a:t>CERTIFICATION / CREDENTIALS</a:t>
            </a:r>
          </a:p>
          <a:p>
            <a:pPr algn="l">
              <a:spcAft>
                <a:spcPts val="300"/>
              </a:spcAft>
            </a:pPr>
            <a:r>
              <a:rPr sz="1400" b="0">
                <a:solidFill>
                  <a:srgbClr val="161B26"/>
                </a:solidFill>
                <a:latin typeface="Arial"/>
              </a:rPr>
              <a:t>20+ years of training and industry experience.</a:t>
            </a:r>
          </a:p>
        </p:txBody>
      </p:sp>
      <p:sp>
        <p:nvSpPr>
          <p:cNvPr id="18" name="Rectangle 17"/>
          <p:cNvSpPr/>
          <p:nvPr/>
        </p:nvSpPr>
        <p:spPr>
          <a:xfrm>
            <a:off x="4480560" y="402336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480560" y="4023360"/>
            <a:ext cx="91440" cy="9372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773168" y="4023360"/>
            <a:ext cx="6400800" cy="937260"/>
          </a:xfrm>
          <a:prstGeom prst="rect">
            <a:avLst/>
          </a:prstGeom>
          <a:noFill/>
        </p:spPr>
        <p:txBody>
          <a:bodyPr wrap="square" anchor="ctr">
            <a:spAutoFit/>
          </a:bodyPr>
          <a:lstStyle/>
          <a:p>
            <a:pPr algn="l">
              <a:spcAft>
                <a:spcPts val="300"/>
              </a:spcAft>
            </a:pPr>
            <a:r>
              <a:rPr sz="1100" b="1">
                <a:solidFill>
                  <a:srgbClr val="7C3AED"/>
                </a:solidFill>
                <a:latin typeface="Arial"/>
              </a:rPr>
              <a:t>DELIVERS</a:t>
            </a:r>
          </a:p>
          <a:p>
            <a:pPr algn="l">
              <a:spcAft>
                <a:spcPts val="300"/>
              </a:spcAft>
            </a:pPr>
            <a:r>
              <a:rPr sz="1400" b="0">
                <a:solidFill>
                  <a:srgbClr val="161B26"/>
                </a:solidFill>
                <a:latin typeface="Arial"/>
              </a:rPr>
              <a:t>WSQ courses on PowerPoint, data visualisation, generative AI and workplace productivity.</a:t>
            </a:r>
          </a:p>
        </p:txBody>
      </p:sp>
      <p:sp>
        <p:nvSpPr>
          <p:cNvPr id="21" name="Rectangle 20"/>
          <p:cNvSpPr/>
          <p:nvPr/>
        </p:nvSpPr>
        <p:spPr>
          <a:xfrm>
            <a:off x="4480560" y="514350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480560" y="5143500"/>
            <a:ext cx="91440" cy="9372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773168" y="5143500"/>
            <a:ext cx="6400800" cy="937260"/>
          </a:xfrm>
          <a:prstGeom prst="rect">
            <a:avLst/>
          </a:prstGeom>
          <a:noFill/>
        </p:spPr>
        <p:txBody>
          <a:bodyPr wrap="square" anchor="ctr">
            <a:spAutoFit/>
          </a:bodyPr>
          <a:lstStyle/>
          <a:p>
            <a:pPr algn="l">
              <a:spcAft>
                <a:spcPts val="300"/>
              </a:spcAft>
            </a:pPr>
            <a:r>
              <a:rPr sz="1100" b="1">
                <a:solidFill>
                  <a:srgbClr val="F59E0B"/>
                </a:solidFill>
                <a:latin typeface="Arial"/>
              </a:rPr>
              <a:t>FOUNDER</a:t>
            </a:r>
          </a:p>
          <a:p>
            <a:pPr algn="l">
              <a:spcAft>
                <a:spcPts val="300"/>
              </a:spcAft>
            </a:pPr>
            <a:r>
              <a:rPr sz="1400" b="0">
                <a:solidFill>
                  <a:srgbClr val="161B26"/>
                </a:solidFill>
                <a:latin typeface="Arial"/>
              </a:rPr>
              <a:t>Founder and lead instructor at Tertiary Infotech / Tertiary Courses.</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a:t>
            </a:r>
          </a:p>
        </p:txBody>
      </p:sp>
    </p:spTree>
  </p:cSld>
  <p:clrMapOvr>
    <a:masterClrMapping/>
  </p:clrMapOvr>
  <p:transition spd="fast" advClick="1">
    <p:fade/>
  </p:transition>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ICE-BREAKER</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Let's Know Each Other</a:t>
            </a:r>
          </a:p>
        </p:txBody>
      </p:sp>
      <p:sp>
        <p:nvSpPr>
          <p:cNvPr id="6" name="Rectangle 5"/>
          <p:cNvSpPr/>
          <p:nvPr/>
        </p:nvSpPr>
        <p:spPr>
          <a:xfrm>
            <a:off x="777240" y="1783080"/>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0" name="TextBox 9"/>
          <p:cNvSpPr txBox="1"/>
          <p:nvPr/>
        </p:nvSpPr>
        <p:spPr>
          <a:xfrm>
            <a:off x="1764792" y="1874520"/>
            <a:ext cx="9427464" cy="1152144"/>
          </a:xfrm>
          <a:prstGeom prst="rect">
            <a:avLst/>
          </a:prstGeom>
          <a:noFill/>
        </p:spPr>
        <p:txBody>
          <a:bodyPr wrap="square" anchor="ctr">
            <a:spAutoFit/>
          </a:bodyPr>
          <a:lstStyle/>
          <a:p>
            <a:pPr algn="l">
              <a:spcAft>
                <a:spcPts val="400"/>
              </a:spcAft>
            </a:pPr>
            <a:r>
              <a:rPr sz="1500" b="0">
                <a:solidFill>
                  <a:srgbClr val="161B26"/>
                </a:solidFill>
                <a:latin typeface="Arial"/>
              </a:rPr>
              <a:t>Your name and organisation / role.</a:t>
            </a:r>
          </a:p>
        </p:txBody>
      </p:sp>
      <p:sp>
        <p:nvSpPr>
          <p:cNvPr id="11" name="Rectangle 10"/>
          <p:cNvSpPr/>
          <p:nvPr/>
        </p:nvSpPr>
        <p:spPr>
          <a:xfrm>
            <a:off x="777240" y="3319272"/>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319272"/>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33272" y="3694176"/>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5" name="TextBox 14"/>
          <p:cNvSpPr txBox="1"/>
          <p:nvPr/>
        </p:nvSpPr>
        <p:spPr>
          <a:xfrm>
            <a:off x="1764792" y="3410712"/>
            <a:ext cx="9427464" cy="1152144"/>
          </a:xfrm>
          <a:prstGeom prst="rect">
            <a:avLst/>
          </a:prstGeom>
          <a:noFill/>
        </p:spPr>
        <p:txBody>
          <a:bodyPr wrap="square" anchor="ctr">
            <a:spAutoFit/>
          </a:bodyPr>
          <a:lstStyle/>
          <a:p>
            <a:pPr algn="l">
              <a:spcAft>
                <a:spcPts val="400"/>
              </a:spcAft>
            </a:pPr>
            <a:r>
              <a:rPr sz="1500" b="0">
                <a:solidFill>
                  <a:srgbClr val="161B26"/>
                </a:solidFill>
                <a:latin typeface="Arial"/>
              </a:rPr>
              <a:t>Your experience with PowerPoint, charts or infographics (if any).</a:t>
            </a:r>
          </a:p>
        </p:txBody>
      </p:sp>
      <p:sp>
        <p:nvSpPr>
          <p:cNvPr id="16" name="Rectangle 15"/>
          <p:cNvSpPr/>
          <p:nvPr/>
        </p:nvSpPr>
        <p:spPr>
          <a:xfrm>
            <a:off x="777240" y="4855464"/>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4855464"/>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33272" y="523036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0" name="TextBox 19"/>
          <p:cNvSpPr txBox="1"/>
          <p:nvPr/>
        </p:nvSpPr>
        <p:spPr>
          <a:xfrm>
            <a:off x="1764792" y="4946904"/>
            <a:ext cx="9427464" cy="1152144"/>
          </a:xfrm>
          <a:prstGeom prst="rect">
            <a:avLst/>
          </a:prstGeom>
          <a:noFill/>
        </p:spPr>
        <p:txBody>
          <a:bodyPr wrap="square" anchor="ctr">
            <a:spAutoFit/>
          </a:bodyPr>
          <a:lstStyle/>
          <a:p>
            <a:pPr algn="l">
              <a:spcAft>
                <a:spcPts val="400"/>
              </a:spcAft>
            </a:pPr>
            <a:r>
              <a:rPr sz="1500" b="0">
                <a:solidFill>
                  <a:srgbClr val="161B26"/>
                </a:solidFill>
                <a:latin typeface="Arial"/>
              </a:rPr>
              <a:t>One visual communication habit you want to improve during this course.</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a:t>
            </a:r>
          </a:p>
        </p:txBody>
      </p:sp>
    </p:spTree>
  </p:cSld>
  <p:clrMapOvr>
    <a:masterClrMapping/>
  </p:clrMapOvr>
  <p:transition spd="fast" advClick="1">
    <p:fade/>
  </p:transition>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HOUSEKEEPING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Ground Rules</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0" name="TextBox 9"/>
          <p:cNvSpPr txBox="1"/>
          <p:nvPr/>
        </p:nvSpPr>
        <p:spPr>
          <a:xfrm>
            <a:off x="1764792" y="1874520"/>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Set your mobile phone to silent mode.</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5" name="TextBox 14"/>
          <p:cNvSpPr txBox="1"/>
          <p:nvPr/>
        </p:nvSpPr>
        <p:spPr>
          <a:xfrm>
            <a:off x="7219188" y="1874520"/>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Actively participate — no question is too small.</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0" name="TextBox 19"/>
          <p:cNvSpPr txBox="1"/>
          <p:nvPr/>
        </p:nvSpPr>
        <p:spPr>
          <a:xfrm>
            <a:off x="1764792" y="3410712"/>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Respect each other's views: agree to disagree.</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5" name="TextBox 24"/>
          <p:cNvSpPr txBox="1"/>
          <p:nvPr/>
        </p:nvSpPr>
        <p:spPr>
          <a:xfrm>
            <a:off x="7219188" y="3410712"/>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One conversation at a time.</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0" name="TextBox 29"/>
          <p:cNvSpPr txBox="1"/>
          <p:nvPr/>
        </p:nvSpPr>
        <p:spPr>
          <a:xfrm>
            <a:off x="1764792" y="4946904"/>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Be punctual; return from breaks on time.</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5" name="TextBox 34"/>
          <p:cNvSpPr txBox="1"/>
          <p:nvPr/>
        </p:nvSpPr>
        <p:spPr>
          <a:xfrm>
            <a:off x="7219188" y="4946904"/>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75% attendance is required for funding eligibility.</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a:t>
            </a:r>
          </a:p>
        </p:txBody>
      </p:sp>
    </p:spTree>
  </p:cSld>
  <p:clrMapOvr>
    <a:masterClrMapping/>
  </p:clrMapOvr>
  <p:transition spd="fast" advClick="1">
    <p:fade/>
  </p:transition>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COURSE ACCREDITATION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Skills Framework</a:t>
            </a:r>
          </a:p>
        </p:txBody>
      </p:sp>
      <p:sp>
        <p:nvSpPr>
          <p:cNvPr id="6" name="Rectangle 5"/>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0" name="TextBox 9"/>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TSC Title</a:t>
            </a:r>
          </a:p>
          <a:p>
            <a:pPr algn="l">
              <a:spcAft>
                <a:spcPts val="300"/>
              </a:spcAft>
            </a:pPr>
            <a:r>
              <a:rPr sz="1300" b="0">
                <a:solidFill>
                  <a:srgbClr val="5B6372"/>
                </a:solidFill>
                <a:latin typeface="Arial"/>
              </a:rPr>
              <a:t>Infographics and Data Visualisation</a:t>
            </a:r>
          </a:p>
        </p:txBody>
      </p:sp>
      <p:sp>
        <p:nvSpPr>
          <p:cNvPr id="11" name="Rectangle 10"/>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5" name="TextBox 14"/>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TSC Code</a:t>
            </a:r>
          </a:p>
          <a:p>
            <a:pPr algn="l">
              <a:spcAft>
                <a:spcPts val="300"/>
              </a:spcAft>
            </a:pPr>
            <a:r>
              <a:rPr sz="1300" b="0">
                <a:solidFill>
                  <a:srgbClr val="5B6372"/>
                </a:solidFill>
                <a:latin typeface="Arial"/>
              </a:rPr>
              <a:t>TOU-DAT-4004-1.1-1</a:t>
            </a:r>
          </a:p>
        </p:txBody>
      </p:sp>
      <p:sp>
        <p:nvSpPr>
          <p:cNvPr id="16" name="Rectangle 15"/>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0" name="TextBox 19"/>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Proficiency Level</a:t>
            </a:r>
          </a:p>
          <a:p>
            <a:pPr algn="l">
              <a:spcAft>
                <a:spcPts val="300"/>
              </a:spcAft>
            </a:pPr>
            <a:r>
              <a:rPr sz="1300" b="0">
                <a:solidFill>
                  <a:srgbClr val="5B6372"/>
                </a:solidFill>
                <a:latin typeface="Arial"/>
              </a:rPr>
              <a:t>Skills Framework for Tourism</a:t>
            </a:r>
          </a:p>
        </p:txBody>
      </p:sp>
      <p:sp>
        <p:nvSpPr>
          <p:cNvPr id="21" name="Rectangle 20"/>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5" name="TextBox 24"/>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Structure</a:t>
            </a:r>
          </a:p>
          <a:p>
            <a:pPr algn="l">
              <a:spcAft>
                <a:spcPts val="300"/>
              </a:spcAft>
            </a:pPr>
            <a:r>
              <a:rPr sz="1300" b="0">
                <a:solidFill>
                  <a:srgbClr val="5B6372"/>
                </a:solidFill>
                <a:latin typeface="Arial"/>
              </a:rPr>
              <a:t>3 Learning Units aligned to the 3 approved Learning Outcomes.</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a:t>
            </a:r>
          </a:p>
        </p:txBody>
      </p:sp>
    </p:spTree>
  </p:cSld>
  <p:clrMapOvr>
    <a:masterClrMapping/>
  </p:clrMapOvr>
  <p:transition spd="fast" advClick="1">
    <p:fade/>
  </p:transition>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3 TOPICS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Course Outline</a:t>
            </a:r>
          </a:p>
        </p:txBody>
      </p:sp>
      <p:sp>
        <p:nvSpPr>
          <p:cNvPr id="6" name="Rectangle 5"/>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0" name="TextBox 9"/>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LU1 — AI-Assisted Infographic Planning and Data Insights</a:t>
            </a:r>
          </a:p>
          <a:p>
            <a:pPr algn="l">
              <a:spcAft>
                <a:spcPts val="300"/>
              </a:spcAft>
            </a:pPr>
            <a:r>
              <a:rPr sz="1200" b="0">
                <a:solidFill>
                  <a:srgbClr val="5B6372"/>
                </a:solidFill>
                <a:latin typeface="Arial"/>
              </a:rPr>
              <a:t>Purpose · Types · Audience · Metrics · Planning · Insight extraction</a:t>
            </a:r>
          </a:p>
        </p:txBody>
      </p:sp>
      <p:sp>
        <p:nvSpPr>
          <p:cNvPr id="11" name="Rectangle 10"/>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5" name="TextBox 14"/>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LU2 — Creating PowerPoint Infographics with AI</a:t>
            </a:r>
          </a:p>
          <a:p>
            <a:pPr algn="l">
              <a:spcAft>
                <a:spcPts val="300"/>
              </a:spcAft>
            </a:pPr>
            <a:r>
              <a:rPr sz="1200" b="0">
                <a:solidFill>
                  <a:srgbClr val="5B6372"/>
                </a:solidFill>
                <a:latin typeface="Arial"/>
              </a:rPr>
              <a:t>Slide size · Grid · Shapes · Icons · Type · Colour · SmartArt · Charts · AI</a:t>
            </a:r>
          </a:p>
        </p:txBody>
      </p:sp>
      <p:sp>
        <p:nvSpPr>
          <p:cNvPr id="16" name="Rectangle 15"/>
          <p:cNvSpPr/>
          <p:nvPr/>
        </p:nvSpPr>
        <p:spPr>
          <a:xfrm>
            <a:off x="3504438"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504438"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760470"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760470"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0" name="TextBox 19"/>
          <p:cNvSpPr txBox="1"/>
          <p:nvPr/>
        </p:nvSpPr>
        <p:spPr>
          <a:xfrm>
            <a:off x="4491990"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LU3 — Evaluating and Presenting Infographics for Business Impact</a:t>
            </a:r>
          </a:p>
          <a:p>
            <a:pPr algn="l">
              <a:spcAft>
                <a:spcPts val="300"/>
              </a:spcAft>
            </a:pPr>
            <a:r>
              <a:rPr sz="1200" b="0">
                <a:solidFill>
                  <a:srgbClr val="5B6372"/>
                </a:solidFill>
                <a:latin typeface="Arial"/>
              </a:rPr>
              <a:t>Story · Context · Simplicity · Coaching · Budget · Effectiveness · Improvement</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a:t>
            </a:r>
          </a:p>
        </p:txBody>
      </p:sp>
    </p:spTree>
  </p:cSld>
  <p:clrMapOvr>
    <a:masterClrMapping/>
  </p:clrMapOvr>
  <p:transition spd="fast" advClick="1">
    <p:fade/>
  </p:transition>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SCHEDULE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Lesson Plan — 1 Day</a:t>
            </a:r>
          </a:p>
        </p:txBody>
      </p:sp>
      <p:sp>
        <p:nvSpPr>
          <p:cNvPr id="6" name="Rectangle 5"/>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Morning</a:t>
            </a:r>
          </a:p>
        </p:txBody>
      </p:sp>
      <p:sp>
        <p:nvSpPr>
          <p:cNvPr id="9" name="TextBox 8"/>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Afternoon &amp; Assessment</a:t>
            </a:r>
          </a:p>
        </p:txBody>
      </p:sp>
      <p:sp>
        <p:nvSpPr>
          <p:cNvPr id="10" name="TextBox 9"/>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Morning — Plan and interpret</a:t>
            </a:r>
          </a:p>
          <a:p>
            <a:pPr>
              <a:spcAft>
                <a:spcPts val="1000"/>
              </a:spcAft>
            </a:pPr>
            <a:r>
              <a:rPr sz="1400" b="0">
                <a:solidFill>
                  <a:srgbClr val="5B6372"/>
                </a:solidFill>
                <a:latin typeface="Arial"/>
              </a:rPr>
              <a:t>–  9:30am admin, outcomes and assessment briefing</a:t>
            </a:r>
          </a:p>
          <a:p>
            <a:pPr>
              <a:spcAft>
                <a:spcPts val="1000"/>
              </a:spcAft>
            </a:pPr>
            <a:r>
              <a:rPr sz="1400" b="0">
                <a:solidFill>
                  <a:srgbClr val="5B6372"/>
                </a:solidFill>
                <a:latin typeface="Arial"/>
              </a:rPr>
              <a:t>–  LU1: statistical infographic interpretation and comparison prompt briefing (Activities 1–2)</a:t>
            </a:r>
          </a:p>
          <a:p>
            <a:pPr>
              <a:spcAft>
                <a:spcPts val="1000"/>
              </a:spcAft>
            </a:pPr>
            <a:r>
              <a:rPr sz="1400" b="0">
                <a:solidFill>
                  <a:srgbClr val="5B6372"/>
                </a:solidFill>
                <a:latin typeface="Arial"/>
              </a:rPr>
              <a:t>–  LU2 begins: Microsoft 365 Copilot infographic creation and PowerPoint refinement</a:t>
            </a:r>
          </a:p>
        </p:txBody>
      </p:sp>
      <p:sp>
        <p:nvSpPr>
          <p:cNvPr id="11" name="TextBox 10"/>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161B26"/>
                </a:solidFill>
                <a:latin typeface="Arial"/>
              </a:rPr>
              <a:t>•  Afternoon — Create, review and assess</a:t>
            </a:r>
          </a:p>
          <a:p>
            <a:pPr>
              <a:spcAft>
                <a:spcPts val="1000"/>
              </a:spcAft>
            </a:pPr>
            <a:r>
              <a:rPr sz="1400" b="0">
                <a:solidFill>
                  <a:srgbClr val="5B6372"/>
                </a:solidFill>
                <a:latin typeface="Arial"/>
              </a:rPr>
              <a:t>–  LU2: Copilot timeline, process, comparison and hierarchy infographics with PowerPoint refinement (Activities 3–6)</a:t>
            </a:r>
          </a:p>
          <a:p>
            <a:pPr>
              <a:spcAft>
                <a:spcPts val="1000"/>
              </a:spcAft>
            </a:pPr>
            <a:r>
              <a:rPr sz="1400" b="0">
                <a:solidFill>
                  <a:srgbClr val="5B6372"/>
                </a:solidFill>
                <a:latin typeface="Arial"/>
              </a:rPr>
              <a:t>–  LU3: stakeholder mind map, peer coaching and resource scorecard (Activities 7–8)</a:t>
            </a:r>
          </a:p>
          <a:p>
            <a:pPr>
              <a:spcAft>
                <a:spcPts val="1000"/>
              </a:spcAft>
            </a:pPr>
            <a:r>
              <a:rPr sz="1400" b="0">
                <a:solidFill>
                  <a:srgbClr val="5B6372"/>
                </a:solidFill>
                <a:latin typeface="Arial"/>
              </a:rPr>
              <a:t>–  Assessment: WA-SAQ 30 min + PP 30 min, 5:30–6:30pm</a:t>
            </a:r>
          </a:p>
          <a:p>
            <a:pPr>
              <a:spcAft>
                <a:spcPts val="1000"/>
              </a:spcAft>
            </a:pPr>
            <a:r>
              <a:rPr sz="1600" b="0">
                <a:solidFill>
                  <a:srgbClr val="161B26"/>
                </a:solidFill>
                <a:latin typeface="Arial"/>
              </a:rPr>
              <a:t>•  Timing</a:t>
            </a:r>
          </a:p>
          <a:p>
            <a:pPr>
              <a:spcAft>
                <a:spcPts val="1000"/>
              </a:spcAft>
            </a:pPr>
            <a:r>
              <a:rPr sz="1400" b="0">
                <a:solidFill>
                  <a:srgbClr val="5B6372"/>
                </a:solidFill>
                <a:latin typeface="Arial"/>
              </a:rPr>
              <a:t>–  9:30am–6:30pm · 60-minute lunch · 10-minute breaks</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a:t>
            </a:r>
          </a:p>
        </p:txBody>
      </p:sp>
    </p:spTree>
  </p:cSld>
  <p:clrMapOvr>
    <a:masterClrMapping/>
  </p:clrMapOvr>
  <p:transition spd="fast" advClick="1">
    <p:fade/>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350"/>
                                        <p:tgtEl>
                                          <p:spTgt spid="10"/>
                                        </p:tgtEl>
                                      </p:cBhvr>
                                    </p:animEffect>
                                    <p:anim calcmode="lin" valueType="num">
                                      <p:cBhvr additive="base">
                                        <p:cTn id="15" dur="350" fill="hold"/>
                                        <p:tgtEl>
                                          <p:spTgt spid="10"/>
                                        </p:tgtEl>
                                        <p:attrNameLst>
                                          <p:attrName>ppt_y</p:attrName>
                                        </p:attrNameLst>
                                      </p:cBhvr>
                                      <p:tavLst>
                                        <p:tav tm="0">
                                          <p:val>
                                            <p:strVal val="#ppt_y+0.0350"/>
                                          </p:val>
                                        </p:tav>
                                        <p:tav tm="100000">
                                          <p:val>
                                            <p:strVal val="#ppt_y"/>
                                          </p:val>
                                        </p:tav>
                                      </p:tavLst>
                                    </p:anim>
                                  </p:childTnLst>
                                </p:cTn>
                              </p:par>
                            </p:childTnLst>
                          </p:cTn>
                        </p:par>
                      </p:childTnLst>
                    </p:cTn>
                  </p:par>
                  <p:par>
                    <p:cTn id="20" fill="hold">
                      <p:stCondLst>
                        <p:cond delay="0"/>
                      </p:stCondLst>
                      <p:childTnLst>
                        <p:par>
                          <p:cTn id="21" fill="hold">
                            <p:stCondLst>
                              <p:cond delay="0"/>
                            </p:stCondLst>
                            <p:childTnLst>
                              <p:par>
                                <p:cTn id="22" presetID="10" presetClass="entr" presetSubtype="0" fill="hold" grpId="0" nodeType="afterEffect">
                                  <p:stCondLst>
                                    <p:cond delay="0"/>
                                  </p:stCondLst>
                                  <p:childTnLst>
                                    <p:set>
                                      <p:cBhvr>
                                        <p:cTn id="23" dur="1" fill="hold">
                                          <p:stCondLst>
                                            <p:cond delay="0"/>
                                          </p:stCondLst>
                                        </p:cTn>
                                        <p:tgtEl>
                                          <p:spTgt spid="11"/>
                                        </p:tgtEl>
                                        <p:attrNameLst>
                                          <p:attrName>style.visibility</p:attrName>
                                        </p:attrNameLst>
                                      </p:cBhvr>
                                      <p:to>
                                        <p:strVal val="visible"/>
                                      </p:to>
                                    </p:set>
                                    <p:animEffect transition="in" filter="fade">
                                      <p:cBhvr>
                                        <p:cTn id="24" dur="350"/>
                                        <p:tgtEl>
                                          <p:spTgt spid="11"/>
                                        </p:tgtEl>
                                      </p:cBhvr>
                                    </p:animEffect>
                                    <p:anim calcmode="lin" valueType="num">
                                      <p:cBhvr additive="base">
                                        <p:cTn id="25" dur="350" fill="hold"/>
                                        <p:tgtEl>
                                          <p:spTgt spid="11"/>
                                        </p:tgtEl>
                                        <p:attrNameLst>
                                          <p:attrName>ppt_y</p:attrName>
                                        </p:attrNameLst>
                                      </p:cBhvr>
                                      <p:tavLst>
                                        <p:tav tm="0">
                                          <p:val>
                                            <p:strVal val="#ppt_y+0.0350"/>
                                          </p:val>
                                        </p:tav>
                                        <p:tav tm="100000">
                                          <p:val>
                                            <p:strVal val="#ppt_y"/>
                                          </p:val>
                                        </p:tav>
                                      </p:tavLst>
                                    </p:anim>
                                  </p:childTnLst>
                                </p:cTn>
                              </p:par>
                            </p:childTnLst>
                          </p:cTn>
                        </p:par>
                      </p:childTnLst>
                    </p:cTn>
                  </p:par>
                </p:childTnLst>
                <p:prevCondLst>
                  <p:cond evt="onPrev" delay="0">
                    <p:tgtEl>
                      <p:sldTgt/>
                    </p:tgtEl>
                  </p:cond>
                </p:prevCondLst>
                <p:nextCondLst>
                  <p:cond evt="onNext" delay="0">
                    <p:tgtEl>
                      <p:sldTgt/>
                    </p:tgtEl>
                  </p:cond>
                </p:nextCondLst>
              </p:cTn>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YOU'LL ACHIEVE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Learning Outcomes</a:t>
            </a:r>
          </a:p>
        </p:txBody>
      </p:sp>
      <p:sp>
        <p:nvSpPr>
          <p:cNvPr id="6" name="Rectangle 5"/>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0" name="TextBox 9"/>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LO1</a:t>
            </a:r>
          </a:p>
          <a:p>
            <a:pPr algn="l">
              <a:spcAft>
                <a:spcPts val="300"/>
              </a:spcAft>
            </a:pPr>
            <a:r>
              <a:rPr sz="1300" b="0">
                <a:solidFill>
                  <a:srgbClr val="5B6372"/>
                </a:solidFill>
                <a:latin typeface="Arial"/>
              </a:rPr>
              <a:t>Draw insights from infographics to make data-driven decisions.</a:t>
            </a:r>
          </a:p>
        </p:txBody>
      </p:sp>
      <p:sp>
        <p:nvSpPr>
          <p:cNvPr id="11" name="Rectangle 10"/>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5" name="TextBox 14"/>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LO2</a:t>
            </a:r>
          </a:p>
          <a:p>
            <a:pPr algn="l">
              <a:spcAft>
                <a:spcPts val="300"/>
              </a:spcAft>
            </a:pPr>
            <a:r>
              <a:rPr sz="1300" b="0">
                <a:solidFill>
                  <a:srgbClr val="5B6372"/>
                </a:solidFill>
                <a:latin typeface="Arial"/>
              </a:rPr>
              <a:t>Leverage PowerPoint infographics for articulating data insights to stakeholders.</a:t>
            </a:r>
          </a:p>
        </p:txBody>
      </p:sp>
      <p:sp>
        <p:nvSpPr>
          <p:cNvPr id="16" name="Rectangle 15"/>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0" name="TextBox 19"/>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LO3</a:t>
            </a:r>
          </a:p>
          <a:p>
            <a:pPr algn="l">
              <a:spcAft>
                <a:spcPts val="300"/>
              </a:spcAft>
            </a:pPr>
            <a:r>
              <a:rPr sz="1300" b="0">
                <a:solidFill>
                  <a:srgbClr val="5B6372"/>
                </a:solidFill>
                <a:latin typeface="Arial"/>
              </a:rPr>
              <a:t>Assess the effectiveness of PowerPoint infographics based on allocated resources in accordance with business goals.</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a:t>
            </a:r>
          </a:p>
        </p:txBody>
      </p:sp>
    </p:spTree>
  </p:cSld>
  <p:clrMapOvr>
    <a:masterClrMapping/>
  </p:clrMapOvr>
  <p:transition spd="fast" advClick="1">
    <p:fade/>
  </p:transition>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Briefing for Assessment</a:t>
            </a:r>
          </a:p>
        </p:txBody>
      </p:sp>
      <p:sp>
        <p:nvSpPr>
          <p:cNvPr id="5" name="Rectangle 4"/>
          <p:cNvSpPr/>
          <p:nvPr/>
        </p:nvSpPr>
        <p:spPr>
          <a:xfrm>
            <a:off x="777240" y="1783080"/>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77240" y="1783080"/>
            <a:ext cx="9144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033272" y="1773936"/>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33272" y="177393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9" name="TextBox 8"/>
          <p:cNvSpPr txBox="1"/>
          <p:nvPr/>
        </p:nvSpPr>
        <p:spPr>
          <a:xfrm>
            <a:off x="1764792" y="1874520"/>
            <a:ext cx="9427464" cy="384048"/>
          </a:xfrm>
          <a:prstGeom prst="rect">
            <a:avLst/>
          </a:prstGeom>
          <a:noFill/>
        </p:spPr>
        <p:txBody>
          <a:bodyPr wrap="square" anchor="ctr">
            <a:spAutoFit/>
          </a:bodyPr>
          <a:lstStyle/>
          <a:p>
            <a:pPr algn="l">
              <a:spcAft>
                <a:spcPts val="400"/>
              </a:spcAft>
            </a:pPr>
            <a:r>
              <a:rPr sz="1500" b="0">
                <a:solidFill>
                  <a:srgbClr val="161B26"/>
                </a:solidFill>
                <a:latin typeface="Arial"/>
              </a:rPr>
              <a:t>Place phones and other materials under the table or on the floor.</a:t>
            </a:r>
          </a:p>
        </p:txBody>
      </p:sp>
      <p:sp>
        <p:nvSpPr>
          <p:cNvPr id="10" name="Rectangle 9"/>
          <p:cNvSpPr/>
          <p:nvPr/>
        </p:nvSpPr>
        <p:spPr>
          <a:xfrm>
            <a:off x="777240" y="2551176"/>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551176"/>
            <a:ext cx="91440" cy="5303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4" name="TextBox 13"/>
          <p:cNvSpPr txBox="1"/>
          <p:nvPr/>
        </p:nvSpPr>
        <p:spPr>
          <a:xfrm>
            <a:off x="1764792" y="2642616"/>
            <a:ext cx="9427464" cy="384048"/>
          </a:xfrm>
          <a:prstGeom prst="rect">
            <a:avLst/>
          </a:prstGeom>
          <a:noFill/>
        </p:spPr>
        <p:txBody>
          <a:bodyPr wrap="square" anchor="ctr">
            <a:spAutoFit/>
          </a:bodyPr>
          <a:lstStyle/>
          <a:p>
            <a:pPr algn="l">
              <a:spcAft>
                <a:spcPts val="400"/>
              </a:spcAft>
            </a:pPr>
            <a:r>
              <a:rPr sz="1500" b="0">
                <a:solidFill>
                  <a:srgbClr val="161B26"/>
                </a:solidFill>
                <a:latin typeface="Arial"/>
              </a:rPr>
              <a:t>No photos or recording of assessment scripts.</a:t>
            </a:r>
          </a:p>
        </p:txBody>
      </p:sp>
      <p:sp>
        <p:nvSpPr>
          <p:cNvPr id="15" name="Rectangle 14"/>
          <p:cNvSpPr/>
          <p:nvPr/>
        </p:nvSpPr>
        <p:spPr>
          <a:xfrm>
            <a:off x="777240" y="3319272"/>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3319272"/>
            <a:ext cx="91440" cy="53035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033272" y="331012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33272" y="331012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19" name="TextBox 18"/>
          <p:cNvSpPr txBox="1"/>
          <p:nvPr/>
        </p:nvSpPr>
        <p:spPr>
          <a:xfrm>
            <a:off x="1764792" y="3410712"/>
            <a:ext cx="9427464" cy="384048"/>
          </a:xfrm>
          <a:prstGeom prst="rect">
            <a:avLst/>
          </a:prstGeom>
          <a:noFill/>
        </p:spPr>
        <p:txBody>
          <a:bodyPr wrap="square" anchor="ctr">
            <a:spAutoFit/>
          </a:bodyPr>
          <a:lstStyle/>
          <a:p>
            <a:pPr algn="l">
              <a:spcAft>
                <a:spcPts val="400"/>
              </a:spcAft>
            </a:pPr>
            <a:r>
              <a:rPr sz="1500" b="0">
                <a:solidFill>
                  <a:srgbClr val="161B26"/>
                </a:solidFill>
                <a:latin typeface="Arial"/>
              </a:rPr>
              <a:t>No discussion during the assessment.</a:t>
            </a:r>
          </a:p>
        </p:txBody>
      </p:sp>
      <p:sp>
        <p:nvSpPr>
          <p:cNvPr id="20" name="Rectangle 19"/>
          <p:cNvSpPr/>
          <p:nvPr/>
        </p:nvSpPr>
        <p:spPr>
          <a:xfrm>
            <a:off x="777240" y="4087368"/>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4087368"/>
            <a:ext cx="91440" cy="5303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4078224"/>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407822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4" name="TextBox 23"/>
          <p:cNvSpPr txBox="1"/>
          <p:nvPr/>
        </p:nvSpPr>
        <p:spPr>
          <a:xfrm>
            <a:off x="1764792" y="4178808"/>
            <a:ext cx="9427464" cy="384048"/>
          </a:xfrm>
          <a:prstGeom prst="rect">
            <a:avLst/>
          </a:prstGeom>
          <a:noFill/>
        </p:spPr>
        <p:txBody>
          <a:bodyPr wrap="square" anchor="ctr">
            <a:spAutoFit/>
          </a:bodyPr>
          <a:lstStyle/>
          <a:p>
            <a:pPr algn="l">
              <a:spcAft>
                <a:spcPts val="400"/>
              </a:spcAft>
            </a:pPr>
            <a:r>
              <a:rPr sz="1500" b="0">
                <a:solidFill>
                  <a:srgbClr val="161B26"/>
                </a:solidFill>
                <a:latin typeface="Arial"/>
              </a:rPr>
              <a:t>Use a black/blue pen for hard-copy assessments.</a:t>
            </a:r>
          </a:p>
        </p:txBody>
      </p:sp>
      <p:sp>
        <p:nvSpPr>
          <p:cNvPr id="25" name="Rectangle 24"/>
          <p:cNvSpPr/>
          <p:nvPr/>
        </p:nvSpPr>
        <p:spPr>
          <a:xfrm>
            <a:off x="777240" y="4855464"/>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77240" y="4855464"/>
            <a:ext cx="9144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033272" y="484632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29" name="TextBox 28"/>
          <p:cNvSpPr txBox="1"/>
          <p:nvPr/>
        </p:nvSpPr>
        <p:spPr>
          <a:xfrm>
            <a:off x="1764792" y="4946904"/>
            <a:ext cx="9427464" cy="384048"/>
          </a:xfrm>
          <a:prstGeom prst="rect">
            <a:avLst/>
          </a:prstGeom>
          <a:noFill/>
        </p:spPr>
        <p:txBody>
          <a:bodyPr wrap="square" anchor="ctr">
            <a:spAutoFit/>
          </a:bodyPr>
          <a:lstStyle/>
          <a:p>
            <a:pPr algn="l">
              <a:spcAft>
                <a:spcPts val="400"/>
              </a:spcAft>
            </a:pPr>
            <a:r>
              <a:rPr sz="1500" b="0">
                <a:solidFill>
                  <a:srgbClr val="161B26"/>
                </a:solidFill>
                <a:latin typeface="Arial"/>
              </a:rPr>
              <a:t>No liquid paper / correction tape.</a:t>
            </a:r>
          </a:p>
        </p:txBody>
      </p:sp>
      <p:sp>
        <p:nvSpPr>
          <p:cNvPr id="30" name="Rectangle 29"/>
          <p:cNvSpPr/>
          <p:nvPr/>
        </p:nvSpPr>
        <p:spPr>
          <a:xfrm>
            <a:off x="777240" y="5623560"/>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77240" y="5623560"/>
            <a:ext cx="91440" cy="5303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033272" y="5614416"/>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33272" y="561441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4" name="TextBox 33"/>
          <p:cNvSpPr txBox="1"/>
          <p:nvPr/>
        </p:nvSpPr>
        <p:spPr>
          <a:xfrm>
            <a:off x="1764792" y="5715000"/>
            <a:ext cx="9427464" cy="384048"/>
          </a:xfrm>
          <a:prstGeom prst="rect">
            <a:avLst/>
          </a:prstGeom>
          <a:noFill/>
        </p:spPr>
        <p:txBody>
          <a:bodyPr wrap="square" anchor="ctr">
            <a:spAutoFit/>
          </a:bodyPr>
          <a:lstStyle/>
          <a:p>
            <a:pPr algn="l">
              <a:spcAft>
                <a:spcPts val="400"/>
              </a:spcAft>
            </a:pPr>
            <a:r>
              <a:rPr sz="1500" b="0">
                <a:solidFill>
                  <a:srgbClr val="161B26"/>
                </a:solidFill>
                <a:latin typeface="Arial"/>
              </a:rPr>
              <a:t>Scripts are collected when time is up.</a:t>
            </a:r>
          </a:p>
        </p:txBody>
      </p:sp>
      <p:sp>
        <p:nvSpPr>
          <p:cNvPr id="35" name="TextBox 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36" name="TextBox 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a:t>
            </a:r>
          </a:p>
        </p:txBody>
      </p:sp>
    </p:spTree>
  </p:cSld>
  <p:clrMapOvr>
    <a:masterClrMapping/>
  </p:clrMapOvr>
  <p:transition spd="fast" advClick="1">
    <p:wipe dir="l"/>
  </p:transition>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FINAL ASSESSMENT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Assessment</a:t>
            </a:r>
          </a:p>
        </p:txBody>
      </p:sp>
      <p:sp>
        <p:nvSpPr>
          <p:cNvPr id="6" name="Rectangle 5"/>
          <p:cNvSpPr/>
          <p:nvPr/>
        </p:nvSpPr>
        <p:spPr>
          <a:xfrm>
            <a:off x="777240" y="178308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33272" y="185074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2" y="185074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0" name="TextBox 9"/>
          <p:cNvSpPr txBox="1"/>
          <p:nvPr/>
        </p:nvSpPr>
        <p:spPr>
          <a:xfrm>
            <a:off x="1764792" y="1874520"/>
            <a:ext cx="9427464" cy="537667"/>
          </a:xfrm>
          <a:prstGeom prst="rect">
            <a:avLst/>
          </a:prstGeom>
          <a:noFill/>
        </p:spPr>
        <p:txBody>
          <a:bodyPr wrap="square" anchor="ctr">
            <a:spAutoFit/>
          </a:bodyPr>
          <a:lstStyle/>
          <a:p>
            <a:pPr algn="l">
              <a:spcAft>
                <a:spcPts val="400"/>
              </a:spcAft>
            </a:pPr>
            <a:r>
              <a:rPr sz="1300" b="0">
                <a:solidFill>
                  <a:srgbClr val="161B26"/>
                </a:solidFill>
                <a:latin typeface="Arial"/>
              </a:rPr>
              <a:t>Written Assessment (WA-SAQ) — nine open-ended questions, 30 minutes, open book.</a:t>
            </a:r>
          </a:p>
        </p:txBody>
      </p:sp>
      <p:sp>
        <p:nvSpPr>
          <p:cNvPr id="11" name="Rectangle 10"/>
          <p:cNvSpPr/>
          <p:nvPr/>
        </p:nvSpPr>
        <p:spPr>
          <a:xfrm>
            <a:off x="777240" y="270479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704795"/>
            <a:ext cx="91440" cy="68397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33272" y="277246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33272" y="27724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5" name="TextBox 14"/>
          <p:cNvSpPr txBox="1"/>
          <p:nvPr/>
        </p:nvSpPr>
        <p:spPr>
          <a:xfrm>
            <a:off x="1764792" y="2796235"/>
            <a:ext cx="9427464" cy="537667"/>
          </a:xfrm>
          <a:prstGeom prst="rect">
            <a:avLst/>
          </a:prstGeom>
          <a:noFill/>
        </p:spPr>
        <p:txBody>
          <a:bodyPr wrap="square" anchor="ctr">
            <a:spAutoFit/>
          </a:bodyPr>
          <a:lstStyle/>
          <a:p>
            <a:pPr algn="l">
              <a:spcAft>
                <a:spcPts val="400"/>
              </a:spcAft>
            </a:pPr>
            <a:r>
              <a:rPr sz="1300" b="0">
                <a:solidFill>
                  <a:srgbClr val="161B26"/>
                </a:solidFill>
                <a:latin typeface="Arial"/>
              </a:rPr>
              <a:t>Practical Performance (PP) — three progressive tasks, 30 minutes, open book.</a:t>
            </a:r>
          </a:p>
        </p:txBody>
      </p:sp>
      <p:sp>
        <p:nvSpPr>
          <p:cNvPr id="16" name="Rectangle 15"/>
          <p:cNvSpPr/>
          <p:nvPr/>
        </p:nvSpPr>
        <p:spPr>
          <a:xfrm>
            <a:off x="777240" y="362651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3626510"/>
            <a:ext cx="91440" cy="68397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33272" y="3694175"/>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33272" y="369417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0" name="TextBox 19"/>
          <p:cNvSpPr txBox="1"/>
          <p:nvPr/>
        </p:nvSpPr>
        <p:spPr>
          <a:xfrm>
            <a:off x="1764792" y="3717950"/>
            <a:ext cx="9427464" cy="537667"/>
          </a:xfrm>
          <a:prstGeom prst="rect">
            <a:avLst/>
          </a:prstGeom>
          <a:noFill/>
        </p:spPr>
        <p:txBody>
          <a:bodyPr wrap="square" anchor="ctr">
            <a:spAutoFit/>
          </a:bodyPr>
          <a:lstStyle/>
          <a:p>
            <a:pPr algn="l">
              <a:spcAft>
                <a:spcPts val="400"/>
              </a:spcAft>
            </a:pPr>
            <a:r>
              <a:rPr sz="1300" b="0">
                <a:solidFill>
                  <a:srgbClr val="161B26"/>
                </a:solidFill>
                <a:latin typeface="Arial"/>
              </a:rPr>
              <a:t>Format: Open Book — slides, Learner Guide and approved materials only.</a:t>
            </a:r>
          </a:p>
        </p:txBody>
      </p:sp>
      <p:sp>
        <p:nvSpPr>
          <p:cNvPr id="21" name="Rectangle 20"/>
          <p:cNvSpPr/>
          <p:nvPr/>
        </p:nvSpPr>
        <p:spPr>
          <a:xfrm>
            <a:off x="777240" y="454822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4548225"/>
            <a:ext cx="91440" cy="68397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033272" y="461589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33272" y="461589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5" name="TextBox 24"/>
          <p:cNvSpPr txBox="1"/>
          <p:nvPr/>
        </p:nvSpPr>
        <p:spPr>
          <a:xfrm>
            <a:off x="1764792" y="4639665"/>
            <a:ext cx="9427464" cy="537667"/>
          </a:xfrm>
          <a:prstGeom prst="rect">
            <a:avLst/>
          </a:prstGeom>
          <a:noFill/>
        </p:spPr>
        <p:txBody>
          <a:bodyPr wrap="square" anchor="ctr">
            <a:spAutoFit/>
          </a:bodyPr>
          <a:lstStyle/>
          <a:p>
            <a:pPr algn="l">
              <a:spcAft>
                <a:spcPts val="400"/>
              </a:spcAft>
            </a:pPr>
            <a:r>
              <a:rPr sz="1300" b="0">
                <a:solidFill>
                  <a:srgbClr val="161B26"/>
                </a:solidFill>
                <a:latin typeface="Arial"/>
              </a:rPr>
              <a:t>A minimum of 75% attendance is required. Learners must be assessed as Competent and complete the required digital attendance and TRAQOM steps.</a:t>
            </a:r>
          </a:p>
        </p:txBody>
      </p:sp>
      <p:sp>
        <p:nvSpPr>
          <p:cNvPr id="26" name="Rectangle 25"/>
          <p:cNvSpPr/>
          <p:nvPr/>
        </p:nvSpPr>
        <p:spPr>
          <a:xfrm>
            <a:off x="777240" y="546994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77240" y="546994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033272" y="553760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33272" y="553760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0" name="TextBox 29"/>
          <p:cNvSpPr txBox="1"/>
          <p:nvPr/>
        </p:nvSpPr>
        <p:spPr>
          <a:xfrm>
            <a:off x="1764792" y="5561380"/>
            <a:ext cx="9427464" cy="537667"/>
          </a:xfrm>
          <a:prstGeom prst="rect">
            <a:avLst/>
          </a:prstGeom>
          <a:noFill/>
        </p:spPr>
        <p:txBody>
          <a:bodyPr wrap="square" anchor="ctr">
            <a:spAutoFit/>
          </a:bodyPr>
          <a:lstStyle/>
          <a:p>
            <a:pPr algn="l">
              <a:spcAft>
                <a:spcPts val="400"/>
              </a:spcAft>
            </a:pPr>
            <a:r>
              <a:rPr sz="1300" b="0">
                <a:solidFill>
                  <a:srgbClr val="161B26"/>
                </a:solidFill>
                <a:latin typeface="Arial"/>
              </a:rPr>
              <a:t>An appeal process is available if required.</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a:t>
            </a:r>
          </a:p>
        </p:txBody>
      </p:sp>
    </p:spTree>
  </p:cSld>
  <p:clrMapOvr>
    <a:masterClrMapping/>
  </p:clrMapOvr>
  <p:transition spd="fast" advClick="1">
    <p:fade/>
  </p:transition>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ON ASSESSMENT DAY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Assessment Flow</a:t>
            </a:r>
          </a:p>
        </p:txBody>
      </p:sp>
      <p:sp>
        <p:nvSpPr>
          <p:cNvPr id="6" name="Rectangle 5"/>
          <p:cNvSpPr/>
          <p:nvPr/>
        </p:nvSpPr>
        <p:spPr>
          <a:xfrm>
            <a:off x="777240" y="2331720"/>
            <a:ext cx="1907438"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907438"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401775" y="2642616"/>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401775" y="264261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0" name="TextBox 9"/>
          <p:cNvSpPr txBox="1"/>
          <p:nvPr/>
        </p:nvSpPr>
        <p:spPr>
          <a:xfrm>
            <a:off x="923544" y="3657600"/>
            <a:ext cx="1614830" cy="1417320"/>
          </a:xfrm>
          <a:prstGeom prst="rect">
            <a:avLst/>
          </a:prstGeom>
          <a:noFill/>
        </p:spPr>
        <p:txBody>
          <a:bodyPr wrap="square" anchor="t">
            <a:spAutoFit/>
          </a:bodyPr>
          <a:lstStyle/>
          <a:p>
            <a:pPr algn="ctr">
              <a:spcAft>
                <a:spcPts val="400"/>
              </a:spcAft>
            </a:pPr>
            <a:r>
              <a:rPr sz="1300" b="0">
                <a:solidFill>
                  <a:srgbClr val="161B26"/>
                </a:solidFill>
                <a:latin typeface="Arial"/>
              </a:rPr>
              <a:t>TRAQOM survey — scan the QR code on the LMS</a:t>
            </a:r>
          </a:p>
        </p:txBody>
      </p:sp>
      <p:sp>
        <p:nvSpPr>
          <p:cNvPr id="11" name="Chevron 10"/>
          <p:cNvSpPr/>
          <p:nvPr/>
        </p:nvSpPr>
        <p:spPr>
          <a:xfrm>
            <a:off x="2702966" y="3607308"/>
            <a:ext cx="237744" cy="329184"/>
          </a:xfrm>
          <a:prstGeom prst="chevron">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958998" y="2331720"/>
            <a:ext cx="1907438"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958998" y="2331720"/>
            <a:ext cx="1907438"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583533" y="2642616"/>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83533" y="264261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6" name="TextBox 15"/>
          <p:cNvSpPr txBox="1"/>
          <p:nvPr/>
        </p:nvSpPr>
        <p:spPr>
          <a:xfrm>
            <a:off x="3105302" y="3657600"/>
            <a:ext cx="1614830" cy="1417320"/>
          </a:xfrm>
          <a:prstGeom prst="rect">
            <a:avLst/>
          </a:prstGeom>
          <a:noFill/>
        </p:spPr>
        <p:txBody>
          <a:bodyPr wrap="square" anchor="t">
            <a:spAutoFit/>
          </a:bodyPr>
          <a:lstStyle/>
          <a:p>
            <a:pPr algn="ctr">
              <a:spcAft>
                <a:spcPts val="400"/>
              </a:spcAft>
            </a:pPr>
            <a:r>
              <a:rPr sz="1300" b="0">
                <a:solidFill>
                  <a:srgbClr val="161B26"/>
                </a:solidFill>
                <a:latin typeface="Arial"/>
              </a:rPr>
              <a:t>Assessment digital attendance — scan the SSG QR</a:t>
            </a:r>
          </a:p>
        </p:txBody>
      </p:sp>
      <p:sp>
        <p:nvSpPr>
          <p:cNvPr id="17" name="Chevron 16"/>
          <p:cNvSpPr/>
          <p:nvPr/>
        </p:nvSpPr>
        <p:spPr>
          <a:xfrm>
            <a:off x="4884724" y="3607308"/>
            <a:ext cx="237744" cy="329184"/>
          </a:xfrm>
          <a:prstGeom prst="chevron">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40756" y="2331720"/>
            <a:ext cx="1907438"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140756" y="2331720"/>
            <a:ext cx="1907438"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5765291" y="2642616"/>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765291" y="264261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2" name="TextBox 21"/>
          <p:cNvSpPr txBox="1"/>
          <p:nvPr/>
        </p:nvSpPr>
        <p:spPr>
          <a:xfrm>
            <a:off x="5287060" y="3657600"/>
            <a:ext cx="1614830" cy="1417320"/>
          </a:xfrm>
          <a:prstGeom prst="rect">
            <a:avLst/>
          </a:prstGeom>
          <a:noFill/>
        </p:spPr>
        <p:txBody>
          <a:bodyPr wrap="square" anchor="t">
            <a:spAutoFit/>
          </a:bodyPr>
          <a:lstStyle/>
          <a:p>
            <a:pPr algn="ctr">
              <a:spcAft>
                <a:spcPts val="400"/>
              </a:spcAft>
            </a:pPr>
            <a:r>
              <a:rPr sz="1300" b="0">
                <a:solidFill>
                  <a:srgbClr val="161B26"/>
                </a:solidFill>
                <a:latin typeface="Arial"/>
              </a:rPr>
              <a:t>Sit WA-SAQ then Practical Performance — open book</a:t>
            </a:r>
          </a:p>
        </p:txBody>
      </p:sp>
      <p:sp>
        <p:nvSpPr>
          <p:cNvPr id="23" name="Chevron 22"/>
          <p:cNvSpPr/>
          <p:nvPr/>
        </p:nvSpPr>
        <p:spPr>
          <a:xfrm>
            <a:off x="7066482" y="3607308"/>
            <a:ext cx="237744" cy="329184"/>
          </a:xfrm>
          <a:prstGeom prst="chevron">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322514" y="2331720"/>
            <a:ext cx="1907438"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22514" y="2331720"/>
            <a:ext cx="1907438"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7947049" y="2642616"/>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947049" y="264261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28" name="TextBox 27"/>
          <p:cNvSpPr txBox="1"/>
          <p:nvPr/>
        </p:nvSpPr>
        <p:spPr>
          <a:xfrm>
            <a:off x="7468818" y="3657600"/>
            <a:ext cx="1614830" cy="1417320"/>
          </a:xfrm>
          <a:prstGeom prst="rect">
            <a:avLst/>
          </a:prstGeom>
          <a:noFill/>
        </p:spPr>
        <p:txBody>
          <a:bodyPr wrap="square" anchor="t">
            <a:spAutoFit/>
          </a:bodyPr>
          <a:lstStyle/>
          <a:p>
            <a:pPr algn="ctr">
              <a:spcAft>
                <a:spcPts val="400"/>
              </a:spcAft>
            </a:pPr>
            <a:r>
              <a:rPr sz="1300" b="0">
                <a:solidFill>
                  <a:srgbClr val="161B26"/>
                </a:solidFill>
                <a:latin typeface="Arial"/>
              </a:rPr>
              <a:t>Submit your answers on the LMS</a:t>
            </a:r>
          </a:p>
        </p:txBody>
      </p:sp>
      <p:sp>
        <p:nvSpPr>
          <p:cNvPr id="29" name="Chevron 28"/>
          <p:cNvSpPr/>
          <p:nvPr/>
        </p:nvSpPr>
        <p:spPr>
          <a:xfrm>
            <a:off x="9248240" y="3607308"/>
            <a:ext cx="237744" cy="329184"/>
          </a:xfrm>
          <a:prstGeom prst="chevron">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504272" y="2331720"/>
            <a:ext cx="1907438"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9504272" y="2331720"/>
            <a:ext cx="1907438"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0128807" y="2642616"/>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128807" y="264261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4" name="TextBox 33"/>
          <p:cNvSpPr txBox="1"/>
          <p:nvPr/>
        </p:nvSpPr>
        <p:spPr>
          <a:xfrm>
            <a:off x="9650576" y="3657600"/>
            <a:ext cx="1614830" cy="1417320"/>
          </a:xfrm>
          <a:prstGeom prst="rect">
            <a:avLst/>
          </a:prstGeom>
          <a:noFill/>
        </p:spPr>
        <p:txBody>
          <a:bodyPr wrap="square" anchor="t">
            <a:spAutoFit/>
          </a:bodyPr>
          <a:lstStyle/>
          <a:p>
            <a:pPr algn="ctr">
              <a:spcAft>
                <a:spcPts val="400"/>
              </a:spcAft>
            </a:pPr>
            <a:r>
              <a:rPr sz="1300" b="0">
                <a:solidFill>
                  <a:srgbClr val="161B26"/>
                </a:solidFill>
                <a:latin typeface="Arial"/>
              </a:rPr>
              <a:t>Sign the Assessment Summary Record</a:t>
            </a:r>
          </a:p>
        </p:txBody>
      </p:sp>
      <p:sp>
        <p:nvSpPr>
          <p:cNvPr id="35" name="TextBox 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36" name="TextBox 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a:t>
            </a:r>
          </a:p>
        </p:txBody>
      </p:sp>
    </p:spTree>
  </p:cSld>
  <p:clrMapOvr>
    <a:masterClrMapping/>
  </p:clrMapOvr>
  <p:transition spd="fast" advClick="1">
    <p:fade/>
  </p:transition>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COURSE PORTAL</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Courseware &amp; Assessment on the LMS</a:t>
            </a:r>
          </a:p>
        </p:txBody>
      </p:sp>
      <p:sp>
        <p:nvSpPr>
          <p:cNvPr id="6" name="TextBox 5"/>
          <p:cNvSpPr txBox="1"/>
          <p:nvPr/>
        </p:nvSpPr>
        <p:spPr>
          <a:xfrm>
            <a:off x="795528" y="1664208"/>
            <a:ext cx="10607040" cy="365760"/>
          </a:xfrm>
          <a:prstGeom prst="rect">
            <a:avLst/>
          </a:prstGeom>
          <a:noFill/>
        </p:spPr>
        <p:txBody>
          <a:bodyPr wrap="square" anchor="t">
            <a:spAutoFit/>
          </a:bodyPr>
          <a:lstStyle/>
          <a:p>
            <a:pPr algn="l">
              <a:spcAft>
                <a:spcPts val="400"/>
              </a:spcAft>
            </a:pPr>
            <a:r>
              <a:rPr sz="1300" b="0">
                <a:solidFill>
                  <a:srgbClr val="5B6372"/>
                </a:solidFill>
                <a:latin typeface="Arial"/>
              </a:rPr>
              <a:t>Everything for the open-book assessment — slides, Learner Guide and submissions — lives on the LMS.</a:t>
            </a:r>
          </a:p>
        </p:txBody>
      </p:sp>
      <p:sp>
        <p:nvSpPr>
          <p:cNvPr id="7" name="Rectangle 6"/>
          <p:cNvSpPr/>
          <p:nvPr/>
        </p:nvSpPr>
        <p:spPr>
          <a:xfrm>
            <a:off x="777240" y="2148840"/>
            <a:ext cx="3749039" cy="3566160"/>
          </a:xfrm>
          <a:prstGeom prst="rect">
            <a:avLst/>
          </a:prstGeom>
          <a:solidFill>
            <a:srgbClr val="0F2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tertiary-infotech-logo.png"/>
          <p:cNvPicPr>
            <a:picLocks noChangeAspect="1"/>
          </p:cNvPicPr>
          <p:nvPr/>
        </p:nvPicPr>
        <p:blipFill>
          <a:blip r:embed="rId2"/>
          <a:stretch>
            <a:fillRect/>
          </a:stretch>
        </p:blipFill>
        <p:spPr>
          <a:xfrm>
            <a:off x="1143000" y="2468880"/>
            <a:ext cx="502920" cy="502920"/>
          </a:xfrm>
          <a:prstGeom prst="rect">
            <a:avLst/>
          </a:prstGeom>
        </p:spPr>
      </p:pic>
      <p:sp>
        <p:nvSpPr>
          <p:cNvPr id="9" name="TextBox 8"/>
          <p:cNvSpPr txBox="1"/>
          <p:nvPr/>
        </p:nvSpPr>
        <p:spPr>
          <a:xfrm>
            <a:off x="777240" y="3200400"/>
            <a:ext cx="3749039" cy="457200"/>
          </a:xfrm>
          <a:prstGeom prst="rect">
            <a:avLst/>
          </a:prstGeom>
          <a:noFill/>
        </p:spPr>
        <p:txBody>
          <a:bodyPr wrap="square" anchor="t">
            <a:spAutoFit/>
          </a:bodyPr>
          <a:lstStyle/>
          <a:p>
            <a:pPr algn="ctr">
              <a:spcAft>
                <a:spcPts val="400"/>
              </a:spcAft>
            </a:pPr>
            <a:r>
              <a:rPr sz="1800" b="1">
                <a:solidFill>
                  <a:srgbClr val="FFFFFF"/>
                </a:solidFill>
                <a:latin typeface="Arial"/>
              </a:rPr>
              <a:t>Tertiary Infotech Academy</a:t>
            </a:r>
          </a:p>
        </p:txBody>
      </p:sp>
      <p:sp>
        <p:nvSpPr>
          <p:cNvPr id="10" name="TextBox 9"/>
          <p:cNvSpPr txBox="1"/>
          <p:nvPr/>
        </p:nvSpPr>
        <p:spPr>
          <a:xfrm>
            <a:off x="777240" y="3703320"/>
            <a:ext cx="3749039" cy="365760"/>
          </a:xfrm>
          <a:prstGeom prst="rect">
            <a:avLst/>
          </a:prstGeom>
          <a:noFill/>
        </p:spPr>
        <p:txBody>
          <a:bodyPr wrap="square" anchor="t">
            <a:spAutoFit/>
          </a:bodyPr>
          <a:lstStyle/>
          <a:p>
            <a:pPr algn="ctr">
              <a:spcAft>
                <a:spcPts val="400"/>
              </a:spcAft>
            </a:pPr>
            <a:r>
              <a:rPr sz="1200" b="0">
                <a:solidFill>
                  <a:srgbClr val="B8C7E0"/>
                </a:solidFill>
                <a:latin typeface="Arial"/>
              </a:rPr>
              <a:t>LMS and TMS for SSG courses</a:t>
            </a:r>
          </a:p>
        </p:txBody>
      </p:sp>
      <p:sp>
        <p:nvSpPr>
          <p:cNvPr id="11" name="Rectangle 10"/>
          <p:cNvSpPr/>
          <p:nvPr/>
        </p:nvSpPr>
        <p:spPr>
          <a:xfrm>
            <a:off x="1737360" y="4297680"/>
            <a:ext cx="1828800" cy="5029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737360" y="4297680"/>
            <a:ext cx="1828800" cy="502920"/>
          </a:xfrm>
          <a:prstGeom prst="rect">
            <a:avLst/>
          </a:prstGeom>
          <a:noFill/>
        </p:spPr>
        <p:txBody>
          <a:bodyPr wrap="square" anchor="ctr">
            <a:spAutoFit/>
          </a:bodyPr>
          <a:lstStyle/>
          <a:p>
            <a:pPr algn="ctr">
              <a:spcAft>
                <a:spcPts val="400"/>
              </a:spcAft>
            </a:pPr>
            <a:r>
              <a:rPr sz="1400" b="1">
                <a:solidFill>
                  <a:srgbClr val="FFFFFF"/>
                </a:solidFill>
                <a:latin typeface="Arial"/>
              </a:rPr>
              <a:t>Sign in / OTP</a:t>
            </a:r>
          </a:p>
        </p:txBody>
      </p:sp>
      <p:sp>
        <p:nvSpPr>
          <p:cNvPr id="13" name="TextBox 12"/>
          <p:cNvSpPr txBox="1"/>
          <p:nvPr/>
        </p:nvSpPr>
        <p:spPr>
          <a:xfrm>
            <a:off x="777240" y="5029200"/>
            <a:ext cx="3749039" cy="365760"/>
          </a:xfrm>
          <a:prstGeom prst="rect">
            <a:avLst/>
          </a:prstGeom>
          <a:noFill/>
        </p:spPr>
        <p:txBody>
          <a:bodyPr wrap="square" anchor="t">
            <a:spAutoFit/>
          </a:bodyPr>
          <a:lstStyle/>
          <a:p>
            <a:pPr algn="ctr">
              <a:spcAft>
                <a:spcPts val="400"/>
              </a:spcAft>
            </a:pPr>
            <a:r>
              <a:rPr sz="1200" b="1">
                <a:solidFill>
                  <a:srgbClr val="9CDCFE"/>
                </a:solidFill>
                <a:latin typeface="Arial"/>
              </a:rPr>
              <a:t>lms-tms.tertiaryinfotech.com</a:t>
            </a:r>
          </a:p>
        </p:txBody>
      </p:sp>
      <p:sp>
        <p:nvSpPr>
          <p:cNvPr id="14" name="Rectangle 13"/>
          <p:cNvSpPr/>
          <p:nvPr/>
        </p:nvSpPr>
        <p:spPr>
          <a:xfrm>
            <a:off x="4800600" y="2148840"/>
            <a:ext cx="6611112" cy="7406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800600" y="2148840"/>
            <a:ext cx="91440" cy="74066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029200" y="2290572"/>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29200" y="2290572"/>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8" name="TextBox 17"/>
          <p:cNvSpPr txBox="1"/>
          <p:nvPr/>
        </p:nvSpPr>
        <p:spPr>
          <a:xfrm>
            <a:off x="5669280" y="2148840"/>
            <a:ext cx="5559552" cy="740664"/>
          </a:xfrm>
          <a:prstGeom prst="rect">
            <a:avLst/>
          </a:prstGeom>
          <a:noFill/>
        </p:spPr>
        <p:txBody>
          <a:bodyPr wrap="square" anchor="ctr">
            <a:spAutoFit/>
          </a:bodyPr>
          <a:lstStyle/>
          <a:p>
            <a:pPr algn="l">
              <a:spcAft>
                <a:spcPts val="200"/>
              </a:spcAft>
            </a:pPr>
            <a:r>
              <a:rPr sz="1400" b="1">
                <a:solidFill>
                  <a:srgbClr val="161B26"/>
                </a:solidFill>
                <a:latin typeface="Arial"/>
              </a:rPr>
              <a:t>Sign in</a:t>
            </a:r>
          </a:p>
          <a:p>
            <a:pPr algn="l">
              <a:spcAft>
                <a:spcPts val="200"/>
              </a:spcAft>
            </a:pPr>
            <a:r>
              <a:rPr sz="1100" b="0">
                <a:solidFill>
                  <a:srgbClr val="5B6372"/>
                </a:solidFill>
                <a:latin typeface="Arial"/>
              </a:rPr>
              <a:t>Log in with your registered email (OTP or password).</a:t>
            </a:r>
          </a:p>
        </p:txBody>
      </p:sp>
      <p:sp>
        <p:nvSpPr>
          <p:cNvPr id="19" name="Rectangle 18"/>
          <p:cNvSpPr/>
          <p:nvPr/>
        </p:nvSpPr>
        <p:spPr>
          <a:xfrm>
            <a:off x="4800600" y="3090672"/>
            <a:ext cx="6611112" cy="7406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800600" y="3090672"/>
            <a:ext cx="91440" cy="7406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029200" y="3232404"/>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29200" y="3232404"/>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23" name="TextBox 22"/>
          <p:cNvSpPr txBox="1"/>
          <p:nvPr/>
        </p:nvSpPr>
        <p:spPr>
          <a:xfrm>
            <a:off x="5669280" y="3090672"/>
            <a:ext cx="5559552" cy="740664"/>
          </a:xfrm>
          <a:prstGeom prst="rect">
            <a:avLst/>
          </a:prstGeom>
          <a:noFill/>
        </p:spPr>
        <p:txBody>
          <a:bodyPr wrap="square" anchor="ctr">
            <a:spAutoFit/>
          </a:bodyPr>
          <a:lstStyle/>
          <a:p>
            <a:pPr algn="l">
              <a:spcAft>
                <a:spcPts val="200"/>
              </a:spcAft>
            </a:pPr>
            <a:r>
              <a:rPr sz="1400" b="1">
                <a:solidFill>
                  <a:srgbClr val="161B26"/>
                </a:solidFill>
                <a:latin typeface="Arial"/>
              </a:rPr>
              <a:t>Download materials</a:t>
            </a:r>
          </a:p>
          <a:p>
            <a:pPr algn="l">
              <a:spcAft>
                <a:spcPts val="200"/>
              </a:spcAft>
            </a:pPr>
            <a:r>
              <a:rPr sz="1100" b="0">
                <a:solidFill>
                  <a:srgbClr val="5B6372"/>
                </a:solidFill>
                <a:latin typeface="Arial"/>
              </a:rPr>
              <a:t>Slides and the Learner Guide from the course page — your open-book references.</a:t>
            </a:r>
          </a:p>
        </p:txBody>
      </p:sp>
      <p:sp>
        <p:nvSpPr>
          <p:cNvPr id="24" name="Rectangle 23"/>
          <p:cNvSpPr/>
          <p:nvPr/>
        </p:nvSpPr>
        <p:spPr>
          <a:xfrm>
            <a:off x="4800600" y="4032504"/>
            <a:ext cx="6611112" cy="7406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800600" y="4032504"/>
            <a:ext cx="91440" cy="74066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5029200" y="4174236"/>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029200" y="4174236"/>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8" name="TextBox 27"/>
          <p:cNvSpPr txBox="1"/>
          <p:nvPr/>
        </p:nvSpPr>
        <p:spPr>
          <a:xfrm>
            <a:off x="5669280" y="4032504"/>
            <a:ext cx="5559552" cy="740664"/>
          </a:xfrm>
          <a:prstGeom prst="rect">
            <a:avLst/>
          </a:prstGeom>
          <a:noFill/>
        </p:spPr>
        <p:txBody>
          <a:bodyPr wrap="square" anchor="ctr">
            <a:spAutoFit/>
          </a:bodyPr>
          <a:lstStyle/>
          <a:p>
            <a:pPr algn="l">
              <a:spcAft>
                <a:spcPts val="200"/>
              </a:spcAft>
            </a:pPr>
            <a:r>
              <a:rPr sz="1400" b="1">
                <a:solidFill>
                  <a:srgbClr val="161B26"/>
                </a:solidFill>
                <a:latin typeface="Arial"/>
              </a:rPr>
              <a:t>Submit answers</a:t>
            </a:r>
          </a:p>
          <a:p>
            <a:pPr algn="l">
              <a:spcAft>
                <a:spcPts val="200"/>
              </a:spcAft>
            </a:pPr>
            <a:r>
              <a:rPr sz="1100" b="0">
                <a:solidFill>
                  <a:srgbClr val="5B6372"/>
                </a:solidFill>
                <a:latin typeface="Arial"/>
              </a:rPr>
              <a:t>Upload your Written Assessment and Practical Performance answers on the LMS.</a:t>
            </a:r>
          </a:p>
        </p:txBody>
      </p:sp>
      <p:sp>
        <p:nvSpPr>
          <p:cNvPr id="29" name="Rectangle 28"/>
          <p:cNvSpPr/>
          <p:nvPr/>
        </p:nvSpPr>
        <p:spPr>
          <a:xfrm>
            <a:off x="4800600" y="4974336"/>
            <a:ext cx="6611112" cy="7406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800600" y="4974336"/>
            <a:ext cx="91440" cy="7406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5029200" y="5116068"/>
            <a:ext cx="457200" cy="45720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29200" y="5116068"/>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33" name="TextBox 32"/>
          <p:cNvSpPr txBox="1"/>
          <p:nvPr/>
        </p:nvSpPr>
        <p:spPr>
          <a:xfrm>
            <a:off x="5669280" y="4974336"/>
            <a:ext cx="5559552" cy="740664"/>
          </a:xfrm>
          <a:prstGeom prst="rect">
            <a:avLst/>
          </a:prstGeom>
          <a:noFill/>
        </p:spPr>
        <p:txBody>
          <a:bodyPr wrap="square" anchor="ctr">
            <a:spAutoFit/>
          </a:bodyPr>
          <a:lstStyle/>
          <a:p>
            <a:pPr algn="l">
              <a:spcAft>
                <a:spcPts val="200"/>
              </a:spcAft>
            </a:pPr>
            <a:r>
              <a:rPr sz="1400" b="1">
                <a:solidFill>
                  <a:srgbClr val="161B26"/>
                </a:solidFill>
                <a:latin typeface="Arial"/>
              </a:rPr>
              <a:t>TRAQOM survey</a:t>
            </a:r>
          </a:p>
          <a:p>
            <a:pPr algn="l">
              <a:spcAft>
                <a:spcPts val="200"/>
              </a:spcAft>
            </a:pPr>
            <a:r>
              <a:rPr sz="1100" b="0">
                <a:solidFill>
                  <a:srgbClr val="5B6372"/>
                </a:solidFill>
                <a:latin typeface="Arial"/>
              </a:rPr>
              <a:t>Complete the TRAQOM survey via the QR code shown on the LMS.</a:t>
            </a:r>
          </a:p>
        </p:txBody>
      </p:sp>
      <p:sp>
        <p:nvSpPr>
          <p:cNvPr id="34" name="Rectangle 33"/>
          <p:cNvSpPr/>
          <p:nvPr/>
        </p:nvSpPr>
        <p:spPr>
          <a:xfrm>
            <a:off x="777240" y="5870448"/>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777240" y="5870448"/>
            <a:ext cx="914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97280" y="5870448"/>
            <a:ext cx="10058400" cy="457200"/>
          </a:xfrm>
          <a:prstGeom prst="rect">
            <a:avLst/>
          </a:prstGeom>
          <a:noFill/>
        </p:spPr>
        <p:txBody>
          <a:bodyPr wrap="square" anchor="ctr">
            <a:spAutoFit/>
          </a:bodyPr>
          <a:lstStyle/>
          <a:p>
            <a:pPr algn="l">
              <a:spcAft>
                <a:spcPts val="400"/>
              </a:spcAft>
            </a:pPr>
            <a:r>
              <a:rPr sz="1300" b="1">
                <a:solidFill>
                  <a:srgbClr val="161B26"/>
                </a:solidFill>
                <a:latin typeface="Arial"/>
              </a:rPr>
              <a:t>https://lms-tms.tertiaryinfotech.com/</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a:t>
            </a:r>
          </a:p>
        </p:txBody>
      </p:sp>
    </p:spTree>
  </p:cSld>
  <p:clrMapOvr>
    <a:masterClrMapping/>
  </p:clrMapOvr>
  <p:transition spd="fast" advClick="1">
    <p:fade/>
  </p:transition>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LEARNER ACCESS · CREDENTIALS ISSUED PRIVATELY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Microsoft 365 Premium Training Access</a:t>
            </a:r>
          </a:p>
        </p:txBody>
      </p:sp>
      <p:sp>
        <p:nvSpPr>
          <p:cNvPr id="6" name="TextBox 5"/>
          <p:cNvSpPr txBox="1"/>
          <p:nvPr/>
        </p:nvSpPr>
        <p:spPr>
          <a:xfrm>
            <a:off x="795528" y="1664208"/>
            <a:ext cx="10607040" cy="365760"/>
          </a:xfrm>
          <a:prstGeom prst="rect">
            <a:avLst/>
          </a:prstGeom>
          <a:noFill/>
        </p:spPr>
        <p:txBody>
          <a:bodyPr wrap="square" anchor="t">
            <a:spAutoFit/>
          </a:bodyPr>
          <a:lstStyle/>
          <a:p>
            <a:pPr algn="l">
              <a:spcAft>
                <a:spcPts val="400"/>
              </a:spcAft>
            </a:pPr>
            <a:r>
              <a:rPr sz="1300" b="0">
                <a:solidFill>
                  <a:srgbClr val="5B6372"/>
                </a:solidFill>
                <a:latin typeface="Arial"/>
              </a:rPr>
              <a:t>Use only the training account assigned to you by the trainer, then create and save your Copilot infographic.</a:t>
            </a:r>
          </a:p>
        </p:txBody>
      </p:sp>
      <p:sp>
        <p:nvSpPr>
          <p:cNvPr id="7" name="Rectangle 6"/>
          <p:cNvSpPr/>
          <p:nvPr/>
        </p:nvSpPr>
        <p:spPr>
          <a:xfrm>
            <a:off x="777240" y="2148840"/>
            <a:ext cx="5486400" cy="7498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941832" y="2295144"/>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41832" y="2295144"/>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0" name="TextBox 9"/>
          <p:cNvSpPr txBox="1"/>
          <p:nvPr/>
        </p:nvSpPr>
        <p:spPr>
          <a:xfrm>
            <a:off x="1581912" y="2249424"/>
            <a:ext cx="4434840" cy="548640"/>
          </a:xfrm>
          <a:prstGeom prst="rect">
            <a:avLst/>
          </a:prstGeom>
          <a:noFill/>
        </p:spPr>
        <p:txBody>
          <a:bodyPr wrap="square" anchor="ctr">
            <a:spAutoFit/>
          </a:bodyPr>
          <a:lstStyle/>
          <a:p>
            <a:pPr algn="l">
              <a:spcAft>
                <a:spcPts val="200"/>
              </a:spcAft>
            </a:pPr>
            <a:r>
              <a:rPr sz="1100" b="1">
                <a:solidFill>
                  <a:srgbClr val="1F6FEB"/>
                </a:solidFill>
                <a:latin typeface="Arial"/>
              </a:rPr>
              <a:t>GET YOUR ACCOUNT</a:t>
            </a:r>
          </a:p>
          <a:p>
            <a:pPr algn="l">
              <a:spcAft>
                <a:spcPts val="200"/>
              </a:spcAft>
            </a:pPr>
            <a:r>
              <a:rPr sz="1050" b="0">
                <a:solidFill>
                  <a:srgbClr val="161B26"/>
                </a:solidFill>
                <a:latin typeface="Arial"/>
              </a:rPr>
              <a:t>Receive your assigned sign-in details through the trainer's private credential card or channel.</a:t>
            </a:r>
          </a:p>
        </p:txBody>
      </p:sp>
      <p:sp>
        <p:nvSpPr>
          <p:cNvPr id="11" name="Rectangle 10"/>
          <p:cNvSpPr/>
          <p:nvPr/>
        </p:nvSpPr>
        <p:spPr>
          <a:xfrm>
            <a:off x="777240" y="3054096"/>
            <a:ext cx="5486400" cy="7498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41832" y="3200400"/>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41832" y="3200400"/>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4" name="TextBox 13"/>
          <p:cNvSpPr txBox="1"/>
          <p:nvPr/>
        </p:nvSpPr>
        <p:spPr>
          <a:xfrm>
            <a:off x="1581912" y="3154680"/>
            <a:ext cx="4434840" cy="548640"/>
          </a:xfrm>
          <a:prstGeom prst="rect">
            <a:avLst/>
          </a:prstGeom>
          <a:noFill/>
        </p:spPr>
        <p:txBody>
          <a:bodyPr wrap="square" anchor="ctr">
            <a:spAutoFit/>
          </a:bodyPr>
          <a:lstStyle/>
          <a:p>
            <a:pPr algn="l">
              <a:spcAft>
                <a:spcPts val="200"/>
              </a:spcAft>
            </a:pPr>
            <a:r>
              <a:rPr sz="1100" b="1">
                <a:solidFill>
                  <a:srgbClr val="10B981"/>
                </a:solidFill>
                <a:latin typeface="Arial"/>
              </a:rPr>
              <a:t>OPEN THE PORTAL</a:t>
            </a:r>
          </a:p>
          <a:p>
            <a:pPr algn="l">
              <a:spcAft>
                <a:spcPts val="200"/>
              </a:spcAft>
            </a:pPr>
            <a:r>
              <a:rPr sz="1050" b="0">
                <a:solidFill>
                  <a:srgbClr val="161B26"/>
                </a:solidFill>
                <a:latin typeface="Arial"/>
              </a:rPr>
              <a:t>Go to m365.cloud.microsoft and choose Sign in.</a:t>
            </a:r>
          </a:p>
        </p:txBody>
      </p:sp>
      <p:sp>
        <p:nvSpPr>
          <p:cNvPr id="15" name="Rectangle 14"/>
          <p:cNvSpPr/>
          <p:nvPr/>
        </p:nvSpPr>
        <p:spPr>
          <a:xfrm>
            <a:off x="777240" y="3959352"/>
            <a:ext cx="5486400" cy="7498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941832" y="4105656"/>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41832" y="4105656"/>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18" name="TextBox 17"/>
          <p:cNvSpPr txBox="1"/>
          <p:nvPr/>
        </p:nvSpPr>
        <p:spPr>
          <a:xfrm>
            <a:off x="1581912" y="4059936"/>
            <a:ext cx="4434840" cy="548640"/>
          </a:xfrm>
          <a:prstGeom prst="rect">
            <a:avLst/>
          </a:prstGeom>
          <a:noFill/>
        </p:spPr>
        <p:txBody>
          <a:bodyPr wrap="square" anchor="ctr">
            <a:spAutoFit/>
          </a:bodyPr>
          <a:lstStyle/>
          <a:p>
            <a:pPr algn="l">
              <a:spcAft>
                <a:spcPts val="200"/>
              </a:spcAft>
            </a:pPr>
            <a:r>
              <a:rPr sz="1100" b="1">
                <a:solidFill>
                  <a:srgbClr val="7C3AED"/>
                </a:solidFill>
                <a:latin typeface="Arial"/>
              </a:rPr>
              <a:t>USE COPILOT</a:t>
            </a:r>
          </a:p>
          <a:p>
            <a:pPr algn="l">
              <a:spcAft>
                <a:spcPts val="200"/>
              </a:spcAft>
            </a:pPr>
            <a:r>
              <a:rPr sz="1050" b="0">
                <a:solidFill>
                  <a:srgbClr val="161B26"/>
                </a:solidFill>
                <a:latin typeface="Arial"/>
              </a:rPr>
              <a:t>Open Create, select Design an infographic, and enter your activity prompt.</a:t>
            </a:r>
          </a:p>
        </p:txBody>
      </p:sp>
      <p:sp>
        <p:nvSpPr>
          <p:cNvPr id="19" name="Rectangle 18"/>
          <p:cNvSpPr/>
          <p:nvPr/>
        </p:nvSpPr>
        <p:spPr>
          <a:xfrm>
            <a:off x="777240" y="4864608"/>
            <a:ext cx="5486400" cy="7498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941832" y="5010912"/>
            <a:ext cx="457200" cy="45720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41832" y="5010912"/>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2" name="TextBox 21"/>
          <p:cNvSpPr txBox="1"/>
          <p:nvPr/>
        </p:nvSpPr>
        <p:spPr>
          <a:xfrm>
            <a:off x="1581912" y="4965192"/>
            <a:ext cx="4434840" cy="548640"/>
          </a:xfrm>
          <a:prstGeom prst="rect">
            <a:avLst/>
          </a:prstGeom>
          <a:noFill/>
        </p:spPr>
        <p:txBody>
          <a:bodyPr wrap="square" anchor="ctr">
            <a:spAutoFit/>
          </a:bodyPr>
          <a:lstStyle/>
          <a:p>
            <a:pPr algn="l">
              <a:spcAft>
                <a:spcPts val="200"/>
              </a:spcAft>
            </a:pPr>
            <a:r>
              <a:rPr sz="1100" b="1">
                <a:solidFill>
                  <a:srgbClr val="F59E0B"/>
                </a:solidFill>
                <a:latin typeface="Arial"/>
              </a:rPr>
              <a:t>SAVE + SIGN OUT</a:t>
            </a:r>
          </a:p>
          <a:p>
            <a:pPr algn="l">
              <a:spcAft>
                <a:spcPts val="200"/>
              </a:spcAft>
            </a:pPr>
            <a:r>
              <a:rPr sz="1050" b="0">
                <a:solidFill>
                  <a:srgbClr val="161B26"/>
                </a:solidFill>
                <a:latin typeface="Arial"/>
              </a:rPr>
              <a:t>Download your work, verify the file, sign out, and close the browser.</a:t>
            </a:r>
          </a:p>
        </p:txBody>
      </p:sp>
      <p:sp>
        <p:nvSpPr>
          <p:cNvPr id="23" name="Rectangle 22"/>
          <p:cNvSpPr/>
          <p:nvPr/>
        </p:nvSpPr>
        <p:spPr>
          <a:xfrm>
            <a:off x="6537960" y="2148840"/>
            <a:ext cx="4873752" cy="3465576"/>
          </a:xfrm>
          <a:prstGeom prst="rect">
            <a:avLst/>
          </a:prstGeom>
          <a:solidFill>
            <a:srgbClr val="1018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537960" y="2148840"/>
            <a:ext cx="4873752" cy="438912"/>
          </a:xfrm>
          <a:prstGeom prst="rect">
            <a:avLst/>
          </a:prstGeom>
          <a:solidFill>
            <a:srgbClr val="2532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720840" y="2295144"/>
            <a:ext cx="109728" cy="109728"/>
          </a:xfrm>
          <a:prstGeom prst="ellipse">
            <a:avLst/>
          </a:prstGeom>
          <a:solidFill>
            <a:srgbClr val="FF6B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922008" y="2295144"/>
            <a:ext cx="109728" cy="10972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123176" y="2295144"/>
            <a:ext cx="109728" cy="1097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452360" y="2249424"/>
            <a:ext cx="3566160" cy="237744"/>
          </a:xfrm>
          <a:prstGeom prst="rect">
            <a:avLst/>
          </a:prstGeom>
          <a:solidFill>
            <a:srgbClr val="3443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a:hlinkClick r:id="rId2"/>
          </p:cNvPr>
          <p:cNvSpPr txBox="1"/>
          <p:nvPr/>
        </p:nvSpPr>
        <p:spPr>
          <a:xfrm>
            <a:off x="7562088" y="2258568"/>
            <a:ext cx="3291840" cy="201168"/>
          </a:xfrm>
          <a:prstGeom prst="rect">
            <a:avLst/>
          </a:prstGeom>
          <a:noFill/>
        </p:spPr>
        <p:txBody>
          <a:bodyPr wrap="square" anchor="t">
            <a:spAutoFit/>
          </a:bodyPr>
          <a:lstStyle/>
          <a:p>
            <a:pPr algn="l">
              <a:spcAft>
                <a:spcPts val="400"/>
              </a:spcAft>
            </a:pPr>
            <a:r>
              <a:rPr sz="900" b="0">
                <a:solidFill>
                  <a:srgbClr val="D7E3F4"/>
                </a:solidFill>
                <a:latin typeface="Arial"/>
              </a:rPr>
              <a:t>m365.cloud.microsoft  ↗</a:t>
            </a:r>
          </a:p>
        </p:txBody>
      </p:sp>
      <p:sp>
        <p:nvSpPr>
          <p:cNvPr id="30" name="TextBox 29"/>
          <p:cNvSpPr txBox="1"/>
          <p:nvPr/>
        </p:nvSpPr>
        <p:spPr>
          <a:xfrm>
            <a:off x="7040880" y="2880360"/>
            <a:ext cx="3840480" cy="365760"/>
          </a:xfrm>
          <a:prstGeom prst="rect">
            <a:avLst/>
          </a:prstGeom>
          <a:noFill/>
        </p:spPr>
        <p:txBody>
          <a:bodyPr wrap="square" anchor="t">
            <a:spAutoFit/>
          </a:bodyPr>
          <a:lstStyle/>
          <a:p>
            <a:pPr algn="ctr">
              <a:spcAft>
                <a:spcPts val="400"/>
              </a:spcAft>
            </a:pPr>
            <a:r>
              <a:rPr sz="1800" b="1">
                <a:solidFill>
                  <a:srgbClr val="FFFFFF"/>
                </a:solidFill>
                <a:latin typeface="Arial"/>
              </a:rPr>
              <a:t>Microsoft 365 Premium</a:t>
            </a:r>
          </a:p>
        </p:txBody>
      </p:sp>
      <p:sp>
        <p:nvSpPr>
          <p:cNvPr id="31" name="TextBox 30"/>
          <p:cNvSpPr txBox="1"/>
          <p:nvPr/>
        </p:nvSpPr>
        <p:spPr>
          <a:xfrm>
            <a:off x="7040880" y="3337560"/>
            <a:ext cx="3840480" cy="274320"/>
          </a:xfrm>
          <a:prstGeom prst="rect">
            <a:avLst/>
          </a:prstGeom>
          <a:noFill/>
        </p:spPr>
        <p:txBody>
          <a:bodyPr wrap="square" anchor="t">
            <a:spAutoFit/>
          </a:bodyPr>
          <a:lstStyle/>
          <a:p>
            <a:pPr algn="ctr">
              <a:spcAft>
                <a:spcPts val="400"/>
              </a:spcAft>
            </a:pPr>
            <a:r>
              <a:rPr sz="1000" b="1">
                <a:solidFill>
                  <a:srgbClr val="A7BCD8"/>
                </a:solidFill>
                <a:latin typeface="Arial"/>
              </a:rPr>
              <a:t>TRAINING ACCOUNT</a:t>
            </a:r>
          </a:p>
        </p:txBody>
      </p:sp>
      <p:sp>
        <p:nvSpPr>
          <p:cNvPr id="32" name="Rectangle 31"/>
          <p:cNvSpPr/>
          <p:nvPr/>
        </p:nvSpPr>
        <p:spPr>
          <a:xfrm>
            <a:off x="7223760" y="3813048"/>
            <a:ext cx="3502152" cy="457200"/>
          </a:xfrm>
          <a:prstGeom prst="rect">
            <a:avLst/>
          </a:prstGeom>
          <a:solidFill>
            <a:srgbClr val="1E2A42"/>
          </a:solidFill>
          <a:ln w="12700">
            <a:solidFill>
              <a:srgbClr val="4A5E7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406640" y="3931920"/>
            <a:ext cx="3108960" cy="228600"/>
          </a:xfrm>
          <a:prstGeom prst="rect">
            <a:avLst/>
          </a:prstGeom>
          <a:noFill/>
        </p:spPr>
        <p:txBody>
          <a:bodyPr wrap="square" anchor="t">
            <a:spAutoFit/>
          </a:bodyPr>
          <a:lstStyle/>
          <a:p>
            <a:pPr algn="l">
              <a:spcAft>
                <a:spcPts val="400"/>
              </a:spcAft>
            </a:pPr>
            <a:r>
              <a:rPr sz="1100" b="0">
                <a:solidFill>
                  <a:srgbClr val="C8D7EA"/>
                </a:solidFill>
                <a:latin typeface="Arial"/>
              </a:rPr>
              <a:t>Assigned privately by trainer</a:t>
            </a:r>
          </a:p>
        </p:txBody>
      </p:sp>
      <p:sp>
        <p:nvSpPr>
          <p:cNvPr id="34" name="Rectangle 33"/>
          <p:cNvSpPr/>
          <p:nvPr/>
        </p:nvSpPr>
        <p:spPr>
          <a:xfrm>
            <a:off x="7223760" y="4416552"/>
            <a:ext cx="3502152" cy="457200"/>
          </a:xfrm>
          <a:prstGeom prst="rect">
            <a:avLst/>
          </a:prstGeom>
          <a:solidFill>
            <a:srgbClr val="1E2A42"/>
          </a:solidFill>
          <a:ln w="12700">
            <a:solidFill>
              <a:srgbClr val="4A5E7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406640" y="4507992"/>
            <a:ext cx="3108960" cy="237744"/>
          </a:xfrm>
          <a:prstGeom prst="rect">
            <a:avLst/>
          </a:prstGeom>
          <a:noFill/>
        </p:spPr>
        <p:txBody>
          <a:bodyPr wrap="square" anchor="t">
            <a:spAutoFit/>
          </a:bodyPr>
          <a:lstStyle/>
          <a:p>
            <a:pPr algn="l">
              <a:spcAft>
                <a:spcPts val="400"/>
              </a:spcAft>
            </a:pPr>
            <a:r>
              <a:rPr sz="1800" b="0">
                <a:solidFill>
                  <a:srgbClr val="C8D7EA"/>
                </a:solidFill>
                <a:latin typeface="Arial"/>
              </a:rPr>
              <a:t>••••••••••••</a:t>
            </a:r>
          </a:p>
        </p:txBody>
      </p:sp>
      <p:sp>
        <p:nvSpPr>
          <p:cNvPr id="36" name="Rectangle 35"/>
          <p:cNvSpPr/>
          <p:nvPr/>
        </p:nvSpPr>
        <p:spPr>
          <a:xfrm>
            <a:off x="7863840" y="5038344"/>
            <a:ext cx="2240280" cy="40233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863840" y="5038344"/>
            <a:ext cx="2240280" cy="402336"/>
          </a:xfrm>
          <a:prstGeom prst="rect">
            <a:avLst/>
          </a:prstGeom>
          <a:noFill/>
        </p:spPr>
        <p:txBody>
          <a:bodyPr wrap="square" anchor="ctr">
            <a:spAutoFit/>
          </a:bodyPr>
          <a:lstStyle/>
          <a:p>
            <a:pPr algn="ctr">
              <a:spcAft>
                <a:spcPts val="400"/>
              </a:spcAft>
            </a:pPr>
            <a:r>
              <a:rPr sz="1200" b="1">
                <a:solidFill>
                  <a:srgbClr val="FFFFFF"/>
                </a:solidFill>
                <a:latin typeface="Arial"/>
              </a:rPr>
              <a:t>Create → Infographic</a:t>
            </a:r>
          </a:p>
        </p:txBody>
      </p:sp>
      <p:sp>
        <p:nvSpPr>
          <p:cNvPr id="38" name="Rectangle 37"/>
          <p:cNvSpPr/>
          <p:nvPr/>
        </p:nvSpPr>
        <p:spPr>
          <a:xfrm>
            <a:off x="777240" y="5779008"/>
            <a:ext cx="10634472" cy="4754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777240" y="5779008"/>
            <a:ext cx="9144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97280" y="5779008"/>
            <a:ext cx="10058400" cy="475488"/>
          </a:xfrm>
          <a:prstGeom prst="rect">
            <a:avLst/>
          </a:prstGeom>
          <a:noFill/>
        </p:spPr>
        <p:txBody>
          <a:bodyPr wrap="square" anchor="ctr">
            <a:spAutoFit/>
          </a:bodyPr>
          <a:lstStyle/>
          <a:p>
            <a:pPr algn="l">
              <a:spcAft>
                <a:spcPts val="400"/>
              </a:spcAft>
            </a:pPr>
            <a:r>
              <a:rPr sz="1150" b="1">
                <a:solidFill>
                  <a:srgbClr val="161B26"/>
                </a:solidFill>
                <a:latin typeface="Arial"/>
              </a:rPr>
              <a:t>Shared-account rules: approved training data only · never change password, recovery settings or MFA · never share credentials</a:t>
            </a:r>
          </a:p>
        </p:txBody>
      </p:sp>
      <p:sp>
        <p:nvSpPr>
          <p:cNvPr id="41" name="TextBox 4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42" name="TextBox 4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3" name="TextBox 4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a:t>
            </a:r>
          </a:p>
        </p:txBody>
      </p:sp>
    </p:spTree>
  </p:cSld>
  <p:clrMapOvr>
    <a:masterClrMapping/>
  </p:clrMapOvr>
  <p:transition spd="fast" advClick="1">
    <p:fade/>
  </p:transition>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LU1</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AI-Assisted Infographic
Planning and Data Insights</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Purpose · Types · Audience · Metrics · Planning · Insight extraction</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LU1</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a:t>
            </a:r>
          </a:p>
        </p:txBody>
      </p:sp>
    </p:spTree>
  </p:cSld>
  <p:clrMapOvr>
    <a:masterClrMapping/>
  </p:clrMapOvr>
  <p:transition spd="fast" advClick="1">
    <p:push dir="l"/>
  </p:transition>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LU1 · KEY CONCEPTS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100" b="1">
                <a:solidFill>
                  <a:srgbClr val="161B26"/>
                </a:solidFill>
                <a:latin typeface="Arial"/>
              </a:rPr>
              <a:t>Key Concepts — AI-Assisted Infographic Planning and Data Insights</a:t>
            </a:r>
          </a:p>
        </p:txBody>
      </p:sp>
      <p:sp>
        <p:nvSpPr>
          <p:cNvPr id="6" name="Rectangle 5"/>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0" name="TextBox 9"/>
          <p:cNvSpPr txBox="1"/>
          <p:nvPr/>
        </p:nvSpPr>
        <p:spPr>
          <a:xfrm>
            <a:off x="1764792" y="1874520"/>
            <a:ext cx="3973068" cy="1920240"/>
          </a:xfrm>
          <a:prstGeom prst="rect">
            <a:avLst/>
          </a:prstGeom>
          <a:noFill/>
        </p:spPr>
        <p:txBody>
          <a:bodyPr wrap="square" anchor="ctr">
            <a:spAutoFit/>
          </a:bodyPr>
          <a:lstStyle/>
          <a:p>
            <a:pPr algn="l">
              <a:spcAft>
                <a:spcPts val="400"/>
              </a:spcAft>
            </a:pPr>
            <a:r>
              <a:rPr sz="1400" b="0">
                <a:solidFill>
                  <a:srgbClr val="161B26"/>
                </a:solidFill>
                <a:latin typeface="Arial"/>
              </a:rPr>
              <a:t>An infographic combines concise text, data, shapes, colour, charts and icons to reveal information and relationships.</a:t>
            </a:r>
          </a:p>
        </p:txBody>
      </p:sp>
      <p:sp>
        <p:nvSpPr>
          <p:cNvPr id="11" name="Rectangle 10"/>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5" name="TextBox 14"/>
          <p:cNvSpPr txBox="1"/>
          <p:nvPr/>
        </p:nvSpPr>
        <p:spPr>
          <a:xfrm>
            <a:off x="7219188" y="1874520"/>
            <a:ext cx="3973068" cy="1920240"/>
          </a:xfrm>
          <a:prstGeom prst="rect">
            <a:avLst/>
          </a:prstGeom>
          <a:noFill/>
        </p:spPr>
        <p:txBody>
          <a:bodyPr wrap="square" anchor="ctr">
            <a:spAutoFit/>
          </a:bodyPr>
          <a:lstStyle/>
          <a:p>
            <a:pPr algn="l">
              <a:spcAft>
                <a:spcPts val="400"/>
              </a:spcAft>
            </a:pPr>
            <a:r>
              <a:rPr sz="1400" b="0">
                <a:solidFill>
                  <a:srgbClr val="161B26"/>
                </a:solidFill>
                <a:latin typeface="Arial"/>
              </a:rPr>
              <a:t>Chronology, timeline, process, comparison, statistical, mind map, numerical and hierarchical formats answer different questions.</a:t>
            </a:r>
          </a:p>
        </p:txBody>
      </p:sp>
      <p:sp>
        <p:nvSpPr>
          <p:cNvPr id="16" name="Rectangle 15"/>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0" name="TextBox 19"/>
          <p:cNvSpPr txBox="1"/>
          <p:nvPr/>
        </p:nvSpPr>
        <p:spPr>
          <a:xfrm>
            <a:off x="1764792" y="4178808"/>
            <a:ext cx="3973068" cy="1920240"/>
          </a:xfrm>
          <a:prstGeom prst="rect">
            <a:avLst/>
          </a:prstGeom>
          <a:noFill/>
        </p:spPr>
        <p:txBody>
          <a:bodyPr wrap="square" anchor="ctr">
            <a:spAutoFit/>
          </a:bodyPr>
          <a:lstStyle/>
          <a:p>
            <a:pPr algn="l">
              <a:spcAft>
                <a:spcPts val="400"/>
              </a:spcAft>
            </a:pPr>
            <a:r>
              <a:rPr sz="1400" b="0">
                <a:solidFill>
                  <a:srgbClr val="161B26"/>
                </a:solidFill>
                <a:latin typeface="Arial"/>
              </a:rPr>
              <a:t>A Copilot-first workflow gathers approved sources, cleans and analyses data, extracts candidate insights, then routes verified evidence into visual generation.</a:t>
            </a:r>
          </a:p>
        </p:txBody>
      </p:sp>
      <p:sp>
        <p:nvSpPr>
          <p:cNvPr id="21" name="Rectangle 20"/>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5" name="TextBox 24"/>
          <p:cNvSpPr txBox="1"/>
          <p:nvPr/>
        </p:nvSpPr>
        <p:spPr>
          <a:xfrm>
            <a:off x="7219188" y="4178808"/>
            <a:ext cx="3973068" cy="1920240"/>
          </a:xfrm>
          <a:prstGeom prst="rect">
            <a:avLst/>
          </a:prstGeom>
          <a:noFill/>
        </p:spPr>
        <p:txBody>
          <a:bodyPr wrap="square" anchor="ctr">
            <a:spAutoFit/>
          </a:bodyPr>
          <a:lstStyle/>
          <a:p>
            <a:pPr algn="l">
              <a:spcAft>
                <a:spcPts val="400"/>
              </a:spcAft>
            </a:pPr>
            <a:r>
              <a:rPr sz="1400" b="0">
                <a:solidFill>
                  <a:srgbClr val="161B26"/>
                </a:solidFill>
                <a:latin typeface="Arial"/>
              </a:rPr>
              <a:t>Insight extraction distinguishes what the chart shows, what it means, why it matters and what action is justified.</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a:t>
            </a:r>
          </a:p>
        </p:txBody>
      </p:sp>
    </p:spTree>
  </p:cSld>
  <p:clrMapOvr>
    <a:masterClrMapping/>
  </p:clrMapOvr>
  <p:transition spd="fast" advClick="1">
    <p:zoom/>
  </p:transition>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DEFAULT MODERN WORKFLOW</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AI-First Workflow — From Sources to Verified Insights</a:t>
            </a:r>
          </a:p>
        </p:txBody>
      </p:sp>
      <p:sp>
        <p:nvSpPr>
          <p:cNvPr id="6" name="Rectangle 5"/>
          <p:cNvSpPr/>
          <p:nvPr/>
        </p:nvSpPr>
        <p:spPr>
          <a:xfrm>
            <a:off x="777240" y="2240280"/>
            <a:ext cx="245287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240280"/>
            <a:ext cx="2452878"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674495" y="2551176"/>
            <a:ext cx="658368" cy="6583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674495" y="255117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0" name="TextBox 9"/>
          <p:cNvSpPr txBox="1"/>
          <p:nvPr/>
        </p:nvSpPr>
        <p:spPr>
          <a:xfrm>
            <a:off x="905256" y="3337560"/>
            <a:ext cx="2196846" cy="365760"/>
          </a:xfrm>
          <a:prstGeom prst="rect">
            <a:avLst/>
          </a:prstGeom>
          <a:noFill/>
        </p:spPr>
        <p:txBody>
          <a:bodyPr wrap="square" anchor="t">
            <a:spAutoFit/>
          </a:bodyPr>
          <a:lstStyle/>
          <a:p>
            <a:pPr algn="ctr">
              <a:spcAft>
                <a:spcPts val="400"/>
              </a:spcAft>
            </a:pPr>
            <a:r>
              <a:rPr sz="1400" b="1">
                <a:solidFill>
                  <a:srgbClr val="161B26"/>
                </a:solidFill>
                <a:latin typeface="Arial"/>
              </a:rPr>
              <a:t>Collect</a:t>
            </a:r>
          </a:p>
        </p:txBody>
      </p:sp>
      <p:sp>
        <p:nvSpPr>
          <p:cNvPr id="11" name="TextBox 10"/>
          <p:cNvSpPr txBox="1"/>
          <p:nvPr/>
        </p:nvSpPr>
        <p:spPr>
          <a:xfrm>
            <a:off x="905256" y="3721608"/>
            <a:ext cx="2196846" cy="1143000"/>
          </a:xfrm>
          <a:prstGeom prst="rect">
            <a:avLst/>
          </a:prstGeom>
          <a:noFill/>
        </p:spPr>
        <p:txBody>
          <a:bodyPr wrap="square" anchor="t">
            <a:spAutoFit/>
          </a:bodyPr>
          <a:lstStyle/>
          <a:p>
            <a:pPr algn="ctr">
              <a:spcAft>
                <a:spcPts val="400"/>
              </a:spcAft>
            </a:pPr>
            <a:r>
              <a:rPr sz="1250" b="0">
                <a:solidFill>
                  <a:srgbClr val="5B6372"/>
                </a:solidFill>
                <a:latin typeface="Arial"/>
              </a:rPr>
              <a:t>Approved files, URLs, transcripts and datasets; record origin and access date.</a:t>
            </a:r>
          </a:p>
        </p:txBody>
      </p:sp>
      <p:sp>
        <p:nvSpPr>
          <p:cNvPr id="12" name="Chevron 11"/>
          <p:cNvSpPr/>
          <p:nvPr/>
        </p:nvSpPr>
        <p:spPr>
          <a:xfrm>
            <a:off x="3248406" y="3447288"/>
            <a:ext cx="237744" cy="329184"/>
          </a:xfrm>
          <a:prstGeom prst="chevron">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504438" y="2240280"/>
            <a:ext cx="245287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04438" y="2240280"/>
            <a:ext cx="2452878"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401693" y="2551176"/>
            <a:ext cx="658368" cy="6583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01693" y="255117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7" name="TextBox 16"/>
          <p:cNvSpPr txBox="1"/>
          <p:nvPr/>
        </p:nvSpPr>
        <p:spPr>
          <a:xfrm>
            <a:off x="3632454" y="3337560"/>
            <a:ext cx="2196846" cy="365760"/>
          </a:xfrm>
          <a:prstGeom prst="rect">
            <a:avLst/>
          </a:prstGeom>
          <a:noFill/>
        </p:spPr>
        <p:txBody>
          <a:bodyPr wrap="square" anchor="t">
            <a:spAutoFit/>
          </a:bodyPr>
          <a:lstStyle/>
          <a:p>
            <a:pPr algn="ctr">
              <a:spcAft>
                <a:spcPts val="400"/>
              </a:spcAft>
            </a:pPr>
            <a:r>
              <a:rPr sz="1400" b="1">
                <a:solidFill>
                  <a:srgbClr val="161B26"/>
                </a:solidFill>
                <a:latin typeface="Arial"/>
              </a:rPr>
              <a:t>Clean</a:t>
            </a:r>
          </a:p>
        </p:txBody>
      </p:sp>
      <p:sp>
        <p:nvSpPr>
          <p:cNvPr id="18" name="TextBox 17"/>
          <p:cNvSpPr txBox="1"/>
          <p:nvPr/>
        </p:nvSpPr>
        <p:spPr>
          <a:xfrm>
            <a:off x="3632454" y="3721608"/>
            <a:ext cx="2196846" cy="1143000"/>
          </a:xfrm>
          <a:prstGeom prst="rect">
            <a:avLst/>
          </a:prstGeom>
          <a:noFill/>
        </p:spPr>
        <p:txBody>
          <a:bodyPr wrap="square" anchor="t">
            <a:spAutoFit/>
          </a:bodyPr>
          <a:lstStyle/>
          <a:p>
            <a:pPr algn="ctr">
              <a:spcAft>
                <a:spcPts val="400"/>
              </a:spcAft>
            </a:pPr>
            <a:r>
              <a:rPr sz="1250" b="0">
                <a:solidFill>
                  <a:srgbClr val="5B6372"/>
                </a:solidFill>
                <a:latin typeface="Arial"/>
              </a:rPr>
              <a:t>Remove duplicates, standardise units and labels, identify missing values and retain the raw source.</a:t>
            </a:r>
          </a:p>
        </p:txBody>
      </p:sp>
      <p:sp>
        <p:nvSpPr>
          <p:cNvPr id="19" name="Chevron 18"/>
          <p:cNvSpPr/>
          <p:nvPr/>
        </p:nvSpPr>
        <p:spPr>
          <a:xfrm>
            <a:off x="5975604" y="3447288"/>
            <a:ext cx="237744" cy="329184"/>
          </a:xfrm>
          <a:prstGeom prst="chevron">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31636" y="2240280"/>
            <a:ext cx="245287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31636" y="2240280"/>
            <a:ext cx="2452878"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128891" y="2551176"/>
            <a:ext cx="658368" cy="6583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128891" y="255117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4" name="TextBox 23"/>
          <p:cNvSpPr txBox="1"/>
          <p:nvPr/>
        </p:nvSpPr>
        <p:spPr>
          <a:xfrm>
            <a:off x="6359652" y="3337560"/>
            <a:ext cx="2196846" cy="365760"/>
          </a:xfrm>
          <a:prstGeom prst="rect">
            <a:avLst/>
          </a:prstGeom>
          <a:noFill/>
        </p:spPr>
        <p:txBody>
          <a:bodyPr wrap="square" anchor="t">
            <a:spAutoFit/>
          </a:bodyPr>
          <a:lstStyle/>
          <a:p>
            <a:pPr algn="ctr">
              <a:spcAft>
                <a:spcPts val="400"/>
              </a:spcAft>
            </a:pPr>
            <a:r>
              <a:rPr sz="1400" b="1">
                <a:solidFill>
                  <a:srgbClr val="161B26"/>
                </a:solidFill>
                <a:latin typeface="Arial"/>
              </a:rPr>
              <a:t>Analyse</a:t>
            </a:r>
          </a:p>
        </p:txBody>
      </p:sp>
      <p:sp>
        <p:nvSpPr>
          <p:cNvPr id="25" name="TextBox 24"/>
          <p:cNvSpPr txBox="1"/>
          <p:nvPr/>
        </p:nvSpPr>
        <p:spPr>
          <a:xfrm>
            <a:off x="6359652" y="3721608"/>
            <a:ext cx="2196846" cy="1143000"/>
          </a:xfrm>
          <a:prstGeom prst="rect">
            <a:avLst/>
          </a:prstGeom>
          <a:noFill/>
        </p:spPr>
        <p:txBody>
          <a:bodyPr wrap="square" anchor="t">
            <a:spAutoFit/>
          </a:bodyPr>
          <a:lstStyle/>
          <a:p>
            <a:pPr algn="ctr">
              <a:spcAft>
                <a:spcPts val="400"/>
              </a:spcAft>
            </a:pPr>
            <a:r>
              <a:rPr sz="1250" b="0">
                <a:solidFill>
                  <a:srgbClr val="5B6372"/>
                </a:solidFill>
                <a:latin typeface="Arial"/>
              </a:rPr>
              <a:t>Ask AI for patterns, exceptions and comparisons, then reproduce critical calculations in Excel.</a:t>
            </a:r>
          </a:p>
        </p:txBody>
      </p:sp>
      <p:sp>
        <p:nvSpPr>
          <p:cNvPr id="26" name="Chevron 25"/>
          <p:cNvSpPr/>
          <p:nvPr/>
        </p:nvSpPr>
        <p:spPr>
          <a:xfrm>
            <a:off x="8702802" y="3447288"/>
            <a:ext cx="237744" cy="329184"/>
          </a:xfrm>
          <a:prstGeom prst="chevron">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958834" y="2240280"/>
            <a:ext cx="245287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958834" y="2240280"/>
            <a:ext cx="2452878"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856089" y="2551176"/>
            <a:ext cx="658368" cy="6583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856089" y="255117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1" name="TextBox 30"/>
          <p:cNvSpPr txBox="1"/>
          <p:nvPr/>
        </p:nvSpPr>
        <p:spPr>
          <a:xfrm>
            <a:off x="9086850" y="3337560"/>
            <a:ext cx="2196846" cy="365760"/>
          </a:xfrm>
          <a:prstGeom prst="rect">
            <a:avLst/>
          </a:prstGeom>
          <a:noFill/>
        </p:spPr>
        <p:txBody>
          <a:bodyPr wrap="square" anchor="t">
            <a:spAutoFit/>
          </a:bodyPr>
          <a:lstStyle/>
          <a:p>
            <a:pPr algn="ctr">
              <a:spcAft>
                <a:spcPts val="400"/>
              </a:spcAft>
            </a:pPr>
            <a:r>
              <a:rPr sz="1400" b="1">
                <a:solidFill>
                  <a:srgbClr val="161B26"/>
                </a:solidFill>
                <a:latin typeface="Arial"/>
              </a:rPr>
              <a:t>Extract</a:t>
            </a:r>
          </a:p>
        </p:txBody>
      </p:sp>
      <p:sp>
        <p:nvSpPr>
          <p:cNvPr id="32" name="TextBox 31"/>
          <p:cNvSpPr txBox="1"/>
          <p:nvPr/>
        </p:nvSpPr>
        <p:spPr>
          <a:xfrm>
            <a:off x="9086850" y="3721608"/>
            <a:ext cx="2196846" cy="1143000"/>
          </a:xfrm>
          <a:prstGeom prst="rect">
            <a:avLst/>
          </a:prstGeom>
          <a:noFill/>
        </p:spPr>
        <p:txBody>
          <a:bodyPr wrap="square" anchor="t">
            <a:spAutoFit/>
          </a:bodyPr>
          <a:lstStyle/>
          <a:p>
            <a:pPr algn="ctr">
              <a:spcAft>
                <a:spcPts val="400"/>
              </a:spcAft>
            </a:pPr>
            <a:r>
              <a:rPr sz="1250" b="0">
                <a:solidFill>
                  <a:srgbClr val="5B6372"/>
                </a:solidFill>
                <a:latin typeface="Arial"/>
              </a:rPr>
              <a:t>Write show–mean–matter–act insights with citations, caveats and forbidden claims.</a:t>
            </a:r>
          </a:p>
        </p:txBody>
      </p:sp>
      <p:sp>
        <p:nvSpPr>
          <p:cNvPr id="33" name="Rectangle 32"/>
          <p:cNvSpPr/>
          <p:nvPr/>
        </p:nvSpPr>
        <p:spPr>
          <a:xfrm>
            <a:off x="777240" y="525780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77240" y="5257800"/>
            <a:ext cx="91440" cy="8229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97280" y="5257800"/>
            <a:ext cx="10058400" cy="822960"/>
          </a:xfrm>
          <a:prstGeom prst="rect">
            <a:avLst/>
          </a:prstGeom>
          <a:noFill/>
        </p:spPr>
        <p:txBody>
          <a:bodyPr wrap="square" anchor="ctr">
            <a:spAutoFit/>
          </a:bodyPr>
          <a:lstStyle/>
          <a:p>
            <a:pPr algn="l">
              <a:spcAft>
                <a:spcPts val="400"/>
              </a:spcAft>
            </a:pPr>
            <a:r>
              <a:rPr sz="1400" b="1">
                <a:solidFill>
                  <a:srgbClr val="161B26"/>
                </a:solidFill>
                <a:latin typeface="Arial"/>
              </a:rPr>
              <a:t>AI may propose patterns and transformations; keep raw sources and reproduce decision-critical calculations before visual generation.</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a:t>
            </a:r>
          </a:p>
        </p:txBody>
      </p:sp>
    </p:spTree>
  </p:cSld>
  <p:clrMapOvr>
    <a:masterClrMapping/>
  </p:clrMapOvr>
  <p:transition spd="fast" advClick="1">
    <p:fade/>
  </p:transition>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DEFAULT MODERN WORKFLOW</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100" b="1">
                <a:solidFill>
                  <a:srgbClr val="161B26"/>
                </a:solidFill>
                <a:latin typeface="Arial"/>
              </a:rPr>
              <a:t>AI-First Workflow — From Generation to Accountable PowerPoint</a:t>
            </a:r>
          </a:p>
        </p:txBody>
      </p:sp>
      <p:sp>
        <p:nvSpPr>
          <p:cNvPr id="6" name="Rectangle 5"/>
          <p:cNvSpPr/>
          <p:nvPr/>
        </p:nvSpPr>
        <p:spPr>
          <a:xfrm>
            <a:off x="777240" y="2240280"/>
            <a:ext cx="3361944"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240280"/>
            <a:ext cx="336194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2129028" y="2551176"/>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129028" y="255117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0" name="TextBox 9"/>
          <p:cNvSpPr txBox="1"/>
          <p:nvPr/>
        </p:nvSpPr>
        <p:spPr>
          <a:xfrm>
            <a:off x="905256" y="3337560"/>
            <a:ext cx="3105912" cy="365760"/>
          </a:xfrm>
          <a:prstGeom prst="rect">
            <a:avLst/>
          </a:prstGeom>
          <a:noFill/>
        </p:spPr>
        <p:txBody>
          <a:bodyPr wrap="square" anchor="t">
            <a:spAutoFit/>
          </a:bodyPr>
          <a:lstStyle/>
          <a:p>
            <a:pPr algn="ctr">
              <a:spcAft>
                <a:spcPts val="400"/>
              </a:spcAft>
            </a:pPr>
            <a:r>
              <a:rPr sz="1400" b="1">
                <a:solidFill>
                  <a:srgbClr val="161B26"/>
                </a:solidFill>
                <a:latin typeface="Arial"/>
              </a:rPr>
              <a:t>Generate</a:t>
            </a:r>
          </a:p>
        </p:txBody>
      </p:sp>
      <p:sp>
        <p:nvSpPr>
          <p:cNvPr id="11" name="TextBox 10"/>
          <p:cNvSpPr txBox="1"/>
          <p:nvPr/>
        </p:nvSpPr>
        <p:spPr>
          <a:xfrm>
            <a:off x="905256" y="3721608"/>
            <a:ext cx="3105912" cy="1143000"/>
          </a:xfrm>
          <a:prstGeom prst="rect">
            <a:avLst/>
          </a:prstGeom>
          <a:noFill/>
        </p:spPr>
        <p:txBody>
          <a:bodyPr wrap="square" anchor="t">
            <a:spAutoFit/>
          </a:bodyPr>
          <a:lstStyle/>
          <a:p>
            <a:pPr algn="ctr">
              <a:spcAft>
                <a:spcPts val="400"/>
              </a:spcAft>
            </a:pPr>
            <a:r>
              <a:rPr sz="1250" b="0">
                <a:solidFill>
                  <a:srgbClr val="5B6372"/>
                </a:solidFill>
                <a:latin typeface="Arial"/>
              </a:rPr>
              <a:t>In Microsoft 365 Copilot, choose Create &gt; Design an infographic, describe the output, optionally add approved content, choose brand and orientation, then generate.</a:t>
            </a:r>
          </a:p>
        </p:txBody>
      </p:sp>
      <p:sp>
        <p:nvSpPr>
          <p:cNvPr id="12" name="Chevron 11"/>
          <p:cNvSpPr/>
          <p:nvPr/>
        </p:nvSpPr>
        <p:spPr>
          <a:xfrm>
            <a:off x="4157472" y="3447288"/>
            <a:ext cx="237744" cy="329184"/>
          </a:xfrm>
          <a:prstGeom prst="chevron">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413504" y="2240280"/>
            <a:ext cx="3361944"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13504" y="2240280"/>
            <a:ext cx="336194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5765292" y="2551176"/>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765292" y="255117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7" name="TextBox 16"/>
          <p:cNvSpPr txBox="1"/>
          <p:nvPr/>
        </p:nvSpPr>
        <p:spPr>
          <a:xfrm>
            <a:off x="4541520" y="3337560"/>
            <a:ext cx="3105912" cy="365760"/>
          </a:xfrm>
          <a:prstGeom prst="rect">
            <a:avLst/>
          </a:prstGeom>
          <a:noFill/>
        </p:spPr>
        <p:txBody>
          <a:bodyPr wrap="square" anchor="t">
            <a:spAutoFit/>
          </a:bodyPr>
          <a:lstStyle/>
          <a:p>
            <a:pPr algn="ctr">
              <a:spcAft>
                <a:spcPts val="400"/>
              </a:spcAft>
            </a:pPr>
            <a:r>
              <a:rPr sz="1400" b="1">
                <a:solidFill>
                  <a:srgbClr val="161B26"/>
                </a:solidFill>
                <a:latin typeface="Arial"/>
              </a:rPr>
              <a:t>PowerPoint</a:t>
            </a:r>
          </a:p>
        </p:txBody>
      </p:sp>
      <p:sp>
        <p:nvSpPr>
          <p:cNvPr id="18" name="TextBox 17"/>
          <p:cNvSpPr txBox="1"/>
          <p:nvPr/>
        </p:nvSpPr>
        <p:spPr>
          <a:xfrm>
            <a:off x="4541520" y="3721608"/>
            <a:ext cx="3105912" cy="1143000"/>
          </a:xfrm>
          <a:prstGeom prst="rect">
            <a:avLst/>
          </a:prstGeom>
          <a:noFill/>
        </p:spPr>
        <p:txBody>
          <a:bodyPr wrap="square" anchor="t">
            <a:spAutoFit/>
          </a:bodyPr>
          <a:lstStyle/>
          <a:p>
            <a:pPr algn="ctr">
              <a:spcAft>
                <a:spcPts val="400"/>
              </a:spcAft>
            </a:pPr>
            <a:r>
              <a:rPr sz="1250" b="0">
                <a:solidFill>
                  <a:srgbClr val="5B6372"/>
                </a:solidFill>
                <a:latin typeface="Arial"/>
              </a:rPr>
              <a:t>Download or rebuild in PPTX; restore editability, charts, source labels, brand and accessibility.</a:t>
            </a:r>
          </a:p>
        </p:txBody>
      </p:sp>
      <p:sp>
        <p:nvSpPr>
          <p:cNvPr id="19" name="Chevron 18"/>
          <p:cNvSpPr/>
          <p:nvPr/>
        </p:nvSpPr>
        <p:spPr>
          <a:xfrm>
            <a:off x="7793736" y="3447288"/>
            <a:ext cx="237744" cy="329184"/>
          </a:xfrm>
          <a:prstGeom prst="chevron">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49768" y="2240280"/>
            <a:ext cx="3361944"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49768" y="2240280"/>
            <a:ext cx="336194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9401556" y="2551176"/>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401556" y="255117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4" name="TextBox 23"/>
          <p:cNvSpPr txBox="1"/>
          <p:nvPr/>
        </p:nvSpPr>
        <p:spPr>
          <a:xfrm>
            <a:off x="8177784" y="3337560"/>
            <a:ext cx="3105912" cy="365760"/>
          </a:xfrm>
          <a:prstGeom prst="rect">
            <a:avLst/>
          </a:prstGeom>
          <a:noFill/>
        </p:spPr>
        <p:txBody>
          <a:bodyPr wrap="square" anchor="t">
            <a:spAutoFit/>
          </a:bodyPr>
          <a:lstStyle/>
          <a:p>
            <a:pPr algn="ctr">
              <a:spcAft>
                <a:spcPts val="400"/>
              </a:spcAft>
            </a:pPr>
            <a:r>
              <a:rPr sz="1400" b="1">
                <a:solidFill>
                  <a:srgbClr val="161B26"/>
                </a:solidFill>
                <a:latin typeface="Arial"/>
              </a:rPr>
              <a:t>Verify</a:t>
            </a:r>
          </a:p>
        </p:txBody>
      </p:sp>
      <p:sp>
        <p:nvSpPr>
          <p:cNvPr id="25" name="TextBox 24"/>
          <p:cNvSpPr txBox="1"/>
          <p:nvPr/>
        </p:nvSpPr>
        <p:spPr>
          <a:xfrm>
            <a:off x="8177784" y="3721608"/>
            <a:ext cx="3105912" cy="1143000"/>
          </a:xfrm>
          <a:prstGeom prst="rect">
            <a:avLst/>
          </a:prstGeom>
          <a:noFill/>
        </p:spPr>
        <p:txBody>
          <a:bodyPr wrap="square" anchor="t">
            <a:spAutoFit/>
          </a:bodyPr>
          <a:lstStyle/>
          <a:p>
            <a:pPr algn="ctr">
              <a:spcAft>
                <a:spcPts val="400"/>
              </a:spcAft>
            </a:pPr>
            <a:r>
              <a:rPr sz="1250" b="0">
                <a:solidFill>
                  <a:srgbClr val="5B6372"/>
                </a:solidFill>
                <a:latin typeface="Arial"/>
              </a:rPr>
              <a:t>Compare every claim to source, record prompts and human changes, approve and export.</a:t>
            </a:r>
          </a:p>
        </p:txBody>
      </p:sp>
      <p:sp>
        <p:nvSpPr>
          <p:cNvPr id="26" name="Rectangle 25"/>
          <p:cNvSpPr/>
          <p:nvPr/>
        </p:nvSpPr>
        <p:spPr>
          <a:xfrm>
            <a:off x="777240" y="525780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77240" y="5257800"/>
            <a:ext cx="91440" cy="8229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97280" y="5257800"/>
            <a:ext cx="10058400" cy="822960"/>
          </a:xfrm>
          <a:prstGeom prst="rect">
            <a:avLst/>
          </a:prstGeom>
          <a:noFill/>
        </p:spPr>
        <p:txBody>
          <a:bodyPr wrap="square" anchor="ctr">
            <a:spAutoFit/>
          </a:bodyPr>
          <a:lstStyle/>
          <a:p>
            <a:pPr algn="l">
              <a:spcAft>
                <a:spcPts val="400"/>
              </a:spcAft>
            </a:pPr>
            <a:r>
              <a:rPr sz="1400" b="1">
                <a:solidFill>
                  <a:srgbClr val="161B26"/>
                </a:solidFill>
                <a:latin typeface="Arial"/>
              </a:rPr>
              <a:t>Do not manually draw a full infographic from scratch when approved AI can create the first direction; use PowerPoint for editability, accuracy, brand and release control.</a:t>
            </a:r>
          </a:p>
        </p:txBody>
      </p:sp>
      <p:sp>
        <p:nvSpPr>
          <p:cNvPr id="29" name="TextBox 2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30" name="TextBox 2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1" name="TextBox 3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a:t>
            </a:r>
          </a:p>
        </p:txBody>
      </p:sp>
    </p:spTree>
  </p:cSld>
  <p:clrMapOvr>
    <a:masterClrMapping/>
  </p:clrMapOvr>
  <p:transition spd="fast" advClick="1">
    <p:fade/>
  </p:transition>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LU1 · VISUAL DATA STORYTELLING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Why Infographics Work</a:t>
            </a:r>
          </a:p>
        </p:txBody>
      </p:sp>
      <p:sp>
        <p:nvSpPr>
          <p:cNvPr id="6" name="TextBox 5"/>
          <p:cNvSpPr txBox="1"/>
          <p:nvPr/>
        </p:nvSpPr>
        <p:spPr>
          <a:xfrm>
            <a:off x="795528" y="1664208"/>
            <a:ext cx="10607040" cy="365760"/>
          </a:xfrm>
          <a:prstGeom prst="rect">
            <a:avLst/>
          </a:prstGeom>
          <a:noFill/>
        </p:spPr>
        <p:txBody>
          <a:bodyPr wrap="square" anchor="t">
            <a:spAutoFit/>
          </a:bodyPr>
          <a:lstStyle/>
          <a:p>
            <a:pPr algn="l">
              <a:spcAft>
                <a:spcPts val="400"/>
              </a:spcAft>
            </a:pPr>
            <a:r>
              <a:rPr sz="1300" b="0">
                <a:solidFill>
                  <a:srgbClr val="5B6372"/>
                </a:solidFill>
                <a:latin typeface="Arial"/>
              </a:rPr>
              <a:t>An effective infographic reduces friction between evidence and understanding.</a:t>
            </a:r>
          </a:p>
        </p:txBody>
      </p:sp>
      <p:sp>
        <p:nvSpPr>
          <p:cNvPr id="7" name="Rectangle 6"/>
          <p:cNvSpPr/>
          <p:nvPr/>
        </p:nvSpPr>
        <p:spPr>
          <a:xfrm>
            <a:off x="777240" y="2057400"/>
            <a:ext cx="5180076" cy="11978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057400"/>
            <a:ext cx="91440" cy="119786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2221992"/>
            <a:ext cx="4677156" cy="365760"/>
          </a:xfrm>
          <a:prstGeom prst="rect">
            <a:avLst/>
          </a:prstGeom>
          <a:noFill/>
        </p:spPr>
        <p:txBody>
          <a:bodyPr wrap="square" anchor="t">
            <a:spAutoFit/>
          </a:bodyPr>
          <a:lstStyle/>
          <a:p>
            <a:pPr algn="l">
              <a:spcAft>
                <a:spcPts val="400"/>
              </a:spcAft>
            </a:pPr>
            <a:r>
              <a:rPr sz="1600" b="1">
                <a:solidFill>
                  <a:srgbClr val="1F6FEB"/>
                </a:solidFill>
                <a:latin typeface="Arial"/>
              </a:rPr>
              <a:t>Attention</a:t>
            </a:r>
          </a:p>
        </p:txBody>
      </p:sp>
      <p:sp>
        <p:nvSpPr>
          <p:cNvPr id="10" name="TextBox 9"/>
          <p:cNvSpPr txBox="1"/>
          <p:nvPr/>
        </p:nvSpPr>
        <p:spPr>
          <a:xfrm>
            <a:off x="1051560" y="2624328"/>
            <a:ext cx="4677156" cy="512064"/>
          </a:xfrm>
          <a:prstGeom prst="rect">
            <a:avLst/>
          </a:prstGeom>
          <a:noFill/>
        </p:spPr>
        <p:txBody>
          <a:bodyPr wrap="square" anchor="t">
            <a:spAutoFit/>
          </a:bodyPr>
          <a:lstStyle/>
          <a:p>
            <a:pPr algn="l">
              <a:spcAft>
                <a:spcPts val="400"/>
              </a:spcAft>
            </a:pPr>
            <a:r>
              <a:rPr sz="1200" b="0">
                <a:solidFill>
                  <a:srgbClr val="161B26"/>
                </a:solidFill>
                <a:latin typeface="Arial"/>
              </a:rPr>
              <a:t>Visual hierarchy helps the audience locate the important message quickly.</a:t>
            </a:r>
          </a:p>
        </p:txBody>
      </p:sp>
      <p:sp>
        <p:nvSpPr>
          <p:cNvPr id="11" name="Rectangle 10"/>
          <p:cNvSpPr/>
          <p:nvPr/>
        </p:nvSpPr>
        <p:spPr>
          <a:xfrm>
            <a:off x="6231636" y="2057400"/>
            <a:ext cx="5180076" cy="11978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1636" y="2057400"/>
            <a:ext cx="91440" cy="11978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05956" y="2221992"/>
            <a:ext cx="4677156" cy="365760"/>
          </a:xfrm>
          <a:prstGeom prst="rect">
            <a:avLst/>
          </a:prstGeom>
          <a:noFill/>
        </p:spPr>
        <p:txBody>
          <a:bodyPr wrap="square" anchor="t">
            <a:spAutoFit/>
          </a:bodyPr>
          <a:lstStyle/>
          <a:p>
            <a:pPr algn="l">
              <a:spcAft>
                <a:spcPts val="400"/>
              </a:spcAft>
            </a:pPr>
            <a:r>
              <a:rPr sz="1600" b="1">
                <a:solidFill>
                  <a:srgbClr val="10B981"/>
                </a:solidFill>
                <a:latin typeface="Arial"/>
              </a:rPr>
              <a:t>Compression</a:t>
            </a:r>
          </a:p>
        </p:txBody>
      </p:sp>
      <p:sp>
        <p:nvSpPr>
          <p:cNvPr id="14" name="TextBox 13"/>
          <p:cNvSpPr txBox="1"/>
          <p:nvPr/>
        </p:nvSpPr>
        <p:spPr>
          <a:xfrm>
            <a:off x="6505956" y="2624328"/>
            <a:ext cx="4677156" cy="512064"/>
          </a:xfrm>
          <a:prstGeom prst="rect">
            <a:avLst/>
          </a:prstGeom>
          <a:noFill/>
        </p:spPr>
        <p:txBody>
          <a:bodyPr wrap="square" anchor="t">
            <a:spAutoFit/>
          </a:bodyPr>
          <a:lstStyle/>
          <a:p>
            <a:pPr algn="l">
              <a:spcAft>
                <a:spcPts val="400"/>
              </a:spcAft>
            </a:pPr>
            <a:r>
              <a:rPr sz="1200" b="0">
                <a:solidFill>
                  <a:srgbClr val="161B26"/>
                </a:solidFill>
                <a:latin typeface="Arial"/>
              </a:rPr>
              <a:t>Words, data and relationships are combined into a scannable structure.</a:t>
            </a:r>
          </a:p>
        </p:txBody>
      </p:sp>
      <p:sp>
        <p:nvSpPr>
          <p:cNvPr id="15" name="Rectangle 14"/>
          <p:cNvSpPr/>
          <p:nvPr/>
        </p:nvSpPr>
        <p:spPr>
          <a:xfrm>
            <a:off x="777240" y="3493008"/>
            <a:ext cx="5180076" cy="11978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3493008"/>
            <a:ext cx="91440" cy="119786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1560" y="3657600"/>
            <a:ext cx="4677156" cy="365760"/>
          </a:xfrm>
          <a:prstGeom prst="rect">
            <a:avLst/>
          </a:prstGeom>
          <a:noFill/>
        </p:spPr>
        <p:txBody>
          <a:bodyPr wrap="square" anchor="t">
            <a:spAutoFit/>
          </a:bodyPr>
          <a:lstStyle/>
          <a:p>
            <a:pPr algn="l">
              <a:spcAft>
                <a:spcPts val="400"/>
              </a:spcAft>
            </a:pPr>
            <a:r>
              <a:rPr sz="1600" b="1">
                <a:solidFill>
                  <a:srgbClr val="7C3AED"/>
                </a:solidFill>
                <a:latin typeface="Arial"/>
              </a:rPr>
              <a:t>Comparison</a:t>
            </a:r>
          </a:p>
        </p:txBody>
      </p:sp>
      <p:sp>
        <p:nvSpPr>
          <p:cNvPr id="18" name="TextBox 17"/>
          <p:cNvSpPr txBox="1"/>
          <p:nvPr/>
        </p:nvSpPr>
        <p:spPr>
          <a:xfrm>
            <a:off x="1051560" y="4059936"/>
            <a:ext cx="4677156" cy="512064"/>
          </a:xfrm>
          <a:prstGeom prst="rect">
            <a:avLst/>
          </a:prstGeom>
          <a:noFill/>
        </p:spPr>
        <p:txBody>
          <a:bodyPr wrap="square" anchor="t">
            <a:spAutoFit/>
          </a:bodyPr>
          <a:lstStyle/>
          <a:p>
            <a:pPr algn="l">
              <a:spcAft>
                <a:spcPts val="400"/>
              </a:spcAft>
            </a:pPr>
            <a:r>
              <a:rPr sz="1200" b="0">
                <a:solidFill>
                  <a:srgbClr val="161B26"/>
                </a:solidFill>
                <a:latin typeface="Arial"/>
              </a:rPr>
              <a:t>Position, length, order and colour make differences and patterns visible.</a:t>
            </a:r>
          </a:p>
        </p:txBody>
      </p:sp>
      <p:sp>
        <p:nvSpPr>
          <p:cNvPr id="19" name="Rectangle 18"/>
          <p:cNvSpPr/>
          <p:nvPr/>
        </p:nvSpPr>
        <p:spPr>
          <a:xfrm>
            <a:off x="6231636" y="3493008"/>
            <a:ext cx="5180076" cy="11978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31636" y="3493008"/>
            <a:ext cx="91440" cy="1197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05956" y="3657600"/>
            <a:ext cx="4677156" cy="365760"/>
          </a:xfrm>
          <a:prstGeom prst="rect">
            <a:avLst/>
          </a:prstGeom>
          <a:noFill/>
        </p:spPr>
        <p:txBody>
          <a:bodyPr wrap="square" anchor="t">
            <a:spAutoFit/>
          </a:bodyPr>
          <a:lstStyle/>
          <a:p>
            <a:pPr algn="l">
              <a:spcAft>
                <a:spcPts val="400"/>
              </a:spcAft>
            </a:pPr>
            <a:r>
              <a:rPr sz="1600" b="1">
                <a:solidFill>
                  <a:srgbClr val="F59E0B"/>
                </a:solidFill>
                <a:latin typeface="Arial"/>
              </a:rPr>
              <a:t>Memory</a:t>
            </a:r>
          </a:p>
        </p:txBody>
      </p:sp>
      <p:sp>
        <p:nvSpPr>
          <p:cNvPr id="22" name="TextBox 21"/>
          <p:cNvSpPr txBox="1"/>
          <p:nvPr/>
        </p:nvSpPr>
        <p:spPr>
          <a:xfrm>
            <a:off x="6505956" y="4059936"/>
            <a:ext cx="4677156" cy="512064"/>
          </a:xfrm>
          <a:prstGeom prst="rect">
            <a:avLst/>
          </a:prstGeom>
          <a:noFill/>
        </p:spPr>
        <p:txBody>
          <a:bodyPr wrap="square" anchor="t">
            <a:spAutoFit/>
          </a:bodyPr>
          <a:lstStyle/>
          <a:p>
            <a:pPr algn="l">
              <a:spcAft>
                <a:spcPts val="400"/>
              </a:spcAft>
            </a:pPr>
            <a:r>
              <a:rPr sz="1200" b="0">
                <a:solidFill>
                  <a:srgbClr val="161B26"/>
                </a:solidFill>
                <a:latin typeface="Arial"/>
              </a:rPr>
              <a:t>A coherent visual story gives the audience meaningful anchors for recall.</a:t>
            </a:r>
          </a:p>
        </p:txBody>
      </p:sp>
      <p:sp>
        <p:nvSpPr>
          <p:cNvPr id="23" name="Rectangle 22"/>
          <p:cNvSpPr/>
          <p:nvPr/>
        </p:nvSpPr>
        <p:spPr>
          <a:xfrm>
            <a:off x="777240" y="4928616"/>
            <a:ext cx="5180076" cy="11978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77240" y="4928616"/>
            <a:ext cx="91440" cy="119786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51560" y="5093208"/>
            <a:ext cx="4677156" cy="365760"/>
          </a:xfrm>
          <a:prstGeom prst="rect">
            <a:avLst/>
          </a:prstGeom>
          <a:noFill/>
        </p:spPr>
        <p:txBody>
          <a:bodyPr wrap="square" anchor="t">
            <a:spAutoFit/>
          </a:bodyPr>
          <a:lstStyle/>
          <a:p>
            <a:pPr algn="l">
              <a:spcAft>
                <a:spcPts val="400"/>
              </a:spcAft>
            </a:pPr>
            <a:r>
              <a:rPr sz="1600" b="1">
                <a:solidFill>
                  <a:srgbClr val="1F6FEB"/>
                </a:solidFill>
                <a:latin typeface="Arial"/>
              </a:rPr>
              <a:t>Action</a:t>
            </a:r>
          </a:p>
        </p:txBody>
      </p:sp>
      <p:sp>
        <p:nvSpPr>
          <p:cNvPr id="26" name="TextBox 25"/>
          <p:cNvSpPr txBox="1"/>
          <p:nvPr/>
        </p:nvSpPr>
        <p:spPr>
          <a:xfrm>
            <a:off x="1051560" y="5495544"/>
            <a:ext cx="4677156" cy="512064"/>
          </a:xfrm>
          <a:prstGeom prst="rect">
            <a:avLst/>
          </a:prstGeom>
          <a:noFill/>
        </p:spPr>
        <p:txBody>
          <a:bodyPr wrap="square" anchor="t">
            <a:spAutoFit/>
          </a:bodyPr>
          <a:lstStyle/>
          <a:p>
            <a:pPr algn="l">
              <a:spcAft>
                <a:spcPts val="400"/>
              </a:spcAft>
            </a:pPr>
            <a:r>
              <a:rPr sz="1200" b="0">
                <a:solidFill>
                  <a:srgbClr val="161B26"/>
                </a:solidFill>
                <a:latin typeface="Arial"/>
              </a:rPr>
              <a:t>The final implication connects what is seen to what the audience should do.</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a:t>
            </a:r>
          </a:p>
        </p:txBody>
      </p:sp>
    </p:spTree>
  </p:cSld>
  <p:clrMapOvr>
    <a:masterClrMapping/>
  </p:clrMapOvr>
  <p:transition spd="fast" advClick="1">
    <p:fade/>
  </p:transition>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LU1 · FORMAT FIT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Infographic Types Answer Different Questions</a:t>
            </a:r>
          </a:p>
        </p:txBody>
      </p:sp>
      <p:sp>
        <p:nvSpPr>
          <p:cNvPr id="6" name="TextBox 5"/>
          <p:cNvSpPr txBox="1"/>
          <p:nvPr/>
        </p:nvSpPr>
        <p:spPr>
          <a:xfrm>
            <a:off x="795528" y="1664208"/>
            <a:ext cx="10607040" cy="365760"/>
          </a:xfrm>
          <a:prstGeom prst="rect">
            <a:avLst/>
          </a:prstGeom>
          <a:noFill/>
        </p:spPr>
        <p:txBody>
          <a:bodyPr wrap="square" anchor="t">
            <a:spAutoFit/>
          </a:bodyPr>
          <a:lstStyle/>
          <a:p>
            <a:pPr algn="l">
              <a:spcAft>
                <a:spcPts val="400"/>
              </a:spcAft>
            </a:pPr>
            <a:r>
              <a:rPr sz="1300" b="0">
                <a:solidFill>
                  <a:srgbClr val="5B6372"/>
                </a:solidFill>
                <a:latin typeface="Arial"/>
              </a:rPr>
              <a:t>Select the form by the relationship the audience must understand.</a:t>
            </a:r>
          </a:p>
        </p:txBody>
      </p:sp>
      <p:sp>
        <p:nvSpPr>
          <p:cNvPr id="7" name="Rectangle 6"/>
          <p:cNvSpPr/>
          <p:nvPr/>
        </p:nvSpPr>
        <p:spPr>
          <a:xfrm>
            <a:off x="2926080" y="2103120"/>
            <a:ext cx="4242816" cy="4572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926080" y="2103120"/>
            <a:ext cx="4242816" cy="457200"/>
          </a:xfrm>
          <a:prstGeom prst="rect">
            <a:avLst/>
          </a:prstGeom>
          <a:noFill/>
        </p:spPr>
        <p:txBody>
          <a:bodyPr wrap="square" anchor="ctr">
            <a:spAutoFit/>
          </a:bodyPr>
          <a:lstStyle/>
          <a:p>
            <a:pPr algn="ctr">
              <a:spcAft>
                <a:spcPts val="400"/>
              </a:spcAft>
            </a:pPr>
            <a:r>
              <a:rPr sz="1500" b="1">
                <a:solidFill>
                  <a:srgbClr val="FFFFFF"/>
                </a:solidFill>
                <a:latin typeface="Arial"/>
              </a:rPr>
              <a:t>Question</a:t>
            </a:r>
          </a:p>
        </p:txBody>
      </p:sp>
      <p:sp>
        <p:nvSpPr>
          <p:cNvPr id="9" name="Rectangle 8"/>
          <p:cNvSpPr/>
          <p:nvPr/>
        </p:nvSpPr>
        <p:spPr>
          <a:xfrm>
            <a:off x="7168896" y="2103120"/>
            <a:ext cx="4242816"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68896" y="2103120"/>
            <a:ext cx="4242816" cy="457200"/>
          </a:xfrm>
          <a:prstGeom prst="rect">
            <a:avLst/>
          </a:prstGeom>
          <a:noFill/>
        </p:spPr>
        <p:txBody>
          <a:bodyPr wrap="square" anchor="ctr">
            <a:spAutoFit/>
          </a:bodyPr>
          <a:lstStyle/>
          <a:p>
            <a:pPr algn="ctr">
              <a:spcAft>
                <a:spcPts val="400"/>
              </a:spcAft>
            </a:pPr>
            <a:r>
              <a:rPr sz="1500" b="1">
                <a:solidFill>
                  <a:srgbClr val="FFFFFF"/>
                </a:solidFill>
                <a:latin typeface="Arial"/>
              </a:rPr>
              <a:t>Useful form</a:t>
            </a:r>
          </a:p>
        </p:txBody>
      </p:sp>
      <p:sp>
        <p:nvSpPr>
          <p:cNvPr id="11" name="Rectangle 10"/>
          <p:cNvSpPr/>
          <p:nvPr/>
        </p:nvSpPr>
        <p:spPr>
          <a:xfrm>
            <a:off x="777240" y="2560320"/>
            <a:ext cx="2148840" cy="5943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560320"/>
            <a:ext cx="1874520" cy="594360"/>
          </a:xfrm>
          <a:prstGeom prst="rect">
            <a:avLst/>
          </a:prstGeom>
          <a:noFill/>
        </p:spPr>
        <p:txBody>
          <a:bodyPr wrap="square" anchor="ctr">
            <a:spAutoFit/>
          </a:bodyPr>
          <a:lstStyle/>
          <a:p>
            <a:pPr algn="l">
              <a:spcAft>
                <a:spcPts val="400"/>
              </a:spcAft>
            </a:pPr>
            <a:r>
              <a:rPr sz="1400" b="1">
                <a:solidFill>
                  <a:srgbClr val="161B26"/>
                </a:solidFill>
                <a:latin typeface="Arial"/>
              </a:rPr>
              <a:t>Change</a:t>
            </a:r>
          </a:p>
        </p:txBody>
      </p:sp>
      <p:sp>
        <p:nvSpPr>
          <p:cNvPr id="13" name="Rectangle 12"/>
          <p:cNvSpPr/>
          <p:nvPr/>
        </p:nvSpPr>
        <p:spPr>
          <a:xfrm>
            <a:off x="2926080" y="2560320"/>
            <a:ext cx="4242816" cy="5943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090672" y="2560320"/>
            <a:ext cx="3913632" cy="594360"/>
          </a:xfrm>
          <a:prstGeom prst="rect">
            <a:avLst/>
          </a:prstGeom>
          <a:noFill/>
        </p:spPr>
        <p:txBody>
          <a:bodyPr wrap="square" anchor="ctr">
            <a:spAutoFit/>
          </a:bodyPr>
          <a:lstStyle/>
          <a:p>
            <a:pPr algn="l">
              <a:spcAft>
                <a:spcPts val="400"/>
              </a:spcAft>
            </a:pPr>
            <a:r>
              <a:rPr sz="1300" b="0">
                <a:solidFill>
                  <a:srgbClr val="161B26"/>
                </a:solidFill>
                <a:latin typeface="Arial"/>
              </a:rPr>
              <a:t>What happened across time?</a:t>
            </a:r>
          </a:p>
        </p:txBody>
      </p:sp>
      <p:sp>
        <p:nvSpPr>
          <p:cNvPr id="15" name="Rectangle 14"/>
          <p:cNvSpPr/>
          <p:nvPr/>
        </p:nvSpPr>
        <p:spPr>
          <a:xfrm>
            <a:off x="7168896" y="2560320"/>
            <a:ext cx="4242816" cy="5943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33488" y="2560320"/>
            <a:ext cx="3913632" cy="594360"/>
          </a:xfrm>
          <a:prstGeom prst="rect">
            <a:avLst/>
          </a:prstGeom>
          <a:noFill/>
        </p:spPr>
        <p:txBody>
          <a:bodyPr wrap="square" anchor="ctr">
            <a:spAutoFit/>
          </a:bodyPr>
          <a:lstStyle/>
          <a:p>
            <a:pPr algn="l">
              <a:spcAft>
                <a:spcPts val="400"/>
              </a:spcAft>
            </a:pPr>
            <a:r>
              <a:rPr sz="1300" b="0">
                <a:solidFill>
                  <a:srgbClr val="161B26"/>
                </a:solidFill>
                <a:latin typeface="Arial"/>
              </a:rPr>
              <a:t>Chronology or timeline</a:t>
            </a:r>
          </a:p>
        </p:txBody>
      </p:sp>
      <p:sp>
        <p:nvSpPr>
          <p:cNvPr id="17" name="Rectangle 16"/>
          <p:cNvSpPr/>
          <p:nvPr/>
        </p:nvSpPr>
        <p:spPr>
          <a:xfrm>
            <a:off x="777240" y="3154680"/>
            <a:ext cx="2148840" cy="5943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3154680"/>
            <a:ext cx="1874520" cy="594360"/>
          </a:xfrm>
          <a:prstGeom prst="rect">
            <a:avLst/>
          </a:prstGeom>
          <a:noFill/>
        </p:spPr>
        <p:txBody>
          <a:bodyPr wrap="square" anchor="ctr">
            <a:spAutoFit/>
          </a:bodyPr>
          <a:lstStyle/>
          <a:p>
            <a:pPr algn="l">
              <a:spcAft>
                <a:spcPts val="400"/>
              </a:spcAft>
            </a:pPr>
            <a:r>
              <a:rPr sz="1400" b="1">
                <a:solidFill>
                  <a:srgbClr val="161B26"/>
                </a:solidFill>
                <a:latin typeface="Arial"/>
              </a:rPr>
              <a:t>Process</a:t>
            </a:r>
          </a:p>
        </p:txBody>
      </p:sp>
      <p:sp>
        <p:nvSpPr>
          <p:cNvPr id="19" name="Rectangle 18"/>
          <p:cNvSpPr/>
          <p:nvPr/>
        </p:nvSpPr>
        <p:spPr>
          <a:xfrm>
            <a:off x="2926080" y="3154680"/>
            <a:ext cx="4242816" cy="5943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090672" y="3154680"/>
            <a:ext cx="3913632" cy="594360"/>
          </a:xfrm>
          <a:prstGeom prst="rect">
            <a:avLst/>
          </a:prstGeom>
          <a:noFill/>
        </p:spPr>
        <p:txBody>
          <a:bodyPr wrap="square" anchor="ctr">
            <a:spAutoFit/>
          </a:bodyPr>
          <a:lstStyle/>
          <a:p>
            <a:pPr algn="l">
              <a:spcAft>
                <a:spcPts val="400"/>
              </a:spcAft>
            </a:pPr>
            <a:r>
              <a:rPr sz="1300" b="0">
                <a:solidFill>
                  <a:srgbClr val="161B26"/>
                </a:solidFill>
                <a:latin typeface="Arial"/>
              </a:rPr>
              <a:t>How does it work?</a:t>
            </a:r>
          </a:p>
        </p:txBody>
      </p:sp>
      <p:sp>
        <p:nvSpPr>
          <p:cNvPr id="21" name="Rectangle 20"/>
          <p:cNvSpPr/>
          <p:nvPr/>
        </p:nvSpPr>
        <p:spPr>
          <a:xfrm>
            <a:off x="7168896" y="3154680"/>
            <a:ext cx="4242816" cy="5943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33488" y="3154680"/>
            <a:ext cx="3913632" cy="594360"/>
          </a:xfrm>
          <a:prstGeom prst="rect">
            <a:avLst/>
          </a:prstGeom>
          <a:noFill/>
        </p:spPr>
        <p:txBody>
          <a:bodyPr wrap="square" anchor="ctr">
            <a:spAutoFit/>
          </a:bodyPr>
          <a:lstStyle/>
          <a:p>
            <a:pPr algn="l">
              <a:spcAft>
                <a:spcPts val="400"/>
              </a:spcAft>
            </a:pPr>
            <a:r>
              <a:rPr sz="1300" b="0">
                <a:solidFill>
                  <a:srgbClr val="161B26"/>
                </a:solidFill>
                <a:latin typeface="Arial"/>
              </a:rPr>
              <a:t>Instructional flow, cycle or roadmap</a:t>
            </a:r>
          </a:p>
        </p:txBody>
      </p:sp>
      <p:sp>
        <p:nvSpPr>
          <p:cNvPr id="23" name="Rectangle 22"/>
          <p:cNvSpPr/>
          <p:nvPr/>
        </p:nvSpPr>
        <p:spPr>
          <a:xfrm>
            <a:off x="777240" y="3749040"/>
            <a:ext cx="2148840" cy="5943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3749040"/>
            <a:ext cx="1874520" cy="594360"/>
          </a:xfrm>
          <a:prstGeom prst="rect">
            <a:avLst/>
          </a:prstGeom>
          <a:noFill/>
        </p:spPr>
        <p:txBody>
          <a:bodyPr wrap="square" anchor="ctr">
            <a:spAutoFit/>
          </a:bodyPr>
          <a:lstStyle/>
          <a:p>
            <a:pPr algn="l">
              <a:spcAft>
                <a:spcPts val="400"/>
              </a:spcAft>
            </a:pPr>
            <a:r>
              <a:rPr sz="1400" b="1">
                <a:solidFill>
                  <a:srgbClr val="161B26"/>
                </a:solidFill>
                <a:latin typeface="Arial"/>
              </a:rPr>
              <a:t>Comparison</a:t>
            </a:r>
          </a:p>
        </p:txBody>
      </p:sp>
      <p:sp>
        <p:nvSpPr>
          <p:cNvPr id="25" name="Rectangle 24"/>
          <p:cNvSpPr/>
          <p:nvPr/>
        </p:nvSpPr>
        <p:spPr>
          <a:xfrm>
            <a:off x="2926080" y="3749040"/>
            <a:ext cx="4242816" cy="5943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090672" y="3749040"/>
            <a:ext cx="3913632" cy="594360"/>
          </a:xfrm>
          <a:prstGeom prst="rect">
            <a:avLst/>
          </a:prstGeom>
          <a:noFill/>
        </p:spPr>
        <p:txBody>
          <a:bodyPr wrap="square" anchor="ctr">
            <a:spAutoFit/>
          </a:bodyPr>
          <a:lstStyle/>
          <a:p>
            <a:pPr algn="l">
              <a:spcAft>
                <a:spcPts val="400"/>
              </a:spcAft>
            </a:pPr>
            <a:r>
              <a:rPr sz="1300" b="0">
                <a:solidFill>
                  <a:srgbClr val="161B26"/>
                </a:solidFill>
                <a:latin typeface="Arial"/>
              </a:rPr>
              <a:t>Which option differs and by how much?</a:t>
            </a:r>
          </a:p>
        </p:txBody>
      </p:sp>
      <p:sp>
        <p:nvSpPr>
          <p:cNvPr id="27" name="Rectangle 26"/>
          <p:cNvSpPr/>
          <p:nvPr/>
        </p:nvSpPr>
        <p:spPr>
          <a:xfrm>
            <a:off x="7168896" y="3749040"/>
            <a:ext cx="4242816" cy="5943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33488" y="3749040"/>
            <a:ext cx="3913632" cy="594360"/>
          </a:xfrm>
          <a:prstGeom prst="rect">
            <a:avLst/>
          </a:prstGeom>
          <a:noFill/>
        </p:spPr>
        <p:txBody>
          <a:bodyPr wrap="square" anchor="ctr">
            <a:spAutoFit/>
          </a:bodyPr>
          <a:lstStyle/>
          <a:p>
            <a:pPr algn="l">
              <a:spcAft>
                <a:spcPts val="400"/>
              </a:spcAft>
            </a:pPr>
            <a:r>
              <a:rPr sz="1300" b="0">
                <a:solidFill>
                  <a:srgbClr val="161B26"/>
                </a:solidFill>
                <a:latin typeface="Arial"/>
              </a:rPr>
              <a:t>Bar, dot plot or comparison cards</a:t>
            </a:r>
          </a:p>
        </p:txBody>
      </p:sp>
      <p:sp>
        <p:nvSpPr>
          <p:cNvPr id="29" name="Rectangle 28"/>
          <p:cNvSpPr/>
          <p:nvPr/>
        </p:nvSpPr>
        <p:spPr>
          <a:xfrm>
            <a:off x="777240" y="4343400"/>
            <a:ext cx="2148840" cy="5943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14400" y="4343400"/>
            <a:ext cx="1874520" cy="594360"/>
          </a:xfrm>
          <a:prstGeom prst="rect">
            <a:avLst/>
          </a:prstGeom>
          <a:noFill/>
        </p:spPr>
        <p:txBody>
          <a:bodyPr wrap="square" anchor="ctr">
            <a:spAutoFit/>
          </a:bodyPr>
          <a:lstStyle/>
          <a:p>
            <a:pPr algn="l">
              <a:spcAft>
                <a:spcPts val="400"/>
              </a:spcAft>
            </a:pPr>
            <a:r>
              <a:rPr sz="1400" b="1">
                <a:solidFill>
                  <a:srgbClr val="161B26"/>
                </a:solidFill>
                <a:latin typeface="Arial"/>
              </a:rPr>
              <a:t>Distribution</a:t>
            </a:r>
          </a:p>
        </p:txBody>
      </p:sp>
      <p:sp>
        <p:nvSpPr>
          <p:cNvPr id="31" name="Rectangle 30"/>
          <p:cNvSpPr/>
          <p:nvPr/>
        </p:nvSpPr>
        <p:spPr>
          <a:xfrm>
            <a:off x="2926080" y="4343400"/>
            <a:ext cx="4242816" cy="5943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090672" y="4343400"/>
            <a:ext cx="3913632" cy="594360"/>
          </a:xfrm>
          <a:prstGeom prst="rect">
            <a:avLst/>
          </a:prstGeom>
          <a:noFill/>
        </p:spPr>
        <p:txBody>
          <a:bodyPr wrap="square" anchor="ctr">
            <a:spAutoFit/>
          </a:bodyPr>
          <a:lstStyle/>
          <a:p>
            <a:pPr algn="l">
              <a:spcAft>
                <a:spcPts val="400"/>
              </a:spcAft>
            </a:pPr>
            <a:r>
              <a:rPr sz="1300" b="0">
                <a:solidFill>
                  <a:srgbClr val="161B26"/>
                </a:solidFill>
                <a:latin typeface="Arial"/>
              </a:rPr>
              <a:t>Where are values concentrated?</a:t>
            </a:r>
          </a:p>
        </p:txBody>
      </p:sp>
      <p:sp>
        <p:nvSpPr>
          <p:cNvPr id="33" name="Rectangle 32"/>
          <p:cNvSpPr/>
          <p:nvPr/>
        </p:nvSpPr>
        <p:spPr>
          <a:xfrm>
            <a:off x="7168896" y="4343400"/>
            <a:ext cx="4242816" cy="5943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333488" y="4343400"/>
            <a:ext cx="3913632" cy="594360"/>
          </a:xfrm>
          <a:prstGeom prst="rect">
            <a:avLst/>
          </a:prstGeom>
          <a:noFill/>
        </p:spPr>
        <p:txBody>
          <a:bodyPr wrap="square" anchor="ctr">
            <a:spAutoFit/>
          </a:bodyPr>
          <a:lstStyle/>
          <a:p>
            <a:pPr algn="l">
              <a:spcAft>
                <a:spcPts val="400"/>
              </a:spcAft>
            </a:pPr>
            <a:r>
              <a:rPr sz="1300" b="0">
                <a:solidFill>
                  <a:srgbClr val="161B26"/>
                </a:solidFill>
                <a:latin typeface="Arial"/>
              </a:rPr>
              <a:t>Histogram, ranked bar or box plot</a:t>
            </a:r>
          </a:p>
        </p:txBody>
      </p:sp>
      <p:sp>
        <p:nvSpPr>
          <p:cNvPr id="35" name="Rectangle 34"/>
          <p:cNvSpPr/>
          <p:nvPr/>
        </p:nvSpPr>
        <p:spPr>
          <a:xfrm>
            <a:off x="777240" y="4937760"/>
            <a:ext cx="2148840" cy="5943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14400" y="4937760"/>
            <a:ext cx="1874520" cy="594360"/>
          </a:xfrm>
          <a:prstGeom prst="rect">
            <a:avLst/>
          </a:prstGeom>
          <a:noFill/>
        </p:spPr>
        <p:txBody>
          <a:bodyPr wrap="square" anchor="ctr">
            <a:spAutoFit/>
          </a:bodyPr>
          <a:lstStyle/>
          <a:p>
            <a:pPr algn="l">
              <a:spcAft>
                <a:spcPts val="400"/>
              </a:spcAft>
            </a:pPr>
            <a:r>
              <a:rPr sz="1400" b="1">
                <a:solidFill>
                  <a:srgbClr val="161B26"/>
                </a:solidFill>
                <a:latin typeface="Arial"/>
              </a:rPr>
              <a:t>Hierarchy</a:t>
            </a:r>
          </a:p>
        </p:txBody>
      </p:sp>
      <p:sp>
        <p:nvSpPr>
          <p:cNvPr id="37" name="Rectangle 36"/>
          <p:cNvSpPr/>
          <p:nvPr/>
        </p:nvSpPr>
        <p:spPr>
          <a:xfrm>
            <a:off x="2926080" y="4937760"/>
            <a:ext cx="4242816" cy="5943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090672" y="4937760"/>
            <a:ext cx="3913632" cy="594360"/>
          </a:xfrm>
          <a:prstGeom prst="rect">
            <a:avLst/>
          </a:prstGeom>
          <a:noFill/>
        </p:spPr>
        <p:txBody>
          <a:bodyPr wrap="square" anchor="ctr">
            <a:spAutoFit/>
          </a:bodyPr>
          <a:lstStyle/>
          <a:p>
            <a:pPr algn="l">
              <a:spcAft>
                <a:spcPts val="400"/>
              </a:spcAft>
            </a:pPr>
            <a:r>
              <a:rPr sz="1300" b="0">
                <a:solidFill>
                  <a:srgbClr val="161B26"/>
                </a:solidFill>
                <a:latin typeface="Arial"/>
              </a:rPr>
              <a:t>How are parts organised?</a:t>
            </a:r>
          </a:p>
        </p:txBody>
      </p:sp>
      <p:sp>
        <p:nvSpPr>
          <p:cNvPr id="39" name="Rectangle 38"/>
          <p:cNvSpPr/>
          <p:nvPr/>
        </p:nvSpPr>
        <p:spPr>
          <a:xfrm>
            <a:off x="7168896" y="4937760"/>
            <a:ext cx="4242816" cy="5943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33488" y="4937760"/>
            <a:ext cx="3913632" cy="594360"/>
          </a:xfrm>
          <a:prstGeom prst="rect">
            <a:avLst/>
          </a:prstGeom>
          <a:noFill/>
        </p:spPr>
        <p:txBody>
          <a:bodyPr wrap="square" anchor="ctr">
            <a:spAutoFit/>
          </a:bodyPr>
          <a:lstStyle/>
          <a:p>
            <a:pPr algn="l">
              <a:spcAft>
                <a:spcPts val="400"/>
              </a:spcAft>
            </a:pPr>
            <a:r>
              <a:rPr sz="1300" b="0">
                <a:solidFill>
                  <a:srgbClr val="161B26"/>
                </a:solidFill>
                <a:latin typeface="Arial"/>
              </a:rPr>
              <a:t>Tree, pyramid or organisation chart</a:t>
            </a:r>
          </a:p>
        </p:txBody>
      </p:sp>
      <p:sp>
        <p:nvSpPr>
          <p:cNvPr id="41" name="Rectangle 40"/>
          <p:cNvSpPr/>
          <p:nvPr/>
        </p:nvSpPr>
        <p:spPr>
          <a:xfrm>
            <a:off x="777240" y="5532120"/>
            <a:ext cx="2148840" cy="5943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14400" y="5532120"/>
            <a:ext cx="1874520" cy="594360"/>
          </a:xfrm>
          <a:prstGeom prst="rect">
            <a:avLst/>
          </a:prstGeom>
          <a:noFill/>
        </p:spPr>
        <p:txBody>
          <a:bodyPr wrap="square" anchor="ctr">
            <a:spAutoFit/>
          </a:bodyPr>
          <a:lstStyle/>
          <a:p>
            <a:pPr algn="l">
              <a:spcAft>
                <a:spcPts val="400"/>
              </a:spcAft>
            </a:pPr>
            <a:r>
              <a:rPr sz="1400" b="1">
                <a:solidFill>
                  <a:srgbClr val="161B26"/>
                </a:solidFill>
                <a:latin typeface="Arial"/>
              </a:rPr>
              <a:t>Relationships</a:t>
            </a:r>
          </a:p>
        </p:txBody>
      </p:sp>
      <p:sp>
        <p:nvSpPr>
          <p:cNvPr id="43" name="Rectangle 42"/>
          <p:cNvSpPr/>
          <p:nvPr/>
        </p:nvSpPr>
        <p:spPr>
          <a:xfrm>
            <a:off x="2926080" y="5532120"/>
            <a:ext cx="4242816" cy="5943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090672" y="5532120"/>
            <a:ext cx="3913632" cy="594360"/>
          </a:xfrm>
          <a:prstGeom prst="rect">
            <a:avLst/>
          </a:prstGeom>
          <a:noFill/>
        </p:spPr>
        <p:txBody>
          <a:bodyPr wrap="square" anchor="ctr">
            <a:spAutoFit/>
          </a:bodyPr>
          <a:lstStyle/>
          <a:p>
            <a:pPr algn="l">
              <a:spcAft>
                <a:spcPts val="400"/>
              </a:spcAft>
            </a:pPr>
            <a:r>
              <a:rPr sz="1300" b="0">
                <a:solidFill>
                  <a:srgbClr val="161B26"/>
                </a:solidFill>
                <a:latin typeface="Arial"/>
              </a:rPr>
              <a:t>How do ideas connect?</a:t>
            </a:r>
          </a:p>
        </p:txBody>
      </p:sp>
      <p:sp>
        <p:nvSpPr>
          <p:cNvPr id="45" name="Rectangle 44"/>
          <p:cNvSpPr/>
          <p:nvPr/>
        </p:nvSpPr>
        <p:spPr>
          <a:xfrm>
            <a:off x="7168896" y="5532120"/>
            <a:ext cx="4242816" cy="5943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333488" y="5532120"/>
            <a:ext cx="3913632" cy="594360"/>
          </a:xfrm>
          <a:prstGeom prst="rect">
            <a:avLst/>
          </a:prstGeom>
          <a:noFill/>
        </p:spPr>
        <p:txBody>
          <a:bodyPr wrap="square" anchor="ctr">
            <a:spAutoFit/>
          </a:bodyPr>
          <a:lstStyle/>
          <a:p>
            <a:pPr algn="l">
              <a:spcAft>
                <a:spcPts val="400"/>
              </a:spcAft>
            </a:pPr>
            <a:r>
              <a:rPr sz="1300" b="0">
                <a:solidFill>
                  <a:srgbClr val="161B26"/>
                </a:solidFill>
                <a:latin typeface="Arial"/>
              </a:rPr>
              <a:t>Mind map, network or matrix</a:t>
            </a:r>
          </a:p>
        </p:txBody>
      </p:sp>
      <p:sp>
        <p:nvSpPr>
          <p:cNvPr id="47" name="TextBox 4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48" name="TextBox 4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9" name="TextBox 4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a:t>
            </a:r>
          </a:p>
        </p:txBody>
      </p:sp>
    </p:spTree>
  </p:cSld>
  <p:clrMapOvr>
    <a:masterClrMapping/>
  </p:clrMapOvr>
  <p:transition spd="fast" advClick="1">
    <p:fade/>
  </p:transition>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LU1 · PLANNING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Plan an Infographic in Six Decisions</a:t>
            </a:r>
          </a:p>
        </p:txBody>
      </p:sp>
      <p:sp>
        <p:nvSpPr>
          <p:cNvPr id="6" name="Rectangle 5"/>
          <p:cNvSpPr/>
          <p:nvPr/>
        </p:nvSpPr>
        <p:spPr>
          <a:xfrm>
            <a:off x="777240"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240280"/>
            <a:ext cx="154381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219962" y="2551176"/>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19962" y="255117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0" name="TextBox 9"/>
          <p:cNvSpPr txBox="1"/>
          <p:nvPr/>
        </p:nvSpPr>
        <p:spPr>
          <a:xfrm>
            <a:off x="923544" y="3566160"/>
            <a:ext cx="1251204" cy="1280160"/>
          </a:xfrm>
          <a:prstGeom prst="rect">
            <a:avLst/>
          </a:prstGeom>
          <a:noFill/>
        </p:spPr>
        <p:txBody>
          <a:bodyPr wrap="square" anchor="t">
            <a:spAutoFit/>
          </a:bodyPr>
          <a:lstStyle/>
          <a:p>
            <a:pPr algn="ctr">
              <a:spcAft>
                <a:spcPts val="400"/>
              </a:spcAft>
            </a:pPr>
            <a:r>
              <a:rPr sz="1300" b="0">
                <a:solidFill>
                  <a:srgbClr val="161B26"/>
                </a:solidFill>
                <a:latin typeface="Arial"/>
              </a:rPr>
              <a:t>Audience and action</a:t>
            </a:r>
          </a:p>
        </p:txBody>
      </p:sp>
      <p:sp>
        <p:nvSpPr>
          <p:cNvPr id="11" name="Chevron 10"/>
          <p:cNvSpPr/>
          <p:nvPr/>
        </p:nvSpPr>
        <p:spPr>
          <a:xfrm>
            <a:off x="2339340" y="3447288"/>
            <a:ext cx="237744" cy="329184"/>
          </a:xfrm>
          <a:prstGeom prst="chevron">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95372"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95372" y="2240280"/>
            <a:ext cx="154381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038094" y="2551176"/>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038094" y="255117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6" name="TextBox 15"/>
          <p:cNvSpPr txBox="1"/>
          <p:nvPr/>
        </p:nvSpPr>
        <p:spPr>
          <a:xfrm>
            <a:off x="2741676" y="3566160"/>
            <a:ext cx="1251204" cy="1280160"/>
          </a:xfrm>
          <a:prstGeom prst="rect">
            <a:avLst/>
          </a:prstGeom>
          <a:noFill/>
        </p:spPr>
        <p:txBody>
          <a:bodyPr wrap="square" anchor="t">
            <a:spAutoFit/>
          </a:bodyPr>
          <a:lstStyle/>
          <a:p>
            <a:pPr algn="ctr">
              <a:spcAft>
                <a:spcPts val="400"/>
              </a:spcAft>
            </a:pPr>
            <a:r>
              <a:rPr sz="1300" b="0">
                <a:solidFill>
                  <a:srgbClr val="161B26"/>
                </a:solidFill>
                <a:latin typeface="Arial"/>
              </a:rPr>
              <a:t>Business question</a:t>
            </a:r>
          </a:p>
        </p:txBody>
      </p:sp>
      <p:sp>
        <p:nvSpPr>
          <p:cNvPr id="17" name="Chevron 16"/>
          <p:cNvSpPr/>
          <p:nvPr/>
        </p:nvSpPr>
        <p:spPr>
          <a:xfrm>
            <a:off x="4157472" y="3447288"/>
            <a:ext cx="237744" cy="329184"/>
          </a:xfrm>
          <a:prstGeom prst="chevron">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413504"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413504" y="2240280"/>
            <a:ext cx="154381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4856226" y="2551176"/>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856226" y="255117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2" name="TextBox 21"/>
          <p:cNvSpPr txBox="1"/>
          <p:nvPr/>
        </p:nvSpPr>
        <p:spPr>
          <a:xfrm>
            <a:off x="4559808" y="3566160"/>
            <a:ext cx="1251204" cy="1280160"/>
          </a:xfrm>
          <a:prstGeom prst="rect">
            <a:avLst/>
          </a:prstGeom>
          <a:noFill/>
        </p:spPr>
        <p:txBody>
          <a:bodyPr wrap="square" anchor="t">
            <a:spAutoFit/>
          </a:bodyPr>
          <a:lstStyle/>
          <a:p>
            <a:pPr algn="ctr">
              <a:spcAft>
                <a:spcPts val="400"/>
              </a:spcAft>
            </a:pPr>
            <a:r>
              <a:rPr sz="1300" b="0">
                <a:solidFill>
                  <a:srgbClr val="161B26"/>
                </a:solidFill>
                <a:latin typeface="Arial"/>
              </a:rPr>
              <a:t>Evidence and metrics</a:t>
            </a:r>
          </a:p>
        </p:txBody>
      </p:sp>
      <p:sp>
        <p:nvSpPr>
          <p:cNvPr id="23" name="Chevron 22"/>
          <p:cNvSpPr/>
          <p:nvPr/>
        </p:nvSpPr>
        <p:spPr>
          <a:xfrm>
            <a:off x="5975604" y="3447288"/>
            <a:ext cx="237744" cy="329184"/>
          </a:xfrm>
          <a:prstGeom prst="chevron">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31636"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31636" y="2240280"/>
            <a:ext cx="154381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674358" y="2551176"/>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74358" y="255117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28" name="TextBox 27"/>
          <p:cNvSpPr txBox="1"/>
          <p:nvPr/>
        </p:nvSpPr>
        <p:spPr>
          <a:xfrm>
            <a:off x="6377940" y="3566160"/>
            <a:ext cx="1251204" cy="1280160"/>
          </a:xfrm>
          <a:prstGeom prst="rect">
            <a:avLst/>
          </a:prstGeom>
          <a:noFill/>
        </p:spPr>
        <p:txBody>
          <a:bodyPr wrap="square" anchor="t">
            <a:spAutoFit/>
          </a:bodyPr>
          <a:lstStyle/>
          <a:p>
            <a:pPr algn="ctr">
              <a:spcAft>
                <a:spcPts val="400"/>
              </a:spcAft>
            </a:pPr>
            <a:r>
              <a:rPr sz="1300" b="0">
                <a:solidFill>
                  <a:srgbClr val="161B26"/>
                </a:solidFill>
                <a:latin typeface="Arial"/>
              </a:rPr>
              <a:t>Infographic form</a:t>
            </a:r>
          </a:p>
        </p:txBody>
      </p:sp>
      <p:sp>
        <p:nvSpPr>
          <p:cNvPr id="29" name="Chevron 28"/>
          <p:cNvSpPr/>
          <p:nvPr/>
        </p:nvSpPr>
        <p:spPr>
          <a:xfrm>
            <a:off x="7793736" y="3447288"/>
            <a:ext cx="237744" cy="329184"/>
          </a:xfrm>
          <a:prstGeom prst="chevron">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049768"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049768" y="2240280"/>
            <a:ext cx="154381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8492490" y="2551176"/>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492490" y="255117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4" name="TextBox 33"/>
          <p:cNvSpPr txBox="1"/>
          <p:nvPr/>
        </p:nvSpPr>
        <p:spPr>
          <a:xfrm>
            <a:off x="8196072" y="3566160"/>
            <a:ext cx="1251204" cy="1280160"/>
          </a:xfrm>
          <a:prstGeom prst="rect">
            <a:avLst/>
          </a:prstGeom>
          <a:noFill/>
        </p:spPr>
        <p:txBody>
          <a:bodyPr wrap="square" anchor="t">
            <a:spAutoFit/>
          </a:bodyPr>
          <a:lstStyle/>
          <a:p>
            <a:pPr algn="ctr">
              <a:spcAft>
                <a:spcPts val="400"/>
              </a:spcAft>
            </a:pPr>
            <a:r>
              <a:rPr sz="1300" b="0">
                <a:solidFill>
                  <a:srgbClr val="161B26"/>
                </a:solidFill>
                <a:latin typeface="Arial"/>
              </a:rPr>
              <a:t>Wireframe and hierarchy</a:t>
            </a:r>
          </a:p>
        </p:txBody>
      </p:sp>
      <p:sp>
        <p:nvSpPr>
          <p:cNvPr id="35" name="Chevron 34"/>
          <p:cNvSpPr/>
          <p:nvPr/>
        </p:nvSpPr>
        <p:spPr>
          <a:xfrm>
            <a:off x="9611868" y="3447288"/>
            <a:ext cx="237744" cy="329184"/>
          </a:xfrm>
          <a:prstGeom prst="chevron">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867900"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867900" y="2240280"/>
            <a:ext cx="154381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10310622" y="2551176"/>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310622" y="255117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6</a:t>
            </a:r>
          </a:p>
        </p:txBody>
      </p:sp>
      <p:sp>
        <p:nvSpPr>
          <p:cNvPr id="40" name="TextBox 39"/>
          <p:cNvSpPr txBox="1"/>
          <p:nvPr/>
        </p:nvSpPr>
        <p:spPr>
          <a:xfrm>
            <a:off x="10014204" y="3566160"/>
            <a:ext cx="1251204" cy="1280160"/>
          </a:xfrm>
          <a:prstGeom prst="rect">
            <a:avLst/>
          </a:prstGeom>
          <a:noFill/>
        </p:spPr>
        <p:txBody>
          <a:bodyPr wrap="square" anchor="t">
            <a:spAutoFit/>
          </a:bodyPr>
          <a:lstStyle/>
          <a:p>
            <a:pPr algn="ctr">
              <a:spcAft>
                <a:spcPts val="400"/>
              </a:spcAft>
            </a:pPr>
            <a:r>
              <a:rPr sz="1300" b="0">
                <a:solidFill>
                  <a:srgbClr val="161B26"/>
                </a:solidFill>
                <a:latin typeface="Arial"/>
              </a:rPr>
              <a:t>Review and release</a:t>
            </a:r>
          </a:p>
        </p:txBody>
      </p:sp>
      <p:sp>
        <p:nvSpPr>
          <p:cNvPr id="41" name="Rectangle 40"/>
          <p:cNvSpPr/>
          <p:nvPr/>
        </p:nvSpPr>
        <p:spPr>
          <a:xfrm>
            <a:off x="777240" y="525780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5257800"/>
            <a:ext cx="91440" cy="8229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97280" y="5257800"/>
            <a:ext cx="10058400" cy="822960"/>
          </a:xfrm>
          <a:prstGeom prst="rect">
            <a:avLst/>
          </a:prstGeom>
          <a:noFill/>
        </p:spPr>
        <p:txBody>
          <a:bodyPr wrap="square" anchor="ctr">
            <a:spAutoFit/>
          </a:bodyPr>
          <a:lstStyle/>
          <a:p>
            <a:pPr algn="l">
              <a:spcAft>
                <a:spcPts val="400"/>
              </a:spcAft>
            </a:pPr>
            <a:r>
              <a:rPr sz="1400" b="1">
                <a:solidFill>
                  <a:srgbClr val="161B26"/>
                </a:solidFill>
                <a:latin typeface="Arial"/>
              </a:rPr>
              <a:t>If the business question is unclear, a template or AI tool will produce a faster version of the wrong story.</a:t>
            </a:r>
          </a:p>
        </p:txBody>
      </p:sp>
      <p:sp>
        <p:nvSpPr>
          <p:cNvPr id="44" name="TextBox 4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45" name="TextBox 4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6" name="TextBox 4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a:t>
            </a:r>
          </a:p>
        </p:txBody>
      </p:sp>
    </p:spTree>
  </p:cSld>
  <p:clrMapOvr>
    <a:masterClrMapping/>
  </p:clrMapOvr>
  <p:transition spd="fast" advClick="1">
    <p:fade/>
  </p:transition>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LU1 · WORKED EXAMPLE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Insight Extraction Prompts</a:t>
            </a:r>
          </a:p>
        </p:txBody>
      </p:sp>
      <p:sp>
        <p:nvSpPr>
          <p:cNvPr id="6" name="Rectangle 5"/>
          <p:cNvSpPr/>
          <p:nvPr/>
        </p:nvSpPr>
        <p:spPr>
          <a:xfrm>
            <a:off x="777240" y="2212848"/>
            <a:ext cx="3374136" cy="16413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212848"/>
            <a:ext cx="3374136"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487168"/>
            <a:ext cx="3374136" cy="914400"/>
          </a:xfrm>
          <a:prstGeom prst="rect">
            <a:avLst/>
          </a:prstGeom>
          <a:noFill/>
        </p:spPr>
        <p:txBody>
          <a:bodyPr wrap="square" anchor="t">
            <a:spAutoFit/>
          </a:bodyPr>
          <a:lstStyle/>
          <a:p>
            <a:pPr algn="ctr">
              <a:spcAft>
                <a:spcPts val="400"/>
              </a:spcAft>
            </a:pPr>
            <a:r>
              <a:rPr sz="4000" b="1">
                <a:solidFill>
                  <a:srgbClr val="1F6FEB"/>
                </a:solidFill>
                <a:latin typeface="Arial"/>
              </a:rPr>
              <a:t>SHOW</a:t>
            </a:r>
          </a:p>
        </p:txBody>
      </p:sp>
      <p:sp>
        <p:nvSpPr>
          <p:cNvPr id="9" name="TextBox 8"/>
          <p:cNvSpPr txBox="1"/>
          <p:nvPr/>
        </p:nvSpPr>
        <p:spPr>
          <a:xfrm>
            <a:off x="923544" y="3419856"/>
            <a:ext cx="3081528" cy="713232"/>
          </a:xfrm>
          <a:prstGeom prst="rect">
            <a:avLst/>
          </a:prstGeom>
          <a:noFill/>
        </p:spPr>
        <p:txBody>
          <a:bodyPr wrap="square" anchor="t">
            <a:spAutoFit/>
          </a:bodyPr>
          <a:lstStyle/>
          <a:p>
            <a:pPr algn="ctr">
              <a:spcAft>
                <a:spcPts val="400"/>
              </a:spcAft>
            </a:pPr>
            <a:r>
              <a:rPr sz="1200" b="0">
                <a:solidFill>
                  <a:srgbClr val="161B26"/>
                </a:solidFill>
                <a:latin typeface="Arial"/>
              </a:rPr>
              <a:t>What values, differences or trends are visible?</a:t>
            </a:r>
          </a:p>
        </p:txBody>
      </p:sp>
      <p:sp>
        <p:nvSpPr>
          <p:cNvPr id="10" name="Rectangle 9"/>
          <p:cNvSpPr/>
          <p:nvPr/>
        </p:nvSpPr>
        <p:spPr>
          <a:xfrm>
            <a:off x="4407408" y="2212848"/>
            <a:ext cx="3374136" cy="16413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407408" y="2212848"/>
            <a:ext cx="337413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07408" y="2487168"/>
            <a:ext cx="3374136" cy="914400"/>
          </a:xfrm>
          <a:prstGeom prst="rect">
            <a:avLst/>
          </a:prstGeom>
          <a:noFill/>
        </p:spPr>
        <p:txBody>
          <a:bodyPr wrap="square" anchor="t">
            <a:spAutoFit/>
          </a:bodyPr>
          <a:lstStyle/>
          <a:p>
            <a:pPr algn="ctr">
              <a:spcAft>
                <a:spcPts val="400"/>
              </a:spcAft>
            </a:pPr>
            <a:r>
              <a:rPr sz="4000" b="1">
                <a:solidFill>
                  <a:srgbClr val="10B981"/>
                </a:solidFill>
                <a:latin typeface="Arial"/>
              </a:rPr>
              <a:t>MEAN</a:t>
            </a:r>
          </a:p>
        </p:txBody>
      </p:sp>
      <p:sp>
        <p:nvSpPr>
          <p:cNvPr id="13" name="TextBox 12"/>
          <p:cNvSpPr txBox="1"/>
          <p:nvPr/>
        </p:nvSpPr>
        <p:spPr>
          <a:xfrm>
            <a:off x="4553712" y="3419856"/>
            <a:ext cx="3081528" cy="713232"/>
          </a:xfrm>
          <a:prstGeom prst="rect">
            <a:avLst/>
          </a:prstGeom>
          <a:noFill/>
        </p:spPr>
        <p:txBody>
          <a:bodyPr wrap="square" anchor="t">
            <a:spAutoFit/>
          </a:bodyPr>
          <a:lstStyle/>
          <a:p>
            <a:pPr algn="ctr">
              <a:spcAft>
                <a:spcPts val="400"/>
              </a:spcAft>
            </a:pPr>
            <a:r>
              <a:rPr sz="1200" b="0">
                <a:solidFill>
                  <a:srgbClr val="161B26"/>
                </a:solidFill>
                <a:latin typeface="Arial"/>
              </a:rPr>
              <a:t>What interpretation is plausible but not overstated?</a:t>
            </a:r>
          </a:p>
        </p:txBody>
      </p:sp>
      <p:sp>
        <p:nvSpPr>
          <p:cNvPr id="14" name="Rectangle 13"/>
          <p:cNvSpPr/>
          <p:nvPr/>
        </p:nvSpPr>
        <p:spPr>
          <a:xfrm>
            <a:off x="8037576" y="2212848"/>
            <a:ext cx="3374136" cy="16413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37576" y="2212848"/>
            <a:ext cx="337413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37576" y="2487168"/>
            <a:ext cx="3374136" cy="914400"/>
          </a:xfrm>
          <a:prstGeom prst="rect">
            <a:avLst/>
          </a:prstGeom>
          <a:noFill/>
        </p:spPr>
        <p:txBody>
          <a:bodyPr wrap="square" anchor="t">
            <a:spAutoFit/>
          </a:bodyPr>
          <a:lstStyle/>
          <a:p>
            <a:pPr algn="ctr">
              <a:spcAft>
                <a:spcPts val="400"/>
              </a:spcAft>
            </a:pPr>
            <a:r>
              <a:rPr sz="3000" b="1">
                <a:solidFill>
                  <a:srgbClr val="7C3AED"/>
                </a:solidFill>
                <a:latin typeface="Arial"/>
              </a:rPr>
              <a:t>MATTER</a:t>
            </a:r>
          </a:p>
        </p:txBody>
      </p:sp>
      <p:sp>
        <p:nvSpPr>
          <p:cNvPr id="17" name="TextBox 16"/>
          <p:cNvSpPr txBox="1"/>
          <p:nvPr/>
        </p:nvSpPr>
        <p:spPr>
          <a:xfrm>
            <a:off x="8183880" y="3419856"/>
            <a:ext cx="3081528" cy="713232"/>
          </a:xfrm>
          <a:prstGeom prst="rect">
            <a:avLst/>
          </a:prstGeom>
          <a:noFill/>
        </p:spPr>
        <p:txBody>
          <a:bodyPr wrap="square" anchor="t">
            <a:spAutoFit/>
          </a:bodyPr>
          <a:lstStyle/>
          <a:p>
            <a:pPr algn="ctr">
              <a:spcAft>
                <a:spcPts val="400"/>
              </a:spcAft>
            </a:pPr>
            <a:r>
              <a:rPr sz="1200" b="0">
                <a:solidFill>
                  <a:srgbClr val="161B26"/>
                </a:solidFill>
                <a:latin typeface="Arial"/>
              </a:rPr>
              <a:t>Why does the pattern matter to this audience?</a:t>
            </a:r>
          </a:p>
        </p:txBody>
      </p:sp>
      <p:sp>
        <p:nvSpPr>
          <p:cNvPr id="18" name="Rectangle 17"/>
          <p:cNvSpPr/>
          <p:nvPr/>
        </p:nvSpPr>
        <p:spPr>
          <a:xfrm>
            <a:off x="777240" y="4091940"/>
            <a:ext cx="3374136" cy="16413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4091940"/>
            <a:ext cx="3374136"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4366260"/>
            <a:ext cx="3374136" cy="914400"/>
          </a:xfrm>
          <a:prstGeom prst="rect">
            <a:avLst/>
          </a:prstGeom>
          <a:noFill/>
        </p:spPr>
        <p:txBody>
          <a:bodyPr wrap="square" anchor="t">
            <a:spAutoFit/>
          </a:bodyPr>
          <a:lstStyle/>
          <a:p>
            <a:pPr algn="ctr">
              <a:spcAft>
                <a:spcPts val="400"/>
              </a:spcAft>
            </a:pPr>
            <a:r>
              <a:rPr sz="4000" b="1">
                <a:solidFill>
                  <a:srgbClr val="F59E0B"/>
                </a:solidFill>
                <a:latin typeface="Arial"/>
              </a:rPr>
              <a:t>ACT</a:t>
            </a:r>
          </a:p>
        </p:txBody>
      </p:sp>
      <p:sp>
        <p:nvSpPr>
          <p:cNvPr id="21" name="TextBox 20"/>
          <p:cNvSpPr txBox="1"/>
          <p:nvPr/>
        </p:nvSpPr>
        <p:spPr>
          <a:xfrm>
            <a:off x="923544" y="5298948"/>
            <a:ext cx="3081528" cy="713232"/>
          </a:xfrm>
          <a:prstGeom prst="rect">
            <a:avLst/>
          </a:prstGeom>
          <a:noFill/>
        </p:spPr>
        <p:txBody>
          <a:bodyPr wrap="square" anchor="t">
            <a:spAutoFit/>
          </a:bodyPr>
          <a:lstStyle/>
          <a:p>
            <a:pPr algn="ctr">
              <a:spcAft>
                <a:spcPts val="400"/>
              </a:spcAft>
            </a:pPr>
            <a:r>
              <a:rPr sz="1200" b="0">
                <a:solidFill>
                  <a:srgbClr val="161B26"/>
                </a:solidFill>
                <a:latin typeface="Arial"/>
              </a:rPr>
              <a:t>What proportionate next step is supported?</a:t>
            </a:r>
          </a:p>
        </p:txBody>
      </p:sp>
      <p:sp>
        <p:nvSpPr>
          <p:cNvPr id="22" name="Rectangle 21"/>
          <p:cNvSpPr/>
          <p:nvPr/>
        </p:nvSpPr>
        <p:spPr>
          <a:xfrm>
            <a:off x="4407408" y="4091940"/>
            <a:ext cx="3374136" cy="16413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07408" y="4091940"/>
            <a:ext cx="3374136"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407408" y="4366260"/>
            <a:ext cx="3374136" cy="914400"/>
          </a:xfrm>
          <a:prstGeom prst="rect">
            <a:avLst/>
          </a:prstGeom>
          <a:noFill/>
        </p:spPr>
        <p:txBody>
          <a:bodyPr wrap="square" anchor="t">
            <a:spAutoFit/>
          </a:bodyPr>
          <a:lstStyle/>
          <a:p>
            <a:pPr algn="ctr">
              <a:spcAft>
                <a:spcPts val="400"/>
              </a:spcAft>
            </a:pPr>
            <a:r>
              <a:rPr sz="4000" b="1">
                <a:solidFill>
                  <a:srgbClr val="1F6FEB"/>
                </a:solidFill>
                <a:latin typeface="Arial"/>
              </a:rPr>
              <a:t>LIMIT</a:t>
            </a:r>
          </a:p>
        </p:txBody>
      </p:sp>
      <p:sp>
        <p:nvSpPr>
          <p:cNvPr id="25" name="TextBox 24"/>
          <p:cNvSpPr txBox="1"/>
          <p:nvPr/>
        </p:nvSpPr>
        <p:spPr>
          <a:xfrm>
            <a:off x="4553712" y="5298948"/>
            <a:ext cx="3081528" cy="713232"/>
          </a:xfrm>
          <a:prstGeom prst="rect">
            <a:avLst/>
          </a:prstGeom>
          <a:noFill/>
        </p:spPr>
        <p:txBody>
          <a:bodyPr wrap="square" anchor="t">
            <a:spAutoFit/>
          </a:bodyPr>
          <a:lstStyle/>
          <a:p>
            <a:pPr algn="ctr">
              <a:spcAft>
                <a:spcPts val="400"/>
              </a:spcAft>
            </a:pPr>
            <a:r>
              <a:rPr sz="1200" b="0">
                <a:solidFill>
                  <a:srgbClr val="161B26"/>
                </a:solidFill>
                <a:latin typeface="Arial"/>
              </a:rPr>
              <a:t>What sample, denominator or uncertainty qualifies it?</a:t>
            </a:r>
          </a:p>
        </p:txBody>
      </p:sp>
      <p:sp>
        <p:nvSpPr>
          <p:cNvPr id="26" name="Rectangle 25"/>
          <p:cNvSpPr/>
          <p:nvPr/>
        </p:nvSpPr>
        <p:spPr>
          <a:xfrm>
            <a:off x="8037576" y="4091940"/>
            <a:ext cx="3374136" cy="16413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37576" y="4091940"/>
            <a:ext cx="337413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37576" y="4366260"/>
            <a:ext cx="3374136" cy="914400"/>
          </a:xfrm>
          <a:prstGeom prst="rect">
            <a:avLst/>
          </a:prstGeom>
          <a:noFill/>
        </p:spPr>
        <p:txBody>
          <a:bodyPr wrap="square" anchor="t">
            <a:spAutoFit/>
          </a:bodyPr>
          <a:lstStyle/>
          <a:p>
            <a:pPr algn="ctr">
              <a:spcAft>
                <a:spcPts val="400"/>
              </a:spcAft>
            </a:pPr>
            <a:r>
              <a:rPr sz="4000" b="1">
                <a:solidFill>
                  <a:srgbClr val="10B981"/>
                </a:solidFill>
                <a:latin typeface="Arial"/>
              </a:rPr>
              <a:t>CHECK</a:t>
            </a:r>
          </a:p>
        </p:txBody>
      </p:sp>
      <p:sp>
        <p:nvSpPr>
          <p:cNvPr id="29" name="TextBox 28"/>
          <p:cNvSpPr txBox="1"/>
          <p:nvPr/>
        </p:nvSpPr>
        <p:spPr>
          <a:xfrm>
            <a:off x="8183880" y="5298948"/>
            <a:ext cx="3081528" cy="713232"/>
          </a:xfrm>
          <a:prstGeom prst="rect">
            <a:avLst/>
          </a:prstGeom>
          <a:noFill/>
        </p:spPr>
        <p:txBody>
          <a:bodyPr wrap="square" anchor="t">
            <a:spAutoFit/>
          </a:bodyPr>
          <a:lstStyle/>
          <a:p>
            <a:pPr algn="ctr">
              <a:spcAft>
                <a:spcPts val="400"/>
              </a:spcAft>
            </a:pPr>
            <a:r>
              <a:rPr sz="1200" b="0">
                <a:solidFill>
                  <a:srgbClr val="161B26"/>
                </a:solidFill>
                <a:latin typeface="Arial"/>
              </a:rPr>
              <a:t>Can another reader reproduce the claim?</a:t>
            </a:r>
          </a:p>
        </p:txBody>
      </p:sp>
      <p:sp>
        <p:nvSpPr>
          <p:cNvPr id="30" name="Rectangle 29"/>
          <p:cNvSpPr/>
          <p:nvPr/>
        </p:nvSpPr>
        <p:spPr>
          <a:xfrm>
            <a:off x="777240" y="5897880"/>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77240" y="5897880"/>
            <a:ext cx="9144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97280" y="5897880"/>
            <a:ext cx="10058400" cy="530352"/>
          </a:xfrm>
          <a:prstGeom prst="rect">
            <a:avLst/>
          </a:prstGeom>
          <a:noFill/>
        </p:spPr>
        <p:txBody>
          <a:bodyPr wrap="square" anchor="ctr">
            <a:spAutoFit/>
          </a:bodyPr>
          <a:lstStyle/>
          <a:p>
            <a:pPr algn="l">
              <a:spcAft>
                <a:spcPts val="400"/>
              </a:spcAft>
            </a:pPr>
            <a:r>
              <a:rPr sz="1200" b="1">
                <a:solidFill>
                  <a:srgbClr val="161B26"/>
                </a:solidFill>
                <a:latin typeface="Arial"/>
              </a:rPr>
              <a:t>Separate observation from interpretation before writing the recommendation.</a:t>
            </a:r>
          </a:p>
        </p:txBody>
      </p:sp>
      <p:sp>
        <p:nvSpPr>
          <p:cNvPr id="33" name="TextBox 3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34" name="TextBox 3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5" name="TextBox 3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a:t>
            </a:r>
          </a:p>
        </p:txBody>
      </p:sp>
    </p:spTree>
  </p:cSld>
  <p:clrMapOvr>
    <a:masterClrMapping/>
  </p:clrMapOvr>
  <p:transition spd="fast" advClick="1">
    <p:fade/>
  </p:transition>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600" b="1">
                <a:solidFill>
                  <a:srgbClr val="10B981"/>
                </a:solidFill>
                <a:latin typeface="Arial"/>
              </a:rPr>
              <a:t>LO1 · LU1 · T1</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2600" b="1">
                <a:solidFill>
                  <a:srgbClr val="161B26"/>
                </a:solidFill>
                <a:latin typeface="Arial"/>
              </a:rPr>
              <a:t>statistical infographics show the pattern; context determines the decision</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T1</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a:t>
            </a:r>
          </a:p>
        </p:txBody>
      </p:sp>
    </p:spTree>
  </p:cSld>
  <p:clrMapOvr>
    <a:masterClrMapping/>
  </p:clrMapOvr>
  <p:transition spd="fast" advClick="1">
    <p:push dir="u"/>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350"/>
                                        <p:tgtEl>
                                          <p:spTgt spid="4"/>
                                        </p:tgtEl>
                                      </p:cBhvr>
                                    </p:animEffect>
                                    <p:anim calcmode="lin" valueType="num">
                                      <p:cBhvr additive="base">
                                        <p:cTn id="15" dur="350" fill="hold"/>
                                        <p:tgtEl>
                                          <p:spTgt spid="4"/>
                                        </p:tgtEl>
                                        <p:attrNameLst>
                                          <p:attrName>ppt_y</p:attrName>
                                        </p:attrNameLst>
                                      </p:cBhvr>
                                      <p:tavLst>
                                        <p:tav tm="0">
                                          <p:val>
                                            <p:strVal val="#ppt_y+0.0350"/>
                                          </p:val>
                                        </p:tav>
                                        <p:tav tm="100000">
                                          <p:val>
                                            <p:strVal val="#ppt_y"/>
                                          </p:val>
                                        </p:tav>
                                      </p:tavLst>
                                    </p:anim>
                                  </p:childTnLst>
                                </p:cTn>
                              </p:par>
                            </p:childTnLst>
                          </p:cTn>
                        </p:par>
                      </p:childTnLst>
                    </p:cTn>
                  </p:par>
                  <p:par>
                    <p:cTn id="20" fill="hold">
                      <p:stCondLst>
                        <p:cond delay="0"/>
                      </p:stCondLst>
                      <p:childTnLst>
                        <p:par>
                          <p:cTn id="21" fill="hold">
                            <p:stCondLst>
                              <p:cond delay="0"/>
                            </p:stCondLst>
                            <p:childTnLst>
                              <p:par>
                                <p:cTn id="22" presetID="10" presetClass="entr" presetSubtype="0" fill="hold" grpId="0" nodeType="afterEffect">
                                  <p:stCondLst>
                                    <p:cond delay="0"/>
                                  </p:stCondLst>
                                  <p:childTnLst>
                                    <p:set>
                                      <p:cBhvr>
                                        <p:cTn id="23" dur="1" fill="hold">
                                          <p:stCondLst>
                                            <p:cond delay="0"/>
                                          </p:stCondLst>
                                        </p:cTn>
                                        <p:tgtEl>
                                          <p:spTgt spid="5"/>
                                        </p:tgtEl>
                                        <p:attrNameLst>
                                          <p:attrName>style.visibility</p:attrName>
                                        </p:attrNameLst>
                                      </p:cBhvr>
                                      <p:to>
                                        <p:strVal val="visible"/>
                                      </p:to>
                                    </p:set>
                                    <p:animEffect transition="in" filter="fade">
                                      <p:cBhvr>
                                        <p:cTn id="24" dur="350"/>
                                        <p:tgtEl>
                                          <p:spTgt spid="5"/>
                                        </p:tgtEl>
                                      </p:cBhvr>
                                    </p:animEffect>
                                    <p:anim calcmode="lin" valueType="num">
                                      <p:cBhvr additive="base">
                                        <p:cTn id="25" dur="350" fill="hold"/>
                                        <p:tgtEl>
                                          <p:spTgt spid="5"/>
                                        </p:tgtEl>
                                        <p:attrNameLst>
                                          <p:attrName>ppt_y</p:attrName>
                                        </p:attrNameLst>
                                      </p:cBhvr>
                                      <p:tavLst>
                                        <p:tav tm="0">
                                          <p:val>
                                            <p:strVal val="#ppt_y+0.0350"/>
                                          </p:val>
                                        </p:tav>
                                        <p:tav tm="100000">
                                          <p:val>
                                            <p:strVal val="#ppt_y"/>
                                          </p:val>
                                        </p:tav>
                                      </p:tavLst>
                                    </p:anim>
                                  </p:childTnLst>
                                </p:cTn>
                              </p:par>
                            </p:childTnLst>
                          </p:cTn>
                        </p:par>
                      </p:childTnLst>
                    </p:cTn>
                  </p:par>
                  <p:par>
                    <p:cTn id="30" fill="hold">
                      <p:stCondLst>
                        <p:cond delay="0"/>
                      </p:stCondLst>
                      <p:childTnLst>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6"/>
                                        </p:tgtEl>
                                        <p:attrNameLst>
                                          <p:attrName>style.visibility</p:attrName>
                                        </p:attrNameLst>
                                      </p:cBhvr>
                                      <p:to>
                                        <p:strVal val="visible"/>
                                      </p:to>
                                    </p:set>
                                    <p:animEffect transition="in" filter="fade">
                                      <p:cBhvr>
                                        <p:cTn id="34" dur="350"/>
                                        <p:tgtEl>
                                          <p:spTgt spid="6"/>
                                        </p:tgtEl>
                                      </p:cBhvr>
                                    </p:animEffect>
                                    <p:anim calcmode="lin" valueType="num">
                                      <p:cBhvr additive="base">
                                        <p:cTn id="35" dur="350" fill="hold"/>
                                        <p:tgtEl>
                                          <p:spTgt spid="6"/>
                                        </p:tgtEl>
                                        <p:attrNameLst>
                                          <p:attrName>ppt_y</p:attrName>
                                        </p:attrNameLst>
                                      </p:cBhvr>
                                      <p:tavLst>
                                        <p:tav tm="0">
                                          <p:val>
                                            <p:strVal val="#ppt_y+0.0350"/>
                                          </p:val>
                                        </p:tav>
                                        <p:tav tm="100000">
                                          <p:val>
                                            <p:strVal val="#ppt_y"/>
                                          </p:val>
                                        </p:tav>
                                      </p:tavLst>
                                    </p:anim>
                                  </p:childTnLst>
                                </p:cTn>
                              </p:par>
                            </p:childTnLst>
                          </p:cTn>
                        </p:par>
                      </p:childTnLst>
                    </p:cTn>
                  </p:par>
                </p:childTnLst>
                <p:prevCondLst>
                  <p:cond evt="onPrev" delay="0">
                    <p:tgtEl>
                      <p:sldTgt/>
                    </p:tgtEl>
                  </p:cond>
                </p:prevCondLst>
                <p:nextCondLst>
                  <p:cond evt="onNext" delay="0">
                    <p:tgtEl>
                      <p:sldTgt/>
                    </p:tgtEl>
                  </p:cond>
                </p:nextCondLst>
              </p:cTn>
            </p:seq>
          </p:childTnLst>
        </p:cTn>
      </p:par>
    </p:tn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LO1 · LU1 · T1</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1800" b="1">
                <a:solidFill>
                  <a:srgbClr val="161B26"/>
                </a:solidFill>
                <a:latin typeface="Arial"/>
              </a:rPr>
              <a:t>What is statistical infographics show the pattern; context determines the decision?</a:t>
            </a:r>
          </a:p>
        </p:txBody>
      </p:sp>
      <p:sp>
        <p:nvSpPr>
          <p:cNvPr id="6" name="Rectangle 5"/>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0" name="TextBox 9"/>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Observation</a:t>
            </a:r>
          </a:p>
          <a:p>
            <a:pPr algn="l">
              <a:spcAft>
                <a:spcPts val="300"/>
              </a:spcAft>
            </a:pPr>
            <a:r>
              <a:rPr sz="1200" b="0">
                <a:solidFill>
                  <a:srgbClr val="5B6372"/>
                </a:solidFill>
                <a:latin typeface="Arial"/>
              </a:rPr>
              <a:t>What values, differences, trends or outliers are visible?</a:t>
            </a:r>
          </a:p>
        </p:txBody>
      </p:sp>
      <p:sp>
        <p:nvSpPr>
          <p:cNvPr id="11" name="Rectangle 10"/>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5" name="TextBox 14"/>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Interpretation</a:t>
            </a:r>
          </a:p>
          <a:p>
            <a:pPr algn="l">
              <a:spcAft>
                <a:spcPts val="300"/>
              </a:spcAft>
            </a:pPr>
            <a:r>
              <a:rPr sz="1200" b="0">
                <a:solidFill>
                  <a:srgbClr val="5B6372"/>
                </a:solidFill>
                <a:latin typeface="Arial"/>
              </a:rPr>
              <a:t>What relationship is suggested without claiming unsupported causation?</a:t>
            </a:r>
          </a:p>
        </p:txBody>
      </p:sp>
      <p:sp>
        <p:nvSpPr>
          <p:cNvPr id="16" name="Rectangle 15"/>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0" name="TextBox 19"/>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Implication</a:t>
            </a:r>
          </a:p>
          <a:p>
            <a:pPr algn="l">
              <a:spcAft>
                <a:spcPts val="300"/>
              </a:spcAft>
            </a:pPr>
            <a:r>
              <a:rPr sz="1200" b="0">
                <a:solidFill>
                  <a:srgbClr val="5B6372"/>
                </a:solidFill>
                <a:latin typeface="Arial"/>
              </a:rPr>
              <a:t>Why does the finding matter to the stated audience?</a:t>
            </a:r>
          </a:p>
        </p:txBody>
      </p:sp>
      <p:sp>
        <p:nvSpPr>
          <p:cNvPr id="21" name="Rectangle 20"/>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5" name="TextBox 24"/>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Action</a:t>
            </a:r>
          </a:p>
          <a:p>
            <a:pPr algn="l">
              <a:spcAft>
                <a:spcPts val="300"/>
              </a:spcAft>
            </a:pPr>
            <a:r>
              <a:rPr sz="1200" b="0">
                <a:solidFill>
                  <a:srgbClr val="5B6372"/>
                </a:solidFill>
                <a:latin typeface="Arial"/>
              </a:rPr>
              <a:t>What proportionate next step is supported by the evidence?</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27</a:t>
            </a:r>
          </a:p>
        </p:txBody>
      </p:sp>
      <p:sp>
        <p:nvSpPr>
          <p:cNvPr id="29" name="TextBox 28"/>
          <p:cNvSpPr txBox="1"/>
          <p:nvPr/>
        </p:nvSpPr>
        <p:spPr>
          <a:xfrm>
            <a:off x="777240" y="6163056"/>
            <a:ext cx="10607040" cy="201168"/>
          </a:xfrm>
          <a:prstGeom prst="rect">
            <a:avLst/>
          </a:prstGeom>
          <a:noFill/>
        </p:spPr>
        <p:txBody>
          <a:bodyPr wrap="square" anchor="t">
            <a:spAutoFit/>
          </a:bodyPr>
          <a:lstStyle/>
          <a:p>
            <a:pPr algn="l">
              <a:spcAft>
                <a:spcPts val="400"/>
              </a:spcAft>
            </a:pPr>
            <a:r>
              <a:rPr sz="850" b="0">
                <a:solidFill>
                  <a:srgbClr val="5B6372"/>
                </a:solidFill>
                <a:latin typeface="Arial"/>
              </a:rPr>
              <a:t>Source: course synthesis</a:t>
            </a:r>
          </a:p>
        </p:txBody>
      </p:sp>
    </p:spTree>
  </p:cSld>
  <p:clrMapOvr>
    <a:masterClrMapping/>
  </p:clrMapOvr>
  <p:transition spd="fast" advClick="1">
    <p:fade/>
  </p:transition>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LO1 · LU1 · T1 · HOW IT WORKS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Collect, Clean, Analyse, Verify</a:t>
            </a:r>
          </a:p>
        </p:txBody>
      </p:sp>
      <p:sp>
        <p:nvSpPr>
          <p:cNvPr id="6" name="Rectangle 5"/>
          <p:cNvSpPr/>
          <p:nvPr/>
        </p:nvSpPr>
        <p:spPr>
          <a:xfrm>
            <a:off x="777240" y="2331720"/>
            <a:ext cx="1907438"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401775" y="2642616"/>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401775" y="264261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0" name="TextBox 9"/>
          <p:cNvSpPr txBox="1"/>
          <p:nvPr/>
        </p:nvSpPr>
        <p:spPr>
          <a:xfrm>
            <a:off x="905256" y="3429000"/>
            <a:ext cx="1651406" cy="365760"/>
          </a:xfrm>
          <a:prstGeom prst="rect">
            <a:avLst/>
          </a:prstGeom>
          <a:noFill/>
        </p:spPr>
        <p:txBody>
          <a:bodyPr wrap="square" anchor="t">
            <a:spAutoFit/>
          </a:bodyPr>
          <a:lstStyle/>
          <a:p>
            <a:pPr algn="ctr">
              <a:spcAft>
                <a:spcPts val="400"/>
              </a:spcAft>
            </a:pPr>
            <a:r>
              <a:rPr sz="1400" b="1">
                <a:solidFill>
                  <a:srgbClr val="161B26"/>
                </a:solidFill>
                <a:latin typeface="Arial"/>
              </a:rPr>
              <a:t>Collect</a:t>
            </a:r>
          </a:p>
        </p:txBody>
      </p:sp>
      <p:sp>
        <p:nvSpPr>
          <p:cNvPr id="11" name="TextBox 10"/>
          <p:cNvSpPr txBox="1"/>
          <p:nvPr/>
        </p:nvSpPr>
        <p:spPr>
          <a:xfrm>
            <a:off x="905256" y="3813048"/>
            <a:ext cx="1651406" cy="1280160"/>
          </a:xfrm>
          <a:prstGeom prst="rect">
            <a:avLst/>
          </a:prstGeom>
          <a:noFill/>
        </p:spPr>
        <p:txBody>
          <a:bodyPr wrap="square" anchor="t">
            <a:spAutoFit/>
          </a:bodyPr>
          <a:lstStyle/>
          <a:p>
            <a:pPr algn="ctr">
              <a:spcAft>
                <a:spcPts val="400"/>
              </a:spcAft>
            </a:pPr>
            <a:r>
              <a:rPr sz="1250" b="0">
                <a:solidFill>
                  <a:srgbClr val="5B6372"/>
                </a:solidFill>
                <a:latin typeface="Arial"/>
              </a:rPr>
              <a:t>Register the approved CSV, workbook and research notes.</a:t>
            </a:r>
          </a:p>
        </p:txBody>
      </p:sp>
      <p:sp>
        <p:nvSpPr>
          <p:cNvPr id="12" name="Chevron 11"/>
          <p:cNvSpPr/>
          <p:nvPr/>
        </p:nvSpPr>
        <p:spPr>
          <a:xfrm>
            <a:off x="2702966" y="3607308"/>
            <a:ext cx="237744" cy="329184"/>
          </a:xfrm>
          <a:prstGeom prst="chevron">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958998" y="2331720"/>
            <a:ext cx="1907438"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58998" y="233172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83533" y="2642616"/>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83533" y="264261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7" name="TextBox 16"/>
          <p:cNvSpPr txBox="1"/>
          <p:nvPr/>
        </p:nvSpPr>
        <p:spPr>
          <a:xfrm>
            <a:off x="3087014" y="3429000"/>
            <a:ext cx="1651406" cy="365760"/>
          </a:xfrm>
          <a:prstGeom prst="rect">
            <a:avLst/>
          </a:prstGeom>
          <a:noFill/>
        </p:spPr>
        <p:txBody>
          <a:bodyPr wrap="square" anchor="t">
            <a:spAutoFit/>
          </a:bodyPr>
          <a:lstStyle/>
          <a:p>
            <a:pPr algn="ctr">
              <a:spcAft>
                <a:spcPts val="400"/>
              </a:spcAft>
            </a:pPr>
            <a:r>
              <a:rPr sz="1400" b="1">
                <a:solidFill>
                  <a:srgbClr val="161B26"/>
                </a:solidFill>
                <a:latin typeface="Arial"/>
              </a:rPr>
              <a:t>Clean</a:t>
            </a:r>
          </a:p>
        </p:txBody>
      </p:sp>
      <p:sp>
        <p:nvSpPr>
          <p:cNvPr id="18" name="TextBox 17"/>
          <p:cNvSpPr txBox="1"/>
          <p:nvPr/>
        </p:nvSpPr>
        <p:spPr>
          <a:xfrm>
            <a:off x="3087014" y="3813048"/>
            <a:ext cx="1651406" cy="1280160"/>
          </a:xfrm>
          <a:prstGeom prst="rect">
            <a:avLst/>
          </a:prstGeom>
          <a:noFill/>
        </p:spPr>
        <p:txBody>
          <a:bodyPr wrap="square" anchor="t">
            <a:spAutoFit/>
          </a:bodyPr>
          <a:lstStyle/>
          <a:p>
            <a:pPr algn="ctr">
              <a:spcAft>
                <a:spcPts val="400"/>
              </a:spcAft>
            </a:pPr>
            <a:r>
              <a:rPr sz="1250" b="0">
                <a:solidFill>
                  <a:srgbClr val="5B6372"/>
                </a:solidFill>
                <a:latin typeface="Arial"/>
              </a:rPr>
              <a:t>Standardise labels, units and missing-value handling without changing raw evidence.</a:t>
            </a:r>
          </a:p>
        </p:txBody>
      </p:sp>
      <p:sp>
        <p:nvSpPr>
          <p:cNvPr id="19" name="Chevron 18"/>
          <p:cNvSpPr/>
          <p:nvPr/>
        </p:nvSpPr>
        <p:spPr>
          <a:xfrm>
            <a:off x="4884724" y="3607308"/>
            <a:ext cx="237744" cy="329184"/>
          </a:xfrm>
          <a:prstGeom prst="chevron">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40756" y="2331720"/>
            <a:ext cx="1907438"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140756" y="233172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765291" y="2642616"/>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765291" y="264261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4" name="TextBox 23"/>
          <p:cNvSpPr txBox="1"/>
          <p:nvPr/>
        </p:nvSpPr>
        <p:spPr>
          <a:xfrm>
            <a:off x="5268772" y="3429000"/>
            <a:ext cx="1651406" cy="365760"/>
          </a:xfrm>
          <a:prstGeom prst="rect">
            <a:avLst/>
          </a:prstGeom>
          <a:noFill/>
        </p:spPr>
        <p:txBody>
          <a:bodyPr wrap="square" anchor="t">
            <a:spAutoFit/>
          </a:bodyPr>
          <a:lstStyle/>
          <a:p>
            <a:pPr algn="ctr">
              <a:spcAft>
                <a:spcPts val="400"/>
              </a:spcAft>
            </a:pPr>
            <a:r>
              <a:rPr sz="1400" b="1">
                <a:solidFill>
                  <a:srgbClr val="161B26"/>
                </a:solidFill>
                <a:latin typeface="Arial"/>
              </a:rPr>
              <a:t>Analyse</a:t>
            </a:r>
          </a:p>
        </p:txBody>
      </p:sp>
      <p:sp>
        <p:nvSpPr>
          <p:cNvPr id="25" name="TextBox 24"/>
          <p:cNvSpPr txBox="1"/>
          <p:nvPr/>
        </p:nvSpPr>
        <p:spPr>
          <a:xfrm>
            <a:off x="5268772" y="3813048"/>
            <a:ext cx="1651406" cy="1280160"/>
          </a:xfrm>
          <a:prstGeom prst="rect">
            <a:avLst/>
          </a:prstGeom>
          <a:noFill/>
        </p:spPr>
        <p:txBody>
          <a:bodyPr wrap="square" anchor="t">
            <a:spAutoFit/>
          </a:bodyPr>
          <a:lstStyle/>
          <a:p>
            <a:pPr algn="ctr">
              <a:spcAft>
                <a:spcPts val="400"/>
              </a:spcAft>
            </a:pPr>
            <a:r>
              <a:rPr sz="1250" b="0">
                <a:solidFill>
                  <a:srgbClr val="5B6372"/>
                </a:solidFill>
                <a:latin typeface="Arial"/>
              </a:rPr>
              <a:t>Prompt AI for patterns, exceptions and competing explanations.</a:t>
            </a:r>
          </a:p>
        </p:txBody>
      </p:sp>
      <p:sp>
        <p:nvSpPr>
          <p:cNvPr id="26" name="Chevron 25"/>
          <p:cNvSpPr/>
          <p:nvPr/>
        </p:nvSpPr>
        <p:spPr>
          <a:xfrm>
            <a:off x="7066482" y="3607308"/>
            <a:ext cx="237744" cy="329184"/>
          </a:xfrm>
          <a:prstGeom prst="chevron">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322514" y="2331720"/>
            <a:ext cx="1907438"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22514" y="233172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947049" y="2642616"/>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947049" y="264261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1" name="TextBox 30"/>
          <p:cNvSpPr txBox="1"/>
          <p:nvPr/>
        </p:nvSpPr>
        <p:spPr>
          <a:xfrm>
            <a:off x="7450530" y="3429000"/>
            <a:ext cx="1651406" cy="365760"/>
          </a:xfrm>
          <a:prstGeom prst="rect">
            <a:avLst/>
          </a:prstGeom>
          <a:noFill/>
        </p:spPr>
        <p:txBody>
          <a:bodyPr wrap="square" anchor="t">
            <a:spAutoFit/>
          </a:bodyPr>
          <a:lstStyle/>
          <a:p>
            <a:pPr algn="ctr">
              <a:spcAft>
                <a:spcPts val="400"/>
              </a:spcAft>
            </a:pPr>
            <a:r>
              <a:rPr sz="1400" b="1">
                <a:solidFill>
                  <a:srgbClr val="161B26"/>
                </a:solidFill>
                <a:latin typeface="Arial"/>
              </a:rPr>
              <a:t>Verify</a:t>
            </a:r>
          </a:p>
        </p:txBody>
      </p:sp>
      <p:sp>
        <p:nvSpPr>
          <p:cNvPr id="32" name="TextBox 31"/>
          <p:cNvSpPr txBox="1"/>
          <p:nvPr/>
        </p:nvSpPr>
        <p:spPr>
          <a:xfrm>
            <a:off x="7450530" y="3813048"/>
            <a:ext cx="1651406" cy="1280160"/>
          </a:xfrm>
          <a:prstGeom prst="rect">
            <a:avLst/>
          </a:prstGeom>
          <a:noFill/>
        </p:spPr>
        <p:txBody>
          <a:bodyPr wrap="square" anchor="t">
            <a:spAutoFit/>
          </a:bodyPr>
          <a:lstStyle/>
          <a:p>
            <a:pPr algn="ctr">
              <a:spcAft>
                <a:spcPts val="400"/>
              </a:spcAft>
            </a:pPr>
            <a:r>
              <a:rPr sz="1250" b="0">
                <a:solidFill>
                  <a:srgbClr val="5B6372"/>
                </a:solidFill>
                <a:latin typeface="Arial"/>
              </a:rPr>
              <a:t>Reproduce critical calculations and trace every claim to a source.</a:t>
            </a:r>
          </a:p>
        </p:txBody>
      </p:sp>
      <p:sp>
        <p:nvSpPr>
          <p:cNvPr id="33" name="Chevron 32"/>
          <p:cNvSpPr/>
          <p:nvPr/>
        </p:nvSpPr>
        <p:spPr>
          <a:xfrm>
            <a:off x="9248240" y="3607308"/>
            <a:ext cx="237744" cy="329184"/>
          </a:xfrm>
          <a:prstGeom prst="chevron">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504272" y="2331720"/>
            <a:ext cx="1907438"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504272" y="233172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0128807" y="2642616"/>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128807" y="264261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8" name="TextBox 37"/>
          <p:cNvSpPr txBox="1"/>
          <p:nvPr/>
        </p:nvSpPr>
        <p:spPr>
          <a:xfrm>
            <a:off x="9632288" y="3429000"/>
            <a:ext cx="1651406" cy="365760"/>
          </a:xfrm>
          <a:prstGeom prst="rect">
            <a:avLst/>
          </a:prstGeom>
          <a:noFill/>
        </p:spPr>
        <p:txBody>
          <a:bodyPr wrap="square" anchor="t">
            <a:spAutoFit/>
          </a:bodyPr>
          <a:lstStyle/>
          <a:p>
            <a:pPr algn="ctr">
              <a:spcAft>
                <a:spcPts val="400"/>
              </a:spcAft>
            </a:pPr>
            <a:r>
              <a:rPr sz="1400" b="1">
                <a:solidFill>
                  <a:srgbClr val="161B26"/>
                </a:solidFill>
                <a:latin typeface="Arial"/>
              </a:rPr>
              <a:t>Extract</a:t>
            </a:r>
          </a:p>
        </p:txBody>
      </p:sp>
      <p:sp>
        <p:nvSpPr>
          <p:cNvPr id="39" name="TextBox 38"/>
          <p:cNvSpPr txBox="1"/>
          <p:nvPr/>
        </p:nvSpPr>
        <p:spPr>
          <a:xfrm>
            <a:off x="9632288" y="3813048"/>
            <a:ext cx="1651406" cy="1280160"/>
          </a:xfrm>
          <a:prstGeom prst="rect">
            <a:avLst/>
          </a:prstGeom>
          <a:noFill/>
        </p:spPr>
        <p:txBody>
          <a:bodyPr wrap="square" anchor="t">
            <a:spAutoFit/>
          </a:bodyPr>
          <a:lstStyle/>
          <a:p>
            <a:pPr algn="ctr">
              <a:spcAft>
                <a:spcPts val="400"/>
              </a:spcAft>
            </a:pPr>
            <a:r>
              <a:rPr sz="1250" b="0">
                <a:solidFill>
                  <a:srgbClr val="5B6372"/>
                </a:solidFill>
                <a:latin typeface="Arial"/>
              </a:rPr>
              <a:t>Write show–mean–matter–act insights with caveats.</a:t>
            </a:r>
          </a:p>
        </p:txBody>
      </p:sp>
      <p:sp>
        <p:nvSpPr>
          <p:cNvPr id="40" name="TextBox 3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41" name="TextBox 4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2" name="TextBox 4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28</a:t>
            </a:r>
          </a:p>
        </p:txBody>
      </p:sp>
    </p:spTree>
  </p:cSld>
  <p:clrMapOvr>
    <a:masterClrMapping/>
  </p:clrMapOvr>
  <p:transition spd="fast" advClick="1">
    <p:fade/>
  </p:transition>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LO1 · LU1 · T1 · COMPARE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Pattern vs Unsupported Story</a:t>
            </a:r>
          </a:p>
        </p:txBody>
      </p:sp>
      <p:sp>
        <p:nvSpPr>
          <p:cNvPr id="6" name="Rectangle 5"/>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Defensible</a:t>
            </a:r>
          </a:p>
        </p:txBody>
      </p:sp>
      <p:sp>
        <p:nvSpPr>
          <p:cNvPr id="9" name="TextBox 8"/>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Overclaim</a:t>
            </a:r>
          </a:p>
        </p:txBody>
      </p:sp>
      <p:sp>
        <p:nvSpPr>
          <p:cNvPr id="10" name="TextBox 9"/>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Repeat customers rate delivery 8 points higher</a:t>
            </a:r>
          </a:p>
          <a:p>
            <a:pPr>
              <a:spcAft>
                <a:spcPts val="1000"/>
              </a:spcAft>
            </a:pPr>
            <a:r>
              <a:rPr sz="1600" b="0">
                <a:solidFill>
                  <a:srgbClr val="161B26"/>
                </a:solidFill>
                <a:latin typeface="Arial"/>
              </a:rPr>
              <a:t>•  The result applies to this sample and period</a:t>
            </a:r>
          </a:p>
          <a:p>
            <a:pPr>
              <a:spcAft>
                <a:spcPts val="1000"/>
              </a:spcAft>
            </a:pPr>
            <a:r>
              <a:rPr sz="1600" b="0">
                <a:solidFill>
                  <a:srgbClr val="161B26"/>
                </a:solidFill>
                <a:latin typeface="Arial"/>
              </a:rPr>
              <a:t>•  Test delivery messaging in the next campaign</a:t>
            </a:r>
          </a:p>
        </p:txBody>
      </p:sp>
      <p:sp>
        <p:nvSpPr>
          <p:cNvPr id="11" name="TextBox 10"/>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161B26"/>
                </a:solidFill>
                <a:latin typeface="Arial"/>
              </a:rPr>
              <a:t>•  Delivery causes loyalty</a:t>
            </a:r>
          </a:p>
          <a:p>
            <a:pPr>
              <a:spcAft>
                <a:spcPts val="1000"/>
              </a:spcAft>
            </a:pPr>
            <a:r>
              <a:rPr sz="1600" b="0">
                <a:solidFill>
                  <a:srgbClr val="161B26"/>
                </a:solidFill>
                <a:latin typeface="Arial"/>
              </a:rPr>
              <a:t>•  All customers prefer delivery</a:t>
            </a:r>
          </a:p>
          <a:p>
            <a:pPr>
              <a:spcAft>
                <a:spcPts val="1000"/>
              </a:spcAft>
            </a:pPr>
            <a:r>
              <a:rPr sz="1600" b="0">
                <a:solidFill>
                  <a:srgbClr val="161B26"/>
                </a:solidFill>
                <a:latin typeface="Arial"/>
              </a:rPr>
              <a:t>•  Shift the entire budget immediately</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29</a:t>
            </a:r>
          </a:p>
        </p:txBody>
      </p:sp>
      <p:sp>
        <p:nvSpPr>
          <p:cNvPr id="15" name="TextBox 14"/>
          <p:cNvSpPr txBox="1"/>
          <p:nvPr/>
        </p:nvSpPr>
        <p:spPr>
          <a:xfrm>
            <a:off x="777240" y="6163056"/>
            <a:ext cx="10607040" cy="201168"/>
          </a:xfrm>
          <a:prstGeom prst="rect">
            <a:avLst/>
          </a:prstGeom>
          <a:noFill/>
        </p:spPr>
        <p:txBody>
          <a:bodyPr wrap="square" anchor="t">
            <a:spAutoFit/>
          </a:bodyPr>
          <a:lstStyle/>
          <a:p>
            <a:pPr algn="l">
              <a:spcAft>
                <a:spcPts val="400"/>
              </a:spcAft>
            </a:pPr>
            <a:r>
              <a:rPr sz="850" b="0">
                <a:solidFill>
                  <a:srgbClr val="5B6372"/>
                </a:solidFill>
                <a:latin typeface="Arial"/>
              </a:rPr>
              <a:t>Source: course synthesis</a:t>
            </a:r>
          </a:p>
        </p:txBody>
      </p:sp>
    </p:spTree>
  </p:cSld>
  <p:clrMapOvr>
    <a:masterClrMapping/>
  </p:clrMapOvr>
  <p:transition spd="fast" advClick="1">
    <p:fade/>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350"/>
                                        <p:tgtEl>
                                          <p:spTgt spid="10"/>
                                        </p:tgtEl>
                                      </p:cBhvr>
                                    </p:animEffect>
                                    <p:anim calcmode="lin" valueType="num">
                                      <p:cBhvr additive="base">
                                        <p:cTn id="15" dur="350" fill="hold"/>
                                        <p:tgtEl>
                                          <p:spTgt spid="10"/>
                                        </p:tgtEl>
                                        <p:attrNameLst>
                                          <p:attrName>ppt_y</p:attrName>
                                        </p:attrNameLst>
                                      </p:cBhvr>
                                      <p:tavLst>
                                        <p:tav tm="0">
                                          <p:val>
                                            <p:strVal val="#ppt_y+0.0350"/>
                                          </p:val>
                                        </p:tav>
                                        <p:tav tm="100000">
                                          <p:val>
                                            <p:strVal val="#ppt_y"/>
                                          </p:val>
                                        </p:tav>
                                      </p:tavLst>
                                    </p:anim>
                                  </p:childTnLst>
                                </p:cTn>
                              </p:par>
                            </p:childTnLst>
                          </p:cTn>
                        </p:par>
                      </p:childTnLst>
                    </p:cTn>
                  </p:par>
                  <p:par>
                    <p:cTn id="20" fill="hold">
                      <p:stCondLst>
                        <p:cond delay="0"/>
                      </p:stCondLst>
                      <p:childTnLst>
                        <p:par>
                          <p:cTn id="21" fill="hold">
                            <p:stCondLst>
                              <p:cond delay="0"/>
                            </p:stCondLst>
                            <p:childTnLst>
                              <p:par>
                                <p:cTn id="22" presetID="10" presetClass="entr" presetSubtype="0" fill="hold" grpId="0" nodeType="afterEffect">
                                  <p:stCondLst>
                                    <p:cond delay="0"/>
                                  </p:stCondLst>
                                  <p:childTnLst>
                                    <p:set>
                                      <p:cBhvr>
                                        <p:cTn id="23" dur="1" fill="hold">
                                          <p:stCondLst>
                                            <p:cond delay="0"/>
                                          </p:stCondLst>
                                        </p:cTn>
                                        <p:tgtEl>
                                          <p:spTgt spid="11"/>
                                        </p:tgtEl>
                                        <p:attrNameLst>
                                          <p:attrName>style.visibility</p:attrName>
                                        </p:attrNameLst>
                                      </p:cBhvr>
                                      <p:to>
                                        <p:strVal val="visible"/>
                                      </p:to>
                                    </p:set>
                                    <p:animEffect transition="in" filter="fade">
                                      <p:cBhvr>
                                        <p:cTn id="24" dur="350"/>
                                        <p:tgtEl>
                                          <p:spTgt spid="11"/>
                                        </p:tgtEl>
                                      </p:cBhvr>
                                    </p:animEffect>
                                    <p:anim calcmode="lin" valueType="num">
                                      <p:cBhvr additive="base">
                                        <p:cTn id="25" dur="350" fill="hold"/>
                                        <p:tgtEl>
                                          <p:spTgt spid="11"/>
                                        </p:tgtEl>
                                        <p:attrNameLst>
                                          <p:attrName>ppt_y</p:attrName>
                                        </p:attrNameLst>
                                      </p:cBhvr>
                                      <p:tavLst>
                                        <p:tav tm="0">
                                          <p:val>
                                            <p:strVal val="#ppt_y+0.0350"/>
                                          </p:val>
                                        </p:tav>
                                        <p:tav tm="100000">
                                          <p:val>
                                            <p:strVal val="#ppt_y"/>
                                          </p:val>
                                        </p:tav>
                                      </p:tavLst>
                                    </p:anim>
                                  </p:childTnLst>
                                </p:cTn>
                              </p:par>
                            </p:childTnLst>
                          </p:cTn>
                        </p:par>
                      </p:childTnLst>
                    </p:cTn>
                  </p:par>
                </p:childTnLst>
                <p:prevCondLst>
                  <p:cond evt="onPrev" delay="0">
                    <p:tgtEl>
                      <p:sldTgt/>
                    </p:tgtEl>
                  </p:cond>
                </p:prevCondLst>
                <p:nextCondLst>
                  <p:cond evt="onNext" delay="0">
                    <p:tgtEl>
                      <p:sldTgt/>
                    </p:tgtEl>
                  </p:cond>
                </p:nextCondLst>
              </p:cTn>
            </p:seq>
          </p:childTnLst>
        </p:cTn>
      </p:par>
    </p:tnLst>
  </p:timing>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LO1 · LU1 · T1 · SUPPORTING DATA</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Northstar Retail Customer Pulse</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0" name="TextBox 9"/>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78%</a:t>
            </a:r>
          </a:p>
          <a:p>
            <a:pPr algn="l">
              <a:spcAft>
                <a:spcPts val="300"/>
              </a:spcAft>
            </a:pPr>
            <a:r>
              <a:rPr sz="1200" b="0">
                <a:solidFill>
                  <a:srgbClr val="5B6372"/>
                </a:solidFill>
                <a:latin typeface="Arial"/>
              </a:rPr>
              <a:t>Overall satisfaction</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5" name="TextBox 14"/>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86%</a:t>
            </a:r>
          </a:p>
          <a:p>
            <a:pPr algn="l">
              <a:spcAft>
                <a:spcPts val="300"/>
              </a:spcAft>
            </a:pPr>
            <a:r>
              <a:rPr sz="1200" b="0">
                <a:solidFill>
                  <a:srgbClr val="5B6372"/>
                </a:solidFill>
                <a:latin typeface="Arial"/>
              </a:rPr>
              <a:t>Repeat-customer satisfaction</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0" name="TextBox 19"/>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69%</a:t>
            </a:r>
          </a:p>
          <a:p>
            <a:pPr algn="l">
              <a:spcAft>
                <a:spcPts val="300"/>
              </a:spcAft>
            </a:pPr>
            <a:r>
              <a:rPr sz="1200" b="0">
                <a:solidFill>
                  <a:srgbClr val="5B6372"/>
                </a:solidFill>
                <a:latin typeface="Arial"/>
              </a:rPr>
              <a:t>First-time-customer satisfaction</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5" name="TextBox 24"/>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+11 pts</a:t>
            </a:r>
          </a:p>
          <a:p>
            <a:pPr algn="l">
              <a:spcAft>
                <a:spcPts val="300"/>
              </a:spcAft>
            </a:pPr>
            <a:r>
              <a:rPr sz="1200" b="0">
                <a:solidFill>
                  <a:srgbClr val="5B6372"/>
                </a:solidFill>
                <a:latin typeface="Arial"/>
              </a:rPr>
              <a:t>Mobile-app users vs non-users</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0" name="TextBox 29"/>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420</a:t>
            </a:r>
          </a:p>
          <a:p>
            <a:pPr algn="l">
              <a:spcAft>
                <a:spcPts val="300"/>
              </a:spcAft>
            </a:pPr>
            <a:r>
              <a:rPr sz="1200" b="0">
                <a:solidFill>
                  <a:srgbClr val="5B6372"/>
                </a:solidFill>
                <a:latin typeface="Arial"/>
              </a:rPr>
              <a:t>Survey responses</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5" name="TextBox 34"/>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Q2 2026</a:t>
            </a:r>
          </a:p>
          <a:p>
            <a:pPr algn="l">
              <a:spcAft>
                <a:spcPts val="300"/>
              </a:spcAft>
            </a:pPr>
            <a:r>
              <a:rPr sz="1200" b="0">
                <a:solidFill>
                  <a:srgbClr val="5B6372"/>
                </a:solidFill>
                <a:latin typeface="Arial"/>
              </a:rPr>
              <a:t>Synthetic reporting period</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30</a:t>
            </a:r>
          </a:p>
        </p:txBody>
      </p:sp>
      <p:sp>
        <p:nvSpPr>
          <p:cNvPr id="39" name="TextBox 38"/>
          <p:cNvSpPr txBox="1"/>
          <p:nvPr/>
        </p:nvSpPr>
        <p:spPr>
          <a:xfrm>
            <a:off x="777240" y="6163056"/>
            <a:ext cx="10607040" cy="201168"/>
          </a:xfrm>
          <a:prstGeom prst="rect">
            <a:avLst/>
          </a:prstGeom>
          <a:noFill/>
        </p:spPr>
        <p:txBody>
          <a:bodyPr wrap="square" anchor="t">
            <a:spAutoFit/>
          </a:bodyPr>
          <a:lstStyle/>
          <a:p>
            <a:pPr algn="l">
              <a:spcAft>
                <a:spcPts val="400"/>
              </a:spcAft>
            </a:pPr>
            <a:r>
              <a:rPr sz="850" b="0">
                <a:solidFill>
                  <a:srgbClr val="5B6372"/>
                </a:solidFill>
                <a:latin typeface="Arial"/>
              </a:rPr>
              <a:t>Source: illustrative synthetic data</a:t>
            </a:r>
          </a:p>
        </p:txBody>
      </p:sp>
    </p:spTree>
  </p:cSld>
  <p:clrMapOvr>
    <a:masterClrMapping/>
  </p:clrMapOvr>
  <p:transition spd="fast" advClick="1">
    <p:fade/>
  </p:transition>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LO1 · LU1 · T1 · REAL-WORLD EXAMPLE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100" b="1">
                <a:solidFill>
                  <a:srgbClr val="161B26"/>
                </a:solidFill>
                <a:latin typeface="Arial"/>
              </a:rPr>
              <a:t>A chart answers a question only when context travels with it</a:t>
            </a:r>
          </a:p>
        </p:txBody>
      </p:sp>
      <p:sp>
        <p:nvSpPr>
          <p:cNvPr id="6" name="Rectangle 5"/>
          <p:cNvSpPr/>
          <p:nvPr/>
        </p:nvSpPr>
        <p:spPr>
          <a:xfrm>
            <a:off x="777240" y="1783080"/>
            <a:ext cx="10634472" cy="4206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28016" cy="42062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97280" y="2103120"/>
            <a:ext cx="2834640" cy="5029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103120"/>
            <a:ext cx="2834640" cy="502920"/>
          </a:xfrm>
          <a:prstGeom prst="rect">
            <a:avLst/>
          </a:prstGeom>
          <a:noFill/>
        </p:spPr>
        <p:txBody>
          <a:bodyPr wrap="square" anchor="ctr">
            <a:spAutoFit/>
          </a:bodyPr>
          <a:lstStyle/>
          <a:p>
            <a:pPr algn="ctr">
              <a:spcAft>
                <a:spcPts val="400"/>
              </a:spcAft>
            </a:pPr>
            <a:r>
              <a:rPr sz="1300" b="1">
                <a:solidFill>
                  <a:srgbClr val="FFFFFF"/>
                </a:solidFill>
                <a:latin typeface="Arial"/>
              </a:rPr>
              <a:t>REAL-WORLD EXAMPLE</a:t>
            </a:r>
          </a:p>
        </p:txBody>
      </p:sp>
      <p:sp>
        <p:nvSpPr>
          <p:cNvPr id="10" name="TextBox 9"/>
          <p:cNvSpPr txBox="1"/>
          <p:nvPr/>
        </p:nvSpPr>
        <p:spPr>
          <a:xfrm>
            <a:off x="1097280" y="2880360"/>
            <a:ext cx="9966960" cy="640080"/>
          </a:xfrm>
          <a:prstGeom prst="rect">
            <a:avLst/>
          </a:prstGeom>
          <a:noFill/>
        </p:spPr>
        <p:txBody>
          <a:bodyPr wrap="square" anchor="t">
            <a:spAutoFit/>
          </a:bodyPr>
          <a:lstStyle/>
          <a:p>
            <a:pPr algn="l">
              <a:spcAft>
                <a:spcPts val="400"/>
              </a:spcAft>
            </a:pPr>
            <a:r>
              <a:rPr sz="2600" b="1">
                <a:solidFill>
                  <a:srgbClr val="161B26"/>
                </a:solidFill>
                <a:latin typeface="Arial"/>
              </a:rPr>
              <a:t>Northstar Retail Singapore</a:t>
            </a:r>
          </a:p>
        </p:txBody>
      </p:sp>
      <p:sp>
        <p:nvSpPr>
          <p:cNvPr id="11" name="TextBox 10"/>
          <p:cNvSpPr txBox="1"/>
          <p:nvPr/>
        </p:nvSpPr>
        <p:spPr>
          <a:xfrm>
            <a:off x="1097280" y="3611880"/>
            <a:ext cx="9966960" cy="2194560"/>
          </a:xfrm>
          <a:prstGeom prst="rect">
            <a:avLst/>
          </a:prstGeom>
          <a:noFill/>
        </p:spPr>
        <p:txBody>
          <a:bodyPr wrap="square" anchor="t">
            <a:spAutoFit/>
          </a:bodyPr>
          <a:lstStyle/>
          <a:p>
            <a:pPr algn="l">
              <a:spcAft>
                <a:spcPts val="400"/>
              </a:spcAft>
            </a:pPr>
            <a:r>
              <a:rPr sz="1600" b="0">
                <a:solidFill>
                  <a:srgbClr val="5B6372"/>
                </a:solidFill>
                <a:latin typeface="Arial"/>
              </a:rPr>
              <a:t>The satisfaction gap is useful for targeting a follow-up test, but the survey does not prove that the mobile app caused higher satisfaction.</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31</a:t>
            </a:r>
          </a:p>
        </p:txBody>
      </p:sp>
    </p:spTree>
  </p:cSld>
  <p:clrMapOvr>
    <a:masterClrMapping/>
  </p:clrMapOvr>
  <p:transition spd="fast" advClick="1">
    <p:fade/>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8"/>
                                        </p:tgtEl>
                                        <p:attrNameLst>
                                          <p:attrName>style.visibility</p:attrName>
                                        </p:attrNameLst>
                                      </p:cBhvr>
                                      <p:to>
                                        <p:strVal val="visible"/>
                                      </p:to>
                                    </p:set>
                                    <p:animEffect transition="in" filter="fade">
                                      <p:cBhvr>
                                        <p:cTn id="14" dur="350"/>
                                        <p:tgtEl>
                                          <p:spTgt spid="8"/>
                                        </p:tgtEl>
                                      </p:cBhvr>
                                    </p:animEffect>
                                    <p:anim calcmode="lin" valueType="num">
                                      <p:cBhvr additive="base">
                                        <p:cTn id="15" dur="350" fill="hold"/>
                                        <p:tgtEl>
                                          <p:spTgt spid="8"/>
                                        </p:tgtEl>
                                        <p:attrNameLst>
                                          <p:attrName>ppt_y</p:attrName>
                                        </p:attrNameLst>
                                      </p:cBhvr>
                                      <p:tavLst>
                                        <p:tav tm="0">
                                          <p:val>
                                            <p:strVal val="#ppt_y+0.0350"/>
                                          </p:val>
                                        </p:tav>
                                        <p:tav tm="100000">
                                          <p:val>
                                            <p:strVal val="#ppt_y"/>
                                          </p:val>
                                        </p:tav>
                                      </p:tavLst>
                                    </p:anim>
                                  </p:childTnLst>
                                </p:cTn>
                              </p:par>
                            </p:childTnLst>
                          </p:cTn>
                        </p:par>
                      </p:childTnLst>
                    </p:cTn>
                  </p:par>
                  <p:par>
                    <p:cTn id="20" fill="hold">
                      <p:stCondLst>
                        <p:cond delay="0"/>
                      </p:stCondLst>
                      <p:childTnLst>
                        <p:par>
                          <p:cTn id="21" fill="hold">
                            <p:stCondLst>
                              <p:cond delay="0"/>
                            </p:stCondLst>
                            <p:childTnLst>
                              <p:par>
                                <p:cTn id="22" presetID="10" presetClass="entr" presetSubtype="0" fill="hold" grpId="0" nodeType="after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350"/>
                                        <p:tgtEl>
                                          <p:spTgt spid="9"/>
                                        </p:tgtEl>
                                      </p:cBhvr>
                                    </p:animEffect>
                                    <p:anim calcmode="lin" valueType="num">
                                      <p:cBhvr additive="base">
                                        <p:cTn id="25" dur="350" fill="hold"/>
                                        <p:tgtEl>
                                          <p:spTgt spid="9"/>
                                        </p:tgtEl>
                                        <p:attrNameLst>
                                          <p:attrName>ppt_y</p:attrName>
                                        </p:attrNameLst>
                                      </p:cBhvr>
                                      <p:tavLst>
                                        <p:tav tm="0">
                                          <p:val>
                                            <p:strVal val="#ppt_y+0.0350"/>
                                          </p:val>
                                        </p:tav>
                                        <p:tav tm="100000">
                                          <p:val>
                                            <p:strVal val="#ppt_y"/>
                                          </p:val>
                                        </p:tav>
                                      </p:tavLst>
                                    </p:anim>
                                  </p:childTnLst>
                                </p:cTn>
                              </p:par>
                            </p:childTnLst>
                          </p:cTn>
                        </p:par>
                      </p:childTnLst>
                    </p:cTn>
                  </p:par>
                  <p:par>
                    <p:cTn id="30" fill="hold">
                      <p:stCondLst>
                        <p:cond delay="0"/>
                      </p:stCondLst>
                      <p:childTnLst>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350"/>
                                        <p:tgtEl>
                                          <p:spTgt spid="10"/>
                                        </p:tgtEl>
                                      </p:cBhvr>
                                    </p:animEffect>
                                    <p:anim calcmode="lin" valueType="num">
                                      <p:cBhvr additive="base">
                                        <p:cTn id="35" dur="350" fill="hold"/>
                                        <p:tgtEl>
                                          <p:spTgt spid="10"/>
                                        </p:tgtEl>
                                        <p:attrNameLst>
                                          <p:attrName>ppt_y</p:attrName>
                                        </p:attrNameLst>
                                      </p:cBhvr>
                                      <p:tavLst>
                                        <p:tav tm="0">
                                          <p:val>
                                            <p:strVal val="#ppt_y+0.0350"/>
                                          </p:val>
                                        </p:tav>
                                        <p:tav tm="100000">
                                          <p:val>
                                            <p:strVal val="#ppt_y"/>
                                          </p:val>
                                        </p:tav>
                                      </p:tavLst>
                                    </p:anim>
                                  </p:childTnLst>
                                </p:cTn>
                              </p:par>
                            </p:childTnLst>
                          </p:cTn>
                        </p:par>
                      </p:childTnLst>
                    </p:cTn>
                  </p:par>
                  <p:par>
                    <p:cTn id="40" fill="hold">
                      <p:stCondLst>
                        <p:cond delay="0"/>
                      </p:stCondLst>
                      <p:childTnLst>
                        <p:par>
                          <p:cTn id="41" fill="hold">
                            <p:stCondLst>
                              <p:cond delay="0"/>
                            </p:stCondLst>
                            <p:childTnLst>
                              <p:par>
                                <p:cTn id="42" presetID="10" presetClass="entr" presetSubtype="0" fill="hold" grpId="0" nodeType="afterEffect">
                                  <p:stCondLst>
                                    <p:cond delay="0"/>
                                  </p:stCondLst>
                                  <p:childTnLst>
                                    <p:set>
                                      <p:cBhvr>
                                        <p:cTn id="43" dur="1" fill="hold">
                                          <p:stCondLst>
                                            <p:cond delay="0"/>
                                          </p:stCondLst>
                                        </p:cTn>
                                        <p:tgtEl>
                                          <p:spTgt spid="11"/>
                                        </p:tgtEl>
                                        <p:attrNameLst>
                                          <p:attrName>style.visibility</p:attrName>
                                        </p:attrNameLst>
                                      </p:cBhvr>
                                      <p:to>
                                        <p:strVal val="visible"/>
                                      </p:to>
                                    </p:set>
                                    <p:animEffect transition="in" filter="fade">
                                      <p:cBhvr>
                                        <p:cTn id="44" dur="350"/>
                                        <p:tgtEl>
                                          <p:spTgt spid="11"/>
                                        </p:tgtEl>
                                      </p:cBhvr>
                                    </p:animEffect>
                                    <p:anim calcmode="lin" valueType="num">
                                      <p:cBhvr additive="base">
                                        <p:cTn id="45" dur="350" fill="hold"/>
                                        <p:tgtEl>
                                          <p:spTgt spid="11"/>
                                        </p:tgtEl>
                                        <p:attrNameLst>
                                          <p:attrName>ppt_y</p:attrName>
                                        </p:attrNameLst>
                                      </p:cBhvr>
                                      <p:tavLst>
                                        <p:tav tm="0">
                                          <p:val>
                                            <p:strVal val="#ppt_y+0.0350"/>
                                          </p:val>
                                        </p:tav>
                                        <p:tav tm="100000">
                                          <p:val>
                                            <p:strVal val="#ppt_y"/>
                                          </p:val>
                                        </p:tav>
                                      </p:tavLst>
                                    </p:anim>
                                  </p:childTnLst>
                                </p:cTn>
                              </p:par>
                            </p:childTnLst>
                          </p:cTn>
                        </p:par>
                      </p:childTnLst>
                    </p:cTn>
                  </p:par>
                </p:childTnLst>
                <p:prevCondLst>
                  <p:cond evt="onPrev" delay="0">
                    <p:tgtEl>
                      <p:sldTgt/>
                    </p:tgtEl>
                  </p:cond>
                </p:prevCondLst>
                <p:nextCondLst>
                  <p:cond evt="onNext" delay="0">
                    <p:tgtEl>
                      <p:sldTgt/>
                    </p:tgtEl>
                  </p:cond>
                </p:nextCondLst>
              </p:cTn>
            </p:seq>
          </p:childTnLst>
        </p:cTn>
      </p:par>
    </p:tn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LO1 · LU1 · T1 · ACTIVITY 1</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Interpret a Statistical KPI Infographic</a:t>
            </a:r>
          </a:p>
        </p:txBody>
      </p:sp>
      <p:sp>
        <p:nvSpPr>
          <p:cNvPr id="6" name="Rectangle 5"/>
          <p:cNvSpPr/>
          <p:nvPr/>
        </p:nvSpPr>
        <p:spPr>
          <a:xfrm>
            <a:off x="777240" y="1691640"/>
            <a:ext cx="169164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28216"/>
            <a:ext cx="1691640" cy="365760"/>
          </a:xfrm>
          <a:prstGeom prst="rect">
            <a:avLst/>
          </a:prstGeom>
          <a:noFill/>
        </p:spPr>
        <p:txBody>
          <a:bodyPr wrap="square" anchor="t">
            <a:spAutoFit/>
          </a:bodyPr>
          <a:lstStyle/>
          <a:p>
            <a:pPr algn="ctr">
              <a:spcAft>
                <a:spcPts val="400"/>
              </a:spcAft>
            </a:pPr>
            <a:r>
              <a:rPr sz="1300" b="1">
                <a:solidFill>
                  <a:srgbClr val="FFFFFF"/>
                </a:solidFill>
                <a:latin typeface="Arial"/>
              </a:rPr>
              <a:t>CASE STUDY</a:t>
            </a:r>
          </a:p>
        </p:txBody>
      </p:sp>
      <p:sp>
        <p:nvSpPr>
          <p:cNvPr id="8" name="Rectangle 7"/>
          <p:cNvSpPr/>
          <p:nvPr/>
        </p:nvSpPr>
        <p:spPr>
          <a:xfrm>
            <a:off x="777240" y="2286000"/>
            <a:ext cx="1063447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286000"/>
            <a:ext cx="91440" cy="28803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2487168"/>
            <a:ext cx="9966960" cy="320040"/>
          </a:xfrm>
          <a:prstGeom prst="rect">
            <a:avLst/>
          </a:prstGeom>
          <a:noFill/>
        </p:spPr>
        <p:txBody>
          <a:bodyPr wrap="square" anchor="t">
            <a:spAutoFit/>
          </a:bodyPr>
          <a:lstStyle/>
          <a:p>
            <a:pPr algn="l">
              <a:spcAft>
                <a:spcPts val="400"/>
              </a:spcAft>
            </a:pPr>
            <a:r>
              <a:rPr sz="1200" b="1">
                <a:solidFill>
                  <a:srgbClr val="10B981"/>
                </a:solidFill>
                <a:latin typeface="Arial"/>
              </a:rPr>
              <a:t>THE SITUATION</a:t>
            </a:r>
          </a:p>
        </p:txBody>
      </p:sp>
      <p:sp>
        <p:nvSpPr>
          <p:cNvPr id="11" name="TextBox 10"/>
          <p:cNvSpPr txBox="1"/>
          <p:nvPr/>
        </p:nvSpPr>
        <p:spPr>
          <a:xfrm>
            <a:off x="1097280" y="2834640"/>
            <a:ext cx="10058400" cy="2240280"/>
          </a:xfrm>
          <a:prstGeom prst="rect">
            <a:avLst/>
          </a:prstGeom>
          <a:noFill/>
        </p:spPr>
        <p:txBody>
          <a:bodyPr wrap="square" anchor="t">
            <a:spAutoFit/>
          </a:bodyPr>
          <a:lstStyle/>
          <a:p>
            <a:pPr algn="l">
              <a:spcAft>
                <a:spcPts val="800"/>
              </a:spcAft>
            </a:pPr>
            <a:r>
              <a:rPr sz="1450" b="0">
                <a:solidFill>
                  <a:srgbClr val="161B26"/>
                </a:solidFill>
                <a:latin typeface="Arial"/>
              </a:rPr>
              <a:t>Northstar Retail's marketing lead has a one-page customer survey infographic built from 420 synthetic Q2 responses. Leadership wants to know which customer experience deserves further investigation.</a:t>
            </a:r>
          </a:p>
          <a:p>
            <a:pPr algn="l">
              <a:spcAft>
                <a:spcPts val="800"/>
              </a:spcAft>
            </a:pPr>
            <a:r>
              <a:rPr sz="1450" b="0">
                <a:solidFill>
                  <a:srgbClr val="161B26"/>
                </a:solidFill>
                <a:latin typeface="Arial"/>
              </a:rPr>
              <a:t>Use Microsoft 365 Copilot with the supplied approved data summary to propose candidate insights. Verify every number in Excel before recommending one next step.</a:t>
            </a:r>
          </a:p>
        </p:txBody>
      </p:sp>
      <p:sp>
        <p:nvSpPr>
          <p:cNvPr id="12" name="Rectangle 11"/>
          <p:cNvSpPr/>
          <p:nvPr/>
        </p:nvSpPr>
        <p:spPr>
          <a:xfrm>
            <a:off x="777240" y="5349240"/>
            <a:ext cx="10634472" cy="68580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5349240"/>
            <a:ext cx="7315200" cy="685800"/>
          </a:xfrm>
          <a:prstGeom prst="rect">
            <a:avLst/>
          </a:prstGeom>
          <a:noFill/>
        </p:spPr>
        <p:txBody>
          <a:bodyPr wrap="square" anchor="ctr">
            <a:spAutoFit/>
          </a:bodyPr>
          <a:lstStyle/>
          <a:p>
            <a:pPr algn="l">
              <a:spcAft>
                <a:spcPts val="400"/>
              </a:spcAft>
            </a:pPr>
            <a:r>
              <a:rPr sz="1300" b="1">
                <a:solidFill>
                  <a:srgbClr val="1F6FEB"/>
                </a:solidFill>
                <a:latin typeface="Arial"/>
              </a:rPr>
              <a:t>You'll produce:  </a:t>
            </a:r>
            <a:r>
              <a:rPr sz="1300" b="0">
                <a:solidFill>
                  <a:srgbClr val="161B26"/>
                </a:solidFill>
                <a:latin typeface="Arial"/>
              </a:rPr>
              <a:t>A verified statistical KPI infographic, prompt/source log, annotated insight slide and one-sentence recommendation</a:t>
            </a:r>
          </a:p>
        </p:txBody>
      </p:sp>
      <p:sp>
        <p:nvSpPr>
          <p:cNvPr id="14" name="TextBox 13"/>
          <p:cNvSpPr txBox="1"/>
          <p:nvPr/>
        </p:nvSpPr>
        <p:spPr>
          <a:xfrm>
            <a:off x="8778240" y="5349240"/>
            <a:ext cx="2606040" cy="685800"/>
          </a:xfrm>
          <a:prstGeom prst="rect">
            <a:avLst/>
          </a:prstGeom>
          <a:noFill/>
        </p:spPr>
        <p:txBody>
          <a:bodyPr wrap="square" anchor="ctr">
            <a:spAutoFit/>
          </a:bodyPr>
          <a:lstStyle/>
          <a:p>
            <a:pPr algn="r">
              <a:spcAft>
                <a:spcPts val="400"/>
              </a:spcAft>
            </a:pPr>
            <a:r>
              <a:rPr sz="1300" b="1">
                <a:solidFill>
                  <a:srgbClr val="5B6372"/>
                </a:solidFill>
                <a:latin typeface="Arial"/>
              </a:rPr>
              <a:t>Duration: </a:t>
            </a:r>
            <a:r>
              <a:rPr sz="1300" b="0">
                <a:solidFill>
                  <a:srgbClr val="5B6372"/>
                </a:solidFill>
                <a:latin typeface="Arial"/>
              </a:rPr>
              <a:t>35 minutes</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32</a:t>
            </a:r>
          </a:p>
        </p:txBody>
      </p:sp>
    </p:spTree>
  </p:cSld>
  <p:clrMapOvr>
    <a:masterClrMapping/>
  </p:clrMapOvr>
  <p:transition spd="fast" advClick="1">
    <p:wipe dir="l"/>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8"/>
                                        </p:tgtEl>
                                        <p:attrNameLst>
                                          <p:attrName>style.visibility</p:attrName>
                                        </p:attrNameLst>
                                      </p:cBhvr>
                                      <p:to>
                                        <p:strVal val="visible"/>
                                      </p:to>
                                    </p:set>
                                    <p:animEffect transition="in" filter="fade">
                                      <p:cBhvr>
                                        <p:cTn id="14" dur="350"/>
                                        <p:tgtEl>
                                          <p:spTgt spid="8"/>
                                        </p:tgtEl>
                                      </p:cBhvr>
                                    </p:animEffect>
                                    <p:anim calcmode="lin" valueType="num">
                                      <p:cBhvr additive="base">
                                        <p:cTn id="15" dur="350" fill="hold"/>
                                        <p:tgtEl>
                                          <p:spTgt spid="8"/>
                                        </p:tgtEl>
                                        <p:attrNameLst>
                                          <p:attrName>ppt_y</p:attrName>
                                        </p:attrNameLst>
                                      </p:cBhvr>
                                      <p:tavLst>
                                        <p:tav tm="0">
                                          <p:val>
                                            <p:strVal val="#ppt_y+0.0350"/>
                                          </p:val>
                                        </p:tav>
                                        <p:tav tm="100000">
                                          <p:val>
                                            <p:strVal val="#ppt_y"/>
                                          </p:val>
                                        </p:tav>
                                      </p:tavLst>
                                    </p:anim>
                                  </p:childTnLst>
                                </p:cTn>
                              </p:par>
                            </p:childTnLst>
                          </p:cTn>
                        </p:par>
                      </p:childTnLst>
                    </p:cTn>
                  </p:par>
                  <p:par>
                    <p:cTn id="20" fill="hold">
                      <p:stCondLst>
                        <p:cond delay="0"/>
                      </p:stCondLst>
                      <p:childTnLst>
                        <p:par>
                          <p:cTn id="21" fill="hold">
                            <p:stCondLst>
                              <p:cond delay="0"/>
                            </p:stCondLst>
                            <p:childTnLst>
                              <p:par>
                                <p:cTn id="22" presetID="10" presetClass="entr" presetSubtype="0" fill="hold" grpId="0" nodeType="after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350"/>
                                        <p:tgtEl>
                                          <p:spTgt spid="9"/>
                                        </p:tgtEl>
                                      </p:cBhvr>
                                    </p:animEffect>
                                    <p:anim calcmode="lin" valueType="num">
                                      <p:cBhvr additive="base">
                                        <p:cTn id="25" dur="350" fill="hold"/>
                                        <p:tgtEl>
                                          <p:spTgt spid="9"/>
                                        </p:tgtEl>
                                        <p:attrNameLst>
                                          <p:attrName>ppt_y</p:attrName>
                                        </p:attrNameLst>
                                      </p:cBhvr>
                                      <p:tavLst>
                                        <p:tav tm="0">
                                          <p:val>
                                            <p:strVal val="#ppt_y+0.0350"/>
                                          </p:val>
                                        </p:tav>
                                        <p:tav tm="100000">
                                          <p:val>
                                            <p:strVal val="#ppt_y"/>
                                          </p:val>
                                        </p:tav>
                                      </p:tavLst>
                                    </p:anim>
                                  </p:childTnLst>
                                </p:cTn>
                              </p:par>
                            </p:childTnLst>
                          </p:cTn>
                        </p:par>
                      </p:childTnLst>
                    </p:cTn>
                  </p:par>
                  <p:par>
                    <p:cTn id="30" fill="hold">
                      <p:stCondLst>
                        <p:cond delay="0"/>
                      </p:stCondLst>
                      <p:childTnLst>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350"/>
                                        <p:tgtEl>
                                          <p:spTgt spid="11"/>
                                        </p:tgtEl>
                                      </p:cBhvr>
                                    </p:animEffect>
                                    <p:anim calcmode="lin" valueType="num">
                                      <p:cBhvr additive="base">
                                        <p:cTn id="35" dur="350" fill="hold"/>
                                        <p:tgtEl>
                                          <p:spTgt spid="11"/>
                                        </p:tgtEl>
                                        <p:attrNameLst>
                                          <p:attrName>ppt_y</p:attrName>
                                        </p:attrNameLst>
                                      </p:cBhvr>
                                      <p:tavLst>
                                        <p:tav tm="0">
                                          <p:val>
                                            <p:strVal val="#ppt_y+0.0350"/>
                                          </p:val>
                                        </p:tav>
                                        <p:tav tm="100000">
                                          <p:val>
                                            <p:strVal val="#ppt_y"/>
                                          </p:val>
                                        </p:tav>
                                      </p:tavLst>
                                    </p:anim>
                                  </p:childTnLst>
                                </p:cTn>
                              </p:par>
                            </p:childTnLst>
                          </p:cTn>
                        </p:par>
                      </p:childTnLst>
                    </p:cTn>
                  </p:par>
                  <p:par>
                    <p:cTn id="40" fill="hold">
                      <p:stCondLst>
                        <p:cond delay="0"/>
                      </p:stCondLst>
                      <p:childTnLst>
                        <p:par>
                          <p:cTn id="41" fill="hold">
                            <p:stCondLst>
                              <p:cond delay="0"/>
                            </p:stCondLst>
                            <p:childTnLst>
                              <p:par>
                                <p:cTn id="42" presetID="10" presetClass="entr" presetSubtype="0" fill="hold" grpId="0" nodeType="afterEffect">
                                  <p:stCondLst>
                                    <p:cond delay="0"/>
                                  </p:stCondLst>
                                  <p:childTnLst>
                                    <p:set>
                                      <p:cBhvr>
                                        <p:cTn id="43" dur="1" fill="hold">
                                          <p:stCondLst>
                                            <p:cond delay="0"/>
                                          </p:stCondLst>
                                        </p:cTn>
                                        <p:tgtEl>
                                          <p:spTgt spid="12"/>
                                        </p:tgtEl>
                                        <p:attrNameLst>
                                          <p:attrName>style.visibility</p:attrName>
                                        </p:attrNameLst>
                                      </p:cBhvr>
                                      <p:to>
                                        <p:strVal val="visible"/>
                                      </p:to>
                                    </p:set>
                                    <p:animEffect transition="in" filter="fade">
                                      <p:cBhvr>
                                        <p:cTn id="44" dur="350"/>
                                        <p:tgtEl>
                                          <p:spTgt spid="12"/>
                                        </p:tgtEl>
                                      </p:cBhvr>
                                    </p:animEffect>
                                    <p:anim calcmode="lin" valueType="num">
                                      <p:cBhvr additive="base">
                                        <p:cTn id="45" dur="350" fill="hold"/>
                                        <p:tgtEl>
                                          <p:spTgt spid="12"/>
                                        </p:tgtEl>
                                        <p:attrNameLst>
                                          <p:attrName>ppt_y</p:attrName>
                                        </p:attrNameLst>
                                      </p:cBhvr>
                                      <p:tavLst>
                                        <p:tav tm="0">
                                          <p:val>
                                            <p:strVal val="#ppt_y+0.0350"/>
                                          </p:val>
                                        </p:tav>
                                        <p:tav tm="100000">
                                          <p:val>
                                            <p:strVal val="#ppt_y"/>
                                          </p:val>
                                        </p:tav>
                                      </p:tavLst>
                                    </p:anim>
                                  </p:childTnLst>
                                </p:cTn>
                              </p:par>
                            </p:childTnLst>
                          </p:cTn>
                        </p:par>
                      </p:childTnLst>
                    </p:cTn>
                  </p:par>
                  <p:par>
                    <p:cTn id="50" fill="hold">
                      <p:stCondLst>
                        <p:cond delay="0"/>
                      </p:stCondLst>
                      <p:childTnLst>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3"/>
                                        </p:tgtEl>
                                        <p:attrNameLst>
                                          <p:attrName>style.visibility</p:attrName>
                                        </p:attrNameLst>
                                      </p:cBhvr>
                                      <p:to>
                                        <p:strVal val="visible"/>
                                      </p:to>
                                    </p:set>
                                    <p:animEffect transition="in" filter="fade">
                                      <p:cBhvr>
                                        <p:cTn id="54" dur="350"/>
                                        <p:tgtEl>
                                          <p:spTgt spid="13"/>
                                        </p:tgtEl>
                                      </p:cBhvr>
                                    </p:animEffect>
                                    <p:anim calcmode="lin" valueType="num">
                                      <p:cBhvr additive="base">
                                        <p:cTn id="55" dur="350" fill="hold"/>
                                        <p:tgtEl>
                                          <p:spTgt spid="13"/>
                                        </p:tgtEl>
                                        <p:attrNameLst>
                                          <p:attrName>ppt_y</p:attrName>
                                        </p:attrNameLst>
                                      </p:cBhvr>
                                      <p:tavLst>
                                        <p:tav tm="0">
                                          <p:val>
                                            <p:strVal val="#ppt_y+0.0350"/>
                                          </p:val>
                                        </p:tav>
                                        <p:tav tm="100000">
                                          <p:val>
                                            <p:strVal val="#ppt_y"/>
                                          </p:val>
                                        </p:tav>
                                      </p:tavLst>
                                    </p:anim>
                                  </p:childTnLst>
                                </p:cTn>
                              </p:par>
                            </p:childTnLst>
                          </p:cTn>
                        </p:par>
                      </p:childTnLst>
                    </p:cTn>
                  </p:par>
                  <p:par>
                    <p:cTn id="60" fill="hold">
                      <p:stCondLst>
                        <p:cond delay="0"/>
                      </p:stCondLst>
                      <p:childTnLst>
                        <p:par>
                          <p:cTn id="61" fill="hold">
                            <p:stCondLst>
                              <p:cond delay="0"/>
                            </p:stCondLst>
                            <p:childTnLst>
                              <p:par>
                                <p:cTn id="62" presetID="10" presetClass="entr" presetSubtype="0" fill="hold" grpId="0" nodeType="afterEffect">
                                  <p:stCondLst>
                                    <p:cond delay="0"/>
                                  </p:stCondLst>
                                  <p:childTnLst>
                                    <p:set>
                                      <p:cBhvr>
                                        <p:cTn id="63" dur="1" fill="hold">
                                          <p:stCondLst>
                                            <p:cond delay="0"/>
                                          </p:stCondLst>
                                        </p:cTn>
                                        <p:tgtEl>
                                          <p:spTgt spid="14"/>
                                        </p:tgtEl>
                                        <p:attrNameLst>
                                          <p:attrName>style.visibility</p:attrName>
                                        </p:attrNameLst>
                                      </p:cBhvr>
                                      <p:to>
                                        <p:strVal val="visible"/>
                                      </p:to>
                                    </p:set>
                                    <p:animEffect transition="in" filter="fade">
                                      <p:cBhvr>
                                        <p:cTn id="64" dur="350"/>
                                        <p:tgtEl>
                                          <p:spTgt spid="14"/>
                                        </p:tgtEl>
                                      </p:cBhvr>
                                    </p:animEffect>
                                    <p:anim calcmode="lin" valueType="num">
                                      <p:cBhvr additive="base">
                                        <p:cTn id="65" dur="350" fill="hold"/>
                                        <p:tgtEl>
                                          <p:spTgt spid="14"/>
                                        </p:tgtEl>
                                        <p:attrNameLst>
                                          <p:attrName>ppt_y</p:attrName>
                                        </p:attrNameLst>
                                      </p:cBhvr>
                                      <p:tavLst>
                                        <p:tav tm="0">
                                          <p:val>
                                            <p:strVal val="#ppt_y+0.0350"/>
                                          </p:val>
                                        </p:tav>
                                        <p:tav tm="100000">
                                          <p:val>
                                            <p:strVal val="#ppt_y"/>
                                          </p:val>
                                        </p:tav>
                                      </p:tavLst>
                                    </p:anim>
                                  </p:childTnLst>
                                </p:cTn>
                              </p:par>
                            </p:childTnLst>
                          </p:cTn>
                        </p:par>
                      </p:childTnLst>
                    </p:cTn>
                  </p:par>
                </p:childTnLst>
                <p:prevCondLst>
                  <p:cond evt="onPrev" delay="0">
                    <p:tgtEl>
                      <p:sldTgt/>
                    </p:tgtEl>
                  </p:cond>
                </p:prevCondLst>
                <p:nextCondLst>
                  <p:cond evt="onNext" delay="0">
                    <p:tgtEl>
                      <p:sldTgt/>
                    </p:tgtEl>
                  </p:cond>
                </p:nextCondLst>
              </p:cTn>
            </p:seq>
          </p:childTnLst>
        </p:cTn>
      </p:par>
    </p:tnLst>
  </p:timing>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LO1 · LU1 · T1 · ACTIVITY 1</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Interpret a Statistical KPI Infographic</a:t>
            </a:r>
          </a:p>
        </p:txBody>
      </p:sp>
      <p:sp>
        <p:nvSpPr>
          <p:cNvPr id="6" name="TextBox 5"/>
          <p:cNvSpPr txBox="1"/>
          <p:nvPr/>
        </p:nvSpPr>
        <p:spPr>
          <a:xfrm>
            <a:off x="777240" y="1719072"/>
            <a:ext cx="8229600" cy="365760"/>
          </a:xfrm>
          <a:prstGeom prst="rect">
            <a:avLst/>
          </a:prstGeom>
          <a:noFill/>
        </p:spPr>
        <p:txBody>
          <a:bodyPr wrap="square" anchor="t">
            <a:spAutoFit/>
          </a:bodyPr>
          <a:lstStyle/>
          <a:p>
            <a:pPr algn="l">
              <a:spcAft>
                <a:spcPts val="400"/>
              </a:spcAft>
            </a:pPr>
            <a:r>
              <a:rPr sz="1300" b="1">
                <a:solidFill>
                  <a:srgbClr val="5B6372"/>
                </a:solidFill>
                <a:latin typeface="Arial"/>
              </a:rPr>
              <a:t>DISCUSSION &amp; DECISION PROMPTS</a:t>
            </a:r>
          </a:p>
        </p:txBody>
      </p:sp>
      <p:sp>
        <p:nvSpPr>
          <p:cNvPr id="7" name="Rectangle 6"/>
          <p:cNvSpPr/>
          <p:nvPr/>
        </p:nvSpPr>
        <p:spPr>
          <a:xfrm>
            <a:off x="777240" y="2148840"/>
            <a:ext cx="10634472" cy="8732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73152" cy="8732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78408" y="2334006"/>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78408" y="2334006"/>
            <a:ext cx="502920" cy="50292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737360" y="2148840"/>
            <a:ext cx="9308592" cy="873252"/>
          </a:xfrm>
          <a:prstGeom prst="rect">
            <a:avLst/>
          </a:prstGeom>
          <a:noFill/>
        </p:spPr>
        <p:txBody>
          <a:bodyPr wrap="square" anchor="ctr">
            <a:spAutoFit/>
          </a:bodyPr>
          <a:lstStyle/>
          <a:p>
            <a:pPr algn="l">
              <a:spcAft>
                <a:spcPts val="400"/>
              </a:spcAft>
            </a:pPr>
            <a:r>
              <a:rPr sz="1450" b="0">
                <a:solidFill>
                  <a:srgbClr val="161B26"/>
                </a:solidFill>
                <a:latin typeface="Arial"/>
              </a:rPr>
              <a:t>What is the strongest visible pattern?</a:t>
            </a:r>
          </a:p>
        </p:txBody>
      </p:sp>
      <p:sp>
        <p:nvSpPr>
          <p:cNvPr id="12" name="Rectangle 11"/>
          <p:cNvSpPr/>
          <p:nvPr/>
        </p:nvSpPr>
        <p:spPr>
          <a:xfrm>
            <a:off x="777240" y="3168396"/>
            <a:ext cx="10634472" cy="8732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168396"/>
            <a:ext cx="73152" cy="8732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78408" y="3353562"/>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78408" y="3353562"/>
            <a:ext cx="502920" cy="50292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6" name="TextBox 15"/>
          <p:cNvSpPr txBox="1"/>
          <p:nvPr/>
        </p:nvSpPr>
        <p:spPr>
          <a:xfrm>
            <a:off x="1737360" y="3168396"/>
            <a:ext cx="9308592" cy="873252"/>
          </a:xfrm>
          <a:prstGeom prst="rect">
            <a:avLst/>
          </a:prstGeom>
          <a:noFill/>
        </p:spPr>
        <p:txBody>
          <a:bodyPr wrap="square" anchor="ctr">
            <a:spAutoFit/>
          </a:bodyPr>
          <a:lstStyle/>
          <a:p>
            <a:pPr algn="l">
              <a:spcAft>
                <a:spcPts val="400"/>
              </a:spcAft>
            </a:pPr>
            <a:r>
              <a:rPr sz="1450" b="0">
                <a:solidFill>
                  <a:srgbClr val="161B26"/>
                </a:solidFill>
                <a:latin typeface="Arial"/>
              </a:rPr>
              <a:t>Which denominator or segment could change the interpretation?</a:t>
            </a:r>
          </a:p>
        </p:txBody>
      </p:sp>
      <p:sp>
        <p:nvSpPr>
          <p:cNvPr id="17" name="Rectangle 16"/>
          <p:cNvSpPr/>
          <p:nvPr/>
        </p:nvSpPr>
        <p:spPr>
          <a:xfrm>
            <a:off x="777240" y="4187952"/>
            <a:ext cx="10634472" cy="8732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187952"/>
            <a:ext cx="73152" cy="8732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78408" y="4373118"/>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8408" y="4373118"/>
            <a:ext cx="502920" cy="50292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1" name="TextBox 20"/>
          <p:cNvSpPr txBox="1"/>
          <p:nvPr/>
        </p:nvSpPr>
        <p:spPr>
          <a:xfrm>
            <a:off x="1737360" y="4187952"/>
            <a:ext cx="9308592" cy="873252"/>
          </a:xfrm>
          <a:prstGeom prst="rect">
            <a:avLst/>
          </a:prstGeom>
          <a:noFill/>
        </p:spPr>
        <p:txBody>
          <a:bodyPr wrap="square" anchor="ctr">
            <a:spAutoFit/>
          </a:bodyPr>
          <a:lstStyle/>
          <a:p>
            <a:pPr algn="l">
              <a:spcAft>
                <a:spcPts val="400"/>
              </a:spcAft>
            </a:pPr>
            <a:r>
              <a:rPr sz="1450" b="0">
                <a:solidFill>
                  <a:srgbClr val="161B26"/>
                </a:solidFill>
                <a:latin typeface="Arial"/>
              </a:rPr>
              <a:t>What can be said confidently, and what cannot?</a:t>
            </a:r>
          </a:p>
        </p:txBody>
      </p:sp>
      <p:sp>
        <p:nvSpPr>
          <p:cNvPr id="22" name="Rectangle 21"/>
          <p:cNvSpPr/>
          <p:nvPr/>
        </p:nvSpPr>
        <p:spPr>
          <a:xfrm>
            <a:off x="777240" y="5207508"/>
            <a:ext cx="10634472" cy="8732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207508"/>
            <a:ext cx="73152" cy="8732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78408" y="5392674"/>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78408" y="5392674"/>
            <a:ext cx="502920" cy="50292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6" name="TextBox 25"/>
          <p:cNvSpPr txBox="1"/>
          <p:nvPr/>
        </p:nvSpPr>
        <p:spPr>
          <a:xfrm>
            <a:off x="1737360" y="5207508"/>
            <a:ext cx="9308592" cy="873252"/>
          </a:xfrm>
          <a:prstGeom prst="rect">
            <a:avLst/>
          </a:prstGeom>
          <a:noFill/>
        </p:spPr>
        <p:txBody>
          <a:bodyPr wrap="square" anchor="ctr">
            <a:spAutoFit/>
          </a:bodyPr>
          <a:lstStyle/>
          <a:p>
            <a:pPr algn="l">
              <a:spcAft>
                <a:spcPts val="400"/>
              </a:spcAft>
            </a:pPr>
            <a:r>
              <a:rPr sz="1450" b="0">
                <a:solidFill>
                  <a:srgbClr val="161B26"/>
                </a:solidFill>
                <a:latin typeface="Arial"/>
              </a:rPr>
              <a:t>What business action is proportionate to the evidence?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33</a:t>
            </a:r>
          </a:p>
        </p:txBody>
      </p:sp>
    </p:spTree>
  </p:cSld>
  <p:clrMapOvr>
    <a:masterClrMapping/>
  </p:clrMapOvr>
  <p:transition spd="fast" advClick="1">
    <p:wipe dir="l"/>
  </p:transition>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LO1 · LU1 · T1 · ACTIVITY 1</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Interpret a Statistical KPI Infographic</a:t>
            </a:r>
          </a:p>
        </p:txBody>
      </p:sp>
      <p:sp>
        <p:nvSpPr>
          <p:cNvPr id="6" name="Rectangle 5"/>
          <p:cNvSpPr/>
          <p:nvPr/>
        </p:nvSpPr>
        <p:spPr>
          <a:xfrm>
            <a:off x="777240" y="1783080"/>
            <a:ext cx="10634472" cy="26517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91440" cy="26517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1965960"/>
            <a:ext cx="10058400" cy="365760"/>
          </a:xfrm>
          <a:prstGeom prst="rect">
            <a:avLst/>
          </a:prstGeom>
          <a:noFill/>
        </p:spPr>
        <p:txBody>
          <a:bodyPr wrap="square" anchor="t">
            <a:spAutoFit/>
          </a:bodyPr>
          <a:lstStyle/>
          <a:p>
            <a:pPr algn="l">
              <a:spcAft>
                <a:spcPts val="400"/>
              </a:spcAft>
            </a:pPr>
            <a:r>
              <a:rPr sz="1300" b="1">
                <a:solidFill>
                  <a:srgbClr val="7C3AED"/>
                </a:solidFill>
                <a:latin typeface="Arial"/>
              </a:rPr>
              <a:t>REFLECT &amp; DISCUSS</a:t>
            </a:r>
          </a:p>
        </p:txBody>
      </p:sp>
      <p:sp>
        <p:nvSpPr>
          <p:cNvPr id="9" name="TextBox 8"/>
          <p:cNvSpPr txBox="1"/>
          <p:nvPr/>
        </p:nvSpPr>
        <p:spPr>
          <a:xfrm>
            <a:off x="1051560" y="2377440"/>
            <a:ext cx="10058400" cy="1920240"/>
          </a:xfrm>
          <a:prstGeom prst="rect">
            <a:avLst/>
          </a:prstGeom>
          <a:noFill/>
        </p:spPr>
        <p:txBody>
          <a:bodyPr wrap="square">
            <a:spAutoFit/>
          </a:bodyPr>
          <a:lstStyle/>
          <a:p>
            <a:pPr>
              <a:spcAft>
                <a:spcPts val="900"/>
              </a:spcAft>
            </a:pPr>
            <a:r>
              <a:rPr sz="1450" b="0">
                <a:solidFill>
                  <a:srgbClr val="161B26"/>
                </a:solidFill>
                <a:latin typeface="Arial"/>
              </a:rPr>
              <a:t>•  Did the insight include context and uncertainty?</a:t>
            </a:r>
          </a:p>
          <a:p>
            <a:pPr>
              <a:spcAft>
                <a:spcPts val="900"/>
              </a:spcAft>
            </a:pPr>
            <a:r>
              <a:rPr sz="1450" b="0">
                <a:solidFill>
                  <a:srgbClr val="161B26"/>
                </a:solidFill>
                <a:latin typeface="Arial"/>
              </a:rPr>
              <a:t>•  Could the action be traced directly to the visual evidence?</a:t>
            </a:r>
          </a:p>
        </p:txBody>
      </p:sp>
      <p:sp>
        <p:nvSpPr>
          <p:cNvPr id="10" name="Rectangle 9"/>
          <p:cNvSpPr/>
          <p:nvPr/>
        </p:nvSpPr>
        <p:spPr>
          <a:xfrm>
            <a:off x="777240" y="4663440"/>
            <a:ext cx="10634472" cy="137160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1560" y="4864608"/>
            <a:ext cx="10058400" cy="365760"/>
          </a:xfrm>
          <a:prstGeom prst="rect">
            <a:avLst/>
          </a:prstGeom>
          <a:noFill/>
        </p:spPr>
        <p:txBody>
          <a:bodyPr wrap="square" anchor="t">
            <a:spAutoFit/>
          </a:bodyPr>
          <a:lstStyle/>
          <a:p>
            <a:pPr algn="l">
              <a:spcAft>
                <a:spcPts val="400"/>
              </a:spcAft>
            </a:pPr>
            <a:r>
              <a:rPr sz="1500" b="1">
                <a:solidFill>
                  <a:srgbClr val="127A3E"/>
                </a:solidFill>
                <a:latin typeface="Arial"/>
              </a:rPr>
              <a:t>✓  Facilitator debrief check</a:t>
            </a:r>
          </a:p>
        </p:txBody>
      </p:sp>
      <p:sp>
        <p:nvSpPr>
          <p:cNvPr id="12" name="TextBox 11"/>
          <p:cNvSpPr txBox="1"/>
          <p:nvPr/>
        </p:nvSpPr>
        <p:spPr>
          <a:xfrm>
            <a:off x="1051560" y="5257800"/>
            <a:ext cx="10058400" cy="731520"/>
          </a:xfrm>
          <a:prstGeom prst="rect">
            <a:avLst/>
          </a:prstGeom>
          <a:noFill/>
        </p:spPr>
        <p:txBody>
          <a:bodyPr wrap="square" anchor="t">
            <a:spAutoFit/>
          </a:bodyPr>
          <a:lstStyle/>
          <a:p>
            <a:pPr algn="l">
              <a:spcAft>
                <a:spcPts val="400"/>
              </a:spcAft>
            </a:pPr>
            <a:r>
              <a:rPr sz="1300" b="0">
                <a:solidFill>
                  <a:srgbClr val="161B26"/>
                </a:solidFill>
                <a:latin typeface="Arial"/>
              </a:rPr>
              <a:t>The final insight clearly separates what the data shows, what it may mean, why it matters and what should happen next.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34</a:t>
            </a:r>
          </a:p>
        </p:txBody>
      </p:sp>
    </p:spTree>
  </p:cSld>
  <p:clrMapOvr>
    <a:masterClrMapping/>
  </p:clrMapOvr>
  <p:transition spd="fast" advClick="1">
    <p:wipe dir="l"/>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350"/>
                                        <p:tgtEl>
                                          <p:spTgt spid="9"/>
                                        </p:tgtEl>
                                      </p:cBhvr>
                                    </p:animEffect>
                                    <p:anim calcmode="lin" valueType="num">
                                      <p:cBhvr additive="base">
                                        <p:cTn id="15" dur="350" fill="hold"/>
                                        <p:tgtEl>
                                          <p:spTgt spid="9"/>
                                        </p:tgtEl>
                                        <p:attrNameLst>
                                          <p:attrName>ppt_y</p:attrName>
                                        </p:attrNameLst>
                                      </p:cBhvr>
                                      <p:tavLst>
                                        <p:tav tm="0">
                                          <p:val>
                                            <p:strVal val="#ppt_y+0.0350"/>
                                          </p:val>
                                        </p:tav>
                                        <p:tav tm="100000">
                                          <p:val>
                                            <p:strVal val="#ppt_y"/>
                                          </p:val>
                                        </p:tav>
                                      </p:tavLst>
                                    </p:anim>
                                  </p:childTnLst>
                                </p:cTn>
                              </p:par>
                            </p:childTnLst>
                          </p:cTn>
                        </p:par>
                      </p:childTnLst>
                    </p:cTn>
                  </p:par>
                  <p:par>
                    <p:cTn id="20" fill="hold">
                      <p:stCondLst>
                        <p:cond delay="0"/>
                      </p:stCondLst>
                      <p:childTnLst>
                        <p:par>
                          <p:cTn id="21" fill="hold">
                            <p:stCondLst>
                              <p:cond delay="0"/>
                            </p:stCondLst>
                            <p:childTnLst>
                              <p:par>
                                <p:cTn id="22" presetID="10" presetClass="entr" presetSubtype="0" fill="hold" grpId="0" nodeType="after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350"/>
                                        <p:tgtEl>
                                          <p:spTgt spid="10"/>
                                        </p:tgtEl>
                                      </p:cBhvr>
                                    </p:animEffect>
                                    <p:anim calcmode="lin" valueType="num">
                                      <p:cBhvr additive="base">
                                        <p:cTn id="25" dur="350" fill="hold"/>
                                        <p:tgtEl>
                                          <p:spTgt spid="10"/>
                                        </p:tgtEl>
                                        <p:attrNameLst>
                                          <p:attrName>ppt_y</p:attrName>
                                        </p:attrNameLst>
                                      </p:cBhvr>
                                      <p:tavLst>
                                        <p:tav tm="0">
                                          <p:val>
                                            <p:strVal val="#ppt_y+0.0350"/>
                                          </p:val>
                                        </p:tav>
                                        <p:tav tm="100000">
                                          <p:val>
                                            <p:strVal val="#ppt_y"/>
                                          </p:val>
                                        </p:tav>
                                      </p:tavLst>
                                    </p:anim>
                                  </p:childTnLst>
                                </p:cTn>
                              </p:par>
                            </p:childTnLst>
                          </p:cTn>
                        </p:par>
                      </p:childTnLst>
                    </p:cTn>
                  </p:par>
                  <p:par>
                    <p:cTn id="30" fill="hold">
                      <p:stCondLst>
                        <p:cond delay="0"/>
                      </p:stCondLst>
                      <p:childTnLst>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350"/>
                                        <p:tgtEl>
                                          <p:spTgt spid="12"/>
                                        </p:tgtEl>
                                      </p:cBhvr>
                                    </p:animEffect>
                                    <p:anim calcmode="lin" valueType="num">
                                      <p:cBhvr additive="base">
                                        <p:cTn id="35" dur="350" fill="hold"/>
                                        <p:tgtEl>
                                          <p:spTgt spid="12"/>
                                        </p:tgtEl>
                                        <p:attrNameLst>
                                          <p:attrName>ppt_y</p:attrName>
                                        </p:attrNameLst>
                                      </p:cBhvr>
                                      <p:tavLst>
                                        <p:tav tm="0">
                                          <p:val>
                                            <p:strVal val="#ppt_y+0.0350"/>
                                          </p:val>
                                        </p:tav>
                                        <p:tav tm="100000">
                                          <p:val>
                                            <p:strVal val="#ppt_y"/>
                                          </p:val>
                                        </p:tav>
                                      </p:tavLst>
                                    </p:anim>
                                  </p:childTnLst>
                                </p:cTn>
                              </p:par>
                            </p:childTnLst>
                          </p:cTn>
                        </p:par>
                      </p:childTnLst>
                    </p:cTn>
                  </p:par>
                </p:childTnLst>
                <p:prevCondLst>
                  <p:cond evt="onPrev" delay="0">
                    <p:tgtEl>
                      <p:sldTgt/>
                    </p:tgtEl>
                  </p:cond>
                </p:prevCondLst>
                <p:nextCondLst>
                  <p:cond evt="onNext" delay="0">
                    <p:tgtEl>
                      <p:sldTgt/>
                    </p:tgtEl>
                  </p:cond>
                </p:nextCondLst>
              </p:cTn>
            </p:seq>
          </p:childTnLst>
        </p:cTn>
      </p:par>
    </p:tnLst>
  </p:timing>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600" b="1">
                <a:solidFill>
                  <a:srgbClr val="10B981"/>
                </a:solidFill>
                <a:latin typeface="Arial"/>
              </a:rPr>
              <a:t>LO1 · LU1 · T2</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3400" b="1">
                <a:solidFill>
                  <a:srgbClr val="161B26"/>
                </a:solidFill>
                <a:latin typeface="Arial"/>
              </a:rPr>
              <a:t>a strong prompt is an executable design brief</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T2</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35</a:t>
            </a:r>
          </a:p>
        </p:txBody>
      </p:sp>
    </p:spTree>
  </p:cSld>
  <p:clrMapOvr>
    <a:masterClrMapping/>
  </p:clrMapOvr>
  <p:transition spd="fast" advClick="1">
    <p:push dir="u"/>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350"/>
                                        <p:tgtEl>
                                          <p:spTgt spid="4"/>
                                        </p:tgtEl>
                                      </p:cBhvr>
                                    </p:animEffect>
                                    <p:anim calcmode="lin" valueType="num">
                                      <p:cBhvr additive="base">
                                        <p:cTn id="15" dur="350" fill="hold"/>
                                        <p:tgtEl>
                                          <p:spTgt spid="4"/>
                                        </p:tgtEl>
                                        <p:attrNameLst>
                                          <p:attrName>ppt_y</p:attrName>
                                        </p:attrNameLst>
                                      </p:cBhvr>
                                      <p:tavLst>
                                        <p:tav tm="0">
                                          <p:val>
                                            <p:strVal val="#ppt_y+0.0350"/>
                                          </p:val>
                                        </p:tav>
                                        <p:tav tm="100000">
                                          <p:val>
                                            <p:strVal val="#ppt_y"/>
                                          </p:val>
                                        </p:tav>
                                      </p:tavLst>
                                    </p:anim>
                                  </p:childTnLst>
                                </p:cTn>
                              </p:par>
                            </p:childTnLst>
                          </p:cTn>
                        </p:par>
                      </p:childTnLst>
                    </p:cTn>
                  </p:par>
                  <p:par>
                    <p:cTn id="20" fill="hold">
                      <p:stCondLst>
                        <p:cond delay="0"/>
                      </p:stCondLst>
                      <p:childTnLst>
                        <p:par>
                          <p:cTn id="21" fill="hold">
                            <p:stCondLst>
                              <p:cond delay="0"/>
                            </p:stCondLst>
                            <p:childTnLst>
                              <p:par>
                                <p:cTn id="22" presetID="10" presetClass="entr" presetSubtype="0" fill="hold" grpId="0" nodeType="afterEffect">
                                  <p:stCondLst>
                                    <p:cond delay="0"/>
                                  </p:stCondLst>
                                  <p:childTnLst>
                                    <p:set>
                                      <p:cBhvr>
                                        <p:cTn id="23" dur="1" fill="hold">
                                          <p:stCondLst>
                                            <p:cond delay="0"/>
                                          </p:stCondLst>
                                        </p:cTn>
                                        <p:tgtEl>
                                          <p:spTgt spid="5"/>
                                        </p:tgtEl>
                                        <p:attrNameLst>
                                          <p:attrName>style.visibility</p:attrName>
                                        </p:attrNameLst>
                                      </p:cBhvr>
                                      <p:to>
                                        <p:strVal val="visible"/>
                                      </p:to>
                                    </p:set>
                                    <p:animEffect transition="in" filter="fade">
                                      <p:cBhvr>
                                        <p:cTn id="24" dur="350"/>
                                        <p:tgtEl>
                                          <p:spTgt spid="5"/>
                                        </p:tgtEl>
                                      </p:cBhvr>
                                    </p:animEffect>
                                    <p:anim calcmode="lin" valueType="num">
                                      <p:cBhvr additive="base">
                                        <p:cTn id="25" dur="350" fill="hold"/>
                                        <p:tgtEl>
                                          <p:spTgt spid="5"/>
                                        </p:tgtEl>
                                        <p:attrNameLst>
                                          <p:attrName>ppt_y</p:attrName>
                                        </p:attrNameLst>
                                      </p:cBhvr>
                                      <p:tavLst>
                                        <p:tav tm="0">
                                          <p:val>
                                            <p:strVal val="#ppt_y+0.0350"/>
                                          </p:val>
                                        </p:tav>
                                        <p:tav tm="100000">
                                          <p:val>
                                            <p:strVal val="#ppt_y"/>
                                          </p:val>
                                        </p:tav>
                                      </p:tavLst>
                                    </p:anim>
                                  </p:childTnLst>
                                </p:cTn>
                              </p:par>
                            </p:childTnLst>
                          </p:cTn>
                        </p:par>
                      </p:childTnLst>
                    </p:cTn>
                  </p:par>
                  <p:par>
                    <p:cTn id="30" fill="hold">
                      <p:stCondLst>
                        <p:cond delay="0"/>
                      </p:stCondLst>
                      <p:childTnLst>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6"/>
                                        </p:tgtEl>
                                        <p:attrNameLst>
                                          <p:attrName>style.visibility</p:attrName>
                                        </p:attrNameLst>
                                      </p:cBhvr>
                                      <p:to>
                                        <p:strVal val="visible"/>
                                      </p:to>
                                    </p:set>
                                    <p:animEffect transition="in" filter="fade">
                                      <p:cBhvr>
                                        <p:cTn id="34" dur="350"/>
                                        <p:tgtEl>
                                          <p:spTgt spid="6"/>
                                        </p:tgtEl>
                                      </p:cBhvr>
                                    </p:animEffect>
                                    <p:anim calcmode="lin" valueType="num">
                                      <p:cBhvr additive="base">
                                        <p:cTn id="35" dur="350" fill="hold"/>
                                        <p:tgtEl>
                                          <p:spTgt spid="6"/>
                                        </p:tgtEl>
                                        <p:attrNameLst>
                                          <p:attrName>ppt_y</p:attrName>
                                        </p:attrNameLst>
                                      </p:cBhvr>
                                      <p:tavLst>
                                        <p:tav tm="0">
                                          <p:val>
                                            <p:strVal val="#ppt_y+0.0350"/>
                                          </p:val>
                                        </p:tav>
                                        <p:tav tm="100000">
                                          <p:val>
                                            <p:strVal val="#ppt_y"/>
                                          </p:val>
                                        </p:tav>
                                      </p:tavLst>
                                    </p:anim>
                                  </p:childTnLst>
                                </p:cTn>
                              </p:par>
                            </p:childTnLst>
                          </p:cTn>
                        </p:par>
                      </p:childTnLst>
                    </p:cTn>
                  </p:par>
                </p:childTnLst>
                <p:prevCondLst>
                  <p:cond evt="onPrev" delay="0">
                    <p:tgtEl>
                      <p:sldTgt/>
                    </p:tgtEl>
                  </p:cond>
                </p:prevCondLst>
                <p:nextCondLst>
                  <p:cond evt="onNext" delay="0">
                    <p:tgtEl>
                      <p:sldTgt/>
                    </p:tgtEl>
                  </p:cond>
                </p:nextCondLst>
              </p:cTn>
            </p:seq>
          </p:childTnLst>
        </p:cTn>
      </p:par>
    </p:tnLst>
  </p:timing>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LO1 · LU1 · T2</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What is a strong prompt is an executable design brief?</a:t>
            </a:r>
          </a:p>
        </p:txBody>
      </p:sp>
      <p:sp>
        <p:nvSpPr>
          <p:cNvPr id="6" name="Rectangle 5"/>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0" name="TextBox 9"/>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Objective</a:t>
            </a:r>
          </a:p>
          <a:p>
            <a:pPr algn="l">
              <a:spcAft>
                <a:spcPts val="300"/>
              </a:spcAft>
            </a:pPr>
            <a:r>
              <a:rPr sz="1200" b="0">
                <a:solidFill>
                  <a:srgbClr val="5B6372"/>
                </a:solidFill>
                <a:latin typeface="Arial"/>
              </a:rPr>
              <a:t>The audience, question, decision and desired action.</a:t>
            </a:r>
          </a:p>
        </p:txBody>
      </p:sp>
      <p:sp>
        <p:nvSpPr>
          <p:cNvPr id="11" name="Rectangle 10"/>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5" name="TextBox 14"/>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Content</a:t>
            </a:r>
          </a:p>
          <a:p>
            <a:pPr algn="l">
              <a:spcAft>
                <a:spcPts val="300"/>
              </a:spcAft>
            </a:pPr>
            <a:r>
              <a:rPr sz="1200" b="0">
                <a:solidFill>
                  <a:srgbClr val="5B6372"/>
                </a:solidFill>
                <a:latin typeface="Arial"/>
              </a:rPr>
              <a:t>Only evidence that earns a place in the visual story.</a:t>
            </a:r>
          </a:p>
        </p:txBody>
      </p:sp>
      <p:sp>
        <p:nvSpPr>
          <p:cNvPr id="16" name="Rectangle 15"/>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0" name="TextBox 19"/>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Structure</a:t>
            </a:r>
          </a:p>
          <a:p>
            <a:pPr algn="l">
              <a:spcAft>
                <a:spcPts val="300"/>
              </a:spcAft>
            </a:pPr>
            <a:r>
              <a:rPr sz="1200" b="0">
                <a:solidFill>
                  <a:srgbClr val="5B6372"/>
                </a:solidFill>
                <a:latin typeface="Arial"/>
              </a:rPr>
              <a:t>Timeline, process, comparison, statistical, hierarchy or hybrid.</a:t>
            </a:r>
          </a:p>
        </p:txBody>
      </p:sp>
      <p:sp>
        <p:nvSpPr>
          <p:cNvPr id="21" name="Rectangle 20"/>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5" name="TextBox 24"/>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Wireframe</a:t>
            </a:r>
          </a:p>
          <a:p>
            <a:pPr algn="l">
              <a:spcAft>
                <a:spcPts val="300"/>
              </a:spcAft>
            </a:pPr>
            <a:r>
              <a:rPr sz="1200" b="0">
                <a:solidFill>
                  <a:srgbClr val="5B6372"/>
                </a:solidFill>
                <a:latin typeface="Arial"/>
              </a:rPr>
              <a:t>A low-fidelity map of title, sections, visuals, labels and flow.</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36</a:t>
            </a:r>
          </a:p>
        </p:txBody>
      </p:sp>
      <p:sp>
        <p:nvSpPr>
          <p:cNvPr id="29" name="TextBox 28"/>
          <p:cNvSpPr txBox="1"/>
          <p:nvPr/>
        </p:nvSpPr>
        <p:spPr>
          <a:xfrm>
            <a:off x="777240" y="6163056"/>
            <a:ext cx="10607040" cy="201168"/>
          </a:xfrm>
          <a:prstGeom prst="rect">
            <a:avLst/>
          </a:prstGeom>
          <a:noFill/>
        </p:spPr>
        <p:txBody>
          <a:bodyPr wrap="square" anchor="t">
            <a:spAutoFit/>
          </a:bodyPr>
          <a:lstStyle/>
          <a:p>
            <a:pPr algn="l">
              <a:spcAft>
                <a:spcPts val="400"/>
              </a:spcAft>
            </a:pPr>
            <a:r>
              <a:rPr sz="850" b="0">
                <a:solidFill>
                  <a:srgbClr val="5B6372"/>
                </a:solidFill>
                <a:latin typeface="Arial"/>
              </a:rPr>
              <a:t>Source: course synthesis</a:t>
            </a:r>
          </a:p>
        </p:txBody>
      </p:sp>
    </p:spTree>
  </p:cSld>
  <p:clrMapOvr>
    <a:masterClrMapping/>
  </p:clrMapOvr>
  <p:transition spd="fast" advClick="1">
    <p:fade/>
  </p:transition>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LO1 · LU1 · T2 · HOW IT WORKS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Brief Before Generation</a:t>
            </a:r>
          </a:p>
        </p:txBody>
      </p:sp>
      <p:sp>
        <p:nvSpPr>
          <p:cNvPr id="6" name="Rectangle 5"/>
          <p:cNvSpPr/>
          <p:nvPr/>
        </p:nvSpPr>
        <p:spPr>
          <a:xfrm>
            <a:off x="777240" y="2331720"/>
            <a:ext cx="1907438"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401775" y="2642616"/>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401775" y="264261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0" name="TextBox 9"/>
          <p:cNvSpPr txBox="1"/>
          <p:nvPr/>
        </p:nvSpPr>
        <p:spPr>
          <a:xfrm>
            <a:off x="905256" y="3429000"/>
            <a:ext cx="1651406" cy="365760"/>
          </a:xfrm>
          <a:prstGeom prst="rect">
            <a:avLst/>
          </a:prstGeom>
          <a:noFill/>
        </p:spPr>
        <p:txBody>
          <a:bodyPr wrap="square" anchor="t">
            <a:spAutoFit/>
          </a:bodyPr>
          <a:lstStyle/>
          <a:p>
            <a:pPr algn="ctr">
              <a:spcAft>
                <a:spcPts val="400"/>
              </a:spcAft>
            </a:pPr>
            <a:r>
              <a:rPr sz="1400" b="1">
                <a:solidFill>
                  <a:srgbClr val="161B26"/>
                </a:solidFill>
                <a:latin typeface="Arial"/>
              </a:rPr>
              <a:t>Define</a:t>
            </a:r>
          </a:p>
        </p:txBody>
      </p:sp>
      <p:sp>
        <p:nvSpPr>
          <p:cNvPr id="11" name="TextBox 10"/>
          <p:cNvSpPr txBox="1"/>
          <p:nvPr/>
        </p:nvSpPr>
        <p:spPr>
          <a:xfrm>
            <a:off x="905256" y="3813048"/>
            <a:ext cx="1651406" cy="1280160"/>
          </a:xfrm>
          <a:prstGeom prst="rect">
            <a:avLst/>
          </a:prstGeom>
          <a:noFill/>
        </p:spPr>
        <p:txBody>
          <a:bodyPr wrap="square" anchor="t">
            <a:spAutoFit/>
          </a:bodyPr>
          <a:lstStyle/>
          <a:p>
            <a:pPr algn="ctr">
              <a:spcAft>
                <a:spcPts val="400"/>
              </a:spcAft>
            </a:pPr>
            <a:r>
              <a:rPr sz="1250" b="0">
                <a:solidFill>
                  <a:srgbClr val="5B6372"/>
                </a:solidFill>
                <a:latin typeface="Arial"/>
              </a:rPr>
              <a:t>Write the objective and audience question.</a:t>
            </a:r>
          </a:p>
        </p:txBody>
      </p:sp>
      <p:sp>
        <p:nvSpPr>
          <p:cNvPr id="12" name="Chevron 11"/>
          <p:cNvSpPr/>
          <p:nvPr/>
        </p:nvSpPr>
        <p:spPr>
          <a:xfrm>
            <a:off x="2702966" y="3607308"/>
            <a:ext cx="237744" cy="329184"/>
          </a:xfrm>
          <a:prstGeom prst="chevron">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958998" y="2331720"/>
            <a:ext cx="1907438"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58998" y="233172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83533" y="2642616"/>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83533" y="264261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7" name="TextBox 16"/>
          <p:cNvSpPr txBox="1"/>
          <p:nvPr/>
        </p:nvSpPr>
        <p:spPr>
          <a:xfrm>
            <a:off x="3087014" y="3429000"/>
            <a:ext cx="1651406" cy="365760"/>
          </a:xfrm>
          <a:prstGeom prst="rect">
            <a:avLst/>
          </a:prstGeom>
          <a:noFill/>
        </p:spPr>
        <p:txBody>
          <a:bodyPr wrap="square" anchor="t">
            <a:spAutoFit/>
          </a:bodyPr>
          <a:lstStyle/>
          <a:p>
            <a:pPr algn="ctr">
              <a:spcAft>
                <a:spcPts val="400"/>
              </a:spcAft>
            </a:pPr>
            <a:r>
              <a:rPr sz="1400" b="1">
                <a:solidFill>
                  <a:srgbClr val="161B26"/>
                </a:solidFill>
                <a:latin typeface="Arial"/>
              </a:rPr>
              <a:t>Ground</a:t>
            </a:r>
          </a:p>
        </p:txBody>
      </p:sp>
      <p:sp>
        <p:nvSpPr>
          <p:cNvPr id="18" name="TextBox 17"/>
          <p:cNvSpPr txBox="1"/>
          <p:nvPr/>
        </p:nvSpPr>
        <p:spPr>
          <a:xfrm>
            <a:off x="3087014" y="3813048"/>
            <a:ext cx="1651406" cy="1280160"/>
          </a:xfrm>
          <a:prstGeom prst="rect">
            <a:avLst/>
          </a:prstGeom>
          <a:noFill/>
        </p:spPr>
        <p:txBody>
          <a:bodyPr wrap="square" anchor="t">
            <a:spAutoFit/>
          </a:bodyPr>
          <a:lstStyle/>
          <a:p>
            <a:pPr algn="ctr">
              <a:spcAft>
                <a:spcPts val="400"/>
              </a:spcAft>
            </a:pPr>
            <a:r>
              <a:rPr sz="1250" b="0">
                <a:solidFill>
                  <a:srgbClr val="5B6372"/>
                </a:solidFill>
                <a:latin typeface="Arial"/>
              </a:rPr>
              <a:t>Attach only approved sources and verified insights.</a:t>
            </a:r>
          </a:p>
        </p:txBody>
      </p:sp>
      <p:sp>
        <p:nvSpPr>
          <p:cNvPr id="19" name="Chevron 18"/>
          <p:cNvSpPr/>
          <p:nvPr/>
        </p:nvSpPr>
        <p:spPr>
          <a:xfrm>
            <a:off x="4884724" y="3607308"/>
            <a:ext cx="237744" cy="329184"/>
          </a:xfrm>
          <a:prstGeom prst="chevron">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40756" y="2331720"/>
            <a:ext cx="1907438"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140756" y="233172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765291" y="2642616"/>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765291" y="264261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4" name="TextBox 23"/>
          <p:cNvSpPr txBox="1"/>
          <p:nvPr/>
        </p:nvSpPr>
        <p:spPr>
          <a:xfrm>
            <a:off x="5268772" y="3429000"/>
            <a:ext cx="1651406" cy="365760"/>
          </a:xfrm>
          <a:prstGeom prst="rect">
            <a:avLst/>
          </a:prstGeom>
          <a:noFill/>
        </p:spPr>
        <p:txBody>
          <a:bodyPr wrap="square" anchor="t">
            <a:spAutoFit/>
          </a:bodyPr>
          <a:lstStyle/>
          <a:p>
            <a:pPr algn="ctr">
              <a:spcAft>
                <a:spcPts val="400"/>
              </a:spcAft>
            </a:pPr>
            <a:r>
              <a:rPr sz="1400" b="1">
                <a:solidFill>
                  <a:srgbClr val="161B26"/>
                </a:solidFill>
                <a:latin typeface="Arial"/>
              </a:rPr>
              <a:t>Specify</a:t>
            </a:r>
          </a:p>
        </p:txBody>
      </p:sp>
      <p:sp>
        <p:nvSpPr>
          <p:cNvPr id="25" name="TextBox 24"/>
          <p:cNvSpPr txBox="1"/>
          <p:nvPr/>
        </p:nvSpPr>
        <p:spPr>
          <a:xfrm>
            <a:off x="5268772" y="3813048"/>
            <a:ext cx="1651406" cy="1280160"/>
          </a:xfrm>
          <a:prstGeom prst="rect">
            <a:avLst/>
          </a:prstGeom>
          <a:noFill/>
        </p:spPr>
        <p:txBody>
          <a:bodyPr wrap="square" anchor="t">
            <a:spAutoFit/>
          </a:bodyPr>
          <a:lstStyle/>
          <a:p>
            <a:pPr algn="ctr">
              <a:spcAft>
                <a:spcPts val="400"/>
              </a:spcAft>
            </a:pPr>
            <a:r>
              <a:rPr sz="1250" b="0">
                <a:solidFill>
                  <a:srgbClr val="5B6372"/>
                </a:solidFill>
                <a:latin typeface="Arial"/>
              </a:rPr>
              <a:t>Name hierarchy, infographic form, brand and accessibility rules.</a:t>
            </a:r>
          </a:p>
        </p:txBody>
      </p:sp>
      <p:sp>
        <p:nvSpPr>
          <p:cNvPr id="26" name="Chevron 25"/>
          <p:cNvSpPr/>
          <p:nvPr/>
        </p:nvSpPr>
        <p:spPr>
          <a:xfrm>
            <a:off x="7066482" y="3607308"/>
            <a:ext cx="237744" cy="329184"/>
          </a:xfrm>
          <a:prstGeom prst="chevron">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322514" y="2331720"/>
            <a:ext cx="1907438"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22514" y="233172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947049" y="2642616"/>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947049" y="264261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1" name="TextBox 30"/>
          <p:cNvSpPr txBox="1"/>
          <p:nvPr/>
        </p:nvSpPr>
        <p:spPr>
          <a:xfrm>
            <a:off x="7450530" y="3429000"/>
            <a:ext cx="1651406" cy="365760"/>
          </a:xfrm>
          <a:prstGeom prst="rect">
            <a:avLst/>
          </a:prstGeom>
          <a:noFill/>
        </p:spPr>
        <p:txBody>
          <a:bodyPr wrap="square" anchor="t">
            <a:spAutoFit/>
          </a:bodyPr>
          <a:lstStyle/>
          <a:p>
            <a:pPr algn="ctr">
              <a:spcAft>
                <a:spcPts val="400"/>
              </a:spcAft>
            </a:pPr>
            <a:r>
              <a:rPr sz="1400" b="1">
                <a:solidFill>
                  <a:srgbClr val="161B26"/>
                </a:solidFill>
                <a:latin typeface="Arial"/>
              </a:rPr>
              <a:t>Constrain</a:t>
            </a:r>
          </a:p>
        </p:txBody>
      </p:sp>
      <p:sp>
        <p:nvSpPr>
          <p:cNvPr id="32" name="TextBox 31"/>
          <p:cNvSpPr txBox="1"/>
          <p:nvPr/>
        </p:nvSpPr>
        <p:spPr>
          <a:xfrm>
            <a:off x="7450530" y="3813048"/>
            <a:ext cx="1651406" cy="1280160"/>
          </a:xfrm>
          <a:prstGeom prst="rect">
            <a:avLst/>
          </a:prstGeom>
          <a:noFill/>
        </p:spPr>
        <p:txBody>
          <a:bodyPr wrap="square" anchor="t">
            <a:spAutoFit/>
          </a:bodyPr>
          <a:lstStyle/>
          <a:p>
            <a:pPr algn="ctr">
              <a:spcAft>
                <a:spcPts val="400"/>
              </a:spcAft>
            </a:pPr>
            <a:r>
              <a:rPr sz="1250" b="0">
                <a:solidFill>
                  <a:srgbClr val="5B6372"/>
                </a:solidFill>
                <a:latin typeface="Arial"/>
              </a:rPr>
              <a:t>Forbid invented facts, unsupported causation and decorative clutter.</a:t>
            </a:r>
          </a:p>
        </p:txBody>
      </p:sp>
      <p:sp>
        <p:nvSpPr>
          <p:cNvPr id="33" name="Chevron 32"/>
          <p:cNvSpPr/>
          <p:nvPr/>
        </p:nvSpPr>
        <p:spPr>
          <a:xfrm>
            <a:off x="9248240" y="3607308"/>
            <a:ext cx="237744" cy="329184"/>
          </a:xfrm>
          <a:prstGeom prst="chevron">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504272" y="2331720"/>
            <a:ext cx="1907438"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504272" y="233172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0128807" y="2642616"/>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128807" y="264261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8" name="TextBox 37"/>
          <p:cNvSpPr txBox="1"/>
          <p:nvPr/>
        </p:nvSpPr>
        <p:spPr>
          <a:xfrm>
            <a:off x="9632288" y="3429000"/>
            <a:ext cx="1651406" cy="365760"/>
          </a:xfrm>
          <a:prstGeom prst="rect">
            <a:avLst/>
          </a:prstGeom>
          <a:noFill/>
        </p:spPr>
        <p:txBody>
          <a:bodyPr wrap="square" anchor="t">
            <a:spAutoFit/>
          </a:bodyPr>
          <a:lstStyle/>
          <a:p>
            <a:pPr algn="ctr">
              <a:spcAft>
                <a:spcPts val="400"/>
              </a:spcAft>
            </a:pPr>
            <a:r>
              <a:rPr sz="1400" b="1">
                <a:solidFill>
                  <a:srgbClr val="161B26"/>
                </a:solidFill>
                <a:latin typeface="Arial"/>
              </a:rPr>
              <a:t>Generate</a:t>
            </a:r>
          </a:p>
        </p:txBody>
      </p:sp>
      <p:sp>
        <p:nvSpPr>
          <p:cNvPr id="39" name="TextBox 38"/>
          <p:cNvSpPr txBox="1"/>
          <p:nvPr/>
        </p:nvSpPr>
        <p:spPr>
          <a:xfrm>
            <a:off x="9632288" y="3813048"/>
            <a:ext cx="1651406" cy="1280160"/>
          </a:xfrm>
          <a:prstGeom prst="rect">
            <a:avLst/>
          </a:prstGeom>
          <a:noFill/>
        </p:spPr>
        <p:txBody>
          <a:bodyPr wrap="square" anchor="t">
            <a:spAutoFit/>
          </a:bodyPr>
          <a:lstStyle/>
          <a:p>
            <a:pPr algn="ctr">
              <a:spcAft>
                <a:spcPts val="400"/>
              </a:spcAft>
            </a:pPr>
            <a:r>
              <a:rPr sz="1250" b="0">
                <a:solidFill>
                  <a:srgbClr val="5B6372"/>
                </a:solidFill>
                <a:latin typeface="Arial"/>
              </a:rPr>
              <a:t>Request two wireframe directions, then select by evidence fit.</a:t>
            </a:r>
          </a:p>
        </p:txBody>
      </p:sp>
      <p:sp>
        <p:nvSpPr>
          <p:cNvPr id="40" name="TextBox 3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41" name="TextBox 4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2" name="TextBox 4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37</a:t>
            </a:r>
          </a:p>
        </p:txBody>
      </p:sp>
    </p:spTree>
  </p:cSld>
  <p:clrMapOvr>
    <a:masterClrMapping/>
  </p:clrMapOvr>
  <p:transition spd="fast" advClick="1">
    <p:fade/>
  </p:transition>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LO1 · LU1 · T2 · COMPARE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Format Choice by Question</a:t>
            </a:r>
          </a:p>
        </p:txBody>
      </p:sp>
      <p:sp>
        <p:nvSpPr>
          <p:cNvPr id="6" name="Rectangle 5"/>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Question</a:t>
            </a:r>
          </a:p>
        </p:txBody>
      </p:sp>
      <p:sp>
        <p:nvSpPr>
          <p:cNvPr id="9" name="TextBox 8"/>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Useful form</a:t>
            </a:r>
          </a:p>
        </p:txBody>
      </p:sp>
      <p:sp>
        <p:nvSpPr>
          <p:cNvPr id="10" name="TextBox 9"/>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What happened over time?</a:t>
            </a:r>
          </a:p>
          <a:p>
            <a:pPr>
              <a:spcAft>
                <a:spcPts val="1000"/>
              </a:spcAft>
            </a:pPr>
            <a:r>
              <a:rPr sz="1600" b="0">
                <a:solidFill>
                  <a:srgbClr val="161B26"/>
                </a:solidFill>
                <a:latin typeface="Arial"/>
              </a:rPr>
              <a:t>•  How does the service work?</a:t>
            </a:r>
          </a:p>
          <a:p>
            <a:pPr>
              <a:spcAft>
                <a:spcPts val="1000"/>
              </a:spcAft>
            </a:pPr>
            <a:r>
              <a:rPr sz="1600" b="0">
                <a:solidFill>
                  <a:srgbClr val="161B26"/>
                </a:solidFill>
                <a:latin typeface="Arial"/>
              </a:rPr>
              <a:t>•  Which option performs better?</a:t>
            </a:r>
          </a:p>
          <a:p>
            <a:pPr>
              <a:spcAft>
                <a:spcPts val="1000"/>
              </a:spcAft>
            </a:pPr>
            <a:r>
              <a:rPr sz="1600" b="0">
                <a:solidFill>
                  <a:srgbClr val="161B26"/>
                </a:solidFill>
                <a:latin typeface="Arial"/>
              </a:rPr>
              <a:t>•  How are categories related?</a:t>
            </a:r>
          </a:p>
        </p:txBody>
      </p:sp>
      <p:sp>
        <p:nvSpPr>
          <p:cNvPr id="11" name="TextBox 10"/>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161B26"/>
                </a:solidFill>
                <a:latin typeface="Arial"/>
              </a:rPr>
              <a:t>•  Timeline / chronology</a:t>
            </a:r>
          </a:p>
          <a:p>
            <a:pPr>
              <a:spcAft>
                <a:spcPts val="1000"/>
              </a:spcAft>
            </a:pPr>
            <a:r>
              <a:rPr sz="1600" b="0">
                <a:solidFill>
                  <a:srgbClr val="161B26"/>
                </a:solidFill>
                <a:latin typeface="Arial"/>
              </a:rPr>
              <a:t>•  Process / instructional</a:t>
            </a:r>
          </a:p>
          <a:p>
            <a:pPr>
              <a:spcAft>
                <a:spcPts val="1000"/>
              </a:spcAft>
            </a:pPr>
            <a:r>
              <a:rPr sz="1600" b="0">
                <a:solidFill>
                  <a:srgbClr val="161B26"/>
                </a:solidFill>
                <a:latin typeface="Arial"/>
              </a:rPr>
              <a:t>•  Comparison / statistical</a:t>
            </a:r>
          </a:p>
          <a:p>
            <a:pPr>
              <a:spcAft>
                <a:spcPts val="1000"/>
              </a:spcAft>
            </a:pPr>
            <a:r>
              <a:rPr sz="1600" b="0">
                <a:solidFill>
                  <a:srgbClr val="161B26"/>
                </a:solidFill>
                <a:latin typeface="Arial"/>
              </a:rPr>
              <a:t>•  Hierarchy / mind map</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38</a:t>
            </a:r>
          </a:p>
        </p:txBody>
      </p:sp>
      <p:sp>
        <p:nvSpPr>
          <p:cNvPr id="15" name="TextBox 14"/>
          <p:cNvSpPr txBox="1"/>
          <p:nvPr/>
        </p:nvSpPr>
        <p:spPr>
          <a:xfrm>
            <a:off x="777240" y="6163056"/>
            <a:ext cx="10607040" cy="201168"/>
          </a:xfrm>
          <a:prstGeom prst="rect">
            <a:avLst/>
          </a:prstGeom>
          <a:noFill/>
        </p:spPr>
        <p:txBody>
          <a:bodyPr wrap="square" anchor="t">
            <a:spAutoFit/>
          </a:bodyPr>
          <a:lstStyle/>
          <a:p>
            <a:pPr algn="l">
              <a:spcAft>
                <a:spcPts val="400"/>
              </a:spcAft>
            </a:pPr>
            <a:r>
              <a:rPr sz="850" b="0">
                <a:solidFill>
                  <a:srgbClr val="5B6372"/>
                </a:solidFill>
                <a:latin typeface="Arial"/>
              </a:rPr>
              <a:t>Source: course synthesis</a:t>
            </a:r>
          </a:p>
        </p:txBody>
      </p:sp>
    </p:spTree>
  </p:cSld>
  <p:clrMapOvr>
    <a:masterClrMapping/>
  </p:clrMapOvr>
  <p:transition spd="fast" advClick="1">
    <p:fade/>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350"/>
                                        <p:tgtEl>
                                          <p:spTgt spid="10"/>
                                        </p:tgtEl>
                                      </p:cBhvr>
                                    </p:animEffect>
                                    <p:anim calcmode="lin" valueType="num">
                                      <p:cBhvr additive="base">
                                        <p:cTn id="15" dur="350" fill="hold"/>
                                        <p:tgtEl>
                                          <p:spTgt spid="10"/>
                                        </p:tgtEl>
                                        <p:attrNameLst>
                                          <p:attrName>ppt_y</p:attrName>
                                        </p:attrNameLst>
                                      </p:cBhvr>
                                      <p:tavLst>
                                        <p:tav tm="0">
                                          <p:val>
                                            <p:strVal val="#ppt_y+0.0350"/>
                                          </p:val>
                                        </p:tav>
                                        <p:tav tm="100000">
                                          <p:val>
                                            <p:strVal val="#ppt_y"/>
                                          </p:val>
                                        </p:tav>
                                      </p:tavLst>
                                    </p:anim>
                                  </p:childTnLst>
                                </p:cTn>
                              </p:par>
                            </p:childTnLst>
                          </p:cTn>
                        </p:par>
                      </p:childTnLst>
                    </p:cTn>
                  </p:par>
                  <p:par>
                    <p:cTn id="20" fill="hold">
                      <p:stCondLst>
                        <p:cond delay="0"/>
                      </p:stCondLst>
                      <p:childTnLst>
                        <p:par>
                          <p:cTn id="21" fill="hold">
                            <p:stCondLst>
                              <p:cond delay="0"/>
                            </p:stCondLst>
                            <p:childTnLst>
                              <p:par>
                                <p:cTn id="22" presetID="10" presetClass="entr" presetSubtype="0" fill="hold" grpId="0" nodeType="afterEffect">
                                  <p:stCondLst>
                                    <p:cond delay="0"/>
                                  </p:stCondLst>
                                  <p:childTnLst>
                                    <p:set>
                                      <p:cBhvr>
                                        <p:cTn id="23" dur="1" fill="hold">
                                          <p:stCondLst>
                                            <p:cond delay="0"/>
                                          </p:stCondLst>
                                        </p:cTn>
                                        <p:tgtEl>
                                          <p:spTgt spid="11"/>
                                        </p:tgtEl>
                                        <p:attrNameLst>
                                          <p:attrName>style.visibility</p:attrName>
                                        </p:attrNameLst>
                                      </p:cBhvr>
                                      <p:to>
                                        <p:strVal val="visible"/>
                                      </p:to>
                                    </p:set>
                                    <p:animEffect transition="in" filter="fade">
                                      <p:cBhvr>
                                        <p:cTn id="24" dur="350"/>
                                        <p:tgtEl>
                                          <p:spTgt spid="11"/>
                                        </p:tgtEl>
                                      </p:cBhvr>
                                    </p:animEffect>
                                    <p:anim calcmode="lin" valueType="num">
                                      <p:cBhvr additive="base">
                                        <p:cTn id="25" dur="350" fill="hold"/>
                                        <p:tgtEl>
                                          <p:spTgt spid="11"/>
                                        </p:tgtEl>
                                        <p:attrNameLst>
                                          <p:attrName>ppt_y</p:attrName>
                                        </p:attrNameLst>
                                      </p:cBhvr>
                                      <p:tavLst>
                                        <p:tav tm="0">
                                          <p:val>
                                            <p:strVal val="#ppt_y+0.0350"/>
                                          </p:val>
                                        </p:tav>
                                        <p:tav tm="100000">
                                          <p:val>
                                            <p:strVal val="#ppt_y"/>
                                          </p:val>
                                        </p:tav>
                                      </p:tavLst>
                                    </p:anim>
                                  </p:childTnLst>
                                </p:cTn>
                              </p:par>
                            </p:childTnLst>
                          </p:cTn>
                        </p:par>
                      </p:childTnLst>
                    </p:cTn>
                  </p:par>
                </p:childTnLst>
                <p:prevCondLst>
                  <p:cond evt="onPrev" delay="0">
                    <p:tgtEl>
                      <p:sldTgt/>
                    </p:tgtEl>
                  </p:cond>
                </p:prevCondLst>
                <p:nextCondLst>
                  <p:cond evt="onNext" delay="0">
                    <p:tgtEl>
                      <p:sldTgt/>
                    </p:tgtEl>
                  </p:cond>
                </p:nextCondLst>
              </p:cTn>
            </p:seq>
          </p:childTnLst>
        </p:cTn>
      </p:par>
    </p:tnLst>
  </p:timing>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LO1 · LU1 · T2 · SUPPORTING DATA</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Wireframe Anatomy</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0" name="TextBox 9"/>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Hook</a:t>
            </a:r>
          </a:p>
          <a:p>
            <a:pPr algn="l">
              <a:spcAft>
                <a:spcPts val="300"/>
              </a:spcAft>
            </a:pPr>
            <a:r>
              <a:rPr sz="1200" b="0">
                <a:solidFill>
                  <a:srgbClr val="5B6372"/>
                </a:solidFill>
                <a:latin typeface="Arial"/>
              </a:rPr>
              <a:t>Title states the audience-relevant message.</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5" name="TextBox 14"/>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Context</a:t>
            </a:r>
          </a:p>
          <a:p>
            <a:pPr algn="l">
              <a:spcAft>
                <a:spcPts val="300"/>
              </a:spcAft>
            </a:pPr>
            <a:r>
              <a:rPr sz="1200" b="0">
                <a:solidFill>
                  <a:srgbClr val="5B6372"/>
                </a:solidFill>
                <a:latin typeface="Arial"/>
              </a:rPr>
              <a:t>Source, timeframe, unit and scope.</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0" name="TextBox 19"/>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Evidence</a:t>
            </a:r>
          </a:p>
          <a:p>
            <a:pPr algn="l">
              <a:spcAft>
                <a:spcPts val="300"/>
              </a:spcAft>
            </a:pPr>
            <a:r>
              <a:rPr sz="1200" b="0">
                <a:solidFill>
                  <a:srgbClr val="5B6372"/>
                </a:solidFill>
                <a:latin typeface="Arial"/>
              </a:rPr>
              <a:t>One primary chart or process carries the proof.</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5" name="TextBox 24"/>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Guidance</a:t>
            </a:r>
          </a:p>
          <a:p>
            <a:pPr algn="l">
              <a:spcAft>
                <a:spcPts val="300"/>
              </a:spcAft>
            </a:pPr>
            <a:r>
              <a:rPr sz="1200" b="0">
                <a:solidFill>
                  <a:srgbClr val="5B6372"/>
                </a:solidFill>
                <a:latin typeface="Arial"/>
              </a:rPr>
              <a:t>Arrows, order and whitespace control the reading path.</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0" name="TextBox 29"/>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Action</a:t>
            </a:r>
          </a:p>
          <a:p>
            <a:pPr algn="l">
              <a:spcAft>
                <a:spcPts val="300"/>
              </a:spcAft>
            </a:pPr>
            <a:r>
              <a:rPr sz="1200" b="0">
                <a:solidFill>
                  <a:srgbClr val="5B6372"/>
                </a:solidFill>
                <a:latin typeface="Arial"/>
              </a:rPr>
              <a:t>A concise implication or next step.</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5" name="TextBox 34"/>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Footer</a:t>
            </a:r>
          </a:p>
          <a:p>
            <a:pPr algn="l">
              <a:spcAft>
                <a:spcPts val="300"/>
              </a:spcAft>
            </a:pPr>
            <a:r>
              <a:rPr sz="1200" b="0">
                <a:solidFill>
                  <a:srgbClr val="5B6372"/>
                </a:solidFill>
                <a:latin typeface="Arial"/>
              </a:rPr>
              <a:t>Source, owner, date and accessibility notes.</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39</a:t>
            </a:r>
          </a:p>
        </p:txBody>
      </p:sp>
      <p:sp>
        <p:nvSpPr>
          <p:cNvPr id="39" name="TextBox 38"/>
          <p:cNvSpPr txBox="1"/>
          <p:nvPr/>
        </p:nvSpPr>
        <p:spPr>
          <a:xfrm>
            <a:off x="777240" y="6163056"/>
            <a:ext cx="10607040" cy="201168"/>
          </a:xfrm>
          <a:prstGeom prst="rect">
            <a:avLst/>
          </a:prstGeom>
          <a:noFill/>
        </p:spPr>
        <p:txBody>
          <a:bodyPr wrap="square" anchor="t">
            <a:spAutoFit/>
          </a:bodyPr>
          <a:lstStyle/>
          <a:p>
            <a:pPr algn="l">
              <a:spcAft>
                <a:spcPts val="400"/>
              </a:spcAft>
            </a:pPr>
            <a:r>
              <a:rPr sz="850" b="0">
                <a:solidFill>
                  <a:srgbClr val="5B6372"/>
                </a:solidFill>
                <a:latin typeface="Arial"/>
              </a:rPr>
              <a:t>Source: illustrative synthetic data</a:t>
            </a:r>
          </a:p>
        </p:txBody>
      </p:sp>
    </p:spTree>
  </p:cSld>
  <p:clrMapOvr>
    <a:masterClrMapping/>
  </p:clrMapOvr>
  <p:transition spd="fast" advClick="1">
    <p:fade/>
  </p:transition>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LO1 · LU1 · T2 · ACTIVITY 2</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Design a Comparison Infographic Brief</a:t>
            </a:r>
          </a:p>
        </p:txBody>
      </p:sp>
      <p:sp>
        <p:nvSpPr>
          <p:cNvPr id="6" name="Rectangle 5"/>
          <p:cNvSpPr/>
          <p:nvPr/>
        </p:nvSpPr>
        <p:spPr>
          <a:xfrm>
            <a:off x="777240" y="1691640"/>
            <a:ext cx="169164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28216"/>
            <a:ext cx="1691640" cy="365760"/>
          </a:xfrm>
          <a:prstGeom prst="rect">
            <a:avLst/>
          </a:prstGeom>
          <a:noFill/>
        </p:spPr>
        <p:txBody>
          <a:bodyPr wrap="square" anchor="t">
            <a:spAutoFit/>
          </a:bodyPr>
          <a:lstStyle/>
          <a:p>
            <a:pPr algn="ctr">
              <a:spcAft>
                <a:spcPts val="400"/>
              </a:spcAft>
            </a:pPr>
            <a:r>
              <a:rPr sz="1300" b="1">
                <a:solidFill>
                  <a:srgbClr val="FFFFFF"/>
                </a:solidFill>
                <a:latin typeface="Arial"/>
              </a:rPr>
              <a:t>CASE STUDY</a:t>
            </a:r>
          </a:p>
        </p:txBody>
      </p:sp>
      <p:sp>
        <p:nvSpPr>
          <p:cNvPr id="8" name="Rectangle 7"/>
          <p:cNvSpPr/>
          <p:nvPr/>
        </p:nvSpPr>
        <p:spPr>
          <a:xfrm>
            <a:off x="777240" y="2286000"/>
            <a:ext cx="1063447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286000"/>
            <a:ext cx="91440" cy="28803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2487168"/>
            <a:ext cx="9966960" cy="320040"/>
          </a:xfrm>
          <a:prstGeom prst="rect">
            <a:avLst/>
          </a:prstGeom>
          <a:noFill/>
        </p:spPr>
        <p:txBody>
          <a:bodyPr wrap="square" anchor="t">
            <a:spAutoFit/>
          </a:bodyPr>
          <a:lstStyle/>
          <a:p>
            <a:pPr algn="l">
              <a:spcAft>
                <a:spcPts val="400"/>
              </a:spcAft>
            </a:pPr>
            <a:r>
              <a:rPr sz="1200" b="1">
                <a:solidFill>
                  <a:srgbClr val="10B981"/>
                </a:solidFill>
                <a:latin typeface="Arial"/>
              </a:rPr>
              <a:t>THE SITUATION</a:t>
            </a:r>
          </a:p>
        </p:txBody>
      </p:sp>
      <p:sp>
        <p:nvSpPr>
          <p:cNvPr id="11" name="TextBox 10"/>
          <p:cNvSpPr txBox="1"/>
          <p:nvPr/>
        </p:nvSpPr>
        <p:spPr>
          <a:xfrm>
            <a:off x="1097280" y="2834640"/>
            <a:ext cx="10058400" cy="2240280"/>
          </a:xfrm>
          <a:prstGeom prst="rect">
            <a:avLst/>
          </a:prstGeom>
          <a:noFill/>
        </p:spPr>
        <p:txBody>
          <a:bodyPr wrap="square" anchor="t">
            <a:spAutoFit/>
          </a:bodyPr>
          <a:lstStyle/>
          <a:p>
            <a:pPr algn="l">
              <a:spcAft>
                <a:spcPts val="800"/>
              </a:spcAft>
            </a:pPr>
            <a:r>
              <a:rPr sz="1450" b="0">
                <a:solidFill>
                  <a:srgbClr val="161B26"/>
                </a:solidFill>
                <a:latin typeface="Arial"/>
              </a:rPr>
              <a:t>Northstar plans a sustainable-delivery campaign. The communication manager needs a portrait infographic showing the customer journey from order to low-emission delivery.</a:t>
            </a:r>
          </a:p>
          <a:p>
            <a:pPr algn="l">
              <a:spcAft>
                <a:spcPts val="800"/>
              </a:spcAft>
            </a:pPr>
            <a:r>
              <a:rPr sz="1450" b="0">
                <a:solidFill>
                  <a:srgbClr val="161B26"/>
                </a:solidFill>
                <a:latin typeface="Arial"/>
              </a:rPr>
              <a:t>Use the supplied structured prompt workbook to ask Microsoft 365 Copilot for two comparison-infographic directions. Select one by evidence fit, then preserve it as the control brief for PowerPoint.</a:t>
            </a:r>
          </a:p>
        </p:txBody>
      </p:sp>
      <p:sp>
        <p:nvSpPr>
          <p:cNvPr id="12" name="Rectangle 11"/>
          <p:cNvSpPr/>
          <p:nvPr/>
        </p:nvSpPr>
        <p:spPr>
          <a:xfrm>
            <a:off x="777240" y="5349240"/>
            <a:ext cx="10634472" cy="68580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5349240"/>
            <a:ext cx="7315200" cy="685800"/>
          </a:xfrm>
          <a:prstGeom prst="rect">
            <a:avLst/>
          </a:prstGeom>
          <a:noFill/>
        </p:spPr>
        <p:txBody>
          <a:bodyPr wrap="square" anchor="ctr">
            <a:spAutoFit/>
          </a:bodyPr>
          <a:lstStyle/>
          <a:p>
            <a:pPr algn="l">
              <a:spcAft>
                <a:spcPts val="400"/>
              </a:spcAft>
            </a:pPr>
            <a:r>
              <a:rPr sz="1300" b="1">
                <a:solidFill>
                  <a:srgbClr val="1F6FEB"/>
                </a:solidFill>
                <a:latin typeface="Arial"/>
              </a:rPr>
              <a:t>You'll produce:  </a:t>
            </a:r>
            <a:r>
              <a:rPr sz="1300" b="0">
                <a:solidFill>
                  <a:srgbClr val="161B26"/>
                </a:solidFill>
                <a:latin typeface="Arial"/>
              </a:rPr>
              <a:t>A structured Copilot prompt, two comparison-infographic directions and one approved PowerPoint wireframe</a:t>
            </a:r>
          </a:p>
        </p:txBody>
      </p:sp>
      <p:sp>
        <p:nvSpPr>
          <p:cNvPr id="14" name="TextBox 13"/>
          <p:cNvSpPr txBox="1"/>
          <p:nvPr/>
        </p:nvSpPr>
        <p:spPr>
          <a:xfrm>
            <a:off x="8778240" y="5349240"/>
            <a:ext cx="2606040" cy="685800"/>
          </a:xfrm>
          <a:prstGeom prst="rect">
            <a:avLst/>
          </a:prstGeom>
          <a:noFill/>
        </p:spPr>
        <p:txBody>
          <a:bodyPr wrap="square" anchor="ctr">
            <a:spAutoFit/>
          </a:bodyPr>
          <a:lstStyle/>
          <a:p>
            <a:pPr algn="r">
              <a:spcAft>
                <a:spcPts val="400"/>
              </a:spcAft>
            </a:pPr>
            <a:r>
              <a:rPr sz="1300" b="1">
                <a:solidFill>
                  <a:srgbClr val="5B6372"/>
                </a:solidFill>
                <a:latin typeface="Arial"/>
              </a:rPr>
              <a:t>Duration: </a:t>
            </a:r>
            <a:r>
              <a:rPr sz="1300" b="0">
                <a:solidFill>
                  <a:srgbClr val="5B6372"/>
                </a:solidFill>
                <a:latin typeface="Arial"/>
              </a:rPr>
              <a:t>35 minutes</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40</a:t>
            </a:r>
          </a:p>
        </p:txBody>
      </p:sp>
    </p:spTree>
  </p:cSld>
  <p:clrMapOvr>
    <a:masterClrMapping/>
  </p:clrMapOvr>
  <p:transition spd="fast" advClick="1">
    <p:wipe dir="l"/>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8"/>
                                        </p:tgtEl>
                                        <p:attrNameLst>
                                          <p:attrName>style.visibility</p:attrName>
                                        </p:attrNameLst>
                                      </p:cBhvr>
                                      <p:to>
                                        <p:strVal val="visible"/>
                                      </p:to>
                                    </p:set>
                                    <p:animEffect transition="in" filter="fade">
                                      <p:cBhvr>
                                        <p:cTn id="14" dur="350"/>
                                        <p:tgtEl>
                                          <p:spTgt spid="8"/>
                                        </p:tgtEl>
                                      </p:cBhvr>
                                    </p:animEffect>
                                    <p:anim calcmode="lin" valueType="num">
                                      <p:cBhvr additive="base">
                                        <p:cTn id="15" dur="350" fill="hold"/>
                                        <p:tgtEl>
                                          <p:spTgt spid="8"/>
                                        </p:tgtEl>
                                        <p:attrNameLst>
                                          <p:attrName>ppt_y</p:attrName>
                                        </p:attrNameLst>
                                      </p:cBhvr>
                                      <p:tavLst>
                                        <p:tav tm="0">
                                          <p:val>
                                            <p:strVal val="#ppt_y+0.0350"/>
                                          </p:val>
                                        </p:tav>
                                        <p:tav tm="100000">
                                          <p:val>
                                            <p:strVal val="#ppt_y"/>
                                          </p:val>
                                        </p:tav>
                                      </p:tavLst>
                                    </p:anim>
                                  </p:childTnLst>
                                </p:cTn>
                              </p:par>
                            </p:childTnLst>
                          </p:cTn>
                        </p:par>
                      </p:childTnLst>
                    </p:cTn>
                  </p:par>
                  <p:par>
                    <p:cTn id="20" fill="hold">
                      <p:stCondLst>
                        <p:cond delay="0"/>
                      </p:stCondLst>
                      <p:childTnLst>
                        <p:par>
                          <p:cTn id="21" fill="hold">
                            <p:stCondLst>
                              <p:cond delay="0"/>
                            </p:stCondLst>
                            <p:childTnLst>
                              <p:par>
                                <p:cTn id="22" presetID="10" presetClass="entr" presetSubtype="0" fill="hold" grpId="0" nodeType="after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350"/>
                                        <p:tgtEl>
                                          <p:spTgt spid="9"/>
                                        </p:tgtEl>
                                      </p:cBhvr>
                                    </p:animEffect>
                                    <p:anim calcmode="lin" valueType="num">
                                      <p:cBhvr additive="base">
                                        <p:cTn id="25" dur="350" fill="hold"/>
                                        <p:tgtEl>
                                          <p:spTgt spid="9"/>
                                        </p:tgtEl>
                                        <p:attrNameLst>
                                          <p:attrName>ppt_y</p:attrName>
                                        </p:attrNameLst>
                                      </p:cBhvr>
                                      <p:tavLst>
                                        <p:tav tm="0">
                                          <p:val>
                                            <p:strVal val="#ppt_y+0.0350"/>
                                          </p:val>
                                        </p:tav>
                                        <p:tav tm="100000">
                                          <p:val>
                                            <p:strVal val="#ppt_y"/>
                                          </p:val>
                                        </p:tav>
                                      </p:tavLst>
                                    </p:anim>
                                  </p:childTnLst>
                                </p:cTn>
                              </p:par>
                            </p:childTnLst>
                          </p:cTn>
                        </p:par>
                      </p:childTnLst>
                    </p:cTn>
                  </p:par>
                  <p:par>
                    <p:cTn id="30" fill="hold">
                      <p:stCondLst>
                        <p:cond delay="0"/>
                      </p:stCondLst>
                      <p:childTnLst>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350"/>
                                        <p:tgtEl>
                                          <p:spTgt spid="11"/>
                                        </p:tgtEl>
                                      </p:cBhvr>
                                    </p:animEffect>
                                    <p:anim calcmode="lin" valueType="num">
                                      <p:cBhvr additive="base">
                                        <p:cTn id="35" dur="350" fill="hold"/>
                                        <p:tgtEl>
                                          <p:spTgt spid="11"/>
                                        </p:tgtEl>
                                        <p:attrNameLst>
                                          <p:attrName>ppt_y</p:attrName>
                                        </p:attrNameLst>
                                      </p:cBhvr>
                                      <p:tavLst>
                                        <p:tav tm="0">
                                          <p:val>
                                            <p:strVal val="#ppt_y+0.0350"/>
                                          </p:val>
                                        </p:tav>
                                        <p:tav tm="100000">
                                          <p:val>
                                            <p:strVal val="#ppt_y"/>
                                          </p:val>
                                        </p:tav>
                                      </p:tavLst>
                                    </p:anim>
                                  </p:childTnLst>
                                </p:cTn>
                              </p:par>
                            </p:childTnLst>
                          </p:cTn>
                        </p:par>
                      </p:childTnLst>
                    </p:cTn>
                  </p:par>
                  <p:par>
                    <p:cTn id="40" fill="hold">
                      <p:stCondLst>
                        <p:cond delay="0"/>
                      </p:stCondLst>
                      <p:childTnLst>
                        <p:par>
                          <p:cTn id="41" fill="hold">
                            <p:stCondLst>
                              <p:cond delay="0"/>
                            </p:stCondLst>
                            <p:childTnLst>
                              <p:par>
                                <p:cTn id="42" presetID="10" presetClass="entr" presetSubtype="0" fill="hold" grpId="0" nodeType="afterEffect">
                                  <p:stCondLst>
                                    <p:cond delay="0"/>
                                  </p:stCondLst>
                                  <p:childTnLst>
                                    <p:set>
                                      <p:cBhvr>
                                        <p:cTn id="43" dur="1" fill="hold">
                                          <p:stCondLst>
                                            <p:cond delay="0"/>
                                          </p:stCondLst>
                                        </p:cTn>
                                        <p:tgtEl>
                                          <p:spTgt spid="12"/>
                                        </p:tgtEl>
                                        <p:attrNameLst>
                                          <p:attrName>style.visibility</p:attrName>
                                        </p:attrNameLst>
                                      </p:cBhvr>
                                      <p:to>
                                        <p:strVal val="visible"/>
                                      </p:to>
                                    </p:set>
                                    <p:animEffect transition="in" filter="fade">
                                      <p:cBhvr>
                                        <p:cTn id="44" dur="350"/>
                                        <p:tgtEl>
                                          <p:spTgt spid="12"/>
                                        </p:tgtEl>
                                      </p:cBhvr>
                                    </p:animEffect>
                                    <p:anim calcmode="lin" valueType="num">
                                      <p:cBhvr additive="base">
                                        <p:cTn id="45" dur="350" fill="hold"/>
                                        <p:tgtEl>
                                          <p:spTgt spid="12"/>
                                        </p:tgtEl>
                                        <p:attrNameLst>
                                          <p:attrName>ppt_y</p:attrName>
                                        </p:attrNameLst>
                                      </p:cBhvr>
                                      <p:tavLst>
                                        <p:tav tm="0">
                                          <p:val>
                                            <p:strVal val="#ppt_y+0.0350"/>
                                          </p:val>
                                        </p:tav>
                                        <p:tav tm="100000">
                                          <p:val>
                                            <p:strVal val="#ppt_y"/>
                                          </p:val>
                                        </p:tav>
                                      </p:tavLst>
                                    </p:anim>
                                  </p:childTnLst>
                                </p:cTn>
                              </p:par>
                            </p:childTnLst>
                          </p:cTn>
                        </p:par>
                      </p:childTnLst>
                    </p:cTn>
                  </p:par>
                  <p:par>
                    <p:cTn id="50" fill="hold">
                      <p:stCondLst>
                        <p:cond delay="0"/>
                      </p:stCondLst>
                      <p:childTnLst>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3"/>
                                        </p:tgtEl>
                                        <p:attrNameLst>
                                          <p:attrName>style.visibility</p:attrName>
                                        </p:attrNameLst>
                                      </p:cBhvr>
                                      <p:to>
                                        <p:strVal val="visible"/>
                                      </p:to>
                                    </p:set>
                                    <p:animEffect transition="in" filter="fade">
                                      <p:cBhvr>
                                        <p:cTn id="54" dur="350"/>
                                        <p:tgtEl>
                                          <p:spTgt spid="13"/>
                                        </p:tgtEl>
                                      </p:cBhvr>
                                    </p:animEffect>
                                    <p:anim calcmode="lin" valueType="num">
                                      <p:cBhvr additive="base">
                                        <p:cTn id="55" dur="350" fill="hold"/>
                                        <p:tgtEl>
                                          <p:spTgt spid="13"/>
                                        </p:tgtEl>
                                        <p:attrNameLst>
                                          <p:attrName>ppt_y</p:attrName>
                                        </p:attrNameLst>
                                      </p:cBhvr>
                                      <p:tavLst>
                                        <p:tav tm="0">
                                          <p:val>
                                            <p:strVal val="#ppt_y+0.0350"/>
                                          </p:val>
                                        </p:tav>
                                        <p:tav tm="100000">
                                          <p:val>
                                            <p:strVal val="#ppt_y"/>
                                          </p:val>
                                        </p:tav>
                                      </p:tavLst>
                                    </p:anim>
                                  </p:childTnLst>
                                </p:cTn>
                              </p:par>
                            </p:childTnLst>
                          </p:cTn>
                        </p:par>
                      </p:childTnLst>
                    </p:cTn>
                  </p:par>
                  <p:par>
                    <p:cTn id="60" fill="hold">
                      <p:stCondLst>
                        <p:cond delay="0"/>
                      </p:stCondLst>
                      <p:childTnLst>
                        <p:par>
                          <p:cTn id="61" fill="hold">
                            <p:stCondLst>
                              <p:cond delay="0"/>
                            </p:stCondLst>
                            <p:childTnLst>
                              <p:par>
                                <p:cTn id="62" presetID="10" presetClass="entr" presetSubtype="0" fill="hold" grpId="0" nodeType="afterEffect">
                                  <p:stCondLst>
                                    <p:cond delay="0"/>
                                  </p:stCondLst>
                                  <p:childTnLst>
                                    <p:set>
                                      <p:cBhvr>
                                        <p:cTn id="63" dur="1" fill="hold">
                                          <p:stCondLst>
                                            <p:cond delay="0"/>
                                          </p:stCondLst>
                                        </p:cTn>
                                        <p:tgtEl>
                                          <p:spTgt spid="14"/>
                                        </p:tgtEl>
                                        <p:attrNameLst>
                                          <p:attrName>style.visibility</p:attrName>
                                        </p:attrNameLst>
                                      </p:cBhvr>
                                      <p:to>
                                        <p:strVal val="visible"/>
                                      </p:to>
                                    </p:set>
                                    <p:animEffect transition="in" filter="fade">
                                      <p:cBhvr>
                                        <p:cTn id="64" dur="350"/>
                                        <p:tgtEl>
                                          <p:spTgt spid="14"/>
                                        </p:tgtEl>
                                      </p:cBhvr>
                                    </p:animEffect>
                                    <p:anim calcmode="lin" valueType="num">
                                      <p:cBhvr additive="base">
                                        <p:cTn id="65" dur="350" fill="hold"/>
                                        <p:tgtEl>
                                          <p:spTgt spid="14"/>
                                        </p:tgtEl>
                                        <p:attrNameLst>
                                          <p:attrName>ppt_y</p:attrName>
                                        </p:attrNameLst>
                                      </p:cBhvr>
                                      <p:tavLst>
                                        <p:tav tm="0">
                                          <p:val>
                                            <p:strVal val="#ppt_y+0.0350"/>
                                          </p:val>
                                        </p:tav>
                                        <p:tav tm="100000">
                                          <p:val>
                                            <p:strVal val="#ppt_y"/>
                                          </p:val>
                                        </p:tav>
                                      </p:tavLst>
                                    </p:anim>
                                  </p:childTnLst>
                                </p:cTn>
                              </p:par>
                            </p:childTnLst>
                          </p:cTn>
                        </p:par>
                      </p:childTnLst>
                    </p:cTn>
                  </p:par>
                </p:childTnLst>
                <p:prevCondLst>
                  <p:cond evt="onPrev" delay="0">
                    <p:tgtEl>
                      <p:sldTgt/>
                    </p:tgtEl>
                  </p:cond>
                </p:prevCondLst>
                <p:nextCondLst>
                  <p:cond evt="onNext" delay="0">
                    <p:tgtEl>
                      <p:sldTgt/>
                    </p:tgtEl>
                  </p:cond>
                </p:nextCondLst>
              </p:cTn>
            </p:seq>
          </p:childTnLst>
        </p:cTn>
      </p:par>
    </p:tnLst>
  </p:timing>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LO1 · LU1 · T2 · ACTIVITY 2</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Design a Comparison Infographic Brief</a:t>
            </a:r>
          </a:p>
        </p:txBody>
      </p:sp>
      <p:sp>
        <p:nvSpPr>
          <p:cNvPr id="6" name="TextBox 5"/>
          <p:cNvSpPr txBox="1"/>
          <p:nvPr/>
        </p:nvSpPr>
        <p:spPr>
          <a:xfrm>
            <a:off x="777240" y="1719072"/>
            <a:ext cx="8229600" cy="365760"/>
          </a:xfrm>
          <a:prstGeom prst="rect">
            <a:avLst/>
          </a:prstGeom>
          <a:noFill/>
        </p:spPr>
        <p:txBody>
          <a:bodyPr wrap="square" anchor="t">
            <a:spAutoFit/>
          </a:bodyPr>
          <a:lstStyle/>
          <a:p>
            <a:pPr algn="l">
              <a:spcAft>
                <a:spcPts val="400"/>
              </a:spcAft>
            </a:pPr>
            <a:r>
              <a:rPr sz="1300" b="1">
                <a:solidFill>
                  <a:srgbClr val="5B6372"/>
                </a:solidFill>
                <a:latin typeface="Arial"/>
              </a:rPr>
              <a:t>DISCUSSION &amp; DECISION PROMPTS</a:t>
            </a:r>
          </a:p>
        </p:txBody>
      </p:sp>
      <p:sp>
        <p:nvSpPr>
          <p:cNvPr id="7" name="Rectangle 6"/>
          <p:cNvSpPr/>
          <p:nvPr/>
        </p:nvSpPr>
        <p:spPr>
          <a:xfrm>
            <a:off x="777240" y="2148840"/>
            <a:ext cx="10634472" cy="8732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73152" cy="8732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78408" y="2334006"/>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78408" y="2334006"/>
            <a:ext cx="502920" cy="50292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737360" y="2148840"/>
            <a:ext cx="9308592" cy="873252"/>
          </a:xfrm>
          <a:prstGeom prst="rect">
            <a:avLst/>
          </a:prstGeom>
          <a:noFill/>
        </p:spPr>
        <p:txBody>
          <a:bodyPr wrap="square" anchor="ctr">
            <a:spAutoFit/>
          </a:bodyPr>
          <a:lstStyle/>
          <a:p>
            <a:pPr algn="l">
              <a:spcAft>
                <a:spcPts val="400"/>
              </a:spcAft>
            </a:pPr>
            <a:r>
              <a:rPr sz="1450" b="0">
                <a:solidFill>
                  <a:srgbClr val="161B26"/>
                </a:solidFill>
                <a:latin typeface="Arial"/>
              </a:rPr>
              <a:t>What is the single audience question?</a:t>
            </a:r>
          </a:p>
        </p:txBody>
      </p:sp>
      <p:sp>
        <p:nvSpPr>
          <p:cNvPr id="12" name="Rectangle 11"/>
          <p:cNvSpPr/>
          <p:nvPr/>
        </p:nvSpPr>
        <p:spPr>
          <a:xfrm>
            <a:off x="777240" y="3168396"/>
            <a:ext cx="10634472" cy="8732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168396"/>
            <a:ext cx="73152" cy="8732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78408" y="3353562"/>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78408" y="3353562"/>
            <a:ext cx="502920" cy="50292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6" name="TextBox 15"/>
          <p:cNvSpPr txBox="1"/>
          <p:nvPr/>
        </p:nvSpPr>
        <p:spPr>
          <a:xfrm>
            <a:off x="1737360" y="3168396"/>
            <a:ext cx="9308592" cy="873252"/>
          </a:xfrm>
          <a:prstGeom prst="rect">
            <a:avLst/>
          </a:prstGeom>
          <a:noFill/>
        </p:spPr>
        <p:txBody>
          <a:bodyPr wrap="square" anchor="ctr">
            <a:spAutoFit/>
          </a:bodyPr>
          <a:lstStyle/>
          <a:p>
            <a:pPr algn="l">
              <a:spcAft>
                <a:spcPts val="400"/>
              </a:spcAft>
            </a:pPr>
            <a:r>
              <a:rPr sz="1450" b="0">
                <a:solidFill>
                  <a:srgbClr val="161B26"/>
                </a:solidFill>
                <a:latin typeface="Arial"/>
              </a:rPr>
              <a:t>Which infographic type best reveals the relationship?</a:t>
            </a:r>
          </a:p>
        </p:txBody>
      </p:sp>
      <p:sp>
        <p:nvSpPr>
          <p:cNvPr id="17" name="Rectangle 16"/>
          <p:cNvSpPr/>
          <p:nvPr/>
        </p:nvSpPr>
        <p:spPr>
          <a:xfrm>
            <a:off x="777240" y="4187952"/>
            <a:ext cx="10634472" cy="8732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187952"/>
            <a:ext cx="73152" cy="8732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78408" y="4373118"/>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8408" y="4373118"/>
            <a:ext cx="502920" cy="50292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1" name="TextBox 20"/>
          <p:cNvSpPr txBox="1"/>
          <p:nvPr/>
        </p:nvSpPr>
        <p:spPr>
          <a:xfrm>
            <a:off x="1737360" y="4187952"/>
            <a:ext cx="9308592" cy="873252"/>
          </a:xfrm>
          <a:prstGeom prst="rect">
            <a:avLst/>
          </a:prstGeom>
          <a:noFill/>
        </p:spPr>
        <p:txBody>
          <a:bodyPr wrap="square" anchor="ctr">
            <a:spAutoFit/>
          </a:bodyPr>
          <a:lstStyle/>
          <a:p>
            <a:pPr algn="l">
              <a:spcAft>
                <a:spcPts val="400"/>
              </a:spcAft>
            </a:pPr>
            <a:r>
              <a:rPr sz="1450" b="0">
                <a:solidFill>
                  <a:srgbClr val="161B26"/>
                </a:solidFill>
                <a:latin typeface="Arial"/>
              </a:rPr>
              <a:t>What content should be removed?</a:t>
            </a:r>
          </a:p>
        </p:txBody>
      </p:sp>
      <p:sp>
        <p:nvSpPr>
          <p:cNvPr id="22" name="Rectangle 21"/>
          <p:cNvSpPr/>
          <p:nvPr/>
        </p:nvSpPr>
        <p:spPr>
          <a:xfrm>
            <a:off x="777240" y="5207508"/>
            <a:ext cx="10634472" cy="8732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207508"/>
            <a:ext cx="73152" cy="8732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78408" y="5392674"/>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78408" y="5392674"/>
            <a:ext cx="502920" cy="50292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6" name="TextBox 25"/>
          <p:cNvSpPr txBox="1"/>
          <p:nvPr/>
        </p:nvSpPr>
        <p:spPr>
          <a:xfrm>
            <a:off x="1737360" y="5207508"/>
            <a:ext cx="9308592" cy="873252"/>
          </a:xfrm>
          <a:prstGeom prst="rect">
            <a:avLst/>
          </a:prstGeom>
          <a:noFill/>
        </p:spPr>
        <p:txBody>
          <a:bodyPr wrap="square" anchor="ctr">
            <a:spAutoFit/>
          </a:bodyPr>
          <a:lstStyle/>
          <a:p>
            <a:pPr algn="l">
              <a:spcAft>
                <a:spcPts val="400"/>
              </a:spcAft>
            </a:pPr>
            <a:r>
              <a:rPr sz="1450" b="0">
                <a:solidFill>
                  <a:srgbClr val="161B26"/>
                </a:solidFill>
                <a:latin typeface="Arial"/>
              </a:rPr>
              <a:t>Where should the reader's eye land first, second and last?</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41</a:t>
            </a:r>
          </a:p>
        </p:txBody>
      </p:sp>
    </p:spTree>
  </p:cSld>
  <p:clrMapOvr>
    <a:masterClrMapping/>
  </p:clrMapOvr>
  <p:transition spd="fast" advClick="1">
    <p:wipe dir="l"/>
  </p:transition>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LO1 · LU1 · T2 · ACTIVITY 2</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Design a Comparison Infographic Brief</a:t>
            </a:r>
          </a:p>
        </p:txBody>
      </p:sp>
      <p:sp>
        <p:nvSpPr>
          <p:cNvPr id="6" name="Rectangle 5"/>
          <p:cNvSpPr/>
          <p:nvPr/>
        </p:nvSpPr>
        <p:spPr>
          <a:xfrm>
            <a:off x="777240" y="1783080"/>
            <a:ext cx="10634472" cy="26517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91440" cy="26517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1965960"/>
            <a:ext cx="10058400" cy="365760"/>
          </a:xfrm>
          <a:prstGeom prst="rect">
            <a:avLst/>
          </a:prstGeom>
          <a:noFill/>
        </p:spPr>
        <p:txBody>
          <a:bodyPr wrap="square" anchor="t">
            <a:spAutoFit/>
          </a:bodyPr>
          <a:lstStyle/>
          <a:p>
            <a:pPr algn="l">
              <a:spcAft>
                <a:spcPts val="400"/>
              </a:spcAft>
            </a:pPr>
            <a:r>
              <a:rPr sz="1300" b="1">
                <a:solidFill>
                  <a:srgbClr val="7C3AED"/>
                </a:solidFill>
                <a:latin typeface="Arial"/>
              </a:rPr>
              <a:t>REFLECT &amp; DISCUSS</a:t>
            </a:r>
          </a:p>
        </p:txBody>
      </p:sp>
      <p:sp>
        <p:nvSpPr>
          <p:cNvPr id="9" name="TextBox 8"/>
          <p:cNvSpPr txBox="1"/>
          <p:nvPr/>
        </p:nvSpPr>
        <p:spPr>
          <a:xfrm>
            <a:off x="1051560" y="2377440"/>
            <a:ext cx="10058400" cy="1920240"/>
          </a:xfrm>
          <a:prstGeom prst="rect">
            <a:avLst/>
          </a:prstGeom>
          <a:noFill/>
        </p:spPr>
        <p:txBody>
          <a:bodyPr wrap="square">
            <a:spAutoFit/>
          </a:bodyPr>
          <a:lstStyle/>
          <a:p>
            <a:pPr>
              <a:spcAft>
                <a:spcPts val="900"/>
              </a:spcAft>
            </a:pPr>
            <a:r>
              <a:rPr sz="1450" b="0">
                <a:solidFill>
                  <a:srgbClr val="161B26"/>
                </a:solidFill>
                <a:latin typeface="Arial"/>
              </a:rPr>
              <a:t>•  Could the wireframe be understood without colour?</a:t>
            </a:r>
          </a:p>
          <a:p>
            <a:pPr>
              <a:spcAft>
                <a:spcPts val="900"/>
              </a:spcAft>
            </a:pPr>
            <a:r>
              <a:rPr sz="1450" b="0">
                <a:solidFill>
                  <a:srgbClr val="161B26"/>
                </a:solidFill>
                <a:latin typeface="Arial"/>
              </a:rPr>
              <a:t>•  Does every placeholder have a message role?</a:t>
            </a:r>
          </a:p>
        </p:txBody>
      </p:sp>
      <p:sp>
        <p:nvSpPr>
          <p:cNvPr id="10" name="Rectangle 9"/>
          <p:cNvSpPr/>
          <p:nvPr/>
        </p:nvSpPr>
        <p:spPr>
          <a:xfrm>
            <a:off x="777240" y="4663440"/>
            <a:ext cx="10634472" cy="137160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1560" y="4864608"/>
            <a:ext cx="10058400" cy="365760"/>
          </a:xfrm>
          <a:prstGeom prst="rect">
            <a:avLst/>
          </a:prstGeom>
          <a:noFill/>
        </p:spPr>
        <p:txBody>
          <a:bodyPr wrap="square" anchor="t">
            <a:spAutoFit/>
          </a:bodyPr>
          <a:lstStyle/>
          <a:p>
            <a:pPr algn="l">
              <a:spcAft>
                <a:spcPts val="400"/>
              </a:spcAft>
            </a:pPr>
            <a:r>
              <a:rPr sz="1500" b="1">
                <a:solidFill>
                  <a:srgbClr val="127A3E"/>
                </a:solidFill>
                <a:latin typeface="Arial"/>
              </a:rPr>
              <a:t>✓  Facilitator debrief check</a:t>
            </a:r>
          </a:p>
        </p:txBody>
      </p:sp>
      <p:sp>
        <p:nvSpPr>
          <p:cNvPr id="12" name="TextBox 11"/>
          <p:cNvSpPr txBox="1"/>
          <p:nvPr/>
        </p:nvSpPr>
        <p:spPr>
          <a:xfrm>
            <a:off x="1051560" y="5257800"/>
            <a:ext cx="10058400" cy="731520"/>
          </a:xfrm>
          <a:prstGeom prst="rect">
            <a:avLst/>
          </a:prstGeom>
          <a:noFill/>
        </p:spPr>
        <p:txBody>
          <a:bodyPr wrap="square" anchor="t">
            <a:spAutoFit/>
          </a:bodyPr>
          <a:lstStyle/>
          <a:p>
            <a:pPr algn="l">
              <a:spcAft>
                <a:spcPts val="400"/>
              </a:spcAft>
            </a:pPr>
            <a:r>
              <a:rPr sz="1300" b="0">
                <a:solidFill>
                  <a:srgbClr val="161B26"/>
                </a:solidFill>
                <a:latin typeface="Arial"/>
              </a:rPr>
              <a:t>The wireframe communicates objective, hierarchy, evidence, flow, action and source space before visual styling begins.</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42</a:t>
            </a:r>
          </a:p>
        </p:txBody>
      </p:sp>
    </p:spTree>
  </p:cSld>
  <p:clrMapOvr>
    <a:masterClrMapping/>
  </p:clrMapOvr>
  <p:transition spd="fast" advClick="1">
    <p:wipe dir="l"/>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350"/>
                                        <p:tgtEl>
                                          <p:spTgt spid="9"/>
                                        </p:tgtEl>
                                      </p:cBhvr>
                                    </p:animEffect>
                                    <p:anim calcmode="lin" valueType="num">
                                      <p:cBhvr additive="base">
                                        <p:cTn id="15" dur="350" fill="hold"/>
                                        <p:tgtEl>
                                          <p:spTgt spid="9"/>
                                        </p:tgtEl>
                                        <p:attrNameLst>
                                          <p:attrName>ppt_y</p:attrName>
                                        </p:attrNameLst>
                                      </p:cBhvr>
                                      <p:tavLst>
                                        <p:tav tm="0">
                                          <p:val>
                                            <p:strVal val="#ppt_y+0.0350"/>
                                          </p:val>
                                        </p:tav>
                                        <p:tav tm="100000">
                                          <p:val>
                                            <p:strVal val="#ppt_y"/>
                                          </p:val>
                                        </p:tav>
                                      </p:tavLst>
                                    </p:anim>
                                  </p:childTnLst>
                                </p:cTn>
                              </p:par>
                            </p:childTnLst>
                          </p:cTn>
                        </p:par>
                      </p:childTnLst>
                    </p:cTn>
                  </p:par>
                  <p:par>
                    <p:cTn id="20" fill="hold">
                      <p:stCondLst>
                        <p:cond delay="0"/>
                      </p:stCondLst>
                      <p:childTnLst>
                        <p:par>
                          <p:cTn id="21" fill="hold">
                            <p:stCondLst>
                              <p:cond delay="0"/>
                            </p:stCondLst>
                            <p:childTnLst>
                              <p:par>
                                <p:cTn id="22" presetID="10" presetClass="entr" presetSubtype="0" fill="hold" grpId="0" nodeType="after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350"/>
                                        <p:tgtEl>
                                          <p:spTgt spid="10"/>
                                        </p:tgtEl>
                                      </p:cBhvr>
                                    </p:animEffect>
                                    <p:anim calcmode="lin" valueType="num">
                                      <p:cBhvr additive="base">
                                        <p:cTn id="25" dur="350" fill="hold"/>
                                        <p:tgtEl>
                                          <p:spTgt spid="10"/>
                                        </p:tgtEl>
                                        <p:attrNameLst>
                                          <p:attrName>ppt_y</p:attrName>
                                        </p:attrNameLst>
                                      </p:cBhvr>
                                      <p:tavLst>
                                        <p:tav tm="0">
                                          <p:val>
                                            <p:strVal val="#ppt_y+0.0350"/>
                                          </p:val>
                                        </p:tav>
                                        <p:tav tm="100000">
                                          <p:val>
                                            <p:strVal val="#ppt_y"/>
                                          </p:val>
                                        </p:tav>
                                      </p:tavLst>
                                    </p:anim>
                                  </p:childTnLst>
                                </p:cTn>
                              </p:par>
                            </p:childTnLst>
                          </p:cTn>
                        </p:par>
                      </p:childTnLst>
                    </p:cTn>
                  </p:par>
                  <p:par>
                    <p:cTn id="30" fill="hold">
                      <p:stCondLst>
                        <p:cond delay="0"/>
                      </p:stCondLst>
                      <p:childTnLst>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350"/>
                                        <p:tgtEl>
                                          <p:spTgt spid="12"/>
                                        </p:tgtEl>
                                      </p:cBhvr>
                                    </p:animEffect>
                                    <p:anim calcmode="lin" valueType="num">
                                      <p:cBhvr additive="base">
                                        <p:cTn id="35" dur="350" fill="hold"/>
                                        <p:tgtEl>
                                          <p:spTgt spid="12"/>
                                        </p:tgtEl>
                                        <p:attrNameLst>
                                          <p:attrName>ppt_y</p:attrName>
                                        </p:attrNameLst>
                                      </p:cBhvr>
                                      <p:tavLst>
                                        <p:tav tm="0">
                                          <p:val>
                                            <p:strVal val="#ppt_y+0.0350"/>
                                          </p:val>
                                        </p:tav>
                                        <p:tav tm="100000">
                                          <p:val>
                                            <p:strVal val="#ppt_y"/>
                                          </p:val>
                                        </p:tav>
                                      </p:tavLst>
                                    </p:anim>
                                  </p:childTnLst>
                                </p:cTn>
                              </p:par>
                            </p:childTnLst>
                          </p:cTn>
                        </p:par>
                      </p:childTnLst>
                    </p:cTn>
                  </p:par>
                </p:childTnLst>
                <p:prevCondLst>
                  <p:cond evt="onPrev" delay="0">
                    <p:tgtEl>
                      <p:sldTgt/>
                    </p:tgtEl>
                  </p:cond>
                </p:prevCondLst>
                <p:nextCondLst>
                  <p:cond evt="onNext" delay="0">
                    <p:tgtEl>
                      <p:sldTgt/>
                    </p:tgtEl>
                  </p:cond>
                </p:nextCondLst>
              </p:cTn>
            </p:seq>
          </p:childTnLst>
        </p:cTn>
      </p:par>
    </p:tnLst>
  </p:timing>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LU1 RECAP</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100" b="1">
                <a:solidFill>
                  <a:srgbClr val="161B26"/>
                </a:solidFill>
                <a:latin typeface="Arial"/>
              </a:rPr>
              <a:t>Recap — AI-Assisted Infographic Planning and Data Insights</a:t>
            </a:r>
          </a:p>
        </p:txBody>
      </p:sp>
      <p:sp>
        <p:nvSpPr>
          <p:cNvPr id="6" name="Rectangle 5"/>
          <p:cNvSpPr/>
          <p:nvPr/>
        </p:nvSpPr>
        <p:spPr>
          <a:xfrm>
            <a:off x="777240" y="1783080"/>
            <a:ext cx="5180076" cy="4370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91440" cy="4370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33272" y="3694176"/>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0" name="TextBox 9"/>
          <p:cNvSpPr txBox="1"/>
          <p:nvPr/>
        </p:nvSpPr>
        <p:spPr>
          <a:xfrm>
            <a:off x="1764792" y="1911096"/>
            <a:ext cx="3973068" cy="4187952"/>
          </a:xfrm>
          <a:prstGeom prst="rect">
            <a:avLst/>
          </a:prstGeom>
          <a:noFill/>
        </p:spPr>
        <p:txBody>
          <a:bodyPr wrap="square" anchor="ctr">
            <a:spAutoFit/>
          </a:bodyPr>
          <a:lstStyle/>
          <a:p>
            <a:pPr algn="l">
              <a:spcAft>
                <a:spcPts val="300"/>
              </a:spcAft>
            </a:pPr>
            <a:r>
              <a:rPr sz="1600" b="1">
                <a:solidFill>
                  <a:srgbClr val="161B26"/>
                </a:solidFill>
                <a:latin typeface="Arial"/>
              </a:rPr>
              <a:t>Interpret a Statistical KPI Infographic</a:t>
            </a:r>
          </a:p>
          <a:p>
            <a:pPr algn="l">
              <a:spcAft>
                <a:spcPts val="300"/>
              </a:spcAft>
            </a:pPr>
            <a:r>
              <a:rPr sz="1200" b="0">
                <a:solidFill>
                  <a:srgbClr val="5B6372"/>
                </a:solidFill>
                <a:latin typeface="Arial"/>
              </a:rPr>
              <a:t>You can now: interpret a statistical KPI infographic, verify its denominators and convert visible patterns into defensible business decisions.</a:t>
            </a:r>
          </a:p>
        </p:txBody>
      </p:sp>
      <p:sp>
        <p:nvSpPr>
          <p:cNvPr id="11" name="Rectangle 10"/>
          <p:cNvSpPr/>
          <p:nvPr/>
        </p:nvSpPr>
        <p:spPr>
          <a:xfrm>
            <a:off x="6231636" y="1783080"/>
            <a:ext cx="5180076" cy="4370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1636" y="1783080"/>
            <a:ext cx="91440" cy="43708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87668" y="3694176"/>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5" name="TextBox 14"/>
          <p:cNvSpPr txBox="1"/>
          <p:nvPr/>
        </p:nvSpPr>
        <p:spPr>
          <a:xfrm>
            <a:off x="7219188" y="1911096"/>
            <a:ext cx="3973068" cy="4187952"/>
          </a:xfrm>
          <a:prstGeom prst="rect">
            <a:avLst/>
          </a:prstGeom>
          <a:noFill/>
        </p:spPr>
        <p:txBody>
          <a:bodyPr wrap="square" anchor="ctr">
            <a:spAutoFit/>
          </a:bodyPr>
          <a:lstStyle/>
          <a:p>
            <a:pPr algn="l">
              <a:spcAft>
                <a:spcPts val="300"/>
              </a:spcAft>
            </a:pPr>
            <a:r>
              <a:rPr sz="1600" b="1">
                <a:solidFill>
                  <a:srgbClr val="161B26"/>
                </a:solidFill>
                <a:latin typeface="Arial"/>
              </a:rPr>
              <a:t>Design a Comparison Infographic Brief</a:t>
            </a:r>
          </a:p>
          <a:p>
            <a:pPr algn="l">
              <a:spcAft>
                <a:spcPts val="300"/>
              </a:spcAft>
            </a:pPr>
            <a:r>
              <a:rPr sz="1200" b="0">
                <a:solidFill>
                  <a:srgbClr val="5B6372"/>
                </a:solidFill>
                <a:latin typeface="Arial"/>
              </a:rPr>
              <a:t>You can now: turn verified insights into a structured Microsoft 365 Copilot brief for a comparison infographic that controls audience, message, evidence and output.</a:t>
            </a:r>
          </a:p>
        </p:txBody>
      </p:sp>
      <p:sp>
        <p:nvSpPr>
          <p:cNvPr id="16" name="TextBox 1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17" name="TextBox 1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8" name="TextBox 1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43</a:t>
            </a:r>
          </a:p>
        </p:txBody>
      </p:sp>
    </p:spTree>
  </p:cSld>
  <p:clrMapOvr>
    <a:masterClrMapping/>
  </p:clrMapOvr>
  <p:transition spd="fast" advClick="1">
    <p:fade/>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8"/>
                                        </p:tgtEl>
                                        <p:attrNameLst>
                                          <p:attrName>style.visibility</p:attrName>
                                        </p:attrNameLst>
                                      </p:cBhvr>
                                      <p:to>
                                        <p:strVal val="visible"/>
                                      </p:to>
                                    </p:set>
                                    <p:animEffect transition="in" filter="fade">
                                      <p:cBhvr>
                                        <p:cTn id="14" dur="350"/>
                                        <p:tgtEl>
                                          <p:spTgt spid="8"/>
                                        </p:tgtEl>
                                      </p:cBhvr>
                                    </p:animEffect>
                                    <p:anim calcmode="lin" valueType="num">
                                      <p:cBhvr additive="base">
                                        <p:cTn id="15" dur="350" fill="hold"/>
                                        <p:tgtEl>
                                          <p:spTgt spid="8"/>
                                        </p:tgtEl>
                                        <p:attrNameLst>
                                          <p:attrName>ppt_y</p:attrName>
                                        </p:attrNameLst>
                                      </p:cBhvr>
                                      <p:tavLst>
                                        <p:tav tm="0">
                                          <p:val>
                                            <p:strVal val="#ppt_y+0.0350"/>
                                          </p:val>
                                        </p:tav>
                                        <p:tav tm="100000">
                                          <p:val>
                                            <p:strVal val="#ppt_y"/>
                                          </p:val>
                                        </p:tav>
                                      </p:tavLst>
                                    </p:anim>
                                  </p:childTnLst>
                                </p:cTn>
                              </p:par>
                            </p:childTnLst>
                          </p:cTn>
                        </p:par>
                      </p:childTnLst>
                    </p:cTn>
                  </p:par>
                  <p:par>
                    <p:cTn id="20" fill="hold">
                      <p:stCondLst>
                        <p:cond delay="0"/>
                      </p:stCondLst>
                      <p:childTnLst>
                        <p:par>
                          <p:cTn id="21" fill="hold">
                            <p:stCondLst>
                              <p:cond delay="0"/>
                            </p:stCondLst>
                            <p:childTnLst>
                              <p:par>
                                <p:cTn id="22" presetID="10" presetClass="entr" presetSubtype="0" fill="hold" grpId="0" nodeType="after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350"/>
                                        <p:tgtEl>
                                          <p:spTgt spid="9"/>
                                        </p:tgtEl>
                                      </p:cBhvr>
                                    </p:animEffect>
                                    <p:anim calcmode="lin" valueType="num">
                                      <p:cBhvr additive="base">
                                        <p:cTn id="25" dur="350" fill="hold"/>
                                        <p:tgtEl>
                                          <p:spTgt spid="9"/>
                                        </p:tgtEl>
                                        <p:attrNameLst>
                                          <p:attrName>ppt_y</p:attrName>
                                        </p:attrNameLst>
                                      </p:cBhvr>
                                      <p:tavLst>
                                        <p:tav tm="0">
                                          <p:val>
                                            <p:strVal val="#ppt_y+0.0350"/>
                                          </p:val>
                                        </p:tav>
                                        <p:tav tm="100000">
                                          <p:val>
                                            <p:strVal val="#ppt_y"/>
                                          </p:val>
                                        </p:tav>
                                      </p:tavLst>
                                    </p:anim>
                                  </p:childTnLst>
                                </p:cTn>
                              </p:par>
                            </p:childTnLst>
                          </p:cTn>
                        </p:par>
                      </p:childTnLst>
                    </p:cTn>
                  </p:par>
                  <p:par>
                    <p:cTn id="30" fill="hold">
                      <p:stCondLst>
                        <p:cond delay="0"/>
                      </p:stCondLst>
                      <p:childTnLst>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350"/>
                                        <p:tgtEl>
                                          <p:spTgt spid="13"/>
                                        </p:tgtEl>
                                      </p:cBhvr>
                                    </p:animEffect>
                                    <p:anim calcmode="lin" valueType="num">
                                      <p:cBhvr additive="base">
                                        <p:cTn id="35" dur="350" fill="hold"/>
                                        <p:tgtEl>
                                          <p:spTgt spid="13"/>
                                        </p:tgtEl>
                                        <p:attrNameLst>
                                          <p:attrName>ppt_y</p:attrName>
                                        </p:attrNameLst>
                                      </p:cBhvr>
                                      <p:tavLst>
                                        <p:tav tm="0">
                                          <p:val>
                                            <p:strVal val="#ppt_y+0.0350"/>
                                          </p:val>
                                        </p:tav>
                                        <p:tav tm="100000">
                                          <p:val>
                                            <p:strVal val="#ppt_y"/>
                                          </p:val>
                                        </p:tav>
                                      </p:tavLst>
                                    </p:anim>
                                  </p:childTnLst>
                                </p:cTn>
                              </p:par>
                            </p:childTnLst>
                          </p:cTn>
                        </p:par>
                      </p:childTnLst>
                    </p:cTn>
                  </p:par>
                  <p:par>
                    <p:cTn id="40" fill="hold">
                      <p:stCondLst>
                        <p:cond delay="0"/>
                      </p:stCondLst>
                      <p:childTnLst>
                        <p:par>
                          <p:cTn id="41" fill="hold">
                            <p:stCondLst>
                              <p:cond delay="0"/>
                            </p:stCondLst>
                            <p:childTnLst>
                              <p:par>
                                <p:cTn id="42" presetID="10" presetClass="entr" presetSubtype="0" fill="hold" grpId="0" nodeType="afterEffect">
                                  <p:stCondLst>
                                    <p:cond delay="0"/>
                                  </p:stCondLst>
                                  <p:childTnLst>
                                    <p:set>
                                      <p:cBhvr>
                                        <p:cTn id="43" dur="1" fill="hold">
                                          <p:stCondLst>
                                            <p:cond delay="0"/>
                                          </p:stCondLst>
                                        </p:cTn>
                                        <p:tgtEl>
                                          <p:spTgt spid="14"/>
                                        </p:tgtEl>
                                        <p:attrNameLst>
                                          <p:attrName>style.visibility</p:attrName>
                                        </p:attrNameLst>
                                      </p:cBhvr>
                                      <p:to>
                                        <p:strVal val="visible"/>
                                      </p:to>
                                    </p:set>
                                    <p:animEffect transition="in" filter="fade">
                                      <p:cBhvr>
                                        <p:cTn id="44" dur="350"/>
                                        <p:tgtEl>
                                          <p:spTgt spid="14"/>
                                        </p:tgtEl>
                                      </p:cBhvr>
                                    </p:animEffect>
                                    <p:anim calcmode="lin" valueType="num">
                                      <p:cBhvr additive="base">
                                        <p:cTn id="45" dur="350" fill="hold"/>
                                        <p:tgtEl>
                                          <p:spTgt spid="14"/>
                                        </p:tgtEl>
                                        <p:attrNameLst>
                                          <p:attrName>ppt_y</p:attrName>
                                        </p:attrNameLst>
                                      </p:cBhvr>
                                      <p:tavLst>
                                        <p:tav tm="0">
                                          <p:val>
                                            <p:strVal val="#ppt_y+0.0350"/>
                                          </p:val>
                                        </p:tav>
                                        <p:tav tm="100000">
                                          <p:val>
                                            <p:strVal val="#ppt_y"/>
                                          </p:val>
                                        </p:tav>
                                      </p:tavLst>
                                    </p:anim>
                                  </p:childTnLst>
                                </p:cTn>
                              </p:par>
                            </p:childTnLst>
                          </p:cTn>
                        </p:par>
                      </p:childTnLst>
                    </p:cTn>
                  </p:par>
                </p:childTnLst>
                <p:prevCondLst>
                  <p:cond evt="onPrev" delay="0">
                    <p:tgtEl>
                      <p:sldTgt/>
                    </p:tgtEl>
                  </p:cond>
                </p:prevCondLst>
                <p:nextCondLst>
                  <p:cond evt="onNext" delay="0">
                    <p:tgtEl>
                      <p:sldTgt/>
                    </p:tgtEl>
                  </p:cond>
                </p:nextCondLst>
              </p:cTn>
            </p:seq>
          </p:childTnLst>
        </p:cTn>
      </p:par>
    </p:tnLst>
  </p:timing>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7C3AED"/>
                </a:solidFill>
                <a:latin typeface="Arial"/>
              </a:rPr>
              <a:t>LU1 · WHY IT MATTERS</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An infographic is an argument made visible.</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Start with the audience question, the evidence and the intended decision.</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44</a:t>
            </a:r>
          </a:p>
        </p:txBody>
      </p:sp>
    </p:spTree>
  </p:cSld>
  <p:clrMapOvr>
    <a:masterClrMapping/>
  </p:clrMapOvr>
  <p:transition spd="fast" advClick="1">
    <p:zoom/>
  </p:transition>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LU2</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Creating PowerPoint Infographics with AI</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Slide size · Grid · Shapes · Icons · Type · Colour · SmartArt · Charts · AI</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LU2</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45</a:t>
            </a:r>
          </a:p>
        </p:txBody>
      </p:sp>
    </p:spTree>
  </p:cSld>
  <p:clrMapOvr>
    <a:masterClrMapping/>
  </p:clrMapOvr>
  <p:transition spd="fast" advClick="1">
    <p:push dir="l"/>
  </p:transition>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LU2 · KEY CONCEPTS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Key Concepts — Creating PowerPoint Infographics with AI</a:t>
            </a:r>
          </a:p>
        </p:txBody>
      </p:sp>
      <p:sp>
        <p:nvSpPr>
          <p:cNvPr id="6" name="Rectangle 5"/>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0" name="TextBox 9"/>
          <p:cNvSpPr txBox="1"/>
          <p:nvPr/>
        </p:nvSpPr>
        <p:spPr>
          <a:xfrm>
            <a:off x="1764792" y="1874520"/>
            <a:ext cx="3973068" cy="1920240"/>
          </a:xfrm>
          <a:prstGeom prst="rect">
            <a:avLst/>
          </a:prstGeom>
          <a:noFill/>
        </p:spPr>
        <p:txBody>
          <a:bodyPr wrap="square" anchor="ctr">
            <a:spAutoFit/>
          </a:bodyPr>
          <a:lstStyle/>
          <a:p>
            <a:pPr algn="l">
              <a:spcAft>
                <a:spcPts val="400"/>
              </a:spcAft>
            </a:pPr>
            <a:r>
              <a:rPr sz="1400" b="0">
                <a:solidFill>
                  <a:srgbClr val="161B26"/>
                </a:solidFill>
                <a:latin typeface="Arial"/>
              </a:rPr>
              <a:t>Visual hierarchy uses scale, position, contrast, spacing and alignment to guide the reader through one intended path.</a:t>
            </a:r>
          </a:p>
        </p:txBody>
      </p:sp>
      <p:sp>
        <p:nvSpPr>
          <p:cNvPr id="11" name="Rectangle 10"/>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5" name="TextBox 14"/>
          <p:cNvSpPr txBox="1"/>
          <p:nvPr/>
        </p:nvSpPr>
        <p:spPr>
          <a:xfrm>
            <a:off x="7219188" y="1874520"/>
            <a:ext cx="3973068" cy="1920240"/>
          </a:xfrm>
          <a:prstGeom prst="rect">
            <a:avLst/>
          </a:prstGeom>
          <a:noFill/>
        </p:spPr>
        <p:txBody>
          <a:bodyPr wrap="square" anchor="ctr">
            <a:spAutoFit/>
          </a:bodyPr>
          <a:lstStyle/>
          <a:p>
            <a:pPr algn="l">
              <a:spcAft>
                <a:spcPts val="400"/>
              </a:spcAft>
            </a:pPr>
            <a:r>
              <a:rPr sz="1400" b="0">
                <a:solidFill>
                  <a:srgbClr val="161B26"/>
                </a:solidFill>
                <a:latin typeface="Arial"/>
              </a:rPr>
              <a:t>PowerPoint is the editable refinement layer for AI-generated structure, imagery, text, shapes, SmartArt, native charts and Excel-linked data.</a:t>
            </a:r>
          </a:p>
        </p:txBody>
      </p:sp>
      <p:sp>
        <p:nvSpPr>
          <p:cNvPr id="16" name="Rectangle 15"/>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0" name="TextBox 19"/>
          <p:cNvSpPr txBox="1"/>
          <p:nvPr/>
        </p:nvSpPr>
        <p:spPr>
          <a:xfrm>
            <a:off x="1764792" y="4178808"/>
            <a:ext cx="3973068" cy="1920240"/>
          </a:xfrm>
          <a:prstGeom prst="rect">
            <a:avLst/>
          </a:prstGeom>
          <a:noFill/>
        </p:spPr>
        <p:txBody>
          <a:bodyPr wrap="square" anchor="ctr">
            <a:spAutoFit/>
          </a:bodyPr>
          <a:lstStyle/>
          <a:p>
            <a:pPr algn="l">
              <a:spcAft>
                <a:spcPts val="400"/>
              </a:spcAft>
            </a:pPr>
            <a:r>
              <a:rPr sz="1400" b="0">
                <a:solidFill>
                  <a:srgbClr val="161B26"/>
                </a:solidFill>
                <a:latin typeface="Arial"/>
              </a:rPr>
              <a:t>The Microsoft 365 Copilot app can generate an infographic from a detailed prompt and, where available, approved uploaded content for grounding.</a:t>
            </a:r>
          </a:p>
        </p:txBody>
      </p:sp>
      <p:sp>
        <p:nvSpPr>
          <p:cNvPr id="21" name="Rectangle 20"/>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5" name="TextBox 24"/>
          <p:cNvSpPr txBox="1"/>
          <p:nvPr/>
        </p:nvSpPr>
        <p:spPr>
          <a:xfrm>
            <a:off x="7219188" y="4178808"/>
            <a:ext cx="3973068" cy="1920240"/>
          </a:xfrm>
          <a:prstGeom prst="rect">
            <a:avLst/>
          </a:prstGeom>
          <a:noFill/>
        </p:spPr>
        <p:txBody>
          <a:bodyPr wrap="square" anchor="ctr">
            <a:spAutoFit/>
          </a:bodyPr>
          <a:lstStyle/>
          <a:p>
            <a:pPr algn="l">
              <a:spcAft>
                <a:spcPts val="400"/>
              </a:spcAft>
            </a:pPr>
            <a:r>
              <a:rPr sz="1400" b="0">
                <a:solidFill>
                  <a:srgbClr val="161B26"/>
                </a:solidFill>
                <a:latin typeface="Arial"/>
              </a:rPr>
              <a:t>Every AI-assisted output needs source verification, privacy review, brand control, accessibility checks and editable hand-off.</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46</a:t>
            </a:r>
          </a:p>
        </p:txBody>
      </p:sp>
    </p:spTree>
  </p:cSld>
  <p:clrMapOvr>
    <a:masterClrMapping/>
  </p:clrMapOvr>
  <p:transition spd="fast" advClick="1">
    <p:fade/>
  </p:transition>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PROMPT PATTERNS · COPY AND ADAPT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Copy-Ready Prompts — Analyse and Generate</a:t>
            </a:r>
          </a:p>
        </p:txBody>
      </p:sp>
      <p:sp>
        <p:nvSpPr>
          <p:cNvPr id="6" name="Rectangle 5"/>
          <p:cNvSpPr/>
          <p:nvPr/>
        </p:nvSpPr>
        <p:spPr>
          <a:xfrm>
            <a:off x="777240" y="1783080"/>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0" name="TextBox 9"/>
          <p:cNvSpPr txBox="1"/>
          <p:nvPr/>
        </p:nvSpPr>
        <p:spPr>
          <a:xfrm>
            <a:off x="1764792" y="1911096"/>
            <a:ext cx="9427464" cy="1883664"/>
          </a:xfrm>
          <a:prstGeom prst="rect">
            <a:avLst/>
          </a:prstGeom>
          <a:noFill/>
        </p:spPr>
        <p:txBody>
          <a:bodyPr wrap="square" anchor="ctr">
            <a:spAutoFit/>
          </a:bodyPr>
          <a:lstStyle/>
          <a:p>
            <a:pPr algn="l">
              <a:spcAft>
                <a:spcPts val="300"/>
              </a:spcAft>
            </a:pPr>
            <a:r>
              <a:rPr sz="1500" b="1">
                <a:solidFill>
                  <a:srgbClr val="161B26"/>
                </a:solidFill>
                <a:latin typeface="Arial"/>
              </a:rPr>
              <a:t>Analyse the evidence</a:t>
            </a:r>
          </a:p>
          <a:p>
            <a:pPr algn="l">
              <a:spcAft>
                <a:spcPts val="300"/>
              </a:spcAft>
            </a:pPr>
            <a:r>
              <a:rPr sz="1100" b="0">
                <a:solidFill>
                  <a:srgbClr val="5B6372"/>
                </a:solidFill>
                <a:latin typeface="Arial"/>
              </a:rPr>
              <a:t>Using only the attached approved source, identify the three strongest patterns, the denominator for each metric, one limitation and one proportionate business action. Cite the source field or row for every number. Do not invent missing values or imply causation.</a:t>
            </a:r>
          </a:p>
        </p:txBody>
      </p:sp>
      <p:sp>
        <p:nvSpPr>
          <p:cNvPr id="11" name="Rectangle 10"/>
          <p:cNvSpPr/>
          <p:nvPr/>
        </p:nvSpPr>
        <p:spPr>
          <a:xfrm>
            <a:off x="777240" y="4087368"/>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4087368"/>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33272" y="484632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5" name="TextBox 14"/>
          <p:cNvSpPr txBox="1"/>
          <p:nvPr/>
        </p:nvSpPr>
        <p:spPr>
          <a:xfrm>
            <a:off x="1764792" y="4215384"/>
            <a:ext cx="9427464" cy="1883664"/>
          </a:xfrm>
          <a:prstGeom prst="rect">
            <a:avLst/>
          </a:prstGeom>
          <a:noFill/>
        </p:spPr>
        <p:txBody>
          <a:bodyPr wrap="square" anchor="ctr">
            <a:spAutoFit/>
          </a:bodyPr>
          <a:lstStyle/>
          <a:p>
            <a:pPr algn="l">
              <a:spcAft>
                <a:spcPts val="300"/>
              </a:spcAft>
            </a:pPr>
            <a:r>
              <a:rPr sz="1500" b="1">
                <a:solidFill>
                  <a:srgbClr val="161B26"/>
                </a:solidFill>
                <a:latin typeface="Arial"/>
              </a:rPr>
              <a:t>Create the infographic</a:t>
            </a:r>
          </a:p>
          <a:p>
            <a:pPr algn="l">
              <a:spcAft>
                <a:spcPts val="300"/>
              </a:spcAft>
            </a:pPr>
            <a:r>
              <a:rPr sz="1100" b="0">
                <a:solidFill>
                  <a:srgbClr val="5B6372"/>
                </a:solidFill>
                <a:latin typeface="Arial"/>
              </a:rPr>
              <a:t>Create a one-page [TYPE] infographic about [TOPIC]. Sections: 1. [SECTION ONE] 2. [SECTION TWO] 3. [SECTION THREE] 4. [SECTION FOUR] 5. [SECTION FIVE]. Audience: [AUDIENCE]. Decision: [DECISION]. Style: professional, high contrast, concise, accessible and aligned to [BRAND]. Use only the approved attached content. Include source and period. Do not invent data.</a:t>
            </a:r>
          </a:p>
        </p:txBody>
      </p:sp>
      <p:sp>
        <p:nvSpPr>
          <p:cNvPr id="16" name="TextBox 1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17" name="TextBox 1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8" name="TextBox 1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47</a:t>
            </a:r>
          </a:p>
        </p:txBody>
      </p:sp>
    </p:spTree>
  </p:cSld>
  <p:clrMapOvr>
    <a:masterClrMapping/>
  </p:clrMapOvr>
  <p:transition spd="fast" advClick="1">
    <p:fade/>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8"/>
                                        </p:tgtEl>
                                        <p:attrNameLst>
                                          <p:attrName>style.visibility</p:attrName>
                                        </p:attrNameLst>
                                      </p:cBhvr>
                                      <p:to>
                                        <p:strVal val="visible"/>
                                      </p:to>
                                    </p:set>
                                    <p:animEffect transition="in" filter="fade">
                                      <p:cBhvr>
                                        <p:cTn id="14" dur="350"/>
                                        <p:tgtEl>
                                          <p:spTgt spid="8"/>
                                        </p:tgtEl>
                                      </p:cBhvr>
                                    </p:animEffect>
                                    <p:anim calcmode="lin" valueType="num">
                                      <p:cBhvr additive="base">
                                        <p:cTn id="15" dur="350" fill="hold"/>
                                        <p:tgtEl>
                                          <p:spTgt spid="8"/>
                                        </p:tgtEl>
                                        <p:attrNameLst>
                                          <p:attrName>ppt_y</p:attrName>
                                        </p:attrNameLst>
                                      </p:cBhvr>
                                      <p:tavLst>
                                        <p:tav tm="0">
                                          <p:val>
                                            <p:strVal val="#ppt_y+0.0350"/>
                                          </p:val>
                                        </p:tav>
                                        <p:tav tm="100000">
                                          <p:val>
                                            <p:strVal val="#ppt_y"/>
                                          </p:val>
                                        </p:tav>
                                      </p:tavLst>
                                    </p:anim>
                                  </p:childTnLst>
                                </p:cTn>
                              </p:par>
                            </p:childTnLst>
                          </p:cTn>
                        </p:par>
                      </p:childTnLst>
                    </p:cTn>
                  </p:par>
                  <p:par>
                    <p:cTn id="20" fill="hold">
                      <p:stCondLst>
                        <p:cond delay="0"/>
                      </p:stCondLst>
                      <p:childTnLst>
                        <p:par>
                          <p:cTn id="21" fill="hold">
                            <p:stCondLst>
                              <p:cond delay="0"/>
                            </p:stCondLst>
                            <p:childTnLst>
                              <p:par>
                                <p:cTn id="22" presetID="10" presetClass="entr" presetSubtype="0" fill="hold" grpId="0" nodeType="after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350"/>
                                        <p:tgtEl>
                                          <p:spTgt spid="9"/>
                                        </p:tgtEl>
                                      </p:cBhvr>
                                    </p:animEffect>
                                    <p:anim calcmode="lin" valueType="num">
                                      <p:cBhvr additive="base">
                                        <p:cTn id="25" dur="350" fill="hold"/>
                                        <p:tgtEl>
                                          <p:spTgt spid="9"/>
                                        </p:tgtEl>
                                        <p:attrNameLst>
                                          <p:attrName>ppt_y</p:attrName>
                                        </p:attrNameLst>
                                      </p:cBhvr>
                                      <p:tavLst>
                                        <p:tav tm="0">
                                          <p:val>
                                            <p:strVal val="#ppt_y+0.0350"/>
                                          </p:val>
                                        </p:tav>
                                        <p:tav tm="100000">
                                          <p:val>
                                            <p:strVal val="#ppt_y"/>
                                          </p:val>
                                        </p:tav>
                                      </p:tavLst>
                                    </p:anim>
                                  </p:childTnLst>
                                </p:cTn>
                              </p:par>
                            </p:childTnLst>
                          </p:cTn>
                        </p:par>
                      </p:childTnLst>
                    </p:cTn>
                  </p:par>
                  <p:par>
                    <p:cTn id="30" fill="hold">
                      <p:stCondLst>
                        <p:cond delay="0"/>
                      </p:stCondLst>
                      <p:childTnLst>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350"/>
                                        <p:tgtEl>
                                          <p:spTgt spid="11"/>
                                        </p:tgtEl>
                                      </p:cBhvr>
                                    </p:animEffect>
                                    <p:anim calcmode="lin" valueType="num">
                                      <p:cBhvr additive="base">
                                        <p:cTn id="35" dur="350" fill="hold"/>
                                        <p:tgtEl>
                                          <p:spTgt spid="11"/>
                                        </p:tgtEl>
                                        <p:attrNameLst>
                                          <p:attrName>ppt_y</p:attrName>
                                        </p:attrNameLst>
                                      </p:cBhvr>
                                      <p:tavLst>
                                        <p:tav tm="0">
                                          <p:val>
                                            <p:strVal val="#ppt_y+0.0350"/>
                                          </p:val>
                                        </p:tav>
                                        <p:tav tm="100000">
                                          <p:val>
                                            <p:strVal val="#ppt_y"/>
                                          </p:val>
                                        </p:tav>
                                      </p:tavLst>
                                    </p:anim>
                                  </p:childTnLst>
                                </p:cTn>
                              </p:par>
                            </p:childTnLst>
                          </p:cTn>
                        </p:par>
                      </p:childTnLst>
                    </p:cTn>
                  </p:par>
                  <p:par>
                    <p:cTn id="40" fill="hold">
                      <p:stCondLst>
                        <p:cond delay="0"/>
                      </p:stCondLst>
                      <p:childTnLst>
                        <p:par>
                          <p:cTn id="41" fill="hold">
                            <p:stCondLst>
                              <p:cond delay="0"/>
                            </p:stCondLst>
                            <p:childTnLst>
                              <p:par>
                                <p:cTn id="42" presetID="10" presetClass="entr" presetSubtype="0" fill="hold" grpId="0" nodeType="afterEffect">
                                  <p:stCondLst>
                                    <p:cond delay="0"/>
                                  </p:stCondLst>
                                  <p:childTnLst>
                                    <p:set>
                                      <p:cBhvr>
                                        <p:cTn id="43" dur="1" fill="hold">
                                          <p:stCondLst>
                                            <p:cond delay="0"/>
                                          </p:stCondLst>
                                        </p:cTn>
                                        <p:tgtEl>
                                          <p:spTgt spid="12"/>
                                        </p:tgtEl>
                                        <p:attrNameLst>
                                          <p:attrName>style.visibility</p:attrName>
                                        </p:attrNameLst>
                                      </p:cBhvr>
                                      <p:to>
                                        <p:strVal val="visible"/>
                                      </p:to>
                                    </p:set>
                                    <p:animEffect transition="in" filter="fade">
                                      <p:cBhvr>
                                        <p:cTn id="44" dur="350"/>
                                        <p:tgtEl>
                                          <p:spTgt spid="12"/>
                                        </p:tgtEl>
                                      </p:cBhvr>
                                    </p:animEffect>
                                    <p:anim calcmode="lin" valueType="num">
                                      <p:cBhvr additive="base">
                                        <p:cTn id="45" dur="350" fill="hold"/>
                                        <p:tgtEl>
                                          <p:spTgt spid="12"/>
                                        </p:tgtEl>
                                        <p:attrNameLst>
                                          <p:attrName>ppt_y</p:attrName>
                                        </p:attrNameLst>
                                      </p:cBhvr>
                                      <p:tavLst>
                                        <p:tav tm="0">
                                          <p:val>
                                            <p:strVal val="#ppt_y+0.0350"/>
                                          </p:val>
                                        </p:tav>
                                        <p:tav tm="100000">
                                          <p:val>
                                            <p:strVal val="#ppt_y"/>
                                          </p:val>
                                        </p:tav>
                                      </p:tavLst>
                                    </p:anim>
                                  </p:childTnLst>
                                </p:cTn>
                              </p:par>
                            </p:childTnLst>
                          </p:cTn>
                        </p:par>
                      </p:childTnLst>
                    </p:cTn>
                  </p:par>
                  <p:par>
                    <p:cTn id="50" fill="hold">
                      <p:stCondLst>
                        <p:cond delay="0"/>
                      </p:stCondLst>
                      <p:childTnLst>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350"/>
                                        <p:tgtEl>
                                          <p:spTgt spid="15"/>
                                        </p:tgtEl>
                                      </p:cBhvr>
                                    </p:animEffect>
                                    <p:anim calcmode="lin" valueType="num">
                                      <p:cBhvr additive="base">
                                        <p:cTn id="55" dur="350" fill="hold"/>
                                        <p:tgtEl>
                                          <p:spTgt spid="15"/>
                                        </p:tgtEl>
                                        <p:attrNameLst>
                                          <p:attrName>ppt_y</p:attrName>
                                        </p:attrNameLst>
                                      </p:cBhvr>
                                      <p:tavLst>
                                        <p:tav tm="0">
                                          <p:val>
                                            <p:strVal val="#ppt_y+0.0350"/>
                                          </p:val>
                                        </p:tav>
                                        <p:tav tm="100000">
                                          <p:val>
                                            <p:strVal val="#ppt_y"/>
                                          </p:val>
                                        </p:tav>
                                      </p:tavLst>
                                    </p:anim>
                                  </p:childTnLst>
                                </p:cTn>
                              </p:par>
                            </p:childTnLst>
                          </p:cTn>
                        </p:par>
                      </p:childTnLst>
                    </p:cTn>
                  </p:par>
                  <p:par>
                    <p:cTn id="60" fill="hold">
                      <p:stCondLst>
                        <p:cond delay="0"/>
                      </p:stCondLst>
                      <p:childTnLst>
                        <p:par>
                          <p:cTn id="61" fill="hold">
                            <p:stCondLst>
                              <p:cond delay="0"/>
                            </p:stCondLst>
                            <p:childTnLst>
                              <p:par>
                                <p:cTn id="62" presetID="10" presetClass="entr" presetSubtype="0" fill="hold" grpId="0" nodeType="afterEffect">
                                  <p:stCondLst>
                                    <p:cond delay="0"/>
                                  </p:stCondLst>
                                  <p:childTnLst>
                                    <p:set>
                                      <p:cBhvr>
                                        <p:cTn id="63" dur="1" fill="hold">
                                          <p:stCondLst>
                                            <p:cond delay="0"/>
                                          </p:stCondLst>
                                        </p:cTn>
                                        <p:tgtEl>
                                          <p:spTgt spid="13"/>
                                        </p:tgtEl>
                                        <p:attrNameLst>
                                          <p:attrName>style.visibility</p:attrName>
                                        </p:attrNameLst>
                                      </p:cBhvr>
                                      <p:to>
                                        <p:strVal val="visible"/>
                                      </p:to>
                                    </p:set>
                                    <p:animEffect transition="in" filter="fade">
                                      <p:cBhvr>
                                        <p:cTn id="64" dur="350"/>
                                        <p:tgtEl>
                                          <p:spTgt spid="13"/>
                                        </p:tgtEl>
                                      </p:cBhvr>
                                    </p:animEffect>
                                    <p:anim calcmode="lin" valueType="num">
                                      <p:cBhvr additive="base">
                                        <p:cTn id="65" dur="350" fill="hold"/>
                                        <p:tgtEl>
                                          <p:spTgt spid="13"/>
                                        </p:tgtEl>
                                        <p:attrNameLst>
                                          <p:attrName>ppt_y</p:attrName>
                                        </p:attrNameLst>
                                      </p:cBhvr>
                                      <p:tavLst>
                                        <p:tav tm="0">
                                          <p:val>
                                            <p:strVal val="#ppt_y+0.0350"/>
                                          </p:val>
                                        </p:tav>
                                        <p:tav tm="100000">
                                          <p:val>
                                            <p:strVal val="#ppt_y"/>
                                          </p:val>
                                        </p:tav>
                                      </p:tavLst>
                                    </p:anim>
                                  </p:childTnLst>
                                </p:cTn>
                              </p:par>
                            </p:childTnLst>
                          </p:cTn>
                        </p:par>
                      </p:childTnLst>
                    </p:cTn>
                  </p:par>
                  <p:par>
                    <p:cTn id="70" fill="hold">
                      <p:stCondLst>
                        <p:cond delay="0"/>
                      </p:stCondLst>
                      <p:childTnLst>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14"/>
                                        </p:tgtEl>
                                        <p:attrNameLst>
                                          <p:attrName>style.visibility</p:attrName>
                                        </p:attrNameLst>
                                      </p:cBhvr>
                                      <p:to>
                                        <p:strVal val="visible"/>
                                      </p:to>
                                    </p:set>
                                    <p:animEffect transition="in" filter="fade">
                                      <p:cBhvr>
                                        <p:cTn id="74" dur="350"/>
                                        <p:tgtEl>
                                          <p:spTgt spid="14"/>
                                        </p:tgtEl>
                                      </p:cBhvr>
                                    </p:animEffect>
                                    <p:anim calcmode="lin" valueType="num">
                                      <p:cBhvr additive="base">
                                        <p:cTn id="75" dur="350" fill="hold"/>
                                        <p:tgtEl>
                                          <p:spTgt spid="14"/>
                                        </p:tgtEl>
                                        <p:attrNameLst>
                                          <p:attrName>ppt_y</p:attrName>
                                        </p:attrNameLst>
                                      </p:cBhvr>
                                      <p:tavLst>
                                        <p:tav tm="0">
                                          <p:val>
                                            <p:strVal val="#ppt_y+0.0350"/>
                                          </p:val>
                                        </p:tav>
                                        <p:tav tm="100000">
                                          <p:val>
                                            <p:strVal val="#ppt_y"/>
                                          </p:val>
                                        </p:tav>
                                      </p:tavLst>
                                    </p:anim>
                                  </p:childTnLst>
                                </p:cTn>
                              </p:par>
                            </p:childTnLst>
                          </p:cTn>
                        </p:par>
                      </p:childTnLst>
                    </p:cTn>
                  </p:par>
                </p:childTnLst>
                <p:prevCondLst>
                  <p:cond evt="onPrev" delay="0">
                    <p:tgtEl>
                      <p:sldTgt/>
                    </p:tgtEl>
                  </p:cond>
                </p:prevCondLst>
                <p:nextCondLst>
                  <p:cond evt="onNext" delay="0">
                    <p:tgtEl>
                      <p:sldTgt/>
                    </p:tgtEl>
                  </p:cond>
                </p:nextCondLst>
              </p:cTn>
            </p:seq>
          </p:childTnLst>
        </p:cTn>
      </p:par>
    </p:tnLst>
  </p:timing>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PROMPT PATTERNS · COPY AND ADAPT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Copy-Ready Prompts — Refine and Review</a:t>
            </a:r>
          </a:p>
        </p:txBody>
      </p:sp>
      <p:sp>
        <p:nvSpPr>
          <p:cNvPr id="6" name="Rectangle 5"/>
          <p:cNvSpPr/>
          <p:nvPr/>
        </p:nvSpPr>
        <p:spPr>
          <a:xfrm>
            <a:off x="777240" y="1783080"/>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0" name="TextBox 9"/>
          <p:cNvSpPr txBox="1"/>
          <p:nvPr/>
        </p:nvSpPr>
        <p:spPr>
          <a:xfrm>
            <a:off x="1764792" y="1911096"/>
            <a:ext cx="9427464" cy="1883664"/>
          </a:xfrm>
          <a:prstGeom prst="rect">
            <a:avLst/>
          </a:prstGeom>
          <a:noFill/>
        </p:spPr>
        <p:txBody>
          <a:bodyPr wrap="square" anchor="ctr">
            <a:spAutoFit/>
          </a:bodyPr>
          <a:lstStyle/>
          <a:p>
            <a:pPr algn="l">
              <a:spcAft>
                <a:spcPts val="300"/>
              </a:spcAft>
            </a:pPr>
            <a:r>
              <a:rPr sz="1500" b="1">
                <a:solidFill>
                  <a:srgbClr val="161B26"/>
                </a:solidFill>
                <a:latin typeface="Arial"/>
              </a:rPr>
              <a:t>Refine in PowerPoint</a:t>
            </a:r>
          </a:p>
          <a:p>
            <a:pPr algn="l">
              <a:spcAft>
                <a:spcPts val="300"/>
              </a:spcAft>
            </a:pPr>
            <a:r>
              <a:rPr sz="1100" b="0">
                <a:solidFill>
                  <a:srgbClr val="5B6372"/>
                </a:solidFill>
                <a:latin typeface="Arial"/>
              </a:rPr>
              <a:t>Turn the selected infographic direction into one editable PowerPoint slide. Keep the action title, labels, numbers, chart or process, source footer and accessibility notes editable. Remove decoration that does not support the message. Apply the approved brand colours and preserve one clear reading path.</a:t>
            </a:r>
          </a:p>
        </p:txBody>
      </p:sp>
      <p:sp>
        <p:nvSpPr>
          <p:cNvPr id="11" name="Rectangle 10"/>
          <p:cNvSpPr/>
          <p:nvPr/>
        </p:nvSpPr>
        <p:spPr>
          <a:xfrm>
            <a:off x="777240" y="4087368"/>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4087368"/>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33272" y="484632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5" name="TextBox 14"/>
          <p:cNvSpPr txBox="1"/>
          <p:nvPr/>
        </p:nvSpPr>
        <p:spPr>
          <a:xfrm>
            <a:off x="1764792" y="4215384"/>
            <a:ext cx="9427464" cy="1883664"/>
          </a:xfrm>
          <a:prstGeom prst="rect">
            <a:avLst/>
          </a:prstGeom>
          <a:noFill/>
        </p:spPr>
        <p:txBody>
          <a:bodyPr wrap="square" anchor="ctr">
            <a:spAutoFit/>
          </a:bodyPr>
          <a:lstStyle/>
          <a:p>
            <a:pPr algn="l">
              <a:spcAft>
                <a:spcPts val="300"/>
              </a:spcAft>
            </a:pPr>
            <a:r>
              <a:rPr sz="1500" b="1">
                <a:solidFill>
                  <a:srgbClr val="161B26"/>
                </a:solidFill>
                <a:latin typeface="Arial"/>
              </a:rPr>
              <a:t>Quality review</a:t>
            </a:r>
          </a:p>
          <a:p>
            <a:pPr algn="l">
              <a:spcAft>
                <a:spcPts val="300"/>
              </a:spcAft>
            </a:pPr>
            <a:r>
              <a:rPr sz="1100" b="0">
                <a:solidFill>
                  <a:srgbClr val="5B6372"/>
                </a:solidFill>
                <a:latin typeface="Arial"/>
              </a:rPr>
              <a:t>Review this infographic against message clarity, data accuracy, visual hierarchy, audience fit, accessibility, editability and business goal. List each issue with evidence, its impact, the proposed change and a pass/fail acceptance check. Do not rewrite verified facts.</a:t>
            </a:r>
          </a:p>
        </p:txBody>
      </p:sp>
      <p:sp>
        <p:nvSpPr>
          <p:cNvPr id="16" name="TextBox 1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17" name="TextBox 1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8" name="TextBox 1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48</a:t>
            </a:r>
          </a:p>
        </p:txBody>
      </p:sp>
    </p:spTree>
  </p:cSld>
  <p:clrMapOvr>
    <a:masterClrMapping/>
  </p:clrMapOvr>
  <p:transition spd="fast" advClick="1">
    <p:fade/>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8"/>
                                        </p:tgtEl>
                                        <p:attrNameLst>
                                          <p:attrName>style.visibility</p:attrName>
                                        </p:attrNameLst>
                                      </p:cBhvr>
                                      <p:to>
                                        <p:strVal val="visible"/>
                                      </p:to>
                                    </p:set>
                                    <p:animEffect transition="in" filter="fade">
                                      <p:cBhvr>
                                        <p:cTn id="14" dur="350"/>
                                        <p:tgtEl>
                                          <p:spTgt spid="8"/>
                                        </p:tgtEl>
                                      </p:cBhvr>
                                    </p:animEffect>
                                    <p:anim calcmode="lin" valueType="num">
                                      <p:cBhvr additive="base">
                                        <p:cTn id="15" dur="350" fill="hold"/>
                                        <p:tgtEl>
                                          <p:spTgt spid="8"/>
                                        </p:tgtEl>
                                        <p:attrNameLst>
                                          <p:attrName>ppt_y</p:attrName>
                                        </p:attrNameLst>
                                      </p:cBhvr>
                                      <p:tavLst>
                                        <p:tav tm="0">
                                          <p:val>
                                            <p:strVal val="#ppt_y+0.0350"/>
                                          </p:val>
                                        </p:tav>
                                        <p:tav tm="100000">
                                          <p:val>
                                            <p:strVal val="#ppt_y"/>
                                          </p:val>
                                        </p:tav>
                                      </p:tavLst>
                                    </p:anim>
                                  </p:childTnLst>
                                </p:cTn>
                              </p:par>
                            </p:childTnLst>
                          </p:cTn>
                        </p:par>
                      </p:childTnLst>
                    </p:cTn>
                  </p:par>
                  <p:par>
                    <p:cTn id="20" fill="hold">
                      <p:stCondLst>
                        <p:cond delay="0"/>
                      </p:stCondLst>
                      <p:childTnLst>
                        <p:par>
                          <p:cTn id="21" fill="hold">
                            <p:stCondLst>
                              <p:cond delay="0"/>
                            </p:stCondLst>
                            <p:childTnLst>
                              <p:par>
                                <p:cTn id="22" presetID="10" presetClass="entr" presetSubtype="0" fill="hold" grpId="0" nodeType="after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350"/>
                                        <p:tgtEl>
                                          <p:spTgt spid="9"/>
                                        </p:tgtEl>
                                      </p:cBhvr>
                                    </p:animEffect>
                                    <p:anim calcmode="lin" valueType="num">
                                      <p:cBhvr additive="base">
                                        <p:cTn id="25" dur="350" fill="hold"/>
                                        <p:tgtEl>
                                          <p:spTgt spid="9"/>
                                        </p:tgtEl>
                                        <p:attrNameLst>
                                          <p:attrName>ppt_y</p:attrName>
                                        </p:attrNameLst>
                                      </p:cBhvr>
                                      <p:tavLst>
                                        <p:tav tm="0">
                                          <p:val>
                                            <p:strVal val="#ppt_y+0.0350"/>
                                          </p:val>
                                        </p:tav>
                                        <p:tav tm="100000">
                                          <p:val>
                                            <p:strVal val="#ppt_y"/>
                                          </p:val>
                                        </p:tav>
                                      </p:tavLst>
                                    </p:anim>
                                  </p:childTnLst>
                                </p:cTn>
                              </p:par>
                            </p:childTnLst>
                          </p:cTn>
                        </p:par>
                      </p:childTnLst>
                    </p:cTn>
                  </p:par>
                  <p:par>
                    <p:cTn id="30" fill="hold">
                      <p:stCondLst>
                        <p:cond delay="0"/>
                      </p:stCondLst>
                      <p:childTnLst>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350"/>
                                        <p:tgtEl>
                                          <p:spTgt spid="11"/>
                                        </p:tgtEl>
                                      </p:cBhvr>
                                    </p:animEffect>
                                    <p:anim calcmode="lin" valueType="num">
                                      <p:cBhvr additive="base">
                                        <p:cTn id="35" dur="350" fill="hold"/>
                                        <p:tgtEl>
                                          <p:spTgt spid="11"/>
                                        </p:tgtEl>
                                        <p:attrNameLst>
                                          <p:attrName>ppt_y</p:attrName>
                                        </p:attrNameLst>
                                      </p:cBhvr>
                                      <p:tavLst>
                                        <p:tav tm="0">
                                          <p:val>
                                            <p:strVal val="#ppt_y+0.0350"/>
                                          </p:val>
                                        </p:tav>
                                        <p:tav tm="100000">
                                          <p:val>
                                            <p:strVal val="#ppt_y"/>
                                          </p:val>
                                        </p:tav>
                                      </p:tavLst>
                                    </p:anim>
                                  </p:childTnLst>
                                </p:cTn>
                              </p:par>
                            </p:childTnLst>
                          </p:cTn>
                        </p:par>
                      </p:childTnLst>
                    </p:cTn>
                  </p:par>
                  <p:par>
                    <p:cTn id="40" fill="hold">
                      <p:stCondLst>
                        <p:cond delay="0"/>
                      </p:stCondLst>
                      <p:childTnLst>
                        <p:par>
                          <p:cTn id="41" fill="hold">
                            <p:stCondLst>
                              <p:cond delay="0"/>
                            </p:stCondLst>
                            <p:childTnLst>
                              <p:par>
                                <p:cTn id="42" presetID="10" presetClass="entr" presetSubtype="0" fill="hold" grpId="0" nodeType="afterEffect">
                                  <p:stCondLst>
                                    <p:cond delay="0"/>
                                  </p:stCondLst>
                                  <p:childTnLst>
                                    <p:set>
                                      <p:cBhvr>
                                        <p:cTn id="43" dur="1" fill="hold">
                                          <p:stCondLst>
                                            <p:cond delay="0"/>
                                          </p:stCondLst>
                                        </p:cTn>
                                        <p:tgtEl>
                                          <p:spTgt spid="12"/>
                                        </p:tgtEl>
                                        <p:attrNameLst>
                                          <p:attrName>style.visibility</p:attrName>
                                        </p:attrNameLst>
                                      </p:cBhvr>
                                      <p:to>
                                        <p:strVal val="visible"/>
                                      </p:to>
                                    </p:set>
                                    <p:animEffect transition="in" filter="fade">
                                      <p:cBhvr>
                                        <p:cTn id="44" dur="350"/>
                                        <p:tgtEl>
                                          <p:spTgt spid="12"/>
                                        </p:tgtEl>
                                      </p:cBhvr>
                                    </p:animEffect>
                                    <p:anim calcmode="lin" valueType="num">
                                      <p:cBhvr additive="base">
                                        <p:cTn id="45" dur="350" fill="hold"/>
                                        <p:tgtEl>
                                          <p:spTgt spid="12"/>
                                        </p:tgtEl>
                                        <p:attrNameLst>
                                          <p:attrName>ppt_y</p:attrName>
                                        </p:attrNameLst>
                                      </p:cBhvr>
                                      <p:tavLst>
                                        <p:tav tm="0">
                                          <p:val>
                                            <p:strVal val="#ppt_y+0.0350"/>
                                          </p:val>
                                        </p:tav>
                                        <p:tav tm="100000">
                                          <p:val>
                                            <p:strVal val="#ppt_y"/>
                                          </p:val>
                                        </p:tav>
                                      </p:tavLst>
                                    </p:anim>
                                  </p:childTnLst>
                                </p:cTn>
                              </p:par>
                            </p:childTnLst>
                          </p:cTn>
                        </p:par>
                      </p:childTnLst>
                    </p:cTn>
                  </p:par>
                  <p:par>
                    <p:cTn id="50" fill="hold">
                      <p:stCondLst>
                        <p:cond delay="0"/>
                      </p:stCondLst>
                      <p:childTnLst>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350"/>
                                        <p:tgtEl>
                                          <p:spTgt spid="15"/>
                                        </p:tgtEl>
                                      </p:cBhvr>
                                    </p:animEffect>
                                    <p:anim calcmode="lin" valueType="num">
                                      <p:cBhvr additive="base">
                                        <p:cTn id="55" dur="350" fill="hold"/>
                                        <p:tgtEl>
                                          <p:spTgt spid="15"/>
                                        </p:tgtEl>
                                        <p:attrNameLst>
                                          <p:attrName>ppt_y</p:attrName>
                                        </p:attrNameLst>
                                      </p:cBhvr>
                                      <p:tavLst>
                                        <p:tav tm="0">
                                          <p:val>
                                            <p:strVal val="#ppt_y+0.0350"/>
                                          </p:val>
                                        </p:tav>
                                        <p:tav tm="100000">
                                          <p:val>
                                            <p:strVal val="#ppt_y"/>
                                          </p:val>
                                        </p:tav>
                                      </p:tavLst>
                                    </p:anim>
                                  </p:childTnLst>
                                </p:cTn>
                              </p:par>
                            </p:childTnLst>
                          </p:cTn>
                        </p:par>
                      </p:childTnLst>
                    </p:cTn>
                  </p:par>
                  <p:par>
                    <p:cTn id="60" fill="hold">
                      <p:stCondLst>
                        <p:cond delay="0"/>
                      </p:stCondLst>
                      <p:childTnLst>
                        <p:par>
                          <p:cTn id="61" fill="hold">
                            <p:stCondLst>
                              <p:cond delay="0"/>
                            </p:stCondLst>
                            <p:childTnLst>
                              <p:par>
                                <p:cTn id="62" presetID="10" presetClass="entr" presetSubtype="0" fill="hold" grpId="0" nodeType="afterEffect">
                                  <p:stCondLst>
                                    <p:cond delay="0"/>
                                  </p:stCondLst>
                                  <p:childTnLst>
                                    <p:set>
                                      <p:cBhvr>
                                        <p:cTn id="63" dur="1" fill="hold">
                                          <p:stCondLst>
                                            <p:cond delay="0"/>
                                          </p:stCondLst>
                                        </p:cTn>
                                        <p:tgtEl>
                                          <p:spTgt spid="13"/>
                                        </p:tgtEl>
                                        <p:attrNameLst>
                                          <p:attrName>style.visibility</p:attrName>
                                        </p:attrNameLst>
                                      </p:cBhvr>
                                      <p:to>
                                        <p:strVal val="visible"/>
                                      </p:to>
                                    </p:set>
                                    <p:animEffect transition="in" filter="fade">
                                      <p:cBhvr>
                                        <p:cTn id="64" dur="350"/>
                                        <p:tgtEl>
                                          <p:spTgt spid="13"/>
                                        </p:tgtEl>
                                      </p:cBhvr>
                                    </p:animEffect>
                                    <p:anim calcmode="lin" valueType="num">
                                      <p:cBhvr additive="base">
                                        <p:cTn id="65" dur="350" fill="hold"/>
                                        <p:tgtEl>
                                          <p:spTgt spid="13"/>
                                        </p:tgtEl>
                                        <p:attrNameLst>
                                          <p:attrName>ppt_y</p:attrName>
                                        </p:attrNameLst>
                                      </p:cBhvr>
                                      <p:tavLst>
                                        <p:tav tm="0">
                                          <p:val>
                                            <p:strVal val="#ppt_y+0.0350"/>
                                          </p:val>
                                        </p:tav>
                                        <p:tav tm="100000">
                                          <p:val>
                                            <p:strVal val="#ppt_y"/>
                                          </p:val>
                                        </p:tav>
                                      </p:tavLst>
                                    </p:anim>
                                  </p:childTnLst>
                                </p:cTn>
                              </p:par>
                            </p:childTnLst>
                          </p:cTn>
                        </p:par>
                      </p:childTnLst>
                    </p:cTn>
                  </p:par>
                  <p:par>
                    <p:cTn id="70" fill="hold">
                      <p:stCondLst>
                        <p:cond delay="0"/>
                      </p:stCondLst>
                      <p:childTnLst>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14"/>
                                        </p:tgtEl>
                                        <p:attrNameLst>
                                          <p:attrName>style.visibility</p:attrName>
                                        </p:attrNameLst>
                                      </p:cBhvr>
                                      <p:to>
                                        <p:strVal val="visible"/>
                                      </p:to>
                                    </p:set>
                                    <p:animEffect transition="in" filter="fade">
                                      <p:cBhvr>
                                        <p:cTn id="74" dur="350"/>
                                        <p:tgtEl>
                                          <p:spTgt spid="14"/>
                                        </p:tgtEl>
                                      </p:cBhvr>
                                    </p:animEffect>
                                    <p:anim calcmode="lin" valueType="num">
                                      <p:cBhvr additive="base">
                                        <p:cTn id="75" dur="350" fill="hold"/>
                                        <p:tgtEl>
                                          <p:spTgt spid="14"/>
                                        </p:tgtEl>
                                        <p:attrNameLst>
                                          <p:attrName>ppt_y</p:attrName>
                                        </p:attrNameLst>
                                      </p:cBhvr>
                                      <p:tavLst>
                                        <p:tav tm="0">
                                          <p:val>
                                            <p:strVal val="#ppt_y+0.0350"/>
                                          </p:val>
                                        </p:tav>
                                        <p:tav tm="100000">
                                          <p:val>
                                            <p:strVal val="#ppt_y"/>
                                          </p:val>
                                        </p:tav>
                                      </p:tavLst>
                                    </p:anim>
                                  </p:childTnLst>
                                </p:cTn>
                              </p:par>
                            </p:childTnLst>
                          </p:cTn>
                        </p:par>
                      </p:childTnLst>
                    </p:cTn>
                  </p:par>
                </p:childTnLst>
                <p:prevCondLst>
                  <p:cond evt="onPrev" delay="0">
                    <p:tgtEl>
                      <p:sldTgt/>
                    </p:tgtEl>
                  </p:cond>
                </p:prevCondLst>
                <p:nextCondLst>
                  <p:cond evt="onNext" delay="0">
                    <p:tgtEl>
                      <p:sldTgt/>
                    </p:tgtEl>
                  </p:cond>
                </p:nextCondLst>
              </p:cTn>
            </p:seq>
          </p:childTnLst>
        </p:cTn>
      </p:par>
    </p:tnLst>
  </p:timing>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MICROSOFT 365 COPILOT · COPY AND ADAPT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Structured Prompt Example — Cybersecurity Awareness</a:t>
            </a:r>
          </a:p>
        </p:txBody>
      </p:sp>
      <p:sp>
        <p:nvSpPr>
          <p:cNvPr id="6" name="TextBox 5"/>
          <p:cNvSpPr txBox="1"/>
          <p:nvPr/>
        </p:nvSpPr>
        <p:spPr>
          <a:xfrm>
            <a:off x="795528" y="1664208"/>
            <a:ext cx="10607040" cy="365760"/>
          </a:xfrm>
          <a:prstGeom prst="rect">
            <a:avLst/>
          </a:prstGeom>
          <a:noFill/>
        </p:spPr>
        <p:txBody>
          <a:bodyPr wrap="square" anchor="t">
            <a:spAutoFit/>
          </a:bodyPr>
          <a:lstStyle/>
          <a:p>
            <a:pPr algn="l">
              <a:spcAft>
                <a:spcPts val="400"/>
              </a:spcAft>
            </a:pPr>
            <a:r>
              <a:rPr sz="1300" b="0">
                <a:solidFill>
                  <a:srgbClr val="5B6372"/>
                </a:solidFill>
                <a:latin typeface="Arial"/>
              </a:rPr>
              <a:t>Specify the infographic type, ordered sections, audience, decision, style and source constraint.</a:t>
            </a:r>
          </a:p>
        </p:txBody>
      </p:sp>
      <p:sp>
        <p:nvSpPr>
          <p:cNvPr id="7" name="Rectangle 6"/>
          <p:cNvSpPr/>
          <p:nvPr/>
        </p:nvSpPr>
        <p:spPr>
          <a:xfrm>
            <a:off x="777240" y="2057400"/>
            <a:ext cx="10634472" cy="388620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87552" y="2212848"/>
            <a:ext cx="384048" cy="256032"/>
          </a:xfrm>
          <a:prstGeom prst="rect">
            <a:avLst/>
          </a:prstGeom>
          <a:noFill/>
        </p:spPr>
        <p:txBody>
          <a:bodyPr wrap="square" anchor="t">
            <a:spAutoFit/>
          </a:bodyPr>
          <a:lstStyle/>
          <a:p>
            <a:pPr algn="r">
              <a:spcAft>
                <a:spcPts val="400"/>
              </a:spcAft>
            </a:pPr>
            <a:r>
              <a:rPr sz="1000" b="0">
                <a:solidFill>
                  <a:srgbClr val="5B6372"/>
                </a:solidFill>
                <a:latin typeface="Arial"/>
              </a:rPr>
              <a:t>1</a:t>
            </a:r>
          </a:p>
        </p:txBody>
      </p:sp>
      <p:sp>
        <p:nvSpPr>
          <p:cNvPr id="9" name="TextBox 8"/>
          <p:cNvSpPr txBox="1"/>
          <p:nvPr/>
        </p:nvSpPr>
        <p:spPr>
          <a:xfrm>
            <a:off x="1572768" y="2212848"/>
            <a:ext cx="9372600" cy="274320"/>
          </a:xfrm>
          <a:prstGeom prst="rect">
            <a:avLst/>
          </a:prstGeom>
          <a:noFill/>
        </p:spPr>
        <p:txBody>
          <a:bodyPr wrap="square" anchor="t">
            <a:spAutoFit/>
          </a:bodyPr>
          <a:lstStyle/>
          <a:p>
            <a:pPr algn="l">
              <a:spcAft>
                <a:spcPts val="400"/>
              </a:spcAft>
            </a:pPr>
            <a:r>
              <a:rPr sz="1250" b="0">
                <a:solidFill>
                  <a:srgbClr val="161B26"/>
                </a:solidFill>
                <a:latin typeface="Arial"/>
              </a:rPr>
              <a:t>Create a one-page process infographic about cybersecurity awareness.</a:t>
            </a:r>
          </a:p>
        </p:txBody>
      </p:sp>
      <p:sp>
        <p:nvSpPr>
          <p:cNvPr id="10" name="TextBox 9"/>
          <p:cNvSpPr txBox="1"/>
          <p:nvPr/>
        </p:nvSpPr>
        <p:spPr>
          <a:xfrm>
            <a:off x="987552" y="2532888"/>
            <a:ext cx="384048" cy="256032"/>
          </a:xfrm>
          <a:prstGeom prst="rect">
            <a:avLst/>
          </a:prstGeom>
          <a:noFill/>
        </p:spPr>
        <p:txBody>
          <a:bodyPr wrap="square" anchor="t">
            <a:spAutoFit/>
          </a:bodyPr>
          <a:lstStyle/>
          <a:p>
            <a:pPr algn="r">
              <a:spcAft>
                <a:spcPts val="400"/>
              </a:spcAft>
            </a:pPr>
            <a:r>
              <a:rPr sz="1000" b="0">
                <a:solidFill>
                  <a:srgbClr val="5B6372"/>
                </a:solidFill>
                <a:latin typeface="Arial"/>
              </a:rPr>
              <a:t>2</a:t>
            </a:r>
          </a:p>
        </p:txBody>
      </p:sp>
      <p:sp>
        <p:nvSpPr>
          <p:cNvPr id="11" name="TextBox 10"/>
          <p:cNvSpPr txBox="1"/>
          <p:nvPr/>
        </p:nvSpPr>
        <p:spPr>
          <a:xfrm>
            <a:off x="1572768" y="2532888"/>
            <a:ext cx="9372600" cy="274320"/>
          </a:xfrm>
          <a:prstGeom prst="rect">
            <a:avLst/>
          </a:prstGeom>
          <a:noFill/>
        </p:spPr>
        <p:txBody>
          <a:bodyPr wrap="square" anchor="t">
            <a:spAutoFit/>
          </a:bodyPr>
          <a:lstStyle/>
          <a:p>
            <a:pPr algn="l">
              <a:spcAft>
                <a:spcPts val="400"/>
              </a:spcAft>
            </a:pPr>
            <a:r>
              <a:rPr sz="1250" b="1">
                <a:solidFill>
                  <a:srgbClr val="161B26"/>
                </a:solidFill>
                <a:latin typeface="Arial"/>
              </a:rPr>
              <a:t>Sections:</a:t>
            </a:r>
          </a:p>
        </p:txBody>
      </p:sp>
      <p:sp>
        <p:nvSpPr>
          <p:cNvPr id="12" name="TextBox 11"/>
          <p:cNvSpPr txBox="1"/>
          <p:nvPr/>
        </p:nvSpPr>
        <p:spPr>
          <a:xfrm>
            <a:off x="987552" y="2852928"/>
            <a:ext cx="384048" cy="256032"/>
          </a:xfrm>
          <a:prstGeom prst="rect">
            <a:avLst/>
          </a:prstGeom>
          <a:noFill/>
        </p:spPr>
        <p:txBody>
          <a:bodyPr wrap="square" anchor="t">
            <a:spAutoFit/>
          </a:bodyPr>
          <a:lstStyle/>
          <a:p>
            <a:pPr algn="r">
              <a:spcAft>
                <a:spcPts val="400"/>
              </a:spcAft>
            </a:pPr>
            <a:r>
              <a:rPr sz="1000" b="0">
                <a:solidFill>
                  <a:srgbClr val="5B6372"/>
                </a:solidFill>
                <a:latin typeface="Arial"/>
              </a:rPr>
              <a:t>3</a:t>
            </a:r>
          </a:p>
        </p:txBody>
      </p:sp>
      <p:sp>
        <p:nvSpPr>
          <p:cNvPr id="13" name="TextBox 12"/>
          <p:cNvSpPr txBox="1"/>
          <p:nvPr/>
        </p:nvSpPr>
        <p:spPr>
          <a:xfrm>
            <a:off x="1572768" y="2852928"/>
            <a:ext cx="9372600" cy="274320"/>
          </a:xfrm>
          <a:prstGeom prst="rect">
            <a:avLst/>
          </a:prstGeom>
          <a:noFill/>
        </p:spPr>
        <p:txBody>
          <a:bodyPr wrap="square" anchor="t">
            <a:spAutoFit/>
          </a:bodyPr>
          <a:lstStyle/>
          <a:p>
            <a:pPr algn="l">
              <a:spcAft>
                <a:spcPts val="400"/>
              </a:spcAft>
            </a:pPr>
            <a:r>
              <a:rPr sz="1250" b="0">
                <a:solidFill>
                  <a:srgbClr val="161B26"/>
                </a:solidFill>
                <a:latin typeface="Arial"/>
              </a:rPr>
              <a:t>1. Common threats</a:t>
            </a:r>
          </a:p>
        </p:txBody>
      </p:sp>
      <p:sp>
        <p:nvSpPr>
          <p:cNvPr id="14" name="TextBox 13"/>
          <p:cNvSpPr txBox="1"/>
          <p:nvPr/>
        </p:nvSpPr>
        <p:spPr>
          <a:xfrm>
            <a:off x="987552" y="3172968"/>
            <a:ext cx="384048" cy="256032"/>
          </a:xfrm>
          <a:prstGeom prst="rect">
            <a:avLst/>
          </a:prstGeom>
          <a:noFill/>
        </p:spPr>
        <p:txBody>
          <a:bodyPr wrap="square" anchor="t">
            <a:spAutoFit/>
          </a:bodyPr>
          <a:lstStyle/>
          <a:p>
            <a:pPr algn="r">
              <a:spcAft>
                <a:spcPts val="400"/>
              </a:spcAft>
            </a:pPr>
            <a:r>
              <a:rPr sz="1000" b="0">
                <a:solidFill>
                  <a:srgbClr val="5B6372"/>
                </a:solidFill>
                <a:latin typeface="Arial"/>
              </a:rPr>
              <a:t>4</a:t>
            </a:r>
          </a:p>
        </p:txBody>
      </p:sp>
      <p:sp>
        <p:nvSpPr>
          <p:cNvPr id="15" name="TextBox 14"/>
          <p:cNvSpPr txBox="1"/>
          <p:nvPr/>
        </p:nvSpPr>
        <p:spPr>
          <a:xfrm>
            <a:off x="1572768" y="3172968"/>
            <a:ext cx="9372600" cy="274320"/>
          </a:xfrm>
          <a:prstGeom prst="rect">
            <a:avLst/>
          </a:prstGeom>
          <a:noFill/>
        </p:spPr>
        <p:txBody>
          <a:bodyPr wrap="square" anchor="t">
            <a:spAutoFit/>
          </a:bodyPr>
          <a:lstStyle/>
          <a:p>
            <a:pPr algn="l">
              <a:spcAft>
                <a:spcPts val="400"/>
              </a:spcAft>
            </a:pPr>
            <a:r>
              <a:rPr sz="1250" b="0">
                <a:solidFill>
                  <a:srgbClr val="161B26"/>
                </a:solidFill>
                <a:latin typeface="Arial"/>
              </a:rPr>
              <a:t>2. Phishing examples</a:t>
            </a:r>
          </a:p>
        </p:txBody>
      </p:sp>
      <p:sp>
        <p:nvSpPr>
          <p:cNvPr id="16" name="TextBox 15"/>
          <p:cNvSpPr txBox="1"/>
          <p:nvPr/>
        </p:nvSpPr>
        <p:spPr>
          <a:xfrm>
            <a:off x="987552" y="3493008"/>
            <a:ext cx="384048" cy="256032"/>
          </a:xfrm>
          <a:prstGeom prst="rect">
            <a:avLst/>
          </a:prstGeom>
          <a:noFill/>
        </p:spPr>
        <p:txBody>
          <a:bodyPr wrap="square" anchor="t">
            <a:spAutoFit/>
          </a:bodyPr>
          <a:lstStyle/>
          <a:p>
            <a:pPr algn="r">
              <a:spcAft>
                <a:spcPts val="400"/>
              </a:spcAft>
            </a:pPr>
            <a:r>
              <a:rPr sz="1000" b="0">
                <a:solidFill>
                  <a:srgbClr val="5B6372"/>
                </a:solidFill>
                <a:latin typeface="Arial"/>
              </a:rPr>
              <a:t>5</a:t>
            </a:r>
          </a:p>
        </p:txBody>
      </p:sp>
      <p:sp>
        <p:nvSpPr>
          <p:cNvPr id="17" name="TextBox 16"/>
          <p:cNvSpPr txBox="1"/>
          <p:nvPr/>
        </p:nvSpPr>
        <p:spPr>
          <a:xfrm>
            <a:off x="1572768" y="3493008"/>
            <a:ext cx="9372600" cy="274320"/>
          </a:xfrm>
          <a:prstGeom prst="rect">
            <a:avLst/>
          </a:prstGeom>
          <a:noFill/>
        </p:spPr>
        <p:txBody>
          <a:bodyPr wrap="square" anchor="t">
            <a:spAutoFit/>
          </a:bodyPr>
          <a:lstStyle/>
          <a:p>
            <a:pPr algn="l">
              <a:spcAft>
                <a:spcPts val="400"/>
              </a:spcAft>
            </a:pPr>
            <a:r>
              <a:rPr sz="1250" b="0">
                <a:solidFill>
                  <a:srgbClr val="161B26"/>
                </a:solidFill>
                <a:latin typeface="Arial"/>
              </a:rPr>
              <a:t>3. Safe password practices</a:t>
            </a:r>
          </a:p>
        </p:txBody>
      </p:sp>
      <p:sp>
        <p:nvSpPr>
          <p:cNvPr id="18" name="TextBox 17"/>
          <p:cNvSpPr txBox="1"/>
          <p:nvPr/>
        </p:nvSpPr>
        <p:spPr>
          <a:xfrm>
            <a:off x="987552" y="3813048"/>
            <a:ext cx="384048" cy="256032"/>
          </a:xfrm>
          <a:prstGeom prst="rect">
            <a:avLst/>
          </a:prstGeom>
          <a:noFill/>
        </p:spPr>
        <p:txBody>
          <a:bodyPr wrap="square" anchor="t">
            <a:spAutoFit/>
          </a:bodyPr>
          <a:lstStyle/>
          <a:p>
            <a:pPr algn="r">
              <a:spcAft>
                <a:spcPts val="400"/>
              </a:spcAft>
            </a:pPr>
            <a:r>
              <a:rPr sz="1000" b="0">
                <a:solidFill>
                  <a:srgbClr val="5B6372"/>
                </a:solidFill>
                <a:latin typeface="Arial"/>
              </a:rPr>
              <a:t>6</a:t>
            </a:r>
          </a:p>
        </p:txBody>
      </p:sp>
      <p:sp>
        <p:nvSpPr>
          <p:cNvPr id="19" name="TextBox 18"/>
          <p:cNvSpPr txBox="1"/>
          <p:nvPr/>
        </p:nvSpPr>
        <p:spPr>
          <a:xfrm>
            <a:off x="1572768" y="3813048"/>
            <a:ext cx="9372600" cy="274320"/>
          </a:xfrm>
          <a:prstGeom prst="rect">
            <a:avLst/>
          </a:prstGeom>
          <a:noFill/>
        </p:spPr>
        <p:txBody>
          <a:bodyPr wrap="square" anchor="t">
            <a:spAutoFit/>
          </a:bodyPr>
          <a:lstStyle/>
          <a:p>
            <a:pPr algn="l">
              <a:spcAft>
                <a:spcPts val="400"/>
              </a:spcAft>
            </a:pPr>
            <a:r>
              <a:rPr sz="1250" b="0">
                <a:solidFill>
                  <a:srgbClr val="161B26"/>
                </a:solidFill>
                <a:latin typeface="Arial"/>
              </a:rPr>
              <a:t>4. Multi-factor authentication</a:t>
            </a:r>
          </a:p>
        </p:txBody>
      </p:sp>
      <p:sp>
        <p:nvSpPr>
          <p:cNvPr id="20" name="TextBox 19"/>
          <p:cNvSpPr txBox="1"/>
          <p:nvPr/>
        </p:nvSpPr>
        <p:spPr>
          <a:xfrm>
            <a:off x="987552" y="4133087"/>
            <a:ext cx="384048" cy="256032"/>
          </a:xfrm>
          <a:prstGeom prst="rect">
            <a:avLst/>
          </a:prstGeom>
          <a:noFill/>
        </p:spPr>
        <p:txBody>
          <a:bodyPr wrap="square" anchor="t">
            <a:spAutoFit/>
          </a:bodyPr>
          <a:lstStyle/>
          <a:p>
            <a:pPr algn="r">
              <a:spcAft>
                <a:spcPts val="400"/>
              </a:spcAft>
            </a:pPr>
            <a:r>
              <a:rPr sz="1000" b="0">
                <a:solidFill>
                  <a:srgbClr val="5B6372"/>
                </a:solidFill>
                <a:latin typeface="Arial"/>
              </a:rPr>
              <a:t>7</a:t>
            </a:r>
          </a:p>
        </p:txBody>
      </p:sp>
      <p:sp>
        <p:nvSpPr>
          <p:cNvPr id="21" name="TextBox 20"/>
          <p:cNvSpPr txBox="1"/>
          <p:nvPr/>
        </p:nvSpPr>
        <p:spPr>
          <a:xfrm>
            <a:off x="1572768" y="4133087"/>
            <a:ext cx="9372600" cy="274320"/>
          </a:xfrm>
          <a:prstGeom prst="rect">
            <a:avLst/>
          </a:prstGeom>
          <a:noFill/>
        </p:spPr>
        <p:txBody>
          <a:bodyPr wrap="square" anchor="t">
            <a:spAutoFit/>
          </a:bodyPr>
          <a:lstStyle/>
          <a:p>
            <a:pPr algn="l">
              <a:spcAft>
                <a:spcPts val="400"/>
              </a:spcAft>
            </a:pPr>
            <a:r>
              <a:rPr sz="1250" b="0">
                <a:solidFill>
                  <a:srgbClr val="161B26"/>
                </a:solidFill>
                <a:latin typeface="Arial"/>
              </a:rPr>
              <a:t>5. Reporting suspicious activity</a:t>
            </a:r>
          </a:p>
        </p:txBody>
      </p:sp>
      <p:sp>
        <p:nvSpPr>
          <p:cNvPr id="22" name="TextBox 21"/>
          <p:cNvSpPr txBox="1"/>
          <p:nvPr/>
        </p:nvSpPr>
        <p:spPr>
          <a:xfrm>
            <a:off x="987552" y="4453127"/>
            <a:ext cx="384048" cy="256032"/>
          </a:xfrm>
          <a:prstGeom prst="rect">
            <a:avLst/>
          </a:prstGeom>
          <a:noFill/>
        </p:spPr>
        <p:txBody>
          <a:bodyPr wrap="square" anchor="t">
            <a:spAutoFit/>
          </a:bodyPr>
          <a:lstStyle/>
          <a:p>
            <a:pPr algn="r">
              <a:spcAft>
                <a:spcPts val="400"/>
              </a:spcAft>
            </a:pPr>
            <a:r>
              <a:rPr sz="1000" b="0">
                <a:solidFill>
                  <a:srgbClr val="5B6372"/>
                </a:solidFill>
                <a:latin typeface="Arial"/>
              </a:rPr>
              <a:t>8</a:t>
            </a:r>
          </a:p>
        </p:txBody>
      </p:sp>
      <p:sp>
        <p:nvSpPr>
          <p:cNvPr id="23" name="TextBox 22"/>
          <p:cNvSpPr txBox="1"/>
          <p:nvPr/>
        </p:nvSpPr>
        <p:spPr>
          <a:xfrm>
            <a:off x="1572768" y="4453127"/>
            <a:ext cx="9372600" cy="274320"/>
          </a:xfrm>
          <a:prstGeom prst="rect">
            <a:avLst/>
          </a:prstGeom>
          <a:noFill/>
        </p:spPr>
        <p:txBody>
          <a:bodyPr wrap="square" anchor="t">
            <a:spAutoFit/>
          </a:bodyPr>
          <a:lstStyle/>
          <a:p>
            <a:pPr algn="l">
              <a:spcAft>
                <a:spcPts val="400"/>
              </a:spcAft>
            </a:pPr>
            <a:r>
              <a:rPr sz="1250" b="0">
                <a:solidFill>
                  <a:srgbClr val="7C3AED"/>
                </a:solidFill>
                <a:latin typeface="Arial"/>
              </a:rPr>
              <a:t>Audience: office employees</a:t>
            </a:r>
          </a:p>
        </p:txBody>
      </p:sp>
      <p:sp>
        <p:nvSpPr>
          <p:cNvPr id="24" name="TextBox 23"/>
          <p:cNvSpPr txBox="1"/>
          <p:nvPr/>
        </p:nvSpPr>
        <p:spPr>
          <a:xfrm>
            <a:off x="987552" y="4773168"/>
            <a:ext cx="384048" cy="256032"/>
          </a:xfrm>
          <a:prstGeom prst="rect">
            <a:avLst/>
          </a:prstGeom>
          <a:noFill/>
        </p:spPr>
        <p:txBody>
          <a:bodyPr wrap="square" anchor="t">
            <a:spAutoFit/>
          </a:bodyPr>
          <a:lstStyle/>
          <a:p>
            <a:pPr algn="r">
              <a:spcAft>
                <a:spcPts val="400"/>
              </a:spcAft>
            </a:pPr>
            <a:r>
              <a:rPr sz="1000" b="0">
                <a:solidFill>
                  <a:srgbClr val="5B6372"/>
                </a:solidFill>
                <a:latin typeface="Arial"/>
              </a:rPr>
              <a:t>9</a:t>
            </a:r>
          </a:p>
        </p:txBody>
      </p:sp>
      <p:sp>
        <p:nvSpPr>
          <p:cNvPr id="25" name="TextBox 24"/>
          <p:cNvSpPr txBox="1"/>
          <p:nvPr/>
        </p:nvSpPr>
        <p:spPr>
          <a:xfrm>
            <a:off x="1572768" y="4773168"/>
            <a:ext cx="9372600" cy="274320"/>
          </a:xfrm>
          <a:prstGeom prst="rect">
            <a:avLst/>
          </a:prstGeom>
          <a:noFill/>
        </p:spPr>
        <p:txBody>
          <a:bodyPr wrap="square" anchor="t">
            <a:spAutoFit/>
          </a:bodyPr>
          <a:lstStyle/>
          <a:p>
            <a:pPr algn="l">
              <a:spcAft>
                <a:spcPts val="400"/>
              </a:spcAft>
            </a:pPr>
            <a:r>
              <a:rPr sz="1250" b="0">
                <a:solidFill>
                  <a:srgbClr val="7C3AED"/>
                </a:solidFill>
                <a:latin typeface="Arial"/>
              </a:rPr>
              <a:t>Decision: recognise, avoid and report suspicious activity</a:t>
            </a:r>
          </a:p>
        </p:txBody>
      </p:sp>
      <p:sp>
        <p:nvSpPr>
          <p:cNvPr id="26" name="TextBox 25"/>
          <p:cNvSpPr txBox="1"/>
          <p:nvPr/>
        </p:nvSpPr>
        <p:spPr>
          <a:xfrm>
            <a:off x="987552" y="5093208"/>
            <a:ext cx="384048" cy="256032"/>
          </a:xfrm>
          <a:prstGeom prst="rect">
            <a:avLst/>
          </a:prstGeom>
          <a:noFill/>
        </p:spPr>
        <p:txBody>
          <a:bodyPr wrap="square" anchor="t">
            <a:spAutoFit/>
          </a:bodyPr>
          <a:lstStyle/>
          <a:p>
            <a:pPr algn="r">
              <a:spcAft>
                <a:spcPts val="400"/>
              </a:spcAft>
            </a:pPr>
            <a:r>
              <a:rPr sz="1000" b="0">
                <a:solidFill>
                  <a:srgbClr val="5B6372"/>
                </a:solidFill>
                <a:latin typeface="Arial"/>
              </a:rPr>
              <a:t>10</a:t>
            </a:r>
          </a:p>
        </p:txBody>
      </p:sp>
      <p:sp>
        <p:nvSpPr>
          <p:cNvPr id="27" name="TextBox 26"/>
          <p:cNvSpPr txBox="1"/>
          <p:nvPr/>
        </p:nvSpPr>
        <p:spPr>
          <a:xfrm>
            <a:off x="1572768" y="5093208"/>
            <a:ext cx="9372600" cy="274320"/>
          </a:xfrm>
          <a:prstGeom prst="rect">
            <a:avLst/>
          </a:prstGeom>
          <a:noFill/>
        </p:spPr>
        <p:txBody>
          <a:bodyPr wrap="square" anchor="t">
            <a:spAutoFit/>
          </a:bodyPr>
          <a:lstStyle/>
          <a:p>
            <a:pPr algn="l">
              <a:spcAft>
                <a:spcPts val="400"/>
              </a:spcAft>
            </a:pPr>
            <a:r>
              <a:rPr sz="1250" b="0">
                <a:solidFill>
                  <a:srgbClr val="7C3AED"/>
                </a:solidFill>
                <a:latin typeface="Arial"/>
              </a:rPr>
              <a:t>Style: professional, high contrast and accessible</a:t>
            </a:r>
          </a:p>
        </p:txBody>
      </p:sp>
      <p:sp>
        <p:nvSpPr>
          <p:cNvPr id="28" name="TextBox 27"/>
          <p:cNvSpPr txBox="1"/>
          <p:nvPr/>
        </p:nvSpPr>
        <p:spPr>
          <a:xfrm>
            <a:off x="987552" y="5413248"/>
            <a:ext cx="384048" cy="256032"/>
          </a:xfrm>
          <a:prstGeom prst="rect">
            <a:avLst/>
          </a:prstGeom>
          <a:noFill/>
        </p:spPr>
        <p:txBody>
          <a:bodyPr wrap="square" anchor="t">
            <a:spAutoFit/>
          </a:bodyPr>
          <a:lstStyle/>
          <a:p>
            <a:pPr algn="r">
              <a:spcAft>
                <a:spcPts val="400"/>
              </a:spcAft>
            </a:pPr>
            <a:r>
              <a:rPr sz="1000" b="0">
                <a:solidFill>
                  <a:srgbClr val="5B6372"/>
                </a:solidFill>
                <a:latin typeface="Arial"/>
              </a:rPr>
              <a:t>11</a:t>
            </a:r>
          </a:p>
        </p:txBody>
      </p:sp>
      <p:sp>
        <p:nvSpPr>
          <p:cNvPr id="29" name="TextBox 28"/>
          <p:cNvSpPr txBox="1"/>
          <p:nvPr/>
        </p:nvSpPr>
        <p:spPr>
          <a:xfrm>
            <a:off x="1572768" y="5413248"/>
            <a:ext cx="9372600" cy="274320"/>
          </a:xfrm>
          <a:prstGeom prst="rect">
            <a:avLst/>
          </a:prstGeom>
          <a:noFill/>
        </p:spPr>
        <p:txBody>
          <a:bodyPr wrap="square" anchor="t">
            <a:spAutoFit/>
          </a:bodyPr>
          <a:lstStyle/>
          <a:p>
            <a:pPr algn="l">
              <a:spcAft>
                <a:spcPts val="400"/>
              </a:spcAft>
            </a:pPr>
            <a:r>
              <a:rPr sz="1250" b="0">
                <a:solidFill>
                  <a:srgbClr val="7C3AED"/>
                </a:solidFill>
                <a:latin typeface="Arial"/>
              </a:rPr>
              <a:t>Source rule: use only the attached approved policy; do not invent facts</a:t>
            </a:r>
          </a:p>
        </p:txBody>
      </p:sp>
      <p:sp>
        <p:nvSpPr>
          <p:cNvPr id="30" name="TextBox 29"/>
          <p:cNvSpPr txBox="1"/>
          <p:nvPr/>
        </p:nvSpPr>
        <p:spPr>
          <a:xfrm>
            <a:off x="777240" y="6089904"/>
            <a:ext cx="10607040" cy="201168"/>
          </a:xfrm>
          <a:prstGeom prst="rect">
            <a:avLst/>
          </a:prstGeom>
          <a:noFill/>
        </p:spPr>
        <p:txBody>
          <a:bodyPr wrap="square" anchor="t">
            <a:spAutoFit/>
          </a:bodyPr>
          <a:lstStyle/>
          <a:p>
            <a:pPr algn="l">
              <a:spcAft>
                <a:spcPts val="400"/>
              </a:spcAft>
            </a:pPr>
            <a:r>
              <a:rPr sz="850" b="0">
                <a:solidFill>
                  <a:srgbClr val="5B6372"/>
                </a:solidFill>
                <a:latin typeface="Arial"/>
              </a:rPr>
              <a:t>Pattern adapted from the user-supplied Microsoft 365 Copilot example; factual controls added for training use.</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49</a:t>
            </a:r>
          </a:p>
        </p:txBody>
      </p:sp>
    </p:spTree>
  </p:cSld>
  <p:clrMapOvr>
    <a:masterClrMapping/>
  </p:clrMapOvr>
  <p:transition spd="fast" advClick="1">
    <p:fade/>
  </p:transition>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CREATE · DESIGN AN INFOGRAPHIC</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Microsoft 365 Copilot — Creation Controls</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0" name="TextBox 9"/>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Describe</a:t>
            </a:r>
          </a:p>
          <a:p>
            <a:pPr algn="l">
              <a:spcAft>
                <a:spcPts val="300"/>
              </a:spcAft>
            </a:pPr>
            <a:r>
              <a:rPr sz="1100" b="0">
                <a:solidFill>
                  <a:srgbClr val="5B6372"/>
                </a:solidFill>
                <a:latin typeface="Arial"/>
              </a:rPr>
              <a:t>State type, topic, sections, audience, decision, style and source constraints.</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5" name="TextBox 14"/>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Add content</a:t>
            </a:r>
          </a:p>
          <a:p>
            <a:pPr algn="l">
              <a:spcAft>
                <a:spcPts val="300"/>
              </a:spcAft>
            </a:pPr>
            <a:r>
              <a:rPr sz="1100" b="0">
                <a:solidFill>
                  <a:srgbClr val="5B6372"/>
                </a:solidFill>
                <a:latin typeface="Arial"/>
              </a:rPr>
              <a:t>Upload only approved content when the feature and policy allow it.</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0" name="TextBox 19"/>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Brand and color</a:t>
            </a:r>
          </a:p>
          <a:p>
            <a:pPr algn="l">
              <a:spcAft>
                <a:spcPts val="300"/>
              </a:spcAft>
            </a:pPr>
            <a:r>
              <a:rPr sz="1100" b="0">
                <a:solidFill>
                  <a:srgbClr val="5B6372"/>
                </a:solidFill>
                <a:latin typeface="Arial"/>
              </a:rPr>
              <a:t>Use an approved brand kit or a controlled palette.</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5" name="TextBox 24"/>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Orientation</a:t>
            </a:r>
          </a:p>
          <a:p>
            <a:pPr algn="l">
              <a:spcAft>
                <a:spcPts val="300"/>
              </a:spcAft>
            </a:pPr>
            <a:r>
              <a:rPr sz="1100" b="0">
                <a:solidFill>
                  <a:srgbClr val="5B6372"/>
                </a:solidFill>
                <a:latin typeface="Arial"/>
              </a:rPr>
              <a:t>Choose Portrait for one-page reading or Wide for a presentation slide.</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0" name="TextBox 29"/>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Create</a:t>
            </a:r>
          </a:p>
          <a:p>
            <a:pPr algn="l">
              <a:spcAft>
                <a:spcPts val="300"/>
              </a:spcAft>
            </a:pPr>
            <a:r>
              <a:rPr sz="1100" b="0">
                <a:solidFill>
                  <a:srgbClr val="5B6372"/>
                </a:solidFill>
                <a:latin typeface="Arial"/>
              </a:rPr>
              <a:t>Generate options, inspect the result and keep the strongest direction.</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5" name="TextBox 34"/>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Edit or download</a:t>
            </a:r>
          </a:p>
          <a:p>
            <a:pPr algn="l">
              <a:spcAft>
                <a:spcPts val="300"/>
              </a:spcAft>
            </a:pPr>
            <a:r>
              <a:rPr sz="1100" b="0">
                <a:solidFill>
                  <a:srgbClr val="5B6372"/>
                </a:solidFill>
                <a:latin typeface="Arial"/>
              </a:rPr>
              <a:t>Correct facts, refine hierarchy and bring the accountable master into PowerPoint.</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50</a:t>
            </a:r>
          </a:p>
        </p:txBody>
      </p:sp>
    </p:spTree>
  </p:cSld>
  <p:clrMapOvr>
    <a:masterClrMapping/>
  </p:clrMapOvr>
  <p:transition spd="fast" advClick="1">
    <p:fade/>
  </p:transition>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DEMONSTRATION GALLERY</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Twelve Workplace Infographic Use Cases</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Statistical · comparison · timeline · process · cycle · funnel · hierarchy · mind map · geographic · before/after · scorecard · decision matrix</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12</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51</a:t>
            </a:r>
          </a:p>
        </p:txBody>
      </p:sp>
    </p:spTree>
  </p:cSld>
  <p:clrMapOvr>
    <a:masterClrMapping/>
  </p:clrMapOvr>
  <p:transition spd="fast" advClick="1">
    <p:fade/>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350"/>
                                        <p:tgtEl>
                                          <p:spTgt spid="4"/>
                                        </p:tgtEl>
                                      </p:cBhvr>
                                    </p:animEffect>
                                    <p:anim calcmode="lin" valueType="num">
                                      <p:cBhvr additive="base">
                                        <p:cTn id="15" dur="350" fill="hold"/>
                                        <p:tgtEl>
                                          <p:spTgt spid="4"/>
                                        </p:tgtEl>
                                        <p:attrNameLst>
                                          <p:attrName>ppt_y</p:attrName>
                                        </p:attrNameLst>
                                      </p:cBhvr>
                                      <p:tavLst>
                                        <p:tav tm="0">
                                          <p:val>
                                            <p:strVal val="#ppt_y+0.0350"/>
                                          </p:val>
                                        </p:tav>
                                        <p:tav tm="100000">
                                          <p:val>
                                            <p:strVal val="#ppt_y"/>
                                          </p:val>
                                        </p:tav>
                                      </p:tavLst>
                                    </p:anim>
                                  </p:childTnLst>
                                </p:cTn>
                              </p:par>
                            </p:childTnLst>
                          </p:cTn>
                        </p:par>
                      </p:childTnLst>
                    </p:cTn>
                  </p:par>
                  <p:par>
                    <p:cTn id="20" fill="hold">
                      <p:stCondLst>
                        <p:cond delay="0"/>
                      </p:stCondLst>
                      <p:childTnLst>
                        <p:par>
                          <p:cTn id="21" fill="hold">
                            <p:stCondLst>
                              <p:cond delay="0"/>
                            </p:stCondLst>
                            <p:childTnLst>
                              <p:par>
                                <p:cTn id="22" presetID="10" presetClass="entr" presetSubtype="0" fill="hold" grpId="0" nodeType="afterEffect">
                                  <p:stCondLst>
                                    <p:cond delay="0"/>
                                  </p:stCondLst>
                                  <p:childTnLst>
                                    <p:set>
                                      <p:cBhvr>
                                        <p:cTn id="23" dur="1" fill="hold">
                                          <p:stCondLst>
                                            <p:cond delay="0"/>
                                          </p:stCondLst>
                                        </p:cTn>
                                        <p:tgtEl>
                                          <p:spTgt spid="5"/>
                                        </p:tgtEl>
                                        <p:attrNameLst>
                                          <p:attrName>style.visibility</p:attrName>
                                        </p:attrNameLst>
                                      </p:cBhvr>
                                      <p:to>
                                        <p:strVal val="visible"/>
                                      </p:to>
                                    </p:set>
                                    <p:animEffect transition="in" filter="fade">
                                      <p:cBhvr>
                                        <p:cTn id="24" dur="350"/>
                                        <p:tgtEl>
                                          <p:spTgt spid="5"/>
                                        </p:tgtEl>
                                      </p:cBhvr>
                                    </p:animEffect>
                                    <p:anim calcmode="lin" valueType="num">
                                      <p:cBhvr additive="base">
                                        <p:cTn id="25" dur="350" fill="hold"/>
                                        <p:tgtEl>
                                          <p:spTgt spid="5"/>
                                        </p:tgtEl>
                                        <p:attrNameLst>
                                          <p:attrName>ppt_y</p:attrName>
                                        </p:attrNameLst>
                                      </p:cBhvr>
                                      <p:tavLst>
                                        <p:tav tm="0">
                                          <p:val>
                                            <p:strVal val="#ppt_y+0.0350"/>
                                          </p:val>
                                        </p:tav>
                                        <p:tav tm="100000">
                                          <p:val>
                                            <p:strVal val="#ppt_y"/>
                                          </p:val>
                                        </p:tav>
                                      </p:tavLst>
                                    </p:anim>
                                  </p:childTnLst>
                                </p:cTn>
                              </p:par>
                            </p:childTnLst>
                          </p:cTn>
                        </p:par>
                      </p:childTnLst>
                    </p:cTn>
                  </p:par>
                  <p:par>
                    <p:cTn id="30" fill="hold">
                      <p:stCondLst>
                        <p:cond delay="0"/>
                      </p:stCondLst>
                      <p:childTnLst>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6"/>
                                        </p:tgtEl>
                                        <p:attrNameLst>
                                          <p:attrName>style.visibility</p:attrName>
                                        </p:attrNameLst>
                                      </p:cBhvr>
                                      <p:to>
                                        <p:strVal val="visible"/>
                                      </p:to>
                                    </p:set>
                                    <p:animEffect transition="in" filter="fade">
                                      <p:cBhvr>
                                        <p:cTn id="34" dur="350"/>
                                        <p:tgtEl>
                                          <p:spTgt spid="6"/>
                                        </p:tgtEl>
                                      </p:cBhvr>
                                    </p:animEffect>
                                    <p:anim calcmode="lin" valueType="num">
                                      <p:cBhvr additive="base">
                                        <p:cTn id="35" dur="350" fill="hold"/>
                                        <p:tgtEl>
                                          <p:spTgt spid="6"/>
                                        </p:tgtEl>
                                        <p:attrNameLst>
                                          <p:attrName>ppt_y</p:attrName>
                                        </p:attrNameLst>
                                      </p:cBhvr>
                                      <p:tavLst>
                                        <p:tav tm="0">
                                          <p:val>
                                            <p:strVal val="#ppt_y+0.0350"/>
                                          </p:val>
                                        </p:tav>
                                        <p:tav tm="100000">
                                          <p:val>
                                            <p:strVal val="#ppt_y"/>
                                          </p:val>
                                        </p:tav>
                                      </p:tavLst>
                                    </p:anim>
                                  </p:childTnLst>
                                </p:cTn>
                              </p:par>
                            </p:childTnLst>
                          </p:cTn>
                        </p:par>
                      </p:childTnLst>
                    </p:cTn>
                  </p:par>
                  <p:par>
                    <p:cTn id="40" fill="hold">
                      <p:stCondLst>
                        <p:cond delay="0"/>
                      </p:stCondLst>
                      <p:childTnLst>
                        <p:par>
                          <p:cTn id="41" fill="hold">
                            <p:stCondLst>
                              <p:cond delay="0"/>
                            </p:stCondLst>
                            <p:childTnLst>
                              <p:par>
                                <p:cTn id="42" presetID="10" presetClass="entr" presetSubtype="0" fill="hold" grpId="0" nodeType="afterEffect">
                                  <p:stCondLst>
                                    <p:cond delay="0"/>
                                  </p:stCondLst>
                                  <p:childTnLst>
                                    <p:set>
                                      <p:cBhvr>
                                        <p:cTn id="43" dur="1" fill="hold">
                                          <p:stCondLst>
                                            <p:cond delay="0"/>
                                          </p:stCondLst>
                                        </p:cTn>
                                        <p:tgtEl>
                                          <p:spTgt spid="7"/>
                                        </p:tgtEl>
                                        <p:attrNameLst>
                                          <p:attrName>style.visibility</p:attrName>
                                        </p:attrNameLst>
                                      </p:cBhvr>
                                      <p:to>
                                        <p:strVal val="visible"/>
                                      </p:to>
                                    </p:set>
                                    <p:animEffect transition="in" filter="fade">
                                      <p:cBhvr>
                                        <p:cTn id="44" dur="350"/>
                                        <p:tgtEl>
                                          <p:spTgt spid="7"/>
                                        </p:tgtEl>
                                      </p:cBhvr>
                                    </p:animEffect>
                                    <p:anim calcmode="lin" valueType="num">
                                      <p:cBhvr additive="base">
                                        <p:cTn id="45" dur="350" fill="hold"/>
                                        <p:tgtEl>
                                          <p:spTgt spid="7"/>
                                        </p:tgtEl>
                                        <p:attrNameLst>
                                          <p:attrName>ppt_y</p:attrName>
                                        </p:attrNameLst>
                                      </p:cBhvr>
                                      <p:tavLst>
                                        <p:tav tm="0">
                                          <p:val>
                                            <p:strVal val="#ppt_y+0.0350"/>
                                          </p:val>
                                        </p:tav>
                                        <p:tav tm="100000">
                                          <p:val>
                                            <p:strVal val="#ppt_y"/>
                                          </p:val>
                                        </p:tav>
                                      </p:tavLst>
                                    </p:anim>
                                  </p:childTnLst>
                                </p:cTn>
                              </p:par>
                            </p:childTnLst>
                          </p:cTn>
                        </p:par>
                      </p:childTnLst>
                    </p:cTn>
                  </p:par>
                </p:childTnLst>
                <p:prevCondLst>
                  <p:cond evt="onPrev" delay="0">
                    <p:tgtEl>
                      <p:sldTgt/>
                    </p:tgtEl>
                  </p:cond>
                </p:prevCondLst>
                <p:nextCondLst>
                  <p:cond evt="onNext" delay="0">
                    <p:tgtEl>
                      <p:sldTgt/>
                    </p:tgtEl>
                  </p:cond>
                </p:nextCondLst>
              </p:cTn>
            </p:seq>
          </p:childTnLst>
        </p:cTn>
      </p:par>
    </p:tnLst>
  </p:timing>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REALISTIC WORKPLACE DEMO 01 · STATISTICAL DASHBOARD</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100" b="1">
                <a:solidFill>
                  <a:srgbClr val="161B26"/>
                </a:solidFill>
                <a:latin typeface="Arial"/>
              </a:rPr>
              <a:t>Customer satisfaction needs a first-time buyer intervention</a:t>
            </a:r>
          </a:p>
        </p:txBody>
      </p:sp>
      <p:sp>
        <p:nvSpPr>
          <p:cNvPr id="6" name="TextBox 5"/>
          <p:cNvSpPr txBox="1"/>
          <p:nvPr/>
        </p:nvSpPr>
        <p:spPr>
          <a:xfrm>
            <a:off x="795528" y="1664208"/>
            <a:ext cx="10607040" cy="365760"/>
          </a:xfrm>
          <a:prstGeom prst="rect">
            <a:avLst/>
          </a:prstGeom>
          <a:noFill/>
        </p:spPr>
        <p:txBody>
          <a:bodyPr wrap="square" anchor="t">
            <a:spAutoFit/>
          </a:bodyPr>
          <a:lstStyle/>
          <a:p>
            <a:pPr algn="l">
              <a:spcAft>
                <a:spcPts val="400"/>
              </a:spcAft>
            </a:pPr>
            <a:r>
              <a:rPr sz="1300" b="0">
                <a:solidFill>
                  <a:srgbClr val="5B6372"/>
                </a:solidFill>
                <a:latin typeface="Arial"/>
              </a:rPr>
              <a:t>Retail customer experience · synthetic training data, not operational evidence</a:t>
            </a:r>
          </a:p>
        </p:txBody>
      </p:sp>
      <p:sp>
        <p:nvSpPr>
          <p:cNvPr id="7" name="Rectangle 6"/>
          <p:cNvSpPr/>
          <p:nvPr/>
        </p:nvSpPr>
        <p:spPr>
          <a:xfrm>
            <a:off x="777240" y="2331720"/>
            <a:ext cx="2466594" cy="2468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2466594"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788920"/>
            <a:ext cx="2466594" cy="822960"/>
          </a:xfrm>
          <a:prstGeom prst="rect">
            <a:avLst/>
          </a:prstGeom>
          <a:noFill/>
        </p:spPr>
        <p:txBody>
          <a:bodyPr wrap="square" anchor="t">
            <a:spAutoFit/>
          </a:bodyPr>
          <a:lstStyle/>
          <a:p>
            <a:pPr algn="ctr">
              <a:spcAft>
                <a:spcPts val="400"/>
              </a:spcAft>
            </a:pPr>
            <a:r>
              <a:rPr sz="2800" b="1">
                <a:solidFill>
                  <a:srgbClr val="1F6FEB"/>
                </a:solidFill>
                <a:latin typeface="Arial"/>
              </a:rPr>
              <a:t>78%</a:t>
            </a:r>
          </a:p>
        </p:txBody>
      </p:sp>
      <p:sp>
        <p:nvSpPr>
          <p:cNvPr id="10" name="TextBox 9"/>
          <p:cNvSpPr txBox="1"/>
          <p:nvPr/>
        </p:nvSpPr>
        <p:spPr>
          <a:xfrm>
            <a:off x="923544" y="3794760"/>
            <a:ext cx="2173986" cy="640080"/>
          </a:xfrm>
          <a:prstGeom prst="rect">
            <a:avLst/>
          </a:prstGeom>
          <a:noFill/>
        </p:spPr>
        <p:txBody>
          <a:bodyPr wrap="square" anchor="t">
            <a:spAutoFit/>
          </a:bodyPr>
          <a:lstStyle/>
          <a:p>
            <a:pPr algn="ctr">
              <a:spcAft>
                <a:spcPts val="400"/>
              </a:spcAft>
            </a:pPr>
            <a:r>
              <a:rPr sz="1150" b="0">
                <a:solidFill>
                  <a:srgbClr val="161B26"/>
                </a:solidFill>
                <a:latin typeface="Arial"/>
              </a:rPr>
              <a:t>overall satisfaction</a:t>
            </a:r>
          </a:p>
        </p:txBody>
      </p:sp>
      <p:sp>
        <p:nvSpPr>
          <p:cNvPr id="11" name="Rectangle 10"/>
          <p:cNvSpPr/>
          <p:nvPr/>
        </p:nvSpPr>
        <p:spPr>
          <a:xfrm>
            <a:off x="3499866" y="2331720"/>
            <a:ext cx="2466594" cy="2468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499866" y="2331720"/>
            <a:ext cx="2466594"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499866" y="2788920"/>
            <a:ext cx="2466594" cy="822960"/>
          </a:xfrm>
          <a:prstGeom prst="rect">
            <a:avLst/>
          </a:prstGeom>
          <a:noFill/>
        </p:spPr>
        <p:txBody>
          <a:bodyPr wrap="square" anchor="t">
            <a:spAutoFit/>
          </a:bodyPr>
          <a:lstStyle/>
          <a:p>
            <a:pPr algn="ctr">
              <a:spcAft>
                <a:spcPts val="400"/>
              </a:spcAft>
            </a:pPr>
            <a:r>
              <a:rPr sz="2800" b="1">
                <a:solidFill>
                  <a:srgbClr val="10B981"/>
                </a:solidFill>
                <a:latin typeface="Arial"/>
              </a:rPr>
              <a:t>69%</a:t>
            </a:r>
          </a:p>
        </p:txBody>
      </p:sp>
      <p:sp>
        <p:nvSpPr>
          <p:cNvPr id="14" name="TextBox 13"/>
          <p:cNvSpPr txBox="1"/>
          <p:nvPr/>
        </p:nvSpPr>
        <p:spPr>
          <a:xfrm>
            <a:off x="3646170" y="3794760"/>
            <a:ext cx="2173986" cy="640080"/>
          </a:xfrm>
          <a:prstGeom prst="rect">
            <a:avLst/>
          </a:prstGeom>
          <a:noFill/>
        </p:spPr>
        <p:txBody>
          <a:bodyPr wrap="square" anchor="t">
            <a:spAutoFit/>
          </a:bodyPr>
          <a:lstStyle/>
          <a:p>
            <a:pPr algn="ctr">
              <a:spcAft>
                <a:spcPts val="400"/>
              </a:spcAft>
            </a:pPr>
            <a:r>
              <a:rPr sz="1150" b="0">
                <a:solidFill>
                  <a:srgbClr val="161B26"/>
                </a:solidFill>
                <a:latin typeface="Arial"/>
              </a:rPr>
              <a:t>first-time buyers</a:t>
            </a:r>
          </a:p>
        </p:txBody>
      </p:sp>
      <p:sp>
        <p:nvSpPr>
          <p:cNvPr id="15" name="Rectangle 14"/>
          <p:cNvSpPr/>
          <p:nvPr/>
        </p:nvSpPr>
        <p:spPr>
          <a:xfrm>
            <a:off x="6222492" y="2331720"/>
            <a:ext cx="2466594" cy="2468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22492" y="2331720"/>
            <a:ext cx="2466594"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22492" y="2788920"/>
            <a:ext cx="2466594" cy="822960"/>
          </a:xfrm>
          <a:prstGeom prst="rect">
            <a:avLst/>
          </a:prstGeom>
          <a:noFill/>
        </p:spPr>
        <p:txBody>
          <a:bodyPr wrap="square" anchor="t">
            <a:spAutoFit/>
          </a:bodyPr>
          <a:lstStyle/>
          <a:p>
            <a:pPr algn="ctr">
              <a:spcAft>
                <a:spcPts val="400"/>
              </a:spcAft>
            </a:pPr>
            <a:r>
              <a:rPr sz="2800" b="1">
                <a:solidFill>
                  <a:srgbClr val="7C3AED"/>
                </a:solidFill>
                <a:latin typeface="Arial"/>
              </a:rPr>
              <a:t>86%</a:t>
            </a:r>
          </a:p>
        </p:txBody>
      </p:sp>
      <p:sp>
        <p:nvSpPr>
          <p:cNvPr id="18" name="TextBox 17"/>
          <p:cNvSpPr txBox="1"/>
          <p:nvPr/>
        </p:nvSpPr>
        <p:spPr>
          <a:xfrm>
            <a:off x="6368796" y="3794760"/>
            <a:ext cx="2173986" cy="640080"/>
          </a:xfrm>
          <a:prstGeom prst="rect">
            <a:avLst/>
          </a:prstGeom>
          <a:noFill/>
        </p:spPr>
        <p:txBody>
          <a:bodyPr wrap="square" anchor="t">
            <a:spAutoFit/>
          </a:bodyPr>
          <a:lstStyle/>
          <a:p>
            <a:pPr algn="ctr">
              <a:spcAft>
                <a:spcPts val="400"/>
              </a:spcAft>
            </a:pPr>
            <a:r>
              <a:rPr sz="1150" b="0">
                <a:solidFill>
                  <a:srgbClr val="161B26"/>
                </a:solidFill>
                <a:latin typeface="Arial"/>
              </a:rPr>
              <a:t>repeat buyers</a:t>
            </a:r>
          </a:p>
        </p:txBody>
      </p:sp>
      <p:sp>
        <p:nvSpPr>
          <p:cNvPr id="19" name="Rectangle 18"/>
          <p:cNvSpPr/>
          <p:nvPr/>
        </p:nvSpPr>
        <p:spPr>
          <a:xfrm>
            <a:off x="8945118" y="2331720"/>
            <a:ext cx="2466594" cy="2468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945118" y="2331720"/>
            <a:ext cx="2466594" cy="1097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945118" y="2788920"/>
            <a:ext cx="2466594" cy="822960"/>
          </a:xfrm>
          <a:prstGeom prst="rect">
            <a:avLst/>
          </a:prstGeom>
          <a:noFill/>
        </p:spPr>
        <p:txBody>
          <a:bodyPr wrap="square" anchor="t">
            <a:spAutoFit/>
          </a:bodyPr>
          <a:lstStyle/>
          <a:p>
            <a:pPr algn="ctr">
              <a:spcAft>
                <a:spcPts val="400"/>
              </a:spcAft>
            </a:pPr>
            <a:r>
              <a:rPr sz="2800" b="1">
                <a:solidFill>
                  <a:srgbClr val="F59E0B"/>
                </a:solidFill>
                <a:latin typeface="Arial"/>
              </a:rPr>
              <a:t>+17 pts</a:t>
            </a:r>
          </a:p>
        </p:txBody>
      </p:sp>
      <p:sp>
        <p:nvSpPr>
          <p:cNvPr id="22" name="TextBox 21"/>
          <p:cNvSpPr txBox="1"/>
          <p:nvPr/>
        </p:nvSpPr>
        <p:spPr>
          <a:xfrm>
            <a:off x="9091422" y="3794760"/>
            <a:ext cx="2173986" cy="640080"/>
          </a:xfrm>
          <a:prstGeom prst="rect">
            <a:avLst/>
          </a:prstGeom>
          <a:noFill/>
        </p:spPr>
        <p:txBody>
          <a:bodyPr wrap="square" anchor="t">
            <a:spAutoFit/>
          </a:bodyPr>
          <a:lstStyle/>
          <a:p>
            <a:pPr algn="ctr">
              <a:spcAft>
                <a:spcPts val="400"/>
              </a:spcAft>
            </a:pPr>
            <a:r>
              <a:rPr sz="1150" b="0">
                <a:solidFill>
                  <a:srgbClr val="161B26"/>
                </a:solidFill>
                <a:latin typeface="Arial"/>
              </a:rPr>
              <a:t>experience gap</a:t>
            </a:r>
          </a:p>
        </p:txBody>
      </p:sp>
      <p:sp>
        <p:nvSpPr>
          <p:cNvPr id="23" name="Rectangle 22"/>
          <p:cNvSpPr/>
          <p:nvPr/>
        </p:nvSpPr>
        <p:spPr>
          <a:xfrm>
            <a:off x="777240" y="5321808"/>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77240" y="5321808"/>
            <a:ext cx="91440" cy="6583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97280" y="5321808"/>
            <a:ext cx="10058400" cy="658368"/>
          </a:xfrm>
          <a:prstGeom prst="rect">
            <a:avLst/>
          </a:prstGeom>
          <a:noFill/>
        </p:spPr>
        <p:txBody>
          <a:bodyPr wrap="square" anchor="ctr">
            <a:spAutoFit/>
          </a:bodyPr>
          <a:lstStyle/>
          <a:p>
            <a:pPr algn="l">
              <a:spcAft>
                <a:spcPts val="400"/>
              </a:spcAft>
            </a:pPr>
            <a:r>
              <a:rPr sz="1250" b="1">
                <a:solidFill>
                  <a:srgbClr val="161B26"/>
                </a:solidFill>
                <a:latin typeface="Arial"/>
              </a:rPr>
              <a:t>Test a first-purchase onboarding message before changing the full service model.</a:t>
            </a:r>
          </a:p>
        </p:txBody>
      </p:sp>
      <p:sp>
        <p:nvSpPr>
          <p:cNvPr id="26" name="TextBox 25"/>
          <p:cNvSpPr txBox="1"/>
          <p:nvPr/>
        </p:nvSpPr>
        <p:spPr>
          <a:xfrm>
            <a:off x="777240" y="6089904"/>
            <a:ext cx="10607040" cy="201168"/>
          </a:xfrm>
          <a:prstGeom prst="rect">
            <a:avLst/>
          </a:prstGeom>
          <a:noFill/>
        </p:spPr>
        <p:txBody>
          <a:bodyPr wrap="square" anchor="t">
            <a:spAutoFit/>
          </a:bodyPr>
          <a:lstStyle/>
          <a:p>
            <a:pPr algn="l">
              <a:spcAft>
                <a:spcPts val="400"/>
              </a:spcAft>
            </a:pPr>
            <a:r>
              <a:rPr sz="850" b="0">
                <a:solidFill>
                  <a:srgbClr val="5B6372"/>
                </a:solidFill>
                <a:latin typeface="Arial"/>
              </a:rPr>
              <a:t>Source: realistic synthetic training scenario created for this course.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52</a:t>
            </a:r>
          </a:p>
        </p:txBody>
      </p:sp>
    </p:spTree>
  </p:cSld>
  <p:clrMapOvr>
    <a:masterClrMapping/>
  </p:clrMapOvr>
  <p:transition spd="fast" advClick="1">
    <p:fade/>
  </p:transition>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REALISTIC WORKPLACE DEMO 02 · COMPARISON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Ready Meals combines growth with margin</a:t>
            </a:r>
          </a:p>
        </p:txBody>
      </p:sp>
      <p:sp>
        <p:nvSpPr>
          <p:cNvPr id="6" name="TextBox 5"/>
          <p:cNvSpPr txBox="1"/>
          <p:nvPr/>
        </p:nvSpPr>
        <p:spPr>
          <a:xfrm>
            <a:off x="795528" y="1664208"/>
            <a:ext cx="10607040" cy="365760"/>
          </a:xfrm>
          <a:prstGeom prst="rect">
            <a:avLst/>
          </a:prstGeom>
          <a:noFill/>
        </p:spPr>
        <p:txBody>
          <a:bodyPr wrap="square" anchor="t">
            <a:spAutoFit/>
          </a:bodyPr>
          <a:lstStyle/>
          <a:p>
            <a:pPr algn="l">
              <a:spcAft>
                <a:spcPts val="400"/>
              </a:spcAft>
            </a:pPr>
            <a:r>
              <a:rPr sz="1300" b="0">
                <a:solidFill>
                  <a:srgbClr val="5B6372"/>
                </a:solidFill>
                <a:latin typeface="Arial"/>
              </a:rPr>
              <a:t>Category promotion decision · synthetic training data, not operational evidence</a:t>
            </a:r>
          </a:p>
        </p:txBody>
      </p:sp>
      <p:sp>
        <p:nvSpPr>
          <p:cNvPr id="7" name="Rectangle 6"/>
          <p:cNvSpPr/>
          <p:nvPr/>
        </p:nvSpPr>
        <p:spPr>
          <a:xfrm>
            <a:off x="868680" y="2057400"/>
            <a:ext cx="4983480" cy="2880360"/>
          </a:xfrm>
          <a:prstGeom prst="rect">
            <a:avLst/>
          </a:prstGeom>
          <a:solidFill>
            <a:srgbClr val="F5F8FC"/>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68680" y="2057400"/>
            <a:ext cx="4983480" cy="5303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157984"/>
            <a:ext cx="4983480" cy="320040"/>
          </a:xfrm>
          <a:prstGeom prst="rect">
            <a:avLst/>
          </a:prstGeom>
          <a:noFill/>
        </p:spPr>
        <p:txBody>
          <a:bodyPr wrap="square" anchor="t">
            <a:spAutoFit/>
          </a:bodyPr>
          <a:lstStyle/>
          <a:p>
            <a:pPr algn="ctr">
              <a:spcAft>
                <a:spcPts val="400"/>
              </a:spcAft>
            </a:pPr>
            <a:r>
              <a:rPr sz="1600" b="1">
                <a:solidFill>
                  <a:srgbClr val="FFFFFF"/>
                </a:solidFill>
                <a:latin typeface="Arial"/>
              </a:rPr>
              <a:t>Ready Meals</a:t>
            </a:r>
          </a:p>
        </p:txBody>
      </p:sp>
      <p:sp>
        <p:nvSpPr>
          <p:cNvPr id="10" name="TextBox 9"/>
          <p:cNvSpPr txBox="1"/>
          <p:nvPr/>
        </p:nvSpPr>
        <p:spPr>
          <a:xfrm>
            <a:off x="1124712" y="2816352"/>
            <a:ext cx="1325880" cy="438912"/>
          </a:xfrm>
          <a:prstGeom prst="rect">
            <a:avLst/>
          </a:prstGeom>
          <a:noFill/>
        </p:spPr>
        <p:txBody>
          <a:bodyPr wrap="square" anchor="t">
            <a:spAutoFit/>
          </a:bodyPr>
          <a:lstStyle/>
          <a:p>
            <a:pPr algn="r">
              <a:spcAft>
                <a:spcPts val="400"/>
              </a:spcAft>
            </a:pPr>
            <a:r>
              <a:rPr sz="2000" b="1">
                <a:solidFill>
                  <a:srgbClr val="10B981"/>
                </a:solidFill>
                <a:latin typeface="Arial"/>
              </a:rPr>
              <a:t>18%</a:t>
            </a:r>
          </a:p>
        </p:txBody>
      </p:sp>
      <p:sp>
        <p:nvSpPr>
          <p:cNvPr id="11" name="TextBox 10"/>
          <p:cNvSpPr txBox="1"/>
          <p:nvPr/>
        </p:nvSpPr>
        <p:spPr>
          <a:xfrm>
            <a:off x="2624328" y="2862072"/>
            <a:ext cx="2880360" cy="384048"/>
          </a:xfrm>
          <a:prstGeom prst="rect">
            <a:avLst/>
          </a:prstGeom>
          <a:noFill/>
        </p:spPr>
        <p:txBody>
          <a:bodyPr wrap="square" anchor="t">
            <a:spAutoFit/>
          </a:bodyPr>
          <a:lstStyle/>
          <a:p>
            <a:pPr algn="l">
              <a:spcAft>
                <a:spcPts val="400"/>
              </a:spcAft>
            </a:pPr>
            <a:r>
              <a:rPr sz="1150" b="0">
                <a:solidFill>
                  <a:srgbClr val="161B26"/>
                </a:solidFill>
                <a:latin typeface="Arial"/>
              </a:rPr>
              <a:t>Q2 growth</a:t>
            </a:r>
          </a:p>
        </p:txBody>
      </p:sp>
      <p:sp>
        <p:nvSpPr>
          <p:cNvPr id="12" name="TextBox 11"/>
          <p:cNvSpPr txBox="1"/>
          <p:nvPr/>
        </p:nvSpPr>
        <p:spPr>
          <a:xfrm>
            <a:off x="1124712" y="3456432"/>
            <a:ext cx="1325880" cy="438912"/>
          </a:xfrm>
          <a:prstGeom prst="rect">
            <a:avLst/>
          </a:prstGeom>
          <a:noFill/>
        </p:spPr>
        <p:txBody>
          <a:bodyPr wrap="square" anchor="t">
            <a:spAutoFit/>
          </a:bodyPr>
          <a:lstStyle/>
          <a:p>
            <a:pPr algn="r">
              <a:spcAft>
                <a:spcPts val="400"/>
              </a:spcAft>
            </a:pPr>
            <a:r>
              <a:rPr sz="2000" b="1">
                <a:solidFill>
                  <a:srgbClr val="10B981"/>
                </a:solidFill>
                <a:latin typeface="Arial"/>
              </a:rPr>
              <a:t>32%</a:t>
            </a:r>
          </a:p>
        </p:txBody>
      </p:sp>
      <p:sp>
        <p:nvSpPr>
          <p:cNvPr id="13" name="TextBox 12"/>
          <p:cNvSpPr txBox="1"/>
          <p:nvPr/>
        </p:nvSpPr>
        <p:spPr>
          <a:xfrm>
            <a:off x="2624328" y="3502152"/>
            <a:ext cx="2880360" cy="384048"/>
          </a:xfrm>
          <a:prstGeom prst="rect">
            <a:avLst/>
          </a:prstGeom>
          <a:noFill/>
        </p:spPr>
        <p:txBody>
          <a:bodyPr wrap="square" anchor="t">
            <a:spAutoFit/>
          </a:bodyPr>
          <a:lstStyle/>
          <a:p>
            <a:pPr algn="l">
              <a:spcAft>
                <a:spcPts val="400"/>
              </a:spcAft>
            </a:pPr>
            <a:r>
              <a:rPr sz="1150" b="0">
                <a:solidFill>
                  <a:srgbClr val="161B26"/>
                </a:solidFill>
                <a:latin typeface="Arial"/>
              </a:rPr>
              <a:t>gross margin</a:t>
            </a:r>
          </a:p>
        </p:txBody>
      </p:sp>
      <p:sp>
        <p:nvSpPr>
          <p:cNvPr id="14" name="TextBox 13"/>
          <p:cNvSpPr txBox="1"/>
          <p:nvPr/>
        </p:nvSpPr>
        <p:spPr>
          <a:xfrm>
            <a:off x="1124712" y="4096512"/>
            <a:ext cx="1325880" cy="438912"/>
          </a:xfrm>
          <a:prstGeom prst="rect">
            <a:avLst/>
          </a:prstGeom>
          <a:noFill/>
        </p:spPr>
        <p:txBody>
          <a:bodyPr wrap="square" anchor="t">
            <a:spAutoFit/>
          </a:bodyPr>
          <a:lstStyle/>
          <a:p>
            <a:pPr algn="r">
              <a:spcAft>
                <a:spcPts val="400"/>
              </a:spcAft>
            </a:pPr>
            <a:r>
              <a:rPr sz="2000" b="1">
                <a:solidFill>
                  <a:srgbClr val="10B981"/>
                </a:solidFill>
                <a:latin typeface="Arial"/>
              </a:rPr>
              <a:t>4.1%</a:t>
            </a:r>
          </a:p>
        </p:txBody>
      </p:sp>
      <p:sp>
        <p:nvSpPr>
          <p:cNvPr id="15" name="TextBox 14"/>
          <p:cNvSpPr txBox="1"/>
          <p:nvPr/>
        </p:nvSpPr>
        <p:spPr>
          <a:xfrm>
            <a:off x="2624328" y="4142232"/>
            <a:ext cx="2880360" cy="384048"/>
          </a:xfrm>
          <a:prstGeom prst="rect">
            <a:avLst/>
          </a:prstGeom>
          <a:noFill/>
        </p:spPr>
        <p:txBody>
          <a:bodyPr wrap="square" anchor="t">
            <a:spAutoFit/>
          </a:bodyPr>
          <a:lstStyle/>
          <a:p>
            <a:pPr algn="l">
              <a:spcAft>
                <a:spcPts val="400"/>
              </a:spcAft>
            </a:pPr>
            <a:r>
              <a:rPr sz="1150" b="0">
                <a:solidFill>
                  <a:srgbClr val="161B26"/>
                </a:solidFill>
                <a:latin typeface="Arial"/>
              </a:rPr>
              <a:t>return rate</a:t>
            </a:r>
          </a:p>
        </p:txBody>
      </p:sp>
      <p:sp>
        <p:nvSpPr>
          <p:cNvPr id="16" name="Rectangle 15"/>
          <p:cNvSpPr/>
          <p:nvPr/>
        </p:nvSpPr>
        <p:spPr>
          <a:xfrm>
            <a:off x="6355080" y="2057400"/>
            <a:ext cx="4983480" cy="2880360"/>
          </a:xfrm>
          <a:prstGeom prst="rect">
            <a:avLst/>
          </a:prstGeom>
          <a:solidFill>
            <a:srgbClr val="F5F8FC"/>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355080" y="2057400"/>
            <a:ext cx="498348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55080" y="2157984"/>
            <a:ext cx="4983480" cy="320040"/>
          </a:xfrm>
          <a:prstGeom prst="rect">
            <a:avLst/>
          </a:prstGeom>
          <a:noFill/>
        </p:spPr>
        <p:txBody>
          <a:bodyPr wrap="square" anchor="t">
            <a:spAutoFit/>
          </a:bodyPr>
          <a:lstStyle/>
          <a:p>
            <a:pPr algn="ctr">
              <a:spcAft>
                <a:spcPts val="400"/>
              </a:spcAft>
            </a:pPr>
            <a:r>
              <a:rPr sz="1600" b="1">
                <a:solidFill>
                  <a:srgbClr val="FFFFFF"/>
                </a:solidFill>
                <a:latin typeface="Arial"/>
              </a:rPr>
              <a:t>Beverages</a:t>
            </a:r>
          </a:p>
        </p:txBody>
      </p:sp>
      <p:sp>
        <p:nvSpPr>
          <p:cNvPr id="19" name="TextBox 18"/>
          <p:cNvSpPr txBox="1"/>
          <p:nvPr/>
        </p:nvSpPr>
        <p:spPr>
          <a:xfrm>
            <a:off x="6611112" y="2816352"/>
            <a:ext cx="1325880" cy="438912"/>
          </a:xfrm>
          <a:prstGeom prst="rect">
            <a:avLst/>
          </a:prstGeom>
          <a:noFill/>
        </p:spPr>
        <p:txBody>
          <a:bodyPr wrap="square" anchor="t">
            <a:spAutoFit/>
          </a:bodyPr>
          <a:lstStyle/>
          <a:p>
            <a:pPr algn="r">
              <a:spcAft>
                <a:spcPts val="400"/>
              </a:spcAft>
            </a:pPr>
            <a:r>
              <a:rPr sz="2000" b="1">
                <a:solidFill>
                  <a:srgbClr val="1F6FEB"/>
                </a:solidFill>
                <a:latin typeface="Arial"/>
              </a:rPr>
              <a:t>9%</a:t>
            </a:r>
          </a:p>
        </p:txBody>
      </p:sp>
      <p:sp>
        <p:nvSpPr>
          <p:cNvPr id="20" name="TextBox 19"/>
          <p:cNvSpPr txBox="1"/>
          <p:nvPr/>
        </p:nvSpPr>
        <p:spPr>
          <a:xfrm>
            <a:off x="8110728" y="2862072"/>
            <a:ext cx="2880360" cy="384048"/>
          </a:xfrm>
          <a:prstGeom prst="rect">
            <a:avLst/>
          </a:prstGeom>
          <a:noFill/>
        </p:spPr>
        <p:txBody>
          <a:bodyPr wrap="square" anchor="t">
            <a:spAutoFit/>
          </a:bodyPr>
          <a:lstStyle/>
          <a:p>
            <a:pPr algn="l">
              <a:spcAft>
                <a:spcPts val="400"/>
              </a:spcAft>
            </a:pPr>
            <a:r>
              <a:rPr sz="1150" b="0">
                <a:solidFill>
                  <a:srgbClr val="161B26"/>
                </a:solidFill>
                <a:latin typeface="Arial"/>
              </a:rPr>
              <a:t>Q2 growth</a:t>
            </a:r>
          </a:p>
        </p:txBody>
      </p:sp>
      <p:sp>
        <p:nvSpPr>
          <p:cNvPr id="21" name="TextBox 20"/>
          <p:cNvSpPr txBox="1"/>
          <p:nvPr/>
        </p:nvSpPr>
        <p:spPr>
          <a:xfrm>
            <a:off x="6611112" y="3456432"/>
            <a:ext cx="1325880" cy="438912"/>
          </a:xfrm>
          <a:prstGeom prst="rect">
            <a:avLst/>
          </a:prstGeom>
          <a:noFill/>
        </p:spPr>
        <p:txBody>
          <a:bodyPr wrap="square" anchor="t">
            <a:spAutoFit/>
          </a:bodyPr>
          <a:lstStyle/>
          <a:p>
            <a:pPr algn="r">
              <a:spcAft>
                <a:spcPts val="400"/>
              </a:spcAft>
            </a:pPr>
            <a:r>
              <a:rPr sz="2000" b="1">
                <a:solidFill>
                  <a:srgbClr val="1F6FEB"/>
                </a:solidFill>
                <a:latin typeface="Arial"/>
              </a:rPr>
              <a:t>24%</a:t>
            </a:r>
          </a:p>
        </p:txBody>
      </p:sp>
      <p:sp>
        <p:nvSpPr>
          <p:cNvPr id="22" name="TextBox 21"/>
          <p:cNvSpPr txBox="1"/>
          <p:nvPr/>
        </p:nvSpPr>
        <p:spPr>
          <a:xfrm>
            <a:off x="8110728" y="3502152"/>
            <a:ext cx="2880360" cy="384048"/>
          </a:xfrm>
          <a:prstGeom prst="rect">
            <a:avLst/>
          </a:prstGeom>
          <a:noFill/>
        </p:spPr>
        <p:txBody>
          <a:bodyPr wrap="square" anchor="t">
            <a:spAutoFit/>
          </a:bodyPr>
          <a:lstStyle/>
          <a:p>
            <a:pPr algn="l">
              <a:spcAft>
                <a:spcPts val="400"/>
              </a:spcAft>
            </a:pPr>
            <a:r>
              <a:rPr sz="1150" b="0">
                <a:solidFill>
                  <a:srgbClr val="161B26"/>
                </a:solidFill>
                <a:latin typeface="Arial"/>
              </a:rPr>
              <a:t>gross margin</a:t>
            </a:r>
          </a:p>
        </p:txBody>
      </p:sp>
      <p:sp>
        <p:nvSpPr>
          <p:cNvPr id="23" name="TextBox 22"/>
          <p:cNvSpPr txBox="1"/>
          <p:nvPr/>
        </p:nvSpPr>
        <p:spPr>
          <a:xfrm>
            <a:off x="6611112" y="4096512"/>
            <a:ext cx="1325880" cy="438912"/>
          </a:xfrm>
          <a:prstGeom prst="rect">
            <a:avLst/>
          </a:prstGeom>
          <a:noFill/>
        </p:spPr>
        <p:txBody>
          <a:bodyPr wrap="square" anchor="t">
            <a:spAutoFit/>
          </a:bodyPr>
          <a:lstStyle/>
          <a:p>
            <a:pPr algn="r">
              <a:spcAft>
                <a:spcPts val="400"/>
              </a:spcAft>
            </a:pPr>
            <a:r>
              <a:rPr sz="2000" b="1">
                <a:solidFill>
                  <a:srgbClr val="1F6FEB"/>
                </a:solidFill>
                <a:latin typeface="Arial"/>
              </a:rPr>
              <a:t>2.8%</a:t>
            </a:r>
          </a:p>
        </p:txBody>
      </p:sp>
      <p:sp>
        <p:nvSpPr>
          <p:cNvPr id="24" name="TextBox 23"/>
          <p:cNvSpPr txBox="1"/>
          <p:nvPr/>
        </p:nvSpPr>
        <p:spPr>
          <a:xfrm>
            <a:off x="8110728" y="4142232"/>
            <a:ext cx="2880360" cy="384048"/>
          </a:xfrm>
          <a:prstGeom prst="rect">
            <a:avLst/>
          </a:prstGeom>
          <a:noFill/>
        </p:spPr>
        <p:txBody>
          <a:bodyPr wrap="square" anchor="t">
            <a:spAutoFit/>
          </a:bodyPr>
          <a:lstStyle/>
          <a:p>
            <a:pPr algn="l">
              <a:spcAft>
                <a:spcPts val="400"/>
              </a:spcAft>
            </a:pPr>
            <a:r>
              <a:rPr sz="1150" b="0">
                <a:solidFill>
                  <a:srgbClr val="161B26"/>
                </a:solidFill>
                <a:latin typeface="Arial"/>
              </a:rPr>
              <a:t>return rate</a:t>
            </a:r>
          </a:p>
        </p:txBody>
      </p:sp>
      <p:sp>
        <p:nvSpPr>
          <p:cNvPr id="25" name="Rectangle 24"/>
          <p:cNvSpPr/>
          <p:nvPr/>
        </p:nvSpPr>
        <p:spPr>
          <a:xfrm>
            <a:off x="777240" y="5321808"/>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77240" y="5321808"/>
            <a:ext cx="91440" cy="6583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97280" y="5321808"/>
            <a:ext cx="10058400" cy="658368"/>
          </a:xfrm>
          <a:prstGeom prst="rect">
            <a:avLst/>
          </a:prstGeom>
          <a:noFill/>
        </p:spPr>
        <p:txBody>
          <a:bodyPr wrap="square" anchor="ctr">
            <a:spAutoFit/>
          </a:bodyPr>
          <a:lstStyle/>
          <a:p>
            <a:pPr algn="l">
              <a:spcAft>
                <a:spcPts val="400"/>
              </a:spcAft>
            </a:pPr>
            <a:r>
              <a:rPr sz="1250" b="1">
                <a:solidFill>
                  <a:srgbClr val="161B26"/>
                </a:solidFill>
                <a:latin typeface="Arial"/>
              </a:rPr>
              <a:t>Use Ready Meals as the next campaign test while monitoring returns.</a:t>
            </a:r>
          </a:p>
        </p:txBody>
      </p:sp>
      <p:sp>
        <p:nvSpPr>
          <p:cNvPr id="28" name="TextBox 27"/>
          <p:cNvSpPr txBox="1"/>
          <p:nvPr/>
        </p:nvSpPr>
        <p:spPr>
          <a:xfrm>
            <a:off x="777240" y="6089904"/>
            <a:ext cx="10607040" cy="201168"/>
          </a:xfrm>
          <a:prstGeom prst="rect">
            <a:avLst/>
          </a:prstGeom>
          <a:noFill/>
        </p:spPr>
        <p:txBody>
          <a:bodyPr wrap="square" anchor="t">
            <a:spAutoFit/>
          </a:bodyPr>
          <a:lstStyle/>
          <a:p>
            <a:pPr algn="l">
              <a:spcAft>
                <a:spcPts val="400"/>
              </a:spcAft>
            </a:pPr>
            <a:r>
              <a:rPr sz="850" b="0">
                <a:solidFill>
                  <a:srgbClr val="5B6372"/>
                </a:solidFill>
                <a:latin typeface="Arial"/>
              </a:rPr>
              <a:t>Source: realistic synthetic training scenario created for this course.</a:t>
            </a:r>
          </a:p>
        </p:txBody>
      </p:sp>
      <p:sp>
        <p:nvSpPr>
          <p:cNvPr id="29" name="TextBox 2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30" name="TextBox 2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1" name="TextBox 3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53</a:t>
            </a:r>
          </a:p>
        </p:txBody>
      </p:sp>
    </p:spTree>
  </p:cSld>
  <p:clrMapOvr>
    <a:masterClrMapping/>
  </p:clrMapOvr>
  <p:transition spd="fast" advClick="1">
    <p:fade/>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350"/>
                                        <p:tgtEl>
                                          <p:spTgt spid="7"/>
                                        </p:tgtEl>
                                      </p:cBhvr>
                                    </p:animEffect>
                                    <p:anim calcmode="lin" valueType="num">
                                      <p:cBhvr additive="base">
                                        <p:cTn id="15" dur="350" fill="hold"/>
                                        <p:tgtEl>
                                          <p:spTgt spid="7"/>
                                        </p:tgtEl>
                                        <p:attrNameLst>
                                          <p:attrName>ppt_y</p:attrName>
                                        </p:attrNameLst>
                                      </p:cBhvr>
                                      <p:tavLst>
                                        <p:tav tm="0">
                                          <p:val>
                                            <p:strVal val="#ppt_y+0.0350"/>
                                          </p:val>
                                        </p:tav>
                                        <p:tav tm="100000">
                                          <p:val>
                                            <p:strVal val="#ppt_y"/>
                                          </p:val>
                                        </p:tav>
                                      </p:tavLst>
                                    </p:anim>
                                  </p:childTnLst>
                                </p:cTn>
                              </p:par>
                            </p:childTnLst>
                          </p:cTn>
                        </p:par>
                      </p:childTnLst>
                    </p:cTn>
                  </p:par>
                  <p:par>
                    <p:cTn id="20" fill="hold">
                      <p:stCondLst>
                        <p:cond delay="0"/>
                      </p:stCondLst>
                      <p:childTnLst>
                        <p:par>
                          <p:cTn id="21" fill="hold">
                            <p:stCondLst>
                              <p:cond delay="0"/>
                            </p:stCondLst>
                            <p:childTnLst>
                              <p:par>
                                <p:cTn id="22" presetID="10" presetClass="entr" presetSubtype="0" fill="hold" grpId="0" nodeType="afterEffect">
                                  <p:stCondLst>
                                    <p:cond delay="0"/>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350"/>
                                        <p:tgtEl>
                                          <p:spTgt spid="8"/>
                                        </p:tgtEl>
                                      </p:cBhvr>
                                    </p:animEffect>
                                    <p:anim calcmode="lin" valueType="num">
                                      <p:cBhvr additive="base">
                                        <p:cTn id="25" dur="350" fill="hold"/>
                                        <p:tgtEl>
                                          <p:spTgt spid="8"/>
                                        </p:tgtEl>
                                        <p:attrNameLst>
                                          <p:attrName>ppt_y</p:attrName>
                                        </p:attrNameLst>
                                      </p:cBhvr>
                                      <p:tavLst>
                                        <p:tav tm="0">
                                          <p:val>
                                            <p:strVal val="#ppt_y+0.0350"/>
                                          </p:val>
                                        </p:tav>
                                        <p:tav tm="100000">
                                          <p:val>
                                            <p:strVal val="#ppt_y"/>
                                          </p:val>
                                        </p:tav>
                                      </p:tavLst>
                                    </p:anim>
                                  </p:childTnLst>
                                </p:cTn>
                              </p:par>
                            </p:childTnLst>
                          </p:cTn>
                        </p:par>
                      </p:childTnLst>
                    </p:cTn>
                  </p:par>
                  <p:par>
                    <p:cTn id="30" fill="hold">
                      <p:stCondLst>
                        <p:cond delay="0"/>
                      </p:stCondLst>
                      <p:childTnLst>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6"/>
                                        </p:tgtEl>
                                        <p:attrNameLst>
                                          <p:attrName>style.visibility</p:attrName>
                                        </p:attrNameLst>
                                      </p:cBhvr>
                                      <p:to>
                                        <p:strVal val="visible"/>
                                      </p:to>
                                    </p:set>
                                    <p:animEffect transition="in" filter="fade">
                                      <p:cBhvr>
                                        <p:cTn id="34" dur="350"/>
                                        <p:tgtEl>
                                          <p:spTgt spid="16"/>
                                        </p:tgtEl>
                                      </p:cBhvr>
                                    </p:animEffect>
                                    <p:anim calcmode="lin" valueType="num">
                                      <p:cBhvr additive="base">
                                        <p:cTn id="35" dur="350" fill="hold"/>
                                        <p:tgtEl>
                                          <p:spTgt spid="16"/>
                                        </p:tgtEl>
                                        <p:attrNameLst>
                                          <p:attrName>ppt_y</p:attrName>
                                        </p:attrNameLst>
                                      </p:cBhvr>
                                      <p:tavLst>
                                        <p:tav tm="0">
                                          <p:val>
                                            <p:strVal val="#ppt_y+0.0350"/>
                                          </p:val>
                                        </p:tav>
                                        <p:tav tm="100000">
                                          <p:val>
                                            <p:strVal val="#ppt_y"/>
                                          </p:val>
                                        </p:tav>
                                      </p:tavLst>
                                    </p:anim>
                                  </p:childTnLst>
                                </p:cTn>
                              </p:par>
                            </p:childTnLst>
                          </p:cTn>
                        </p:par>
                      </p:childTnLst>
                    </p:cTn>
                  </p:par>
                  <p:par>
                    <p:cTn id="40" fill="hold">
                      <p:stCondLst>
                        <p:cond delay="0"/>
                      </p:stCondLst>
                      <p:childTnLst>
                        <p:par>
                          <p:cTn id="41" fill="hold">
                            <p:stCondLst>
                              <p:cond delay="0"/>
                            </p:stCondLst>
                            <p:childTnLst>
                              <p:par>
                                <p:cTn id="42" presetID="10" presetClass="entr" presetSubtype="0" fill="hold" grpId="0" nodeType="afterEffect">
                                  <p:stCondLst>
                                    <p:cond delay="0"/>
                                  </p:stCondLst>
                                  <p:childTnLst>
                                    <p:set>
                                      <p:cBhvr>
                                        <p:cTn id="43" dur="1" fill="hold">
                                          <p:stCondLst>
                                            <p:cond delay="0"/>
                                          </p:stCondLst>
                                        </p:cTn>
                                        <p:tgtEl>
                                          <p:spTgt spid="17"/>
                                        </p:tgtEl>
                                        <p:attrNameLst>
                                          <p:attrName>style.visibility</p:attrName>
                                        </p:attrNameLst>
                                      </p:cBhvr>
                                      <p:to>
                                        <p:strVal val="visible"/>
                                      </p:to>
                                    </p:set>
                                    <p:animEffect transition="in" filter="fade">
                                      <p:cBhvr>
                                        <p:cTn id="44" dur="350"/>
                                        <p:tgtEl>
                                          <p:spTgt spid="17"/>
                                        </p:tgtEl>
                                      </p:cBhvr>
                                    </p:animEffect>
                                    <p:anim calcmode="lin" valueType="num">
                                      <p:cBhvr additive="base">
                                        <p:cTn id="45" dur="350" fill="hold"/>
                                        <p:tgtEl>
                                          <p:spTgt spid="17"/>
                                        </p:tgtEl>
                                        <p:attrNameLst>
                                          <p:attrName>ppt_y</p:attrName>
                                        </p:attrNameLst>
                                      </p:cBhvr>
                                      <p:tavLst>
                                        <p:tav tm="0">
                                          <p:val>
                                            <p:strVal val="#ppt_y+0.0350"/>
                                          </p:val>
                                        </p:tav>
                                        <p:tav tm="100000">
                                          <p:val>
                                            <p:strVal val="#ppt_y"/>
                                          </p:val>
                                        </p:tav>
                                      </p:tavLst>
                                    </p:anim>
                                  </p:childTnLst>
                                </p:cTn>
                              </p:par>
                            </p:childTnLst>
                          </p:cTn>
                        </p:par>
                      </p:childTnLst>
                    </p:cTn>
                  </p:par>
                  <p:par>
                    <p:cTn id="50" fill="hold">
                      <p:stCondLst>
                        <p:cond delay="0"/>
                      </p:stCondLst>
                      <p:childTnLst>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25"/>
                                        </p:tgtEl>
                                        <p:attrNameLst>
                                          <p:attrName>style.visibility</p:attrName>
                                        </p:attrNameLst>
                                      </p:cBhvr>
                                      <p:to>
                                        <p:strVal val="visible"/>
                                      </p:to>
                                    </p:set>
                                    <p:animEffect transition="in" filter="fade">
                                      <p:cBhvr>
                                        <p:cTn id="54" dur="350"/>
                                        <p:tgtEl>
                                          <p:spTgt spid="25"/>
                                        </p:tgtEl>
                                      </p:cBhvr>
                                    </p:animEffect>
                                    <p:anim calcmode="lin" valueType="num">
                                      <p:cBhvr additive="base">
                                        <p:cTn id="55" dur="350" fill="hold"/>
                                        <p:tgtEl>
                                          <p:spTgt spid="25"/>
                                        </p:tgtEl>
                                        <p:attrNameLst>
                                          <p:attrName>ppt_y</p:attrName>
                                        </p:attrNameLst>
                                      </p:cBhvr>
                                      <p:tavLst>
                                        <p:tav tm="0">
                                          <p:val>
                                            <p:strVal val="#ppt_y+0.0350"/>
                                          </p:val>
                                        </p:tav>
                                        <p:tav tm="100000">
                                          <p:val>
                                            <p:strVal val="#ppt_y"/>
                                          </p:val>
                                        </p:tav>
                                      </p:tavLst>
                                    </p:anim>
                                  </p:childTnLst>
                                </p:cTn>
                              </p:par>
                            </p:childTnLst>
                          </p:cTn>
                        </p:par>
                      </p:childTnLst>
                    </p:cTn>
                  </p:par>
                  <p:par>
                    <p:cTn id="60" fill="hold">
                      <p:stCondLst>
                        <p:cond delay="0"/>
                      </p:stCondLst>
                      <p:childTnLst>
                        <p:par>
                          <p:cTn id="61" fill="hold">
                            <p:stCondLst>
                              <p:cond delay="0"/>
                            </p:stCondLst>
                            <p:childTnLst>
                              <p:par>
                                <p:cTn id="62" presetID="10" presetClass="entr" presetSubtype="0" fill="hold" grpId="0" nodeType="afterEffect">
                                  <p:stCondLst>
                                    <p:cond delay="0"/>
                                  </p:stCondLst>
                                  <p:childTnLst>
                                    <p:set>
                                      <p:cBhvr>
                                        <p:cTn id="63" dur="1" fill="hold">
                                          <p:stCondLst>
                                            <p:cond delay="0"/>
                                          </p:stCondLst>
                                        </p:cTn>
                                        <p:tgtEl>
                                          <p:spTgt spid="26"/>
                                        </p:tgtEl>
                                        <p:attrNameLst>
                                          <p:attrName>style.visibility</p:attrName>
                                        </p:attrNameLst>
                                      </p:cBhvr>
                                      <p:to>
                                        <p:strVal val="visible"/>
                                      </p:to>
                                    </p:set>
                                    <p:animEffect transition="in" filter="fade">
                                      <p:cBhvr>
                                        <p:cTn id="64" dur="350"/>
                                        <p:tgtEl>
                                          <p:spTgt spid="26"/>
                                        </p:tgtEl>
                                      </p:cBhvr>
                                    </p:animEffect>
                                    <p:anim calcmode="lin" valueType="num">
                                      <p:cBhvr additive="base">
                                        <p:cTn id="65" dur="350" fill="hold"/>
                                        <p:tgtEl>
                                          <p:spTgt spid="26"/>
                                        </p:tgtEl>
                                        <p:attrNameLst>
                                          <p:attrName>ppt_y</p:attrName>
                                        </p:attrNameLst>
                                      </p:cBhvr>
                                      <p:tavLst>
                                        <p:tav tm="0">
                                          <p:val>
                                            <p:strVal val="#ppt_y+0.0350"/>
                                          </p:val>
                                        </p:tav>
                                        <p:tav tm="100000">
                                          <p:val>
                                            <p:strVal val="#ppt_y"/>
                                          </p:val>
                                        </p:tav>
                                      </p:tavLst>
                                    </p:anim>
                                  </p:childTnLst>
                                </p:cTn>
                              </p:par>
                            </p:childTnLst>
                          </p:cTn>
                        </p:par>
                      </p:childTnLst>
                    </p:cTn>
                  </p:par>
                  <p:par>
                    <p:cTn id="70" fill="hold">
                      <p:stCondLst>
                        <p:cond delay="0"/>
                      </p:stCondLst>
                      <p:childTnLst>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7"/>
                                        </p:tgtEl>
                                        <p:attrNameLst>
                                          <p:attrName>style.visibility</p:attrName>
                                        </p:attrNameLst>
                                      </p:cBhvr>
                                      <p:to>
                                        <p:strVal val="visible"/>
                                      </p:to>
                                    </p:set>
                                    <p:animEffect transition="in" filter="fade">
                                      <p:cBhvr>
                                        <p:cTn id="74" dur="350"/>
                                        <p:tgtEl>
                                          <p:spTgt spid="27"/>
                                        </p:tgtEl>
                                      </p:cBhvr>
                                    </p:animEffect>
                                    <p:anim calcmode="lin" valueType="num">
                                      <p:cBhvr additive="base">
                                        <p:cTn id="75" dur="350" fill="hold"/>
                                        <p:tgtEl>
                                          <p:spTgt spid="27"/>
                                        </p:tgtEl>
                                        <p:attrNameLst>
                                          <p:attrName>ppt_y</p:attrName>
                                        </p:attrNameLst>
                                      </p:cBhvr>
                                      <p:tavLst>
                                        <p:tav tm="0">
                                          <p:val>
                                            <p:strVal val="#ppt_y+0.0350"/>
                                          </p:val>
                                        </p:tav>
                                        <p:tav tm="100000">
                                          <p:val>
                                            <p:strVal val="#ppt_y"/>
                                          </p:val>
                                        </p:tav>
                                      </p:tavLst>
                                    </p:anim>
                                  </p:childTnLst>
                                </p:cTn>
                              </p:par>
                            </p:childTnLst>
                          </p:cTn>
                        </p:par>
                      </p:childTnLst>
                    </p:cTn>
                  </p:par>
                </p:childTnLst>
                <p:prevCondLst>
                  <p:cond evt="onPrev" delay="0">
                    <p:tgtEl>
                      <p:sldTgt/>
                    </p:tgtEl>
                  </p:cond>
                </p:prevCondLst>
                <p:nextCondLst>
                  <p:cond evt="onNext" delay="0">
                    <p:tgtEl>
                      <p:sldTgt/>
                    </p:tgtEl>
                  </p:cond>
                </p:nextCondLst>
              </p:cTn>
            </p:seq>
          </p:childTnLst>
        </p:cTn>
      </p:par>
    </p:tnLst>
  </p:timing>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REALISTIC WORKPLACE DEMO 03 · TIMELINE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100" b="1">
                <a:solidFill>
                  <a:srgbClr val="161B26"/>
                </a:solidFill>
                <a:latin typeface="Arial"/>
              </a:rPr>
              <a:t>New-hire readiness improves when ownership starts before Day 1</a:t>
            </a:r>
          </a:p>
        </p:txBody>
      </p:sp>
      <p:sp>
        <p:nvSpPr>
          <p:cNvPr id="6" name="TextBox 5"/>
          <p:cNvSpPr txBox="1"/>
          <p:nvPr/>
        </p:nvSpPr>
        <p:spPr>
          <a:xfrm>
            <a:off x="795528" y="1664208"/>
            <a:ext cx="10607040" cy="365760"/>
          </a:xfrm>
          <a:prstGeom prst="rect">
            <a:avLst/>
          </a:prstGeom>
          <a:noFill/>
        </p:spPr>
        <p:txBody>
          <a:bodyPr wrap="square" anchor="t">
            <a:spAutoFit/>
          </a:bodyPr>
          <a:lstStyle/>
          <a:p>
            <a:pPr algn="l">
              <a:spcAft>
                <a:spcPts val="400"/>
              </a:spcAft>
            </a:pPr>
            <a:r>
              <a:rPr sz="1300" b="0">
                <a:solidFill>
                  <a:srgbClr val="5B6372"/>
                </a:solidFill>
                <a:latin typeface="Arial"/>
              </a:rPr>
              <a:t>Employee onboarding · synthetic training data, not operational evidence</a:t>
            </a:r>
          </a:p>
        </p:txBody>
      </p:sp>
      <p:sp>
        <p:nvSpPr>
          <p:cNvPr id="7" name="Rectangle 6"/>
          <p:cNvSpPr/>
          <p:nvPr/>
        </p:nvSpPr>
        <p:spPr>
          <a:xfrm>
            <a:off x="1097280" y="3657600"/>
            <a:ext cx="9692640" cy="6400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51560" y="3319272"/>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3319272"/>
            <a:ext cx="731520" cy="731520"/>
          </a:xfrm>
          <a:prstGeom prst="rect">
            <a:avLst/>
          </a:prstGeom>
          <a:noFill/>
        </p:spPr>
        <p:txBody>
          <a:bodyPr wrap="square" anchor="ctr">
            <a:spAutoFit/>
          </a:bodyPr>
          <a:lstStyle/>
          <a:p>
            <a:pPr algn="ctr">
              <a:spcAft>
                <a:spcPts val="400"/>
              </a:spcAft>
            </a:pPr>
            <a:r>
              <a:rPr sz="1100" b="1">
                <a:solidFill>
                  <a:srgbClr val="FFFFFF"/>
                </a:solidFill>
                <a:latin typeface="Arial"/>
              </a:rPr>
              <a:t>T-7</a:t>
            </a:r>
          </a:p>
        </p:txBody>
      </p:sp>
      <p:sp>
        <p:nvSpPr>
          <p:cNvPr id="10" name="TextBox 9"/>
          <p:cNvSpPr txBox="1"/>
          <p:nvPr/>
        </p:nvSpPr>
        <p:spPr>
          <a:xfrm>
            <a:off x="777240" y="4160520"/>
            <a:ext cx="1280160" cy="685800"/>
          </a:xfrm>
          <a:prstGeom prst="rect">
            <a:avLst/>
          </a:prstGeom>
          <a:noFill/>
        </p:spPr>
        <p:txBody>
          <a:bodyPr wrap="square" anchor="t">
            <a:spAutoFit/>
          </a:bodyPr>
          <a:lstStyle/>
          <a:p>
            <a:pPr algn="ctr">
              <a:spcAft>
                <a:spcPts val="400"/>
              </a:spcAft>
            </a:pPr>
            <a:r>
              <a:rPr sz="1100" b="1">
                <a:solidFill>
                  <a:srgbClr val="161B26"/>
                </a:solidFill>
                <a:latin typeface="Arial"/>
              </a:rPr>
              <a:t>Account request</a:t>
            </a:r>
          </a:p>
        </p:txBody>
      </p:sp>
      <p:sp>
        <p:nvSpPr>
          <p:cNvPr id="11" name="Oval 10"/>
          <p:cNvSpPr/>
          <p:nvPr/>
        </p:nvSpPr>
        <p:spPr>
          <a:xfrm>
            <a:off x="3447288" y="3319272"/>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447288" y="3319272"/>
            <a:ext cx="731520" cy="731520"/>
          </a:xfrm>
          <a:prstGeom prst="rect">
            <a:avLst/>
          </a:prstGeom>
          <a:noFill/>
        </p:spPr>
        <p:txBody>
          <a:bodyPr wrap="square" anchor="ctr">
            <a:spAutoFit/>
          </a:bodyPr>
          <a:lstStyle/>
          <a:p>
            <a:pPr algn="ctr">
              <a:spcAft>
                <a:spcPts val="400"/>
              </a:spcAft>
            </a:pPr>
            <a:r>
              <a:rPr sz="1100" b="1">
                <a:solidFill>
                  <a:srgbClr val="FFFFFF"/>
                </a:solidFill>
                <a:latin typeface="Arial"/>
              </a:rPr>
              <a:t>T-3</a:t>
            </a:r>
          </a:p>
        </p:txBody>
      </p:sp>
      <p:sp>
        <p:nvSpPr>
          <p:cNvPr id="13" name="TextBox 12"/>
          <p:cNvSpPr txBox="1"/>
          <p:nvPr/>
        </p:nvSpPr>
        <p:spPr>
          <a:xfrm>
            <a:off x="3172968" y="4160520"/>
            <a:ext cx="1280160" cy="685800"/>
          </a:xfrm>
          <a:prstGeom prst="rect">
            <a:avLst/>
          </a:prstGeom>
          <a:noFill/>
        </p:spPr>
        <p:txBody>
          <a:bodyPr wrap="square" anchor="t">
            <a:spAutoFit/>
          </a:bodyPr>
          <a:lstStyle/>
          <a:p>
            <a:pPr algn="ctr">
              <a:spcAft>
                <a:spcPts val="400"/>
              </a:spcAft>
            </a:pPr>
            <a:r>
              <a:rPr sz="1100" b="1">
                <a:solidFill>
                  <a:srgbClr val="161B26"/>
                </a:solidFill>
                <a:latin typeface="Arial"/>
              </a:rPr>
              <a:t>Manager plan</a:t>
            </a:r>
          </a:p>
        </p:txBody>
      </p:sp>
      <p:sp>
        <p:nvSpPr>
          <p:cNvPr id="14" name="Oval 13"/>
          <p:cNvSpPr/>
          <p:nvPr/>
        </p:nvSpPr>
        <p:spPr>
          <a:xfrm>
            <a:off x="5843016" y="3319272"/>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43016" y="3319272"/>
            <a:ext cx="731520" cy="731520"/>
          </a:xfrm>
          <a:prstGeom prst="rect">
            <a:avLst/>
          </a:prstGeom>
          <a:noFill/>
        </p:spPr>
        <p:txBody>
          <a:bodyPr wrap="square" anchor="ctr">
            <a:spAutoFit/>
          </a:bodyPr>
          <a:lstStyle/>
          <a:p>
            <a:pPr algn="ctr">
              <a:spcAft>
                <a:spcPts val="400"/>
              </a:spcAft>
            </a:pPr>
            <a:r>
              <a:rPr sz="1100" b="1">
                <a:solidFill>
                  <a:srgbClr val="FFFFFF"/>
                </a:solidFill>
                <a:latin typeface="Arial"/>
              </a:rPr>
              <a:t>Day 1</a:t>
            </a:r>
          </a:p>
        </p:txBody>
      </p:sp>
      <p:sp>
        <p:nvSpPr>
          <p:cNvPr id="16" name="TextBox 15"/>
          <p:cNvSpPr txBox="1"/>
          <p:nvPr/>
        </p:nvSpPr>
        <p:spPr>
          <a:xfrm>
            <a:off x="5568696" y="4160520"/>
            <a:ext cx="1280160" cy="685800"/>
          </a:xfrm>
          <a:prstGeom prst="rect">
            <a:avLst/>
          </a:prstGeom>
          <a:noFill/>
        </p:spPr>
        <p:txBody>
          <a:bodyPr wrap="square" anchor="t">
            <a:spAutoFit/>
          </a:bodyPr>
          <a:lstStyle/>
          <a:p>
            <a:pPr algn="ctr">
              <a:spcAft>
                <a:spcPts val="400"/>
              </a:spcAft>
            </a:pPr>
            <a:r>
              <a:rPr sz="1100" b="1">
                <a:solidFill>
                  <a:srgbClr val="161B26"/>
                </a:solidFill>
                <a:latin typeface="Arial"/>
              </a:rPr>
              <a:t>Orientation</a:t>
            </a:r>
          </a:p>
        </p:txBody>
      </p:sp>
      <p:sp>
        <p:nvSpPr>
          <p:cNvPr id="17" name="Oval 16"/>
          <p:cNvSpPr/>
          <p:nvPr/>
        </p:nvSpPr>
        <p:spPr>
          <a:xfrm>
            <a:off x="8238744" y="3319272"/>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38744" y="3319272"/>
            <a:ext cx="731520" cy="731520"/>
          </a:xfrm>
          <a:prstGeom prst="rect">
            <a:avLst/>
          </a:prstGeom>
          <a:noFill/>
        </p:spPr>
        <p:txBody>
          <a:bodyPr wrap="square" anchor="ctr">
            <a:spAutoFit/>
          </a:bodyPr>
          <a:lstStyle/>
          <a:p>
            <a:pPr algn="ctr">
              <a:spcAft>
                <a:spcPts val="400"/>
              </a:spcAft>
            </a:pPr>
            <a:r>
              <a:rPr sz="1100" b="1">
                <a:solidFill>
                  <a:srgbClr val="FFFFFF"/>
                </a:solidFill>
                <a:latin typeface="Arial"/>
              </a:rPr>
              <a:t>Day 7</a:t>
            </a:r>
          </a:p>
        </p:txBody>
      </p:sp>
      <p:sp>
        <p:nvSpPr>
          <p:cNvPr id="19" name="TextBox 18"/>
          <p:cNvSpPr txBox="1"/>
          <p:nvPr/>
        </p:nvSpPr>
        <p:spPr>
          <a:xfrm>
            <a:off x="7964424" y="4160520"/>
            <a:ext cx="1280160" cy="685800"/>
          </a:xfrm>
          <a:prstGeom prst="rect">
            <a:avLst/>
          </a:prstGeom>
          <a:noFill/>
        </p:spPr>
        <p:txBody>
          <a:bodyPr wrap="square" anchor="t">
            <a:spAutoFit/>
          </a:bodyPr>
          <a:lstStyle/>
          <a:p>
            <a:pPr algn="ctr">
              <a:spcAft>
                <a:spcPts val="400"/>
              </a:spcAft>
            </a:pPr>
            <a:r>
              <a:rPr sz="1100" b="1">
                <a:solidFill>
                  <a:srgbClr val="161B26"/>
                </a:solidFill>
                <a:latin typeface="Arial"/>
              </a:rPr>
              <a:t>Skills check</a:t>
            </a:r>
          </a:p>
        </p:txBody>
      </p:sp>
      <p:sp>
        <p:nvSpPr>
          <p:cNvPr id="20" name="Oval 19"/>
          <p:cNvSpPr/>
          <p:nvPr/>
        </p:nvSpPr>
        <p:spPr>
          <a:xfrm>
            <a:off x="10634472" y="3319272"/>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634472" y="3319272"/>
            <a:ext cx="731520" cy="731520"/>
          </a:xfrm>
          <a:prstGeom prst="rect">
            <a:avLst/>
          </a:prstGeom>
          <a:noFill/>
        </p:spPr>
        <p:txBody>
          <a:bodyPr wrap="square" anchor="ctr">
            <a:spAutoFit/>
          </a:bodyPr>
          <a:lstStyle/>
          <a:p>
            <a:pPr algn="ctr">
              <a:spcAft>
                <a:spcPts val="400"/>
              </a:spcAft>
            </a:pPr>
            <a:r>
              <a:rPr sz="1100" b="1">
                <a:solidFill>
                  <a:srgbClr val="FFFFFF"/>
                </a:solidFill>
                <a:latin typeface="Arial"/>
              </a:rPr>
              <a:t>Day 30</a:t>
            </a:r>
          </a:p>
        </p:txBody>
      </p:sp>
      <p:sp>
        <p:nvSpPr>
          <p:cNvPr id="22" name="TextBox 21"/>
          <p:cNvSpPr txBox="1"/>
          <p:nvPr/>
        </p:nvSpPr>
        <p:spPr>
          <a:xfrm>
            <a:off x="10360152" y="4160520"/>
            <a:ext cx="1280160" cy="685800"/>
          </a:xfrm>
          <a:prstGeom prst="rect">
            <a:avLst/>
          </a:prstGeom>
          <a:noFill/>
        </p:spPr>
        <p:txBody>
          <a:bodyPr wrap="square" anchor="t">
            <a:spAutoFit/>
          </a:bodyPr>
          <a:lstStyle/>
          <a:p>
            <a:pPr algn="ctr">
              <a:spcAft>
                <a:spcPts val="400"/>
              </a:spcAft>
            </a:pPr>
            <a:r>
              <a:rPr sz="1100" b="1">
                <a:solidFill>
                  <a:srgbClr val="161B26"/>
                </a:solidFill>
                <a:latin typeface="Arial"/>
              </a:rPr>
              <a:t>Outcome review</a:t>
            </a:r>
          </a:p>
        </p:txBody>
      </p:sp>
      <p:sp>
        <p:nvSpPr>
          <p:cNvPr id="23" name="Rectangle 22"/>
          <p:cNvSpPr/>
          <p:nvPr/>
        </p:nvSpPr>
        <p:spPr>
          <a:xfrm>
            <a:off x="777240" y="5321808"/>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77240" y="5321808"/>
            <a:ext cx="91440" cy="65836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97280" y="5321808"/>
            <a:ext cx="10058400" cy="658368"/>
          </a:xfrm>
          <a:prstGeom prst="rect">
            <a:avLst/>
          </a:prstGeom>
          <a:noFill/>
        </p:spPr>
        <p:txBody>
          <a:bodyPr wrap="square" anchor="ctr">
            <a:spAutoFit/>
          </a:bodyPr>
          <a:lstStyle/>
          <a:p>
            <a:pPr algn="l">
              <a:spcAft>
                <a:spcPts val="400"/>
              </a:spcAft>
            </a:pPr>
            <a:r>
              <a:rPr sz="1250" b="1">
                <a:solidFill>
                  <a:srgbClr val="161B26"/>
                </a:solidFill>
                <a:latin typeface="Arial"/>
              </a:rPr>
              <a:t>Move account provisioning to the pre-boarding week.</a:t>
            </a:r>
          </a:p>
        </p:txBody>
      </p:sp>
      <p:sp>
        <p:nvSpPr>
          <p:cNvPr id="26" name="TextBox 25"/>
          <p:cNvSpPr txBox="1"/>
          <p:nvPr/>
        </p:nvSpPr>
        <p:spPr>
          <a:xfrm>
            <a:off x="777240" y="6089904"/>
            <a:ext cx="10607040" cy="201168"/>
          </a:xfrm>
          <a:prstGeom prst="rect">
            <a:avLst/>
          </a:prstGeom>
          <a:noFill/>
        </p:spPr>
        <p:txBody>
          <a:bodyPr wrap="square" anchor="t">
            <a:spAutoFit/>
          </a:bodyPr>
          <a:lstStyle/>
          <a:p>
            <a:pPr algn="l">
              <a:spcAft>
                <a:spcPts val="400"/>
              </a:spcAft>
            </a:pPr>
            <a:r>
              <a:rPr sz="850" b="0">
                <a:solidFill>
                  <a:srgbClr val="5B6372"/>
                </a:solidFill>
                <a:latin typeface="Arial"/>
              </a:rPr>
              <a:t>Source: realistic synthetic training scenario created for this course.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54</a:t>
            </a:r>
          </a:p>
        </p:txBody>
      </p:sp>
    </p:spTree>
  </p:cSld>
  <p:clrMapOvr>
    <a:masterClrMapping/>
  </p:clrMapOvr>
  <p:transition spd="fast" advClick="1">
    <p:fade/>
  </p:transition>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REALISTIC WORKPLACE DEMO 04 · PROCESS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Five controls reduce phishing exposure</a:t>
            </a:r>
          </a:p>
        </p:txBody>
      </p:sp>
      <p:sp>
        <p:nvSpPr>
          <p:cNvPr id="6" name="TextBox 5"/>
          <p:cNvSpPr txBox="1"/>
          <p:nvPr/>
        </p:nvSpPr>
        <p:spPr>
          <a:xfrm>
            <a:off x="795528" y="1664208"/>
            <a:ext cx="10607040" cy="365760"/>
          </a:xfrm>
          <a:prstGeom prst="rect">
            <a:avLst/>
          </a:prstGeom>
          <a:noFill/>
        </p:spPr>
        <p:txBody>
          <a:bodyPr wrap="square" anchor="t">
            <a:spAutoFit/>
          </a:bodyPr>
          <a:lstStyle/>
          <a:p>
            <a:pPr algn="l">
              <a:spcAft>
                <a:spcPts val="400"/>
              </a:spcAft>
            </a:pPr>
            <a:r>
              <a:rPr sz="1300" b="0">
                <a:solidFill>
                  <a:srgbClr val="5B6372"/>
                </a:solidFill>
                <a:latin typeface="Arial"/>
              </a:rPr>
              <a:t>Cybersecurity awareness · synthetic training data, not operational evidence</a:t>
            </a:r>
          </a:p>
        </p:txBody>
      </p:sp>
      <p:sp>
        <p:nvSpPr>
          <p:cNvPr id="7" name="Rectangle 6"/>
          <p:cNvSpPr/>
          <p:nvPr/>
        </p:nvSpPr>
        <p:spPr>
          <a:xfrm>
            <a:off x="713232" y="2359152"/>
            <a:ext cx="1874519" cy="2487168"/>
          </a:xfrm>
          <a:prstGeom prst="rect">
            <a:avLst/>
          </a:prstGeom>
          <a:solidFill>
            <a:srgbClr val="F5F8FC"/>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371600" y="2542032"/>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71600" y="2542032"/>
            <a:ext cx="566928" cy="566928"/>
          </a:xfrm>
          <a:prstGeom prst="rect">
            <a:avLst/>
          </a:prstGeom>
          <a:noFill/>
        </p:spPr>
        <p:txBody>
          <a:bodyPr wrap="square" anchor="ctr">
            <a:spAutoFit/>
          </a:bodyPr>
          <a:lstStyle/>
          <a:p>
            <a:pPr algn="ctr">
              <a:spcAft>
                <a:spcPts val="400"/>
              </a:spcAft>
            </a:pPr>
            <a:r>
              <a:rPr sz="1200" b="1">
                <a:solidFill>
                  <a:srgbClr val="FFFFFF"/>
                </a:solidFill>
                <a:latin typeface="Arial"/>
              </a:rPr>
              <a:t>1</a:t>
            </a:r>
          </a:p>
        </p:txBody>
      </p:sp>
      <p:sp>
        <p:nvSpPr>
          <p:cNvPr id="10" name="TextBox 9"/>
          <p:cNvSpPr txBox="1"/>
          <p:nvPr/>
        </p:nvSpPr>
        <p:spPr>
          <a:xfrm>
            <a:off x="859536" y="3273552"/>
            <a:ext cx="1581912" cy="1078992"/>
          </a:xfrm>
          <a:prstGeom prst="rect">
            <a:avLst/>
          </a:prstGeom>
          <a:noFill/>
        </p:spPr>
        <p:txBody>
          <a:bodyPr wrap="square" anchor="ctr">
            <a:spAutoFit/>
          </a:bodyPr>
          <a:lstStyle/>
          <a:p>
            <a:pPr algn="ctr">
              <a:spcAft>
                <a:spcPts val="200"/>
              </a:spcAft>
            </a:pPr>
            <a:r>
              <a:rPr sz="1500" b="1">
                <a:solidFill>
                  <a:srgbClr val="1F6FEB"/>
                </a:solidFill>
                <a:latin typeface="Arial"/>
              </a:rPr>
              <a:t>Detect</a:t>
            </a:r>
          </a:p>
          <a:p>
            <a:pPr algn="ctr">
              <a:spcAft>
                <a:spcPts val="200"/>
              </a:spcAft>
            </a:pPr>
            <a:r>
              <a:rPr sz="1050" b="0">
                <a:solidFill>
                  <a:srgbClr val="161B26"/>
                </a:solidFill>
                <a:latin typeface="Arial"/>
              </a:rPr>
              <a:t>Inspect sender and request</a:t>
            </a:r>
          </a:p>
        </p:txBody>
      </p:sp>
      <p:sp>
        <p:nvSpPr>
          <p:cNvPr id="11" name="Right Arrow 10"/>
          <p:cNvSpPr/>
          <p:nvPr/>
        </p:nvSpPr>
        <p:spPr>
          <a:xfrm>
            <a:off x="2615184" y="3310128"/>
            <a:ext cx="310896" cy="310896"/>
          </a:xfrm>
          <a:prstGeom prst="rightArrow">
            <a:avLst/>
          </a:prstGeom>
          <a:solidFill>
            <a:srgbClr val="5B63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980944" y="2359152"/>
            <a:ext cx="1874519" cy="2487168"/>
          </a:xfrm>
          <a:prstGeom prst="rect">
            <a:avLst/>
          </a:prstGeom>
          <a:solidFill>
            <a:srgbClr val="F5F8FC"/>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3639312" y="2542032"/>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39312" y="2542032"/>
            <a:ext cx="566928" cy="566928"/>
          </a:xfrm>
          <a:prstGeom prst="rect">
            <a:avLst/>
          </a:prstGeom>
          <a:noFill/>
        </p:spPr>
        <p:txBody>
          <a:bodyPr wrap="square" anchor="ctr">
            <a:spAutoFit/>
          </a:bodyPr>
          <a:lstStyle/>
          <a:p>
            <a:pPr algn="ctr">
              <a:spcAft>
                <a:spcPts val="400"/>
              </a:spcAft>
            </a:pPr>
            <a:r>
              <a:rPr sz="1200" b="1">
                <a:solidFill>
                  <a:srgbClr val="FFFFFF"/>
                </a:solidFill>
                <a:latin typeface="Arial"/>
              </a:rPr>
              <a:t>2</a:t>
            </a:r>
          </a:p>
        </p:txBody>
      </p:sp>
      <p:sp>
        <p:nvSpPr>
          <p:cNvPr id="15" name="TextBox 14"/>
          <p:cNvSpPr txBox="1"/>
          <p:nvPr/>
        </p:nvSpPr>
        <p:spPr>
          <a:xfrm>
            <a:off x="3127248" y="3273552"/>
            <a:ext cx="1581912" cy="1078992"/>
          </a:xfrm>
          <a:prstGeom prst="rect">
            <a:avLst/>
          </a:prstGeom>
          <a:noFill/>
        </p:spPr>
        <p:txBody>
          <a:bodyPr wrap="square" anchor="ctr">
            <a:spAutoFit/>
          </a:bodyPr>
          <a:lstStyle/>
          <a:p>
            <a:pPr algn="ctr">
              <a:spcAft>
                <a:spcPts val="200"/>
              </a:spcAft>
            </a:pPr>
            <a:r>
              <a:rPr sz="1500" b="1">
                <a:solidFill>
                  <a:srgbClr val="10B981"/>
                </a:solidFill>
                <a:latin typeface="Arial"/>
              </a:rPr>
              <a:t>Pause</a:t>
            </a:r>
          </a:p>
          <a:p>
            <a:pPr algn="ctr">
              <a:spcAft>
                <a:spcPts val="200"/>
              </a:spcAft>
            </a:pPr>
            <a:r>
              <a:rPr sz="1050" b="0">
                <a:solidFill>
                  <a:srgbClr val="161B26"/>
                </a:solidFill>
                <a:latin typeface="Arial"/>
              </a:rPr>
              <a:t>Do not click or reply</a:t>
            </a:r>
          </a:p>
        </p:txBody>
      </p:sp>
      <p:sp>
        <p:nvSpPr>
          <p:cNvPr id="16" name="Right Arrow 15"/>
          <p:cNvSpPr/>
          <p:nvPr/>
        </p:nvSpPr>
        <p:spPr>
          <a:xfrm>
            <a:off x="4882896" y="3310128"/>
            <a:ext cx="310896" cy="310896"/>
          </a:xfrm>
          <a:prstGeom prst="rightArrow">
            <a:avLst/>
          </a:prstGeom>
          <a:solidFill>
            <a:srgbClr val="5B63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248656" y="2359152"/>
            <a:ext cx="1874519" cy="2487168"/>
          </a:xfrm>
          <a:prstGeom prst="rect">
            <a:avLst/>
          </a:prstGeom>
          <a:solidFill>
            <a:srgbClr val="F5F8FC"/>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5907024" y="2542032"/>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07024" y="2542032"/>
            <a:ext cx="566928" cy="566928"/>
          </a:xfrm>
          <a:prstGeom prst="rect">
            <a:avLst/>
          </a:prstGeom>
          <a:noFill/>
        </p:spPr>
        <p:txBody>
          <a:bodyPr wrap="square" anchor="ctr">
            <a:spAutoFit/>
          </a:bodyPr>
          <a:lstStyle/>
          <a:p>
            <a:pPr algn="ctr">
              <a:spcAft>
                <a:spcPts val="400"/>
              </a:spcAft>
            </a:pPr>
            <a:r>
              <a:rPr sz="1200" b="1">
                <a:solidFill>
                  <a:srgbClr val="FFFFFF"/>
                </a:solidFill>
                <a:latin typeface="Arial"/>
              </a:rPr>
              <a:t>3</a:t>
            </a:r>
          </a:p>
        </p:txBody>
      </p:sp>
      <p:sp>
        <p:nvSpPr>
          <p:cNvPr id="20" name="TextBox 19"/>
          <p:cNvSpPr txBox="1"/>
          <p:nvPr/>
        </p:nvSpPr>
        <p:spPr>
          <a:xfrm>
            <a:off x="5394960" y="3273552"/>
            <a:ext cx="1581912" cy="1078992"/>
          </a:xfrm>
          <a:prstGeom prst="rect">
            <a:avLst/>
          </a:prstGeom>
          <a:noFill/>
        </p:spPr>
        <p:txBody>
          <a:bodyPr wrap="square" anchor="ctr">
            <a:spAutoFit/>
          </a:bodyPr>
          <a:lstStyle/>
          <a:p>
            <a:pPr algn="ctr">
              <a:spcAft>
                <a:spcPts val="200"/>
              </a:spcAft>
            </a:pPr>
            <a:r>
              <a:rPr sz="1500" b="1">
                <a:solidFill>
                  <a:srgbClr val="7C3AED"/>
                </a:solidFill>
                <a:latin typeface="Arial"/>
              </a:rPr>
              <a:t>Verify</a:t>
            </a:r>
          </a:p>
          <a:p>
            <a:pPr algn="ctr">
              <a:spcAft>
                <a:spcPts val="200"/>
              </a:spcAft>
            </a:pPr>
            <a:r>
              <a:rPr sz="1050" b="0">
                <a:solidFill>
                  <a:srgbClr val="161B26"/>
                </a:solidFill>
                <a:latin typeface="Arial"/>
              </a:rPr>
              <a:t>Use a trusted channel</a:t>
            </a:r>
          </a:p>
        </p:txBody>
      </p:sp>
      <p:sp>
        <p:nvSpPr>
          <p:cNvPr id="21" name="Right Arrow 20"/>
          <p:cNvSpPr/>
          <p:nvPr/>
        </p:nvSpPr>
        <p:spPr>
          <a:xfrm>
            <a:off x="7150608" y="3310128"/>
            <a:ext cx="310896" cy="310896"/>
          </a:xfrm>
          <a:prstGeom prst="rightArrow">
            <a:avLst/>
          </a:prstGeom>
          <a:solidFill>
            <a:srgbClr val="5B63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516368" y="2359152"/>
            <a:ext cx="1874519" cy="2487168"/>
          </a:xfrm>
          <a:prstGeom prst="rect">
            <a:avLst/>
          </a:prstGeom>
          <a:solidFill>
            <a:srgbClr val="F5F8FC"/>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174736" y="2542032"/>
            <a:ext cx="566928" cy="56692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74736" y="2542032"/>
            <a:ext cx="566928" cy="566928"/>
          </a:xfrm>
          <a:prstGeom prst="rect">
            <a:avLst/>
          </a:prstGeom>
          <a:noFill/>
        </p:spPr>
        <p:txBody>
          <a:bodyPr wrap="square" anchor="ctr">
            <a:spAutoFit/>
          </a:bodyPr>
          <a:lstStyle/>
          <a:p>
            <a:pPr algn="ctr">
              <a:spcAft>
                <a:spcPts val="400"/>
              </a:spcAft>
            </a:pPr>
            <a:r>
              <a:rPr sz="1200" b="1">
                <a:solidFill>
                  <a:srgbClr val="FFFFFF"/>
                </a:solidFill>
                <a:latin typeface="Arial"/>
              </a:rPr>
              <a:t>4</a:t>
            </a:r>
          </a:p>
        </p:txBody>
      </p:sp>
      <p:sp>
        <p:nvSpPr>
          <p:cNvPr id="25" name="TextBox 24"/>
          <p:cNvSpPr txBox="1"/>
          <p:nvPr/>
        </p:nvSpPr>
        <p:spPr>
          <a:xfrm>
            <a:off x="7662672" y="3273552"/>
            <a:ext cx="1581912" cy="1078992"/>
          </a:xfrm>
          <a:prstGeom prst="rect">
            <a:avLst/>
          </a:prstGeom>
          <a:noFill/>
        </p:spPr>
        <p:txBody>
          <a:bodyPr wrap="square" anchor="ctr">
            <a:spAutoFit/>
          </a:bodyPr>
          <a:lstStyle/>
          <a:p>
            <a:pPr algn="ctr">
              <a:spcAft>
                <a:spcPts val="200"/>
              </a:spcAft>
            </a:pPr>
            <a:r>
              <a:rPr sz="1500" b="1">
                <a:solidFill>
                  <a:srgbClr val="F59E0B"/>
                </a:solidFill>
                <a:latin typeface="Arial"/>
              </a:rPr>
              <a:t>Report</a:t>
            </a:r>
          </a:p>
          <a:p>
            <a:pPr algn="ctr">
              <a:spcAft>
                <a:spcPts val="200"/>
              </a:spcAft>
            </a:pPr>
            <a:r>
              <a:rPr sz="1050" b="0">
                <a:solidFill>
                  <a:srgbClr val="161B26"/>
                </a:solidFill>
                <a:latin typeface="Arial"/>
              </a:rPr>
              <a:t>Forward to security</a:t>
            </a:r>
          </a:p>
        </p:txBody>
      </p:sp>
      <p:sp>
        <p:nvSpPr>
          <p:cNvPr id="26" name="Right Arrow 25"/>
          <p:cNvSpPr/>
          <p:nvPr/>
        </p:nvSpPr>
        <p:spPr>
          <a:xfrm>
            <a:off x="9418320" y="3310128"/>
            <a:ext cx="310896" cy="310896"/>
          </a:xfrm>
          <a:prstGeom prst="rightArrow">
            <a:avLst/>
          </a:prstGeom>
          <a:solidFill>
            <a:srgbClr val="5B63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784080" y="2359152"/>
            <a:ext cx="1874519" cy="2487168"/>
          </a:xfrm>
          <a:prstGeom prst="rect">
            <a:avLst/>
          </a:prstGeom>
          <a:solidFill>
            <a:srgbClr val="F5F8FC"/>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0442448" y="2542032"/>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442448" y="2542032"/>
            <a:ext cx="566928" cy="566928"/>
          </a:xfrm>
          <a:prstGeom prst="rect">
            <a:avLst/>
          </a:prstGeom>
          <a:noFill/>
        </p:spPr>
        <p:txBody>
          <a:bodyPr wrap="square" anchor="ctr">
            <a:spAutoFit/>
          </a:bodyPr>
          <a:lstStyle/>
          <a:p>
            <a:pPr algn="ctr">
              <a:spcAft>
                <a:spcPts val="400"/>
              </a:spcAft>
            </a:pPr>
            <a:r>
              <a:rPr sz="1200" b="1">
                <a:solidFill>
                  <a:srgbClr val="FFFFFF"/>
                </a:solidFill>
                <a:latin typeface="Arial"/>
              </a:rPr>
              <a:t>5</a:t>
            </a:r>
          </a:p>
        </p:txBody>
      </p:sp>
      <p:sp>
        <p:nvSpPr>
          <p:cNvPr id="30" name="TextBox 29"/>
          <p:cNvSpPr txBox="1"/>
          <p:nvPr/>
        </p:nvSpPr>
        <p:spPr>
          <a:xfrm>
            <a:off x="9930384" y="3273552"/>
            <a:ext cx="1581912" cy="1078992"/>
          </a:xfrm>
          <a:prstGeom prst="rect">
            <a:avLst/>
          </a:prstGeom>
          <a:noFill/>
        </p:spPr>
        <p:txBody>
          <a:bodyPr wrap="square" anchor="ctr">
            <a:spAutoFit/>
          </a:bodyPr>
          <a:lstStyle/>
          <a:p>
            <a:pPr algn="ctr">
              <a:spcAft>
                <a:spcPts val="200"/>
              </a:spcAft>
            </a:pPr>
            <a:r>
              <a:rPr sz="1500" b="1">
                <a:solidFill>
                  <a:srgbClr val="1F6FEB"/>
                </a:solidFill>
                <a:latin typeface="Arial"/>
              </a:rPr>
              <a:t>Learn</a:t>
            </a:r>
          </a:p>
          <a:p>
            <a:pPr algn="ctr">
              <a:spcAft>
                <a:spcPts val="200"/>
              </a:spcAft>
            </a:pPr>
            <a:r>
              <a:rPr sz="1050" b="0">
                <a:solidFill>
                  <a:srgbClr val="161B26"/>
                </a:solidFill>
                <a:latin typeface="Arial"/>
              </a:rPr>
              <a:t>Apply the feedback</a:t>
            </a:r>
          </a:p>
        </p:txBody>
      </p:sp>
      <p:sp>
        <p:nvSpPr>
          <p:cNvPr id="31" name="Rectangle 30"/>
          <p:cNvSpPr/>
          <p:nvPr/>
        </p:nvSpPr>
        <p:spPr>
          <a:xfrm>
            <a:off x="777240" y="5321808"/>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77240" y="5321808"/>
            <a:ext cx="91440" cy="6583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97280" y="5321808"/>
            <a:ext cx="10058400" cy="658368"/>
          </a:xfrm>
          <a:prstGeom prst="rect">
            <a:avLst/>
          </a:prstGeom>
          <a:noFill/>
        </p:spPr>
        <p:txBody>
          <a:bodyPr wrap="square" anchor="ctr">
            <a:spAutoFit/>
          </a:bodyPr>
          <a:lstStyle/>
          <a:p>
            <a:pPr algn="l">
              <a:spcAft>
                <a:spcPts val="400"/>
              </a:spcAft>
            </a:pPr>
            <a:r>
              <a:rPr sz="1250" b="1">
                <a:solidFill>
                  <a:srgbClr val="161B26"/>
                </a:solidFill>
                <a:latin typeface="Arial"/>
              </a:rPr>
              <a:t>Make the reporting step visible beside every email client shortcut.</a:t>
            </a:r>
          </a:p>
        </p:txBody>
      </p:sp>
      <p:sp>
        <p:nvSpPr>
          <p:cNvPr id="34" name="TextBox 33"/>
          <p:cNvSpPr txBox="1"/>
          <p:nvPr/>
        </p:nvSpPr>
        <p:spPr>
          <a:xfrm>
            <a:off x="777240" y="6089904"/>
            <a:ext cx="10607040" cy="201168"/>
          </a:xfrm>
          <a:prstGeom prst="rect">
            <a:avLst/>
          </a:prstGeom>
          <a:noFill/>
        </p:spPr>
        <p:txBody>
          <a:bodyPr wrap="square" anchor="t">
            <a:spAutoFit/>
          </a:bodyPr>
          <a:lstStyle/>
          <a:p>
            <a:pPr algn="l">
              <a:spcAft>
                <a:spcPts val="400"/>
              </a:spcAft>
            </a:pPr>
            <a:r>
              <a:rPr sz="850" b="0">
                <a:solidFill>
                  <a:srgbClr val="5B6372"/>
                </a:solidFill>
                <a:latin typeface="Arial"/>
              </a:rPr>
              <a:t>Source: realistic synthetic training scenario created for this course.</a:t>
            </a:r>
          </a:p>
        </p:txBody>
      </p:sp>
      <p:sp>
        <p:nvSpPr>
          <p:cNvPr id="35" name="TextBox 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36" name="TextBox 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55</a:t>
            </a:r>
          </a:p>
        </p:txBody>
      </p:sp>
    </p:spTree>
  </p:cSld>
  <p:clrMapOvr>
    <a:masterClrMapping/>
  </p:clrMapOvr>
  <p:transition spd="fast" advClick="1">
    <p:fade/>
  </p:transition>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REALISTIC WORKPLACE DEMO 05 · CYCLE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Customer feedback becomes a monthly improvement loop</a:t>
            </a:r>
          </a:p>
        </p:txBody>
      </p:sp>
      <p:sp>
        <p:nvSpPr>
          <p:cNvPr id="6" name="TextBox 5"/>
          <p:cNvSpPr txBox="1"/>
          <p:nvPr/>
        </p:nvSpPr>
        <p:spPr>
          <a:xfrm>
            <a:off x="795528" y="1664208"/>
            <a:ext cx="10607040" cy="365760"/>
          </a:xfrm>
          <a:prstGeom prst="rect">
            <a:avLst/>
          </a:prstGeom>
          <a:noFill/>
        </p:spPr>
        <p:txBody>
          <a:bodyPr wrap="square" anchor="t">
            <a:spAutoFit/>
          </a:bodyPr>
          <a:lstStyle/>
          <a:p>
            <a:pPr algn="l">
              <a:spcAft>
                <a:spcPts val="400"/>
              </a:spcAft>
            </a:pPr>
            <a:r>
              <a:rPr sz="1300" b="0">
                <a:solidFill>
                  <a:srgbClr val="5B6372"/>
                </a:solidFill>
                <a:latin typeface="Arial"/>
              </a:rPr>
              <a:t>Service improvement · synthetic training data, not operational evidence</a:t>
            </a:r>
          </a:p>
        </p:txBody>
      </p:sp>
      <p:cxnSp>
        <p:nvCxnSpPr>
          <p:cNvPr id="7" name="Connector 6"/>
          <p:cNvCxnSpPr/>
          <p:nvPr/>
        </p:nvCxnSpPr>
        <p:spPr>
          <a:xfrm>
            <a:off x="6080760" y="2286000"/>
            <a:ext cx="3565547" cy="852977"/>
          </a:xfrm>
          <a:prstGeom prst="line">
            <a:avLst/>
          </a:prstGeom>
          <a:ln w="31750">
            <a:solidFill>
              <a:srgbClr val="1F6FEB"/>
            </a:solidFill>
          </a:ln>
        </p:spPr>
        <p:style>
          <a:lnRef idx="2">
            <a:schemeClr val="accent1"/>
          </a:lnRef>
          <a:fillRef idx="0">
            <a:schemeClr val="accent1"/>
          </a:fillRef>
          <a:effectRef idx="1">
            <a:schemeClr val="accent1"/>
          </a:effectRef>
          <a:fontRef idx="minor">
            <a:schemeClr val="tx1"/>
          </a:fontRef>
        </p:style>
      </p:cxnSp>
      <p:sp>
        <p:nvSpPr>
          <p:cNvPr id="8" name="Isosceles Triangle 7"/>
          <p:cNvSpPr/>
          <p:nvPr/>
        </p:nvSpPr>
        <p:spPr>
          <a:xfrm rot="6207233">
            <a:off x="7914715" y="2655167"/>
            <a:ext cx="182880" cy="182880"/>
          </a:xfrm>
          <a:prstGeom prst="triangl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 name="Connector 8"/>
          <p:cNvCxnSpPr/>
          <p:nvPr/>
        </p:nvCxnSpPr>
        <p:spPr>
          <a:xfrm flipH="1">
            <a:off x="8284389" y="3138977"/>
            <a:ext cx="1361918" cy="1380145"/>
          </a:xfrm>
          <a:prstGeom prst="line">
            <a:avLst/>
          </a:prstGeom>
          <a:ln w="31750">
            <a:solidFill>
              <a:srgbClr val="1F6FEB"/>
            </a:solidFill>
          </a:ln>
        </p:spPr>
        <p:style>
          <a:lnRef idx="2">
            <a:schemeClr val="accent1"/>
          </a:lnRef>
          <a:fillRef idx="0">
            <a:schemeClr val="accent1"/>
          </a:fillRef>
          <a:effectRef idx="1">
            <a:schemeClr val="accent1"/>
          </a:effectRef>
          <a:fontRef idx="minor">
            <a:schemeClr val="tx1"/>
          </a:fontRef>
        </p:style>
      </p:cxnSp>
      <p:sp>
        <p:nvSpPr>
          <p:cNvPr id="10" name="Isosceles Triangle 9"/>
          <p:cNvSpPr/>
          <p:nvPr/>
        </p:nvSpPr>
        <p:spPr>
          <a:xfrm rot="13477149">
            <a:off x="8819431" y="3792815"/>
            <a:ext cx="182880" cy="182880"/>
          </a:xfrm>
          <a:prstGeom prst="triangl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flipH="1">
            <a:off x="3877130" y="4519122"/>
            <a:ext cx="4407259" cy="0"/>
          </a:xfrm>
          <a:prstGeom prst="line">
            <a:avLst/>
          </a:prstGeom>
          <a:ln w="31750">
            <a:solidFill>
              <a:srgbClr val="1F6FEB"/>
            </a:solidFill>
          </a:ln>
        </p:spPr>
        <p:style>
          <a:lnRef idx="2">
            <a:schemeClr val="accent1"/>
          </a:lnRef>
          <a:fillRef idx="0">
            <a:schemeClr val="accent1"/>
          </a:fillRef>
          <a:effectRef idx="1">
            <a:schemeClr val="accent1"/>
          </a:effectRef>
          <a:fontRef idx="minor">
            <a:schemeClr val="tx1"/>
          </a:fontRef>
        </p:style>
      </p:cxnSp>
      <p:sp>
        <p:nvSpPr>
          <p:cNvPr id="12" name="Isosceles Triangle 11"/>
          <p:cNvSpPr/>
          <p:nvPr/>
        </p:nvSpPr>
        <p:spPr>
          <a:xfrm rot="16200000">
            <a:off x="5813029" y="4427682"/>
            <a:ext cx="182880" cy="182880"/>
          </a:xfrm>
          <a:prstGeom prst="triangl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3" name="Connector 12"/>
          <p:cNvCxnSpPr/>
          <p:nvPr/>
        </p:nvCxnSpPr>
        <p:spPr>
          <a:xfrm flipH="1" flipV="1">
            <a:off x="2515212" y="3138977"/>
            <a:ext cx="1361918" cy="1380145"/>
          </a:xfrm>
          <a:prstGeom prst="line">
            <a:avLst/>
          </a:prstGeom>
          <a:ln w="31750">
            <a:solidFill>
              <a:srgbClr val="1F6FEB"/>
            </a:solidFill>
          </a:ln>
        </p:spPr>
        <p:style>
          <a:lnRef idx="2">
            <a:schemeClr val="accent1"/>
          </a:lnRef>
          <a:fillRef idx="0">
            <a:schemeClr val="accent1"/>
          </a:fillRef>
          <a:effectRef idx="1">
            <a:schemeClr val="accent1"/>
          </a:effectRef>
          <a:fontRef idx="minor">
            <a:schemeClr val="tx1"/>
          </a:fontRef>
        </p:style>
      </p:cxnSp>
      <p:sp>
        <p:nvSpPr>
          <p:cNvPr id="14" name="Isosceles Triangle 13"/>
          <p:cNvSpPr/>
          <p:nvPr/>
        </p:nvSpPr>
        <p:spPr>
          <a:xfrm rot="18922851">
            <a:off x="3050254" y="3682403"/>
            <a:ext cx="182880" cy="182880"/>
          </a:xfrm>
          <a:prstGeom prst="triangl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 name="Connector 14"/>
          <p:cNvCxnSpPr/>
          <p:nvPr/>
        </p:nvCxnSpPr>
        <p:spPr>
          <a:xfrm flipV="1">
            <a:off x="2515212" y="2286000"/>
            <a:ext cx="3565548" cy="852977"/>
          </a:xfrm>
          <a:prstGeom prst="line">
            <a:avLst/>
          </a:prstGeom>
          <a:ln w="31750">
            <a:solidFill>
              <a:srgbClr val="1F6FEB"/>
            </a:solidFill>
          </a:ln>
        </p:spPr>
        <p:style>
          <a:lnRef idx="2">
            <a:schemeClr val="accent1"/>
          </a:lnRef>
          <a:fillRef idx="0">
            <a:schemeClr val="accent1"/>
          </a:fillRef>
          <a:effectRef idx="1">
            <a:schemeClr val="accent1"/>
          </a:effectRef>
          <a:fontRef idx="minor">
            <a:schemeClr val="tx1"/>
          </a:fontRef>
        </p:style>
      </p:cxnSp>
      <p:sp>
        <p:nvSpPr>
          <p:cNvPr id="16" name="Isosceles Triangle 15"/>
          <p:cNvSpPr/>
          <p:nvPr/>
        </p:nvSpPr>
        <p:spPr>
          <a:xfrm rot="4592768">
            <a:off x="4349167" y="2586929"/>
            <a:ext cx="182880" cy="182880"/>
          </a:xfrm>
          <a:prstGeom prst="triangl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5257800" y="2971800"/>
            <a:ext cx="1645920" cy="109728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257800" y="2971800"/>
            <a:ext cx="1645920" cy="1097280"/>
          </a:xfrm>
          <a:prstGeom prst="rect">
            <a:avLst/>
          </a:prstGeom>
          <a:noFill/>
        </p:spPr>
        <p:txBody>
          <a:bodyPr wrap="square" anchor="ctr">
            <a:spAutoFit/>
          </a:bodyPr>
          <a:lstStyle/>
          <a:p>
            <a:pPr algn="ctr">
              <a:spcAft>
                <a:spcPts val="400"/>
              </a:spcAft>
            </a:pPr>
            <a:r>
              <a:rPr sz="1400" b="1">
                <a:solidFill>
                  <a:srgbClr val="FFFFFF"/>
                </a:solidFill>
                <a:latin typeface="Arial"/>
              </a:rPr>
              <a:t>IMPROVE</a:t>
            </a:r>
          </a:p>
        </p:txBody>
      </p:sp>
      <p:sp>
        <p:nvSpPr>
          <p:cNvPr id="19" name="Rectangle 18"/>
          <p:cNvSpPr/>
          <p:nvPr/>
        </p:nvSpPr>
        <p:spPr>
          <a:xfrm>
            <a:off x="5257800" y="1901952"/>
            <a:ext cx="1645920" cy="768096"/>
          </a:xfrm>
          <a:prstGeom prst="rect">
            <a:avLst/>
          </a:prstGeom>
          <a:solidFill>
            <a:srgbClr val="F5F8FC"/>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30952" y="1975104"/>
            <a:ext cx="1499616" cy="621792"/>
          </a:xfrm>
          <a:prstGeom prst="rect">
            <a:avLst/>
          </a:prstGeom>
          <a:noFill/>
        </p:spPr>
        <p:txBody>
          <a:bodyPr wrap="square" anchor="ctr">
            <a:spAutoFit/>
          </a:bodyPr>
          <a:lstStyle/>
          <a:p>
            <a:pPr algn="ctr">
              <a:spcAft>
                <a:spcPts val="0"/>
              </a:spcAft>
            </a:pPr>
            <a:r>
              <a:rPr sz="1100" b="1">
                <a:solidFill>
                  <a:srgbClr val="1F6FEB"/>
                </a:solidFill>
                <a:latin typeface="Arial"/>
              </a:rPr>
              <a:t>Listen</a:t>
            </a:r>
          </a:p>
          <a:p>
            <a:pPr algn="ctr">
              <a:spcAft>
                <a:spcPts val="0"/>
              </a:spcAft>
            </a:pPr>
            <a:r>
              <a:rPr sz="850" b="0">
                <a:solidFill>
                  <a:srgbClr val="5B6372"/>
                </a:solidFill>
                <a:latin typeface="Arial"/>
              </a:rPr>
              <a:t>Collect feedback</a:t>
            </a:r>
          </a:p>
        </p:txBody>
      </p:sp>
      <p:sp>
        <p:nvSpPr>
          <p:cNvPr id="21" name="Rectangle 20"/>
          <p:cNvSpPr/>
          <p:nvPr/>
        </p:nvSpPr>
        <p:spPr>
          <a:xfrm>
            <a:off x="8823347" y="2754929"/>
            <a:ext cx="1645920" cy="768096"/>
          </a:xfrm>
          <a:prstGeom prst="rect">
            <a:avLst/>
          </a:prstGeom>
          <a:solidFill>
            <a:srgbClr val="F5F8FC"/>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96499" y="2828081"/>
            <a:ext cx="1499616" cy="621792"/>
          </a:xfrm>
          <a:prstGeom prst="rect">
            <a:avLst/>
          </a:prstGeom>
          <a:noFill/>
        </p:spPr>
        <p:txBody>
          <a:bodyPr wrap="square" anchor="ctr">
            <a:spAutoFit/>
          </a:bodyPr>
          <a:lstStyle/>
          <a:p>
            <a:pPr algn="ctr">
              <a:spcAft>
                <a:spcPts val="0"/>
              </a:spcAft>
            </a:pPr>
            <a:r>
              <a:rPr sz="1100" b="1">
                <a:solidFill>
                  <a:srgbClr val="1F6FEB"/>
                </a:solidFill>
                <a:latin typeface="Arial"/>
              </a:rPr>
              <a:t>Diagnose</a:t>
            </a:r>
          </a:p>
          <a:p>
            <a:pPr algn="ctr">
              <a:spcAft>
                <a:spcPts val="0"/>
              </a:spcAft>
            </a:pPr>
            <a:r>
              <a:rPr sz="850" b="0">
                <a:solidFill>
                  <a:srgbClr val="5B6372"/>
                </a:solidFill>
                <a:latin typeface="Arial"/>
              </a:rPr>
              <a:t>Group causes</a:t>
            </a:r>
          </a:p>
        </p:txBody>
      </p:sp>
      <p:sp>
        <p:nvSpPr>
          <p:cNvPr id="23" name="Rectangle 22"/>
          <p:cNvSpPr/>
          <p:nvPr/>
        </p:nvSpPr>
        <p:spPr>
          <a:xfrm>
            <a:off x="7461429" y="4135074"/>
            <a:ext cx="1645920" cy="768096"/>
          </a:xfrm>
          <a:prstGeom prst="rect">
            <a:avLst/>
          </a:prstGeom>
          <a:solidFill>
            <a:srgbClr val="F5F8FC"/>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534581" y="4208226"/>
            <a:ext cx="1499616" cy="621792"/>
          </a:xfrm>
          <a:prstGeom prst="rect">
            <a:avLst/>
          </a:prstGeom>
          <a:noFill/>
        </p:spPr>
        <p:txBody>
          <a:bodyPr wrap="square" anchor="ctr">
            <a:spAutoFit/>
          </a:bodyPr>
          <a:lstStyle/>
          <a:p>
            <a:pPr algn="ctr">
              <a:spcAft>
                <a:spcPts val="0"/>
              </a:spcAft>
            </a:pPr>
            <a:r>
              <a:rPr sz="1100" b="1">
                <a:solidFill>
                  <a:srgbClr val="1F6FEB"/>
                </a:solidFill>
                <a:latin typeface="Arial"/>
              </a:rPr>
              <a:t>Prioritise</a:t>
            </a:r>
          </a:p>
          <a:p>
            <a:pPr algn="ctr">
              <a:spcAft>
                <a:spcPts val="0"/>
              </a:spcAft>
            </a:pPr>
            <a:r>
              <a:rPr sz="850" b="0">
                <a:solidFill>
                  <a:srgbClr val="5B6372"/>
                </a:solidFill>
                <a:latin typeface="Arial"/>
              </a:rPr>
              <a:t>Choose one issue</a:t>
            </a:r>
          </a:p>
        </p:txBody>
      </p:sp>
      <p:sp>
        <p:nvSpPr>
          <p:cNvPr id="25" name="Rectangle 24"/>
          <p:cNvSpPr/>
          <p:nvPr/>
        </p:nvSpPr>
        <p:spPr>
          <a:xfrm>
            <a:off x="3054170" y="4135074"/>
            <a:ext cx="1645920" cy="768096"/>
          </a:xfrm>
          <a:prstGeom prst="rect">
            <a:avLst/>
          </a:prstGeom>
          <a:solidFill>
            <a:srgbClr val="F5F8FC"/>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127322" y="4208226"/>
            <a:ext cx="1499616" cy="621792"/>
          </a:xfrm>
          <a:prstGeom prst="rect">
            <a:avLst/>
          </a:prstGeom>
          <a:noFill/>
        </p:spPr>
        <p:txBody>
          <a:bodyPr wrap="square" anchor="ctr">
            <a:spAutoFit/>
          </a:bodyPr>
          <a:lstStyle/>
          <a:p>
            <a:pPr algn="ctr">
              <a:spcAft>
                <a:spcPts val="0"/>
              </a:spcAft>
            </a:pPr>
            <a:r>
              <a:rPr sz="1100" b="1">
                <a:solidFill>
                  <a:srgbClr val="1F6FEB"/>
                </a:solidFill>
                <a:latin typeface="Arial"/>
              </a:rPr>
              <a:t>Improve</a:t>
            </a:r>
          </a:p>
          <a:p>
            <a:pPr algn="ctr">
              <a:spcAft>
                <a:spcPts val="0"/>
              </a:spcAft>
            </a:pPr>
            <a:r>
              <a:rPr sz="850" b="0">
                <a:solidFill>
                  <a:srgbClr val="5B6372"/>
                </a:solidFill>
                <a:latin typeface="Arial"/>
              </a:rPr>
              <a:t>Test the change</a:t>
            </a:r>
          </a:p>
        </p:txBody>
      </p:sp>
      <p:sp>
        <p:nvSpPr>
          <p:cNvPr id="27" name="Rectangle 26"/>
          <p:cNvSpPr/>
          <p:nvPr/>
        </p:nvSpPr>
        <p:spPr>
          <a:xfrm>
            <a:off x="1692252" y="2754929"/>
            <a:ext cx="1645920" cy="768096"/>
          </a:xfrm>
          <a:prstGeom prst="rect">
            <a:avLst/>
          </a:prstGeom>
          <a:solidFill>
            <a:srgbClr val="F5F8FC"/>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765404" y="2828081"/>
            <a:ext cx="1499616" cy="621792"/>
          </a:xfrm>
          <a:prstGeom prst="rect">
            <a:avLst/>
          </a:prstGeom>
          <a:noFill/>
        </p:spPr>
        <p:txBody>
          <a:bodyPr wrap="square" anchor="ctr">
            <a:spAutoFit/>
          </a:bodyPr>
          <a:lstStyle/>
          <a:p>
            <a:pPr algn="ctr">
              <a:spcAft>
                <a:spcPts val="0"/>
              </a:spcAft>
            </a:pPr>
            <a:r>
              <a:rPr sz="1100" b="1">
                <a:solidFill>
                  <a:srgbClr val="1F6FEB"/>
                </a:solidFill>
                <a:latin typeface="Arial"/>
              </a:rPr>
              <a:t>Measure</a:t>
            </a:r>
          </a:p>
          <a:p>
            <a:pPr algn="ctr">
              <a:spcAft>
                <a:spcPts val="0"/>
              </a:spcAft>
            </a:pPr>
            <a:r>
              <a:rPr sz="850" b="0">
                <a:solidFill>
                  <a:srgbClr val="5B6372"/>
                </a:solidFill>
                <a:latin typeface="Arial"/>
              </a:rPr>
              <a:t>Compare outcome</a:t>
            </a:r>
          </a:p>
        </p:txBody>
      </p:sp>
      <p:sp>
        <p:nvSpPr>
          <p:cNvPr id="29" name="Rectangle 28"/>
          <p:cNvSpPr/>
          <p:nvPr/>
        </p:nvSpPr>
        <p:spPr>
          <a:xfrm>
            <a:off x="777240" y="5321808"/>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77240" y="5321808"/>
            <a:ext cx="91440" cy="6583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97280" y="5321808"/>
            <a:ext cx="10058400" cy="658368"/>
          </a:xfrm>
          <a:prstGeom prst="rect">
            <a:avLst/>
          </a:prstGeom>
          <a:noFill/>
        </p:spPr>
        <p:txBody>
          <a:bodyPr wrap="square" anchor="ctr">
            <a:spAutoFit/>
          </a:bodyPr>
          <a:lstStyle/>
          <a:p>
            <a:pPr algn="l">
              <a:spcAft>
                <a:spcPts val="400"/>
              </a:spcAft>
            </a:pPr>
            <a:r>
              <a:rPr sz="1250" b="1">
                <a:solidFill>
                  <a:srgbClr val="161B26"/>
                </a:solidFill>
                <a:latin typeface="Arial"/>
              </a:rPr>
              <a:t>Close each monthly cycle with one owned experiment.</a:t>
            </a:r>
          </a:p>
        </p:txBody>
      </p:sp>
      <p:sp>
        <p:nvSpPr>
          <p:cNvPr id="32" name="TextBox 31"/>
          <p:cNvSpPr txBox="1"/>
          <p:nvPr/>
        </p:nvSpPr>
        <p:spPr>
          <a:xfrm>
            <a:off x="777240" y="6089904"/>
            <a:ext cx="10607040" cy="201168"/>
          </a:xfrm>
          <a:prstGeom prst="rect">
            <a:avLst/>
          </a:prstGeom>
          <a:noFill/>
        </p:spPr>
        <p:txBody>
          <a:bodyPr wrap="square" anchor="t">
            <a:spAutoFit/>
          </a:bodyPr>
          <a:lstStyle/>
          <a:p>
            <a:pPr algn="l">
              <a:spcAft>
                <a:spcPts val="400"/>
              </a:spcAft>
            </a:pPr>
            <a:r>
              <a:rPr sz="850" b="0">
                <a:solidFill>
                  <a:srgbClr val="5B6372"/>
                </a:solidFill>
                <a:latin typeface="Arial"/>
              </a:rPr>
              <a:t>Source: realistic synthetic training scenario created for this course.</a:t>
            </a:r>
          </a:p>
        </p:txBody>
      </p:sp>
      <p:sp>
        <p:nvSpPr>
          <p:cNvPr id="33" name="TextBox 3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34" name="TextBox 3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5" name="TextBox 3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56</a:t>
            </a:r>
          </a:p>
        </p:txBody>
      </p:sp>
    </p:spTree>
  </p:cSld>
  <p:clrMapOvr>
    <a:masterClrMapping/>
  </p:clrMapOvr>
  <p:transition spd="fast" advClick="1">
    <p:fade/>
  </p:transition>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REALISTIC WORKPLACE DEMO 06 · FUNNEL</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Trial activation is the largest conversion loss</a:t>
            </a:r>
          </a:p>
        </p:txBody>
      </p:sp>
      <p:sp>
        <p:nvSpPr>
          <p:cNvPr id="6" name="TextBox 5"/>
          <p:cNvSpPr txBox="1"/>
          <p:nvPr/>
        </p:nvSpPr>
        <p:spPr>
          <a:xfrm>
            <a:off x="795528" y="1664208"/>
            <a:ext cx="10607040" cy="365760"/>
          </a:xfrm>
          <a:prstGeom prst="rect">
            <a:avLst/>
          </a:prstGeom>
          <a:noFill/>
        </p:spPr>
        <p:txBody>
          <a:bodyPr wrap="square" anchor="t">
            <a:spAutoFit/>
          </a:bodyPr>
          <a:lstStyle/>
          <a:p>
            <a:pPr algn="l">
              <a:spcAft>
                <a:spcPts val="400"/>
              </a:spcAft>
            </a:pPr>
            <a:r>
              <a:rPr sz="1300" b="0">
                <a:solidFill>
                  <a:srgbClr val="5B6372"/>
                </a:solidFill>
                <a:latin typeface="Arial"/>
              </a:rPr>
              <a:t>SaaS adoption · synthetic training data, not operational evidence</a:t>
            </a:r>
          </a:p>
        </p:txBody>
      </p:sp>
      <p:sp>
        <p:nvSpPr>
          <p:cNvPr id="7" name="Rectangle 6"/>
          <p:cNvSpPr/>
          <p:nvPr/>
        </p:nvSpPr>
        <p:spPr>
          <a:xfrm>
            <a:off x="1706727" y="2057400"/>
            <a:ext cx="8778240" cy="51206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706727" y="2057400"/>
            <a:ext cx="8778240" cy="512064"/>
          </a:xfrm>
          <a:prstGeom prst="rect">
            <a:avLst/>
          </a:prstGeom>
          <a:noFill/>
        </p:spPr>
        <p:txBody>
          <a:bodyPr wrap="square" anchor="ctr">
            <a:spAutoFit/>
          </a:bodyPr>
          <a:lstStyle/>
          <a:p>
            <a:pPr algn="ctr">
              <a:spcAft>
                <a:spcPts val="400"/>
              </a:spcAft>
            </a:pPr>
            <a:r>
              <a:rPr sz="1300" b="1">
                <a:solidFill>
                  <a:srgbClr val="FFFFFF"/>
                </a:solidFill>
                <a:latin typeface="Arial"/>
              </a:rPr>
              <a:t>10,000  </a:t>
            </a:r>
            <a:r>
              <a:rPr sz="1200" b="0">
                <a:solidFill>
                  <a:srgbClr val="FFFFFF"/>
                </a:solidFill>
                <a:latin typeface="Arial"/>
              </a:rPr>
              <a:t>visitors</a:t>
            </a:r>
          </a:p>
        </p:txBody>
      </p:sp>
      <p:sp>
        <p:nvSpPr>
          <p:cNvPr id="9" name="Rectangle 8"/>
          <p:cNvSpPr/>
          <p:nvPr/>
        </p:nvSpPr>
        <p:spPr>
          <a:xfrm>
            <a:off x="2323947" y="2715768"/>
            <a:ext cx="7543800" cy="5120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23947" y="2715768"/>
            <a:ext cx="7543800" cy="512064"/>
          </a:xfrm>
          <a:prstGeom prst="rect">
            <a:avLst/>
          </a:prstGeom>
          <a:noFill/>
        </p:spPr>
        <p:txBody>
          <a:bodyPr wrap="square" anchor="ctr">
            <a:spAutoFit/>
          </a:bodyPr>
          <a:lstStyle/>
          <a:p>
            <a:pPr algn="ctr">
              <a:spcAft>
                <a:spcPts val="400"/>
              </a:spcAft>
            </a:pPr>
            <a:r>
              <a:rPr sz="1300" b="1">
                <a:solidFill>
                  <a:srgbClr val="FFFFFF"/>
                </a:solidFill>
                <a:latin typeface="Arial"/>
              </a:rPr>
              <a:t>4,200  </a:t>
            </a:r>
            <a:r>
              <a:rPr sz="1200" b="0">
                <a:solidFill>
                  <a:srgbClr val="FFFFFF"/>
                </a:solidFill>
                <a:latin typeface="Arial"/>
              </a:rPr>
              <a:t>sign-ups</a:t>
            </a:r>
          </a:p>
        </p:txBody>
      </p:sp>
      <p:sp>
        <p:nvSpPr>
          <p:cNvPr id="11" name="Rectangle 10"/>
          <p:cNvSpPr/>
          <p:nvPr/>
        </p:nvSpPr>
        <p:spPr>
          <a:xfrm>
            <a:off x="2941167" y="3374136"/>
            <a:ext cx="6309360" cy="51206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41167" y="3374136"/>
            <a:ext cx="6309360" cy="512064"/>
          </a:xfrm>
          <a:prstGeom prst="rect">
            <a:avLst/>
          </a:prstGeom>
          <a:noFill/>
        </p:spPr>
        <p:txBody>
          <a:bodyPr wrap="square" anchor="ctr">
            <a:spAutoFit/>
          </a:bodyPr>
          <a:lstStyle/>
          <a:p>
            <a:pPr algn="ctr">
              <a:spcAft>
                <a:spcPts val="400"/>
              </a:spcAft>
            </a:pPr>
            <a:r>
              <a:rPr sz="1300" b="1">
                <a:solidFill>
                  <a:srgbClr val="FFFFFF"/>
                </a:solidFill>
                <a:latin typeface="Arial"/>
              </a:rPr>
              <a:t>2,100  </a:t>
            </a:r>
            <a:r>
              <a:rPr sz="1200" b="0">
                <a:solidFill>
                  <a:srgbClr val="FFFFFF"/>
                </a:solidFill>
                <a:latin typeface="Arial"/>
              </a:rPr>
              <a:t>activated</a:t>
            </a:r>
          </a:p>
        </p:txBody>
      </p:sp>
      <p:sp>
        <p:nvSpPr>
          <p:cNvPr id="13" name="Rectangle 12"/>
          <p:cNvSpPr/>
          <p:nvPr/>
        </p:nvSpPr>
        <p:spPr>
          <a:xfrm>
            <a:off x="3558387" y="4032504"/>
            <a:ext cx="5074920" cy="5120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58387" y="4032504"/>
            <a:ext cx="5074920" cy="512064"/>
          </a:xfrm>
          <a:prstGeom prst="rect">
            <a:avLst/>
          </a:prstGeom>
          <a:noFill/>
        </p:spPr>
        <p:txBody>
          <a:bodyPr wrap="square" anchor="ctr">
            <a:spAutoFit/>
          </a:bodyPr>
          <a:lstStyle/>
          <a:p>
            <a:pPr algn="ctr">
              <a:spcAft>
                <a:spcPts val="400"/>
              </a:spcAft>
            </a:pPr>
            <a:r>
              <a:rPr sz="1300" b="1">
                <a:solidFill>
                  <a:srgbClr val="FFFFFF"/>
                </a:solidFill>
                <a:latin typeface="Arial"/>
              </a:rPr>
              <a:t>1,260  </a:t>
            </a:r>
            <a:r>
              <a:rPr sz="1200" b="0">
                <a:solidFill>
                  <a:srgbClr val="FFFFFF"/>
                </a:solidFill>
                <a:latin typeface="Arial"/>
              </a:rPr>
              <a:t>weekly users</a:t>
            </a:r>
          </a:p>
        </p:txBody>
      </p:sp>
      <p:sp>
        <p:nvSpPr>
          <p:cNvPr id="15" name="Rectangle 14"/>
          <p:cNvSpPr/>
          <p:nvPr/>
        </p:nvSpPr>
        <p:spPr>
          <a:xfrm>
            <a:off x="4175607" y="4690872"/>
            <a:ext cx="3840480" cy="51206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175607" y="4690872"/>
            <a:ext cx="3840480" cy="512064"/>
          </a:xfrm>
          <a:prstGeom prst="rect">
            <a:avLst/>
          </a:prstGeom>
          <a:noFill/>
        </p:spPr>
        <p:txBody>
          <a:bodyPr wrap="square" anchor="ctr">
            <a:spAutoFit/>
          </a:bodyPr>
          <a:lstStyle/>
          <a:p>
            <a:pPr algn="ctr">
              <a:spcAft>
                <a:spcPts val="400"/>
              </a:spcAft>
            </a:pPr>
            <a:r>
              <a:rPr sz="1300" b="1">
                <a:solidFill>
                  <a:srgbClr val="FFFFFF"/>
                </a:solidFill>
                <a:latin typeface="Arial"/>
              </a:rPr>
              <a:t>630  </a:t>
            </a:r>
            <a:r>
              <a:rPr sz="1200" b="0">
                <a:solidFill>
                  <a:srgbClr val="FFFFFF"/>
                </a:solidFill>
                <a:latin typeface="Arial"/>
              </a:rPr>
              <a:t>paid</a:t>
            </a:r>
          </a:p>
        </p:txBody>
      </p:sp>
      <p:sp>
        <p:nvSpPr>
          <p:cNvPr id="17" name="Rectangle 16"/>
          <p:cNvSpPr/>
          <p:nvPr/>
        </p:nvSpPr>
        <p:spPr>
          <a:xfrm>
            <a:off x="777240" y="5321808"/>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5321808"/>
            <a:ext cx="91440" cy="6583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5321808"/>
            <a:ext cx="10058400" cy="658368"/>
          </a:xfrm>
          <a:prstGeom prst="rect">
            <a:avLst/>
          </a:prstGeom>
          <a:noFill/>
        </p:spPr>
        <p:txBody>
          <a:bodyPr wrap="square" anchor="ctr">
            <a:spAutoFit/>
          </a:bodyPr>
          <a:lstStyle/>
          <a:p>
            <a:pPr algn="l">
              <a:spcAft>
                <a:spcPts val="400"/>
              </a:spcAft>
            </a:pPr>
            <a:r>
              <a:rPr sz="1250" b="1">
                <a:solidFill>
                  <a:srgbClr val="161B26"/>
                </a:solidFill>
                <a:latin typeface="Arial"/>
              </a:rPr>
              <a:t>Reduce the steps between sign-up and first successful task.</a:t>
            </a:r>
          </a:p>
        </p:txBody>
      </p:sp>
      <p:sp>
        <p:nvSpPr>
          <p:cNvPr id="20" name="TextBox 19"/>
          <p:cNvSpPr txBox="1"/>
          <p:nvPr/>
        </p:nvSpPr>
        <p:spPr>
          <a:xfrm>
            <a:off x="777240" y="6089904"/>
            <a:ext cx="10607040" cy="201168"/>
          </a:xfrm>
          <a:prstGeom prst="rect">
            <a:avLst/>
          </a:prstGeom>
          <a:noFill/>
        </p:spPr>
        <p:txBody>
          <a:bodyPr wrap="square" anchor="t">
            <a:spAutoFit/>
          </a:bodyPr>
          <a:lstStyle/>
          <a:p>
            <a:pPr algn="l">
              <a:spcAft>
                <a:spcPts val="400"/>
              </a:spcAft>
            </a:pPr>
            <a:r>
              <a:rPr sz="850" b="0">
                <a:solidFill>
                  <a:srgbClr val="5B6372"/>
                </a:solidFill>
                <a:latin typeface="Arial"/>
              </a:rPr>
              <a:t>Source: realistic synthetic training scenario created for this course.</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57</a:t>
            </a:r>
          </a:p>
        </p:txBody>
      </p:sp>
    </p:spTree>
  </p:cSld>
  <p:clrMapOvr>
    <a:masterClrMapping/>
  </p:clrMapOvr>
  <p:transition spd="fast" advClick="1">
    <p:fade/>
  </p:transition>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REALISTIC WORKPLACE DEMO 07 · HIERARCHY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100" b="1">
                <a:solidFill>
                  <a:srgbClr val="161B26"/>
                </a:solidFill>
                <a:latin typeface="Arial"/>
              </a:rPr>
              <a:t>Business goals translate into owned infographic measures</a:t>
            </a:r>
          </a:p>
        </p:txBody>
      </p:sp>
      <p:sp>
        <p:nvSpPr>
          <p:cNvPr id="6" name="TextBox 5"/>
          <p:cNvSpPr txBox="1"/>
          <p:nvPr/>
        </p:nvSpPr>
        <p:spPr>
          <a:xfrm>
            <a:off x="795528" y="1664208"/>
            <a:ext cx="10607040" cy="365760"/>
          </a:xfrm>
          <a:prstGeom prst="rect">
            <a:avLst/>
          </a:prstGeom>
          <a:noFill/>
        </p:spPr>
        <p:txBody>
          <a:bodyPr wrap="square" anchor="t">
            <a:spAutoFit/>
          </a:bodyPr>
          <a:lstStyle/>
          <a:p>
            <a:pPr algn="l">
              <a:spcAft>
                <a:spcPts val="400"/>
              </a:spcAft>
            </a:pPr>
            <a:r>
              <a:rPr sz="1300" b="0">
                <a:solidFill>
                  <a:srgbClr val="5B6372"/>
                </a:solidFill>
                <a:latin typeface="Arial"/>
              </a:rPr>
              <a:t>Strategy communication · synthetic training data, not operational evidence</a:t>
            </a:r>
          </a:p>
        </p:txBody>
      </p:sp>
      <p:sp>
        <p:nvSpPr>
          <p:cNvPr id="7" name="Rectangle 6"/>
          <p:cNvSpPr/>
          <p:nvPr/>
        </p:nvSpPr>
        <p:spPr>
          <a:xfrm>
            <a:off x="3764127" y="2148840"/>
            <a:ext cx="4663440" cy="530352"/>
          </a:xfrm>
          <a:prstGeom prst="rect">
            <a:avLst/>
          </a:prstGeom>
          <a:solidFill>
            <a:srgbClr val="F5F8FC"/>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947007" y="2148840"/>
            <a:ext cx="4297680" cy="530352"/>
          </a:xfrm>
          <a:prstGeom prst="rect">
            <a:avLst/>
          </a:prstGeom>
          <a:noFill/>
        </p:spPr>
        <p:txBody>
          <a:bodyPr wrap="square" anchor="ctr">
            <a:spAutoFit/>
          </a:bodyPr>
          <a:lstStyle/>
          <a:p>
            <a:pPr algn="ctr">
              <a:spcAft>
                <a:spcPts val="400"/>
              </a:spcAft>
            </a:pPr>
            <a:r>
              <a:rPr sz="1150" b="1">
                <a:solidFill>
                  <a:srgbClr val="7C3AED"/>
                </a:solidFill>
                <a:latin typeface="Arial"/>
              </a:rPr>
              <a:t>Goal — </a:t>
            </a:r>
            <a:r>
              <a:rPr sz="1150" b="0">
                <a:solidFill>
                  <a:srgbClr val="161B26"/>
                </a:solidFill>
                <a:latin typeface="Arial"/>
              </a:rPr>
              <a:t>Improve service trust</a:t>
            </a:r>
          </a:p>
        </p:txBody>
      </p:sp>
      <p:sp>
        <p:nvSpPr>
          <p:cNvPr id="9" name="Rectangle 8"/>
          <p:cNvSpPr/>
          <p:nvPr/>
        </p:nvSpPr>
        <p:spPr>
          <a:xfrm>
            <a:off x="3329787" y="2807208"/>
            <a:ext cx="5532120" cy="530352"/>
          </a:xfrm>
          <a:prstGeom prst="rect">
            <a:avLst/>
          </a:prstGeom>
          <a:solidFill>
            <a:srgbClr val="F5F8FC"/>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12667" y="2807208"/>
            <a:ext cx="5166360" cy="530352"/>
          </a:xfrm>
          <a:prstGeom prst="rect">
            <a:avLst/>
          </a:prstGeom>
          <a:noFill/>
        </p:spPr>
        <p:txBody>
          <a:bodyPr wrap="square" anchor="ctr">
            <a:spAutoFit/>
          </a:bodyPr>
          <a:lstStyle/>
          <a:p>
            <a:pPr algn="ctr">
              <a:spcAft>
                <a:spcPts val="400"/>
              </a:spcAft>
            </a:pPr>
            <a:r>
              <a:rPr sz="1150" b="1">
                <a:solidFill>
                  <a:srgbClr val="7C3AED"/>
                </a:solidFill>
                <a:latin typeface="Arial"/>
              </a:rPr>
              <a:t>Outcome — </a:t>
            </a:r>
            <a:r>
              <a:rPr sz="1150" b="0">
                <a:solidFill>
                  <a:srgbClr val="161B26"/>
                </a:solidFill>
                <a:latin typeface="Arial"/>
              </a:rPr>
              <a:t>Faster issue recovery</a:t>
            </a:r>
          </a:p>
        </p:txBody>
      </p:sp>
      <p:sp>
        <p:nvSpPr>
          <p:cNvPr id="11" name="Rectangle 10"/>
          <p:cNvSpPr/>
          <p:nvPr/>
        </p:nvSpPr>
        <p:spPr>
          <a:xfrm>
            <a:off x="2895447" y="3465576"/>
            <a:ext cx="6400800" cy="530352"/>
          </a:xfrm>
          <a:prstGeom prst="rect">
            <a:avLst/>
          </a:prstGeom>
          <a:solidFill>
            <a:srgbClr val="F5F8FC"/>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78327" y="3465576"/>
            <a:ext cx="6035040" cy="530352"/>
          </a:xfrm>
          <a:prstGeom prst="rect">
            <a:avLst/>
          </a:prstGeom>
          <a:noFill/>
        </p:spPr>
        <p:txBody>
          <a:bodyPr wrap="square" anchor="ctr">
            <a:spAutoFit/>
          </a:bodyPr>
          <a:lstStyle/>
          <a:p>
            <a:pPr algn="ctr">
              <a:spcAft>
                <a:spcPts val="400"/>
              </a:spcAft>
            </a:pPr>
            <a:r>
              <a:rPr sz="1150" b="1">
                <a:solidFill>
                  <a:srgbClr val="7C3AED"/>
                </a:solidFill>
                <a:latin typeface="Arial"/>
              </a:rPr>
              <a:t>Measure — </a:t>
            </a:r>
            <a:r>
              <a:rPr sz="1150" b="0">
                <a:solidFill>
                  <a:srgbClr val="161B26"/>
                </a:solidFill>
                <a:latin typeface="Arial"/>
              </a:rPr>
              <a:t>Resolution under 4 hours</a:t>
            </a:r>
          </a:p>
        </p:txBody>
      </p:sp>
      <p:sp>
        <p:nvSpPr>
          <p:cNvPr id="13" name="Rectangle 12"/>
          <p:cNvSpPr/>
          <p:nvPr/>
        </p:nvSpPr>
        <p:spPr>
          <a:xfrm>
            <a:off x="2461107" y="4123944"/>
            <a:ext cx="7269480" cy="530352"/>
          </a:xfrm>
          <a:prstGeom prst="rect">
            <a:avLst/>
          </a:prstGeom>
          <a:solidFill>
            <a:srgbClr val="F5F8FC"/>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643987" y="4123944"/>
            <a:ext cx="6903720" cy="530352"/>
          </a:xfrm>
          <a:prstGeom prst="rect">
            <a:avLst/>
          </a:prstGeom>
          <a:noFill/>
        </p:spPr>
        <p:txBody>
          <a:bodyPr wrap="square" anchor="ctr">
            <a:spAutoFit/>
          </a:bodyPr>
          <a:lstStyle/>
          <a:p>
            <a:pPr algn="ctr">
              <a:spcAft>
                <a:spcPts val="400"/>
              </a:spcAft>
            </a:pPr>
            <a:r>
              <a:rPr sz="1150" b="1">
                <a:solidFill>
                  <a:srgbClr val="7C3AED"/>
                </a:solidFill>
                <a:latin typeface="Arial"/>
              </a:rPr>
              <a:t>Owner — </a:t>
            </a:r>
            <a:r>
              <a:rPr sz="1150" b="0">
                <a:solidFill>
                  <a:srgbClr val="161B26"/>
                </a:solidFill>
                <a:latin typeface="Arial"/>
              </a:rPr>
              <a:t>Customer operations</a:t>
            </a:r>
          </a:p>
        </p:txBody>
      </p:sp>
      <p:sp>
        <p:nvSpPr>
          <p:cNvPr id="15" name="Rectangle 14"/>
          <p:cNvSpPr/>
          <p:nvPr/>
        </p:nvSpPr>
        <p:spPr>
          <a:xfrm>
            <a:off x="2026767" y="4782312"/>
            <a:ext cx="8138160" cy="530352"/>
          </a:xfrm>
          <a:prstGeom prst="rect">
            <a:avLst/>
          </a:prstGeom>
          <a:solidFill>
            <a:srgbClr val="F5F8FC"/>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209647" y="4782312"/>
            <a:ext cx="7772400" cy="530352"/>
          </a:xfrm>
          <a:prstGeom prst="rect">
            <a:avLst/>
          </a:prstGeom>
          <a:noFill/>
        </p:spPr>
        <p:txBody>
          <a:bodyPr wrap="square" anchor="ctr">
            <a:spAutoFit/>
          </a:bodyPr>
          <a:lstStyle/>
          <a:p>
            <a:pPr algn="ctr">
              <a:spcAft>
                <a:spcPts val="400"/>
              </a:spcAft>
            </a:pPr>
            <a:r>
              <a:rPr sz="1150" b="1">
                <a:solidFill>
                  <a:srgbClr val="7C3AED"/>
                </a:solidFill>
                <a:latin typeface="Arial"/>
              </a:rPr>
              <a:t>Review — </a:t>
            </a:r>
            <a:r>
              <a:rPr sz="1150" b="0">
                <a:solidFill>
                  <a:srgbClr val="161B26"/>
                </a:solidFill>
                <a:latin typeface="Arial"/>
              </a:rPr>
              <a:t>Monthly governance meeting</a:t>
            </a:r>
          </a:p>
        </p:txBody>
      </p:sp>
      <p:sp>
        <p:nvSpPr>
          <p:cNvPr id="17" name="Rectangle 16"/>
          <p:cNvSpPr/>
          <p:nvPr/>
        </p:nvSpPr>
        <p:spPr>
          <a:xfrm>
            <a:off x="777240" y="5321808"/>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5321808"/>
            <a:ext cx="91440" cy="65836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5321808"/>
            <a:ext cx="10058400" cy="658368"/>
          </a:xfrm>
          <a:prstGeom prst="rect">
            <a:avLst/>
          </a:prstGeom>
          <a:noFill/>
        </p:spPr>
        <p:txBody>
          <a:bodyPr wrap="square" anchor="ctr">
            <a:spAutoFit/>
          </a:bodyPr>
          <a:lstStyle/>
          <a:p>
            <a:pPr algn="l">
              <a:spcAft>
                <a:spcPts val="400"/>
              </a:spcAft>
            </a:pPr>
            <a:r>
              <a:rPr sz="1250" b="1">
                <a:solidFill>
                  <a:srgbClr val="161B26"/>
                </a:solidFill>
                <a:latin typeface="Arial"/>
              </a:rPr>
              <a:t>Show ownership and review cadence below every business goal.</a:t>
            </a:r>
          </a:p>
        </p:txBody>
      </p:sp>
      <p:sp>
        <p:nvSpPr>
          <p:cNvPr id="20" name="TextBox 19"/>
          <p:cNvSpPr txBox="1"/>
          <p:nvPr/>
        </p:nvSpPr>
        <p:spPr>
          <a:xfrm>
            <a:off x="777240" y="6089904"/>
            <a:ext cx="10607040" cy="201168"/>
          </a:xfrm>
          <a:prstGeom prst="rect">
            <a:avLst/>
          </a:prstGeom>
          <a:noFill/>
        </p:spPr>
        <p:txBody>
          <a:bodyPr wrap="square" anchor="t">
            <a:spAutoFit/>
          </a:bodyPr>
          <a:lstStyle/>
          <a:p>
            <a:pPr algn="l">
              <a:spcAft>
                <a:spcPts val="400"/>
              </a:spcAft>
            </a:pPr>
            <a:r>
              <a:rPr sz="850" b="0">
                <a:solidFill>
                  <a:srgbClr val="5B6372"/>
                </a:solidFill>
                <a:latin typeface="Arial"/>
              </a:rPr>
              <a:t>Source: realistic synthetic training scenario created for this course.</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58</a:t>
            </a:r>
          </a:p>
        </p:txBody>
      </p:sp>
    </p:spTree>
  </p:cSld>
  <p:clrMapOvr>
    <a:masterClrMapping/>
  </p:clrMapOvr>
  <p:transition spd="fast" advClick="1">
    <p:fade/>
  </p:transition>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REALISTIC WORKPLACE DEMO 08 · MIND MAP</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Stakeholder needs converge on one decision story</a:t>
            </a:r>
          </a:p>
        </p:txBody>
      </p:sp>
      <p:sp>
        <p:nvSpPr>
          <p:cNvPr id="6" name="TextBox 5"/>
          <p:cNvSpPr txBox="1"/>
          <p:nvPr/>
        </p:nvSpPr>
        <p:spPr>
          <a:xfrm>
            <a:off x="795528" y="1664208"/>
            <a:ext cx="10607040" cy="365760"/>
          </a:xfrm>
          <a:prstGeom prst="rect">
            <a:avLst/>
          </a:prstGeom>
          <a:noFill/>
        </p:spPr>
        <p:txBody>
          <a:bodyPr wrap="square" anchor="t">
            <a:spAutoFit/>
          </a:bodyPr>
          <a:lstStyle/>
          <a:p>
            <a:pPr algn="l">
              <a:spcAft>
                <a:spcPts val="400"/>
              </a:spcAft>
            </a:pPr>
            <a:r>
              <a:rPr sz="1300" b="0">
                <a:solidFill>
                  <a:srgbClr val="5B6372"/>
                </a:solidFill>
                <a:latin typeface="Arial"/>
              </a:rPr>
              <a:t>Stakeholder communication · synthetic training data, not operational evidence</a:t>
            </a:r>
          </a:p>
        </p:txBody>
      </p:sp>
      <p:cxnSp>
        <p:nvCxnSpPr>
          <p:cNvPr id="7" name="Connector 6"/>
          <p:cNvCxnSpPr/>
          <p:nvPr/>
        </p:nvCxnSpPr>
        <p:spPr>
          <a:xfrm flipV="1">
            <a:off x="6080760" y="2286000"/>
            <a:ext cx="0" cy="1234440"/>
          </a:xfrm>
          <a:prstGeom prst="line">
            <a:avLst/>
          </a:prstGeom>
          <a:ln w="28575">
            <a:solidFill>
              <a:srgbClr val="F59E0B"/>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6080760" y="3138977"/>
            <a:ext cx="3565547" cy="381463"/>
          </a:xfrm>
          <a:prstGeom prst="line">
            <a:avLst/>
          </a:prstGeom>
          <a:ln w="28575">
            <a:solidFill>
              <a:srgbClr val="F59E0B"/>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080760" y="3520440"/>
            <a:ext cx="2203629" cy="998682"/>
          </a:xfrm>
          <a:prstGeom prst="line">
            <a:avLst/>
          </a:prstGeom>
          <a:ln w="28575">
            <a:solidFill>
              <a:srgbClr val="F59E0B"/>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3877130" y="3520440"/>
            <a:ext cx="2203630" cy="998682"/>
          </a:xfrm>
          <a:prstGeom prst="line">
            <a:avLst/>
          </a:prstGeom>
          <a:ln w="28575">
            <a:solidFill>
              <a:srgbClr val="F59E0B"/>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H="1" flipV="1">
            <a:off x="2515212" y="3138977"/>
            <a:ext cx="3565548" cy="381463"/>
          </a:xfrm>
          <a:prstGeom prst="line">
            <a:avLst/>
          </a:prstGeom>
          <a:ln w="28575">
            <a:solidFill>
              <a:srgbClr val="F59E0B"/>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5257800" y="2971800"/>
            <a:ext cx="1645920" cy="109728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257800" y="2971800"/>
            <a:ext cx="1645920" cy="1097280"/>
          </a:xfrm>
          <a:prstGeom prst="rect">
            <a:avLst/>
          </a:prstGeom>
          <a:noFill/>
        </p:spPr>
        <p:txBody>
          <a:bodyPr wrap="square" anchor="ctr">
            <a:spAutoFit/>
          </a:bodyPr>
          <a:lstStyle/>
          <a:p>
            <a:pPr algn="ctr">
              <a:spcAft>
                <a:spcPts val="400"/>
              </a:spcAft>
            </a:pPr>
            <a:r>
              <a:rPr sz="1400" b="1">
                <a:solidFill>
                  <a:srgbClr val="FFFFFF"/>
                </a:solidFill>
                <a:latin typeface="Arial"/>
              </a:rPr>
              <a:t>ONE
DECISION</a:t>
            </a:r>
          </a:p>
        </p:txBody>
      </p:sp>
      <p:sp>
        <p:nvSpPr>
          <p:cNvPr id="14" name="Rectangle 13"/>
          <p:cNvSpPr/>
          <p:nvPr/>
        </p:nvSpPr>
        <p:spPr>
          <a:xfrm>
            <a:off x="5257800" y="1901952"/>
            <a:ext cx="1645920" cy="768096"/>
          </a:xfrm>
          <a:prstGeom prst="rect">
            <a:avLst/>
          </a:prstGeom>
          <a:solidFill>
            <a:srgbClr val="F5F8FC"/>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30952" y="1975104"/>
            <a:ext cx="1499616" cy="621792"/>
          </a:xfrm>
          <a:prstGeom prst="rect">
            <a:avLst/>
          </a:prstGeom>
          <a:noFill/>
        </p:spPr>
        <p:txBody>
          <a:bodyPr wrap="square" anchor="ctr">
            <a:spAutoFit/>
          </a:bodyPr>
          <a:lstStyle/>
          <a:p>
            <a:pPr algn="ctr">
              <a:spcAft>
                <a:spcPts val="0"/>
              </a:spcAft>
            </a:pPr>
            <a:r>
              <a:rPr sz="1100" b="1">
                <a:solidFill>
                  <a:srgbClr val="F59E0B"/>
                </a:solidFill>
                <a:latin typeface="Arial"/>
              </a:rPr>
              <a:t>Executives</a:t>
            </a:r>
          </a:p>
          <a:p>
            <a:pPr algn="ctr">
              <a:spcAft>
                <a:spcPts val="0"/>
              </a:spcAft>
            </a:pPr>
            <a:r>
              <a:rPr sz="850" b="0">
                <a:solidFill>
                  <a:srgbClr val="5B6372"/>
                </a:solidFill>
                <a:latin typeface="Arial"/>
              </a:rPr>
              <a:t>Outcome and risk</a:t>
            </a:r>
          </a:p>
        </p:txBody>
      </p:sp>
      <p:sp>
        <p:nvSpPr>
          <p:cNvPr id="16" name="Rectangle 15"/>
          <p:cNvSpPr/>
          <p:nvPr/>
        </p:nvSpPr>
        <p:spPr>
          <a:xfrm>
            <a:off x="8823347" y="2754929"/>
            <a:ext cx="1645920" cy="768096"/>
          </a:xfrm>
          <a:prstGeom prst="rect">
            <a:avLst/>
          </a:prstGeom>
          <a:solidFill>
            <a:srgbClr val="F5F8FC"/>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896499" y="2828081"/>
            <a:ext cx="1499616" cy="621792"/>
          </a:xfrm>
          <a:prstGeom prst="rect">
            <a:avLst/>
          </a:prstGeom>
          <a:noFill/>
        </p:spPr>
        <p:txBody>
          <a:bodyPr wrap="square" anchor="ctr">
            <a:spAutoFit/>
          </a:bodyPr>
          <a:lstStyle/>
          <a:p>
            <a:pPr algn="ctr">
              <a:spcAft>
                <a:spcPts val="0"/>
              </a:spcAft>
            </a:pPr>
            <a:r>
              <a:rPr sz="1100" b="1">
                <a:solidFill>
                  <a:srgbClr val="F59E0B"/>
                </a:solidFill>
                <a:latin typeface="Arial"/>
              </a:rPr>
              <a:t>Managers</a:t>
            </a:r>
          </a:p>
          <a:p>
            <a:pPr algn="ctr">
              <a:spcAft>
                <a:spcPts val="0"/>
              </a:spcAft>
            </a:pPr>
            <a:r>
              <a:rPr sz="850" b="0">
                <a:solidFill>
                  <a:srgbClr val="5B6372"/>
                </a:solidFill>
                <a:latin typeface="Arial"/>
              </a:rPr>
              <a:t>Actions and owners</a:t>
            </a:r>
          </a:p>
        </p:txBody>
      </p:sp>
      <p:sp>
        <p:nvSpPr>
          <p:cNvPr id="18" name="Rectangle 17"/>
          <p:cNvSpPr/>
          <p:nvPr/>
        </p:nvSpPr>
        <p:spPr>
          <a:xfrm>
            <a:off x="7461429" y="4135074"/>
            <a:ext cx="1645920" cy="768096"/>
          </a:xfrm>
          <a:prstGeom prst="rect">
            <a:avLst/>
          </a:prstGeom>
          <a:solidFill>
            <a:srgbClr val="F5F8FC"/>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534581" y="4208226"/>
            <a:ext cx="1499616" cy="621792"/>
          </a:xfrm>
          <a:prstGeom prst="rect">
            <a:avLst/>
          </a:prstGeom>
          <a:noFill/>
        </p:spPr>
        <p:txBody>
          <a:bodyPr wrap="square" anchor="ctr">
            <a:spAutoFit/>
          </a:bodyPr>
          <a:lstStyle/>
          <a:p>
            <a:pPr algn="ctr">
              <a:spcAft>
                <a:spcPts val="0"/>
              </a:spcAft>
            </a:pPr>
            <a:r>
              <a:rPr sz="1100" b="1">
                <a:solidFill>
                  <a:srgbClr val="F59E0B"/>
                </a:solidFill>
                <a:latin typeface="Arial"/>
              </a:rPr>
              <a:t>Analysts</a:t>
            </a:r>
          </a:p>
          <a:p>
            <a:pPr algn="ctr">
              <a:spcAft>
                <a:spcPts val="0"/>
              </a:spcAft>
            </a:pPr>
            <a:r>
              <a:rPr sz="850" b="0">
                <a:solidFill>
                  <a:srgbClr val="5B6372"/>
                </a:solidFill>
                <a:latin typeface="Arial"/>
              </a:rPr>
              <a:t>Definitions and source</a:t>
            </a:r>
          </a:p>
        </p:txBody>
      </p:sp>
      <p:sp>
        <p:nvSpPr>
          <p:cNvPr id="20" name="Rectangle 19"/>
          <p:cNvSpPr/>
          <p:nvPr/>
        </p:nvSpPr>
        <p:spPr>
          <a:xfrm>
            <a:off x="3054170" y="4135074"/>
            <a:ext cx="1645920" cy="768096"/>
          </a:xfrm>
          <a:prstGeom prst="rect">
            <a:avLst/>
          </a:prstGeom>
          <a:solidFill>
            <a:srgbClr val="F5F8FC"/>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127322" y="4208226"/>
            <a:ext cx="1499616" cy="621792"/>
          </a:xfrm>
          <a:prstGeom prst="rect">
            <a:avLst/>
          </a:prstGeom>
          <a:noFill/>
        </p:spPr>
        <p:txBody>
          <a:bodyPr wrap="square" anchor="ctr">
            <a:spAutoFit/>
          </a:bodyPr>
          <a:lstStyle/>
          <a:p>
            <a:pPr algn="ctr">
              <a:spcAft>
                <a:spcPts val="0"/>
              </a:spcAft>
            </a:pPr>
            <a:r>
              <a:rPr sz="1100" b="1">
                <a:solidFill>
                  <a:srgbClr val="F59E0B"/>
                </a:solidFill>
                <a:latin typeface="Arial"/>
              </a:rPr>
              <a:t>Staff</a:t>
            </a:r>
          </a:p>
          <a:p>
            <a:pPr algn="ctr">
              <a:spcAft>
                <a:spcPts val="0"/>
              </a:spcAft>
            </a:pPr>
            <a:r>
              <a:rPr sz="850" b="0">
                <a:solidFill>
                  <a:srgbClr val="5B6372"/>
                </a:solidFill>
                <a:latin typeface="Arial"/>
              </a:rPr>
              <a:t>Simple next step</a:t>
            </a:r>
          </a:p>
        </p:txBody>
      </p:sp>
      <p:sp>
        <p:nvSpPr>
          <p:cNvPr id="22" name="Rectangle 21"/>
          <p:cNvSpPr/>
          <p:nvPr/>
        </p:nvSpPr>
        <p:spPr>
          <a:xfrm>
            <a:off x="1692252" y="2754929"/>
            <a:ext cx="1645920" cy="768096"/>
          </a:xfrm>
          <a:prstGeom prst="rect">
            <a:avLst/>
          </a:prstGeom>
          <a:solidFill>
            <a:srgbClr val="F5F8FC"/>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765404" y="2828081"/>
            <a:ext cx="1499616" cy="621792"/>
          </a:xfrm>
          <a:prstGeom prst="rect">
            <a:avLst/>
          </a:prstGeom>
          <a:noFill/>
        </p:spPr>
        <p:txBody>
          <a:bodyPr wrap="square" anchor="ctr">
            <a:spAutoFit/>
          </a:bodyPr>
          <a:lstStyle/>
          <a:p>
            <a:pPr algn="ctr">
              <a:spcAft>
                <a:spcPts val="0"/>
              </a:spcAft>
            </a:pPr>
            <a:r>
              <a:rPr sz="1100" b="1">
                <a:solidFill>
                  <a:srgbClr val="F59E0B"/>
                </a:solidFill>
                <a:latin typeface="Arial"/>
              </a:rPr>
              <a:t>Customers</a:t>
            </a:r>
          </a:p>
          <a:p>
            <a:pPr algn="ctr">
              <a:spcAft>
                <a:spcPts val="0"/>
              </a:spcAft>
            </a:pPr>
            <a:r>
              <a:rPr sz="850" b="0">
                <a:solidFill>
                  <a:srgbClr val="5B6372"/>
                </a:solidFill>
                <a:latin typeface="Arial"/>
              </a:rPr>
              <a:t>Impact and assurance</a:t>
            </a:r>
          </a:p>
        </p:txBody>
      </p:sp>
      <p:sp>
        <p:nvSpPr>
          <p:cNvPr id="24" name="Rectangle 23"/>
          <p:cNvSpPr/>
          <p:nvPr/>
        </p:nvSpPr>
        <p:spPr>
          <a:xfrm>
            <a:off x="777240" y="5321808"/>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77240" y="5321808"/>
            <a:ext cx="91440" cy="6583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97280" y="5321808"/>
            <a:ext cx="10058400" cy="658368"/>
          </a:xfrm>
          <a:prstGeom prst="rect">
            <a:avLst/>
          </a:prstGeom>
          <a:noFill/>
        </p:spPr>
        <p:txBody>
          <a:bodyPr wrap="square" anchor="ctr">
            <a:spAutoFit/>
          </a:bodyPr>
          <a:lstStyle/>
          <a:p>
            <a:pPr algn="l">
              <a:spcAft>
                <a:spcPts val="400"/>
              </a:spcAft>
            </a:pPr>
            <a:r>
              <a:rPr sz="1250" b="1">
                <a:solidFill>
                  <a:srgbClr val="161B26"/>
                </a:solidFill>
                <a:latin typeface="Arial"/>
              </a:rPr>
              <a:t>Keep one core claim, then vary depth by audience.</a:t>
            </a:r>
          </a:p>
        </p:txBody>
      </p:sp>
      <p:sp>
        <p:nvSpPr>
          <p:cNvPr id="27" name="TextBox 26"/>
          <p:cNvSpPr txBox="1"/>
          <p:nvPr/>
        </p:nvSpPr>
        <p:spPr>
          <a:xfrm>
            <a:off x="777240" y="6089904"/>
            <a:ext cx="10607040" cy="201168"/>
          </a:xfrm>
          <a:prstGeom prst="rect">
            <a:avLst/>
          </a:prstGeom>
          <a:noFill/>
        </p:spPr>
        <p:txBody>
          <a:bodyPr wrap="square" anchor="t">
            <a:spAutoFit/>
          </a:bodyPr>
          <a:lstStyle/>
          <a:p>
            <a:pPr algn="l">
              <a:spcAft>
                <a:spcPts val="400"/>
              </a:spcAft>
            </a:pPr>
            <a:r>
              <a:rPr sz="850" b="0">
                <a:solidFill>
                  <a:srgbClr val="5B6372"/>
                </a:solidFill>
                <a:latin typeface="Arial"/>
              </a:rPr>
              <a:t>Source: realistic synthetic training scenario created for this course.</a:t>
            </a:r>
          </a:p>
        </p:txBody>
      </p:sp>
      <p:sp>
        <p:nvSpPr>
          <p:cNvPr id="28" name="TextBox 2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29" name="TextBox 2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0" name="TextBox 2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59</a:t>
            </a:r>
          </a:p>
        </p:txBody>
      </p:sp>
    </p:spTree>
  </p:cSld>
  <p:clrMapOvr>
    <a:masterClrMapping/>
  </p:clrMapOvr>
  <p:transition spd="fast" advClick="1">
    <p:fade/>
  </p:transition>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REALISTIC WORKPLACE DEMO 09 · GEOGRAPHIC</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West-region stores need targeted queue redesign</a:t>
            </a:r>
          </a:p>
        </p:txBody>
      </p:sp>
      <p:sp>
        <p:nvSpPr>
          <p:cNvPr id="6" name="TextBox 5"/>
          <p:cNvSpPr txBox="1"/>
          <p:nvPr/>
        </p:nvSpPr>
        <p:spPr>
          <a:xfrm>
            <a:off x="795528" y="1664208"/>
            <a:ext cx="10607040" cy="365760"/>
          </a:xfrm>
          <a:prstGeom prst="rect">
            <a:avLst/>
          </a:prstGeom>
          <a:noFill/>
        </p:spPr>
        <p:txBody>
          <a:bodyPr wrap="square" anchor="t">
            <a:spAutoFit/>
          </a:bodyPr>
          <a:lstStyle/>
          <a:p>
            <a:pPr algn="l">
              <a:spcAft>
                <a:spcPts val="400"/>
              </a:spcAft>
            </a:pPr>
            <a:r>
              <a:rPr sz="1300" b="0">
                <a:solidFill>
                  <a:srgbClr val="5B6372"/>
                </a:solidFill>
                <a:latin typeface="Arial"/>
              </a:rPr>
              <a:t>Store operations · synthetic training data, not operational evidence</a:t>
            </a:r>
          </a:p>
        </p:txBody>
      </p:sp>
      <p:sp>
        <p:nvSpPr>
          <p:cNvPr id="7" name="Rectangle 6"/>
          <p:cNvSpPr/>
          <p:nvPr/>
        </p:nvSpPr>
        <p:spPr>
          <a:xfrm>
            <a:off x="1481328" y="3127248"/>
            <a:ext cx="1874519"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481328" y="3236976"/>
            <a:ext cx="1874519" cy="347472"/>
          </a:xfrm>
          <a:prstGeom prst="rect">
            <a:avLst/>
          </a:prstGeom>
          <a:noFill/>
        </p:spPr>
        <p:txBody>
          <a:bodyPr wrap="square" anchor="t">
            <a:spAutoFit/>
          </a:bodyPr>
          <a:lstStyle/>
          <a:p>
            <a:pPr algn="ctr">
              <a:spcAft>
                <a:spcPts val="400"/>
              </a:spcAft>
            </a:pPr>
            <a:r>
              <a:rPr sz="1100" b="1">
                <a:solidFill>
                  <a:srgbClr val="FFFFFF"/>
                </a:solidFill>
                <a:latin typeface="Arial"/>
              </a:rPr>
              <a:t>WEST</a:t>
            </a:r>
          </a:p>
        </p:txBody>
      </p:sp>
      <p:sp>
        <p:nvSpPr>
          <p:cNvPr id="9" name="TextBox 8"/>
          <p:cNvSpPr txBox="1"/>
          <p:nvPr/>
        </p:nvSpPr>
        <p:spPr>
          <a:xfrm>
            <a:off x="1481328" y="3575304"/>
            <a:ext cx="1874519" cy="347472"/>
          </a:xfrm>
          <a:prstGeom prst="rect">
            <a:avLst/>
          </a:prstGeom>
          <a:noFill/>
        </p:spPr>
        <p:txBody>
          <a:bodyPr wrap="square" anchor="t">
            <a:spAutoFit/>
          </a:bodyPr>
          <a:lstStyle/>
          <a:p>
            <a:pPr algn="ctr">
              <a:spcAft>
                <a:spcPts val="400"/>
              </a:spcAft>
            </a:pPr>
            <a:r>
              <a:rPr sz="1900" b="1">
                <a:solidFill>
                  <a:srgbClr val="FFFFFF"/>
                </a:solidFill>
                <a:latin typeface="Arial"/>
              </a:rPr>
              <a:t>6.8 min</a:t>
            </a:r>
          </a:p>
        </p:txBody>
      </p:sp>
      <p:sp>
        <p:nvSpPr>
          <p:cNvPr id="10" name="Rectangle 9"/>
          <p:cNvSpPr/>
          <p:nvPr/>
        </p:nvSpPr>
        <p:spPr>
          <a:xfrm>
            <a:off x="3730752" y="3127248"/>
            <a:ext cx="1874519"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730752" y="3236976"/>
            <a:ext cx="1874519" cy="347472"/>
          </a:xfrm>
          <a:prstGeom prst="rect">
            <a:avLst/>
          </a:prstGeom>
          <a:noFill/>
        </p:spPr>
        <p:txBody>
          <a:bodyPr wrap="square" anchor="t">
            <a:spAutoFit/>
          </a:bodyPr>
          <a:lstStyle/>
          <a:p>
            <a:pPr algn="ctr">
              <a:spcAft>
                <a:spcPts val="400"/>
              </a:spcAft>
            </a:pPr>
            <a:r>
              <a:rPr sz="1100" b="1">
                <a:solidFill>
                  <a:srgbClr val="FFFFFF"/>
                </a:solidFill>
                <a:latin typeface="Arial"/>
              </a:rPr>
              <a:t>CENTRAL</a:t>
            </a:r>
          </a:p>
        </p:txBody>
      </p:sp>
      <p:sp>
        <p:nvSpPr>
          <p:cNvPr id="12" name="TextBox 11"/>
          <p:cNvSpPr txBox="1"/>
          <p:nvPr/>
        </p:nvSpPr>
        <p:spPr>
          <a:xfrm>
            <a:off x="3730752" y="3575304"/>
            <a:ext cx="1874519" cy="347472"/>
          </a:xfrm>
          <a:prstGeom prst="rect">
            <a:avLst/>
          </a:prstGeom>
          <a:noFill/>
        </p:spPr>
        <p:txBody>
          <a:bodyPr wrap="square" anchor="t">
            <a:spAutoFit/>
          </a:bodyPr>
          <a:lstStyle/>
          <a:p>
            <a:pPr algn="ctr">
              <a:spcAft>
                <a:spcPts val="400"/>
              </a:spcAft>
            </a:pPr>
            <a:r>
              <a:rPr sz="1900" b="1">
                <a:solidFill>
                  <a:srgbClr val="FFFFFF"/>
                </a:solidFill>
                <a:latin typeface="Arial"/>
              </a:rPr>
              <a:t>4.2 min</a:t>
            </a:r>
          </a:p>
        </p:txBody>
      </p:sp>
      <p:sp>
        <p:nvSpPr>
          <p:cNvPr id="13" name="Rectangle 12"/>
          <p:cNvSpPr/>
          <p:nvPr/>
        </p:nvSpPr>
        <p:spPr>
          <a:xfrm>
            <a:off x="5980176" y="3127248"/>
            <a:ext cx="1874519"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80176" y="3236976"/>
            <a:ext cx="1874519" cy="347472"/>
          </a:xfrm>
          <a:prstGeom prst="rect">
            <a:avLst/>
          </a:prstGeom>
          <a:noFill/>
        </p:spPr>
        <p:txBody>
          <a:bodyPr wrap="square" anchor="t">
            <a:spAutoFit/>
          </a:bodyPr>
          <a:lstStyle/>
          <a:p>
            <a:pPr algn="ctr">
              <a:spcAft>
                <a:spcPts val="400"/>
              </a:spcAft>
            </a:pPr>
            <a:r>
              <a:rPr sz="1100" b="1">
                <a:solidFill>
                  <a:srgbClr val="FFFFFF"/>
                </a:solidFill>
                <a:latin typeface="Arial"/>
              </a:rPr>
              <a:t>EAST</a:t>
            </a:r>
          </a:p>
        </p:txBody>
      </p:sp>
      <p:sp>
        <p:nvSpPr>
          <p:cNvPr id="15" name="TextBox 14"/>
          <p:cNvSpPr txBox="1"/>
          <p:nvPr/>
        </p:nvSpPr>
        <p:spPr>
          <a:xfrm>
            <a:off x="5980176" y="3575304"/>
            <a:ext cx="1874519" cy="347472"/>
          </a:xfrm>
          <a:prstGeom prst="rect">
            <a:avLst/>
          </a:prstGeom>
          <a:noFill/>
        </p:spPr>
        <p:txBody>
          <a:bodyPr wrap="square" anchor="t">
            <a:spAutoFit/>
          </a:bodyPr>
          <a:lstStyle/>
          <a:p>
            <a:pPr algn="ctr">
              <a:spcAft>
                <a:spcPts val="400"/>
              </a:spcAft>
            </a:pPr>
            <a:r>
              <a:rPr sz="1900" b="1">
                <a:solidFill>
                  <a:srgbClr val="FFFFFF"/>
                </a:solidFill>
                <a:latin typeface="Arial"/>
              </a:rPr>
              <a:t>4.9 min</a:t>
            </a:r>
          </a:p>
        </p:txBody>
      </p:sp>
      <p:sp>
        <p:nvSpPr>
          <p:cNvPr id="16" name="Rectangle 15"/>
          <p:cNvSpPr/>
          <p:nvPr/>
        </p:nvSpPr>
        <p:spPr>
          <a:xfrm>
            <a:off x="3730752" y="1993392"/>
            <a:ext cx="1874519"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730752" y="2103120"/>
            <a:ext cx="1874519" cy="347472"/>
          </a:xfrm>
          <a:prstGeom prst="rect">
            <a:avLst/>
          </a:prstGeom>
          <a:noFill/>
        </p:spPr>
        <p:txBody>
          <a:bodyPr wrap="square" anchor="t">
            <a:spAutoFit/>
          </a:bodyPr>
          <a:lstStyle/>
          <a:p>
            <a:pPr algn="ctr">
              <a:spcAft>
                <a:spcPts val="400"/>
              </a:spcAft>
            </a:pPr>
            <a:r>
              <a:rPr sz="1100" b="1">
                <a:solidFill>
                  <a:srgbClr val="FFFFFF"/>
                </a:solidFill>
                <a:latin typeface="Arial"/>
              </a:rPr>
              <a:t>NORTH</a:t>
            </a:r>
          </a:p>
        </p:txBody>
      </p:sp>
      <p:sp>
        <p:nvSpPr>
          <p:cNvPr id="18" name="TextBox 17"/>
          <p:cNvSpPr txBox="1"/>
          <p:nvPr/>
        </p:nvSpPr>
        <p:spPr>
          <a:xfrm>
            <a:off x="3730752" y="2441448"/>
            <a:ext cx="1874519" cy="347472"/>
          </a:xfrm>
          <a:prstGeom prst="rect">
            <a:avLst/>
          </a:prstGeom>
          <a:noFill/>
        </p:spPr>
        <p:txBody>
          <a:bodyPr wrap="square" anchor="t">
            <a:spAutoFit/>
          </a:bodyPr>
          <a:lstStyle/>
          <a:p>
            <a:pPr algn="ctr">
              <a:spcAft>
                <a:spcPts val="400"/>
              </a:spcAft>
            </a:pPr>
            <a:r>
              <a:rPr sz="1900" b="1">
                <a:solidFill>
                  <a:srgbClr val="FFFFFF"/>
                </a:solidFill>
                <a:latin typeface="Arial"/>
              </a:rPr>
              <a:t>5.1 min</a:t>
            </a:r>
          </a:p>
        </p:txBody>
      </p:sp>
      <p:sp>
        <p:nvSpPr>
          <p:cNvPr id="19" name="TextBox 18"/>
          <p:cNvSpPr txBox="1"/>
          <p:nvPr/>
        </p:nvSpPr>
        <p:spPr>
          <a:xfrm>
            <a:off x="8641080" y="2212848"/>
            <a:ext cx="2423160" cy="411480"/>
          </a:xfrm>
          <a:prstGeom prst="rect">
            <a:avLst/>
          </a:prstGeom>
          <a:noFill/>
        </p:spPr>
        <p:txBody>
          <a:bodyPr wrap="square" anchor="t">
            <a:spAutoFit/>
          </a:bodyPr>
          <a:lstStyle/>
          <a:p>
            <a:pPr algn="ctr">
              <a:spcAft>
                <a:spcPts val="400"/>
              </a:spcAft>
            </a:pPr>
            <a:r>
              <a:rPr sz="1200" b="1">
                <a:solidFill>
                  <a:srgbClr val="1F6FEB"/>
                </a:solidFill>
                <a:latin typeface="Arial"/>
              </a:rPr>
              <a:t>QUEUE-WAIT HEAT MAP</a:t>
            </a:r>
          </a:p>
        </p:txBody>
      </p:sp>
      <p:sp>
        <p:nvSpPr>
          <p:cNvPr id="20" name="TextBox 19"/>
          <p:cNvSpPr txBox="1"/>
          <p:nvPr/>
        </p:nvSpPr>
        <p:spPr>
          <a:xfrm>
            <a:off x="8641080" y="2761488"/>
            <a:ext cx="2423160" cy="1188720"/>
          </a:xfrm>
          <a:prstGeom prst="rect">
            <a:avLst/>
          </a:prstGeom>
          <a:noFill/>
        </p:spPr>
        <p:txBody>
          <a:bodyPr wrap="square" anchor="ctr">
            <a:spAutoFit/>
          </a:bodyPr>
          <a:lstStyle/>
          <a:p>
            <a:pPr algn="ctr">
              <a:spcAft>
                <a:spcPts val="400"/>
              </a:spcAft>
            </a:pPr>
            <a:r>
              <a:rPr sz="1000" b="1">
                <a:solidFill>
                  <a:srgbClr val="5B6372"/>
                </a:solidFill>
                <a:latin typeface="Arial"/>
              </a:rPr>
              <a:t>HOTTEST</a:t>
            </a:r>
          </a:p>
          <a:p>
            <a:pPr algn="ctr">
              <a:spcAft>
                <a:spcPts val="400"/>
              </a:spcAft>
            </a:pPr>
            <a:r>
              <a:rPr sz="2800" b="1">
                <a:solidFill>
                  <a:srgbClr val="F59E0B"/>
                </a:solidFill>
                <a:latin typeface="Arial"/>
              </a:rPr>
              <a:t>WEST</a:t>
            </a:r>
          </a:p>
          <a:p>
            <a:pPr algn="ctr">
              <a:spcAft>
                <a:spcPts val="400"/>
              </a:spcAft>
            </a:pPr>
            <a:r>
              <a:rPr sz="1600" b="0">
                <a:solidFill>
                  <a:srgbClr val="161B26"/>
                </a:solidFill>
                <a:latin typeface="Arial"/>
              </a:rPr>
              <a:t>6.8 min</a:t>
            </a:r>
          </a:p>
        </p:txBody>
      </p:sp>
      <p:sp>
        <p:nvSpPr>
          <p:cNvPr id="21" name="TextBox 20"/>
          <p:cNvSpPr txBox="1"/>
          <p:nvPr/>
        </p:nvSpPr>
        <p:spPr>
          <a:xfrm>
            <a:off x="8641080" y="4160520"/>
            <a:ext cx="2423160" cy="411480"/>
          </a:xfrm>
          <a:prstGeom prst="rect">
            <a:avLst/>
          </a:prstGeom>
          <a:noFill/>
        </p:spPr>
        <p:txBody>
          <a:bodyPr wrap="square" anchor="t">
            <a:spAutoFit/>
          </a:bodyPr>
          <a:lstStyle/>
          <a:p>
            <a:pPr algn="ctr">
              <a:spcAft>
                <a:spcPts val="400"/>
              </a:spcAft>
            </a:pPr>
            <a:r>
              <a:rPr sz="1600" b="1">
                <a:solidFill>
                  <a:srgbClr val="161B26"/>
                </a:solidFill>
                <a:latin typeface="Arial"/>
              </a:rPr>
              <a:t>N</a:t>
            </a:r>
            <a:r>
              <a:rPr sz="1800" b="1">
                <a:solidFill>
                  <a:srgbClr val="1F6FEB"/>
                </a:solidFill>
                <a:latin typeface="Arial"/>
              </a:rPr>
              <a:t>  ↑</a:t>
            </a:r>
          </a:p>
        </p:txBody>
      </p:sp>
      <p:sp>
        <p:nvSpPr>
          <p:cNvPr id="22" name="Rectangle 21"/>
          <p:cNvSpPr/>
          <p:nvPr/>
        </p:nvSpPr>
        <p:spPr>
          <a:xfrm>
            <a:off x="777240" y="5321808"/>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321808"/>
            <a:ext cx="91440" cy="6583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97280" y="5321808"/>
            <a:ext cx="10058400" cy="658368"/>
          </a:xfrm>
          <a:prstGeom prst="rect">
            <a:avLst/>
          </a:prstGeom>
          <a:noFill/>
        </p:spPr>
        <p:txBody>
          <a:bodyPr wrap="square" anchor="ctr">
            <a:spAutoFit/>
          </a:bodyPr>
          <a:lstStyle/>
          <a:p>
            <a:pPr algn="l">
              <a:spcAft>
                <a:spcPts val="400"/>
              </a:spcAft>
            </a:pPr>
            <a:r>
              <a:rPr sz="1250" b="1">
                <a:solidFill>
                  <a:srgbClr val="161B26"/>
                </a:solidFill>
                <a:latin typeface="Arial"/>
              </a:rPr>
              <a:t>Pilot queue redesign in the West region before network-wide rollout.</a:t>
            </a:r>
          </a:p>
        </p:txBody>
      </p:sp>
      <p:sp>
        <p:nvSpPr>
          <p:cNvPr id="25" name="TextBox 24"/>
          <p:cNvSpPr txBox="1"/>
          <p:nvPr/>
        </p:nvSpPr>
        <p:spPr>
          <a:xfrm>
            <a:off x="777240" y="6089904"/>
            <a:ext cx="10607040" cy="201168"/>
          </a:xfrm>
          <a:prstGeom prst="rect">
            <a:avLst/>
          </a:prstGeom>
          <a:noFill/>
        </p:spPr>
        <p:txBody>
          <a:bodyPr wrap="square" anchor="t">
            <a:spAutoFit/>
          </a:bodyPr>
          <a:lstStyle/>
          <a:p>
            <a:pPr algn="l">
              <a:spcAft>
                <a:spcPts val="400"/>
              </a:spcAft>
            </a:pPr>
            <a:r>
              <a:rPr sz="850" b="0">
                <a:solidFill>
                  <a:srgbClr val="5B6372"/>
                </a:solidFill>
                <a:latin typeface="Arial"/>
              </a:rPr>
              <a:t>Source: realistic synthetic training scenario created for this course.</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60</a:t>
            </a:r>
          </a:p>
        </p:txBody>
      </p:sp>
    </p:spTree>
  </p:cSld>
  <p:clrMapOvr>
    <a:masterClrMapping/>
  </p:clrMapOvr>
  <p:transition spd="fast" advClick="1">
    <p:fade/>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16"/>
                                        </p:tgtEl>
                                        <p:attrNameLst>
                                          <p:attrName>style.visibility</p:attrName>
                                        </p:attrNameLst>
                                      </p:cBhvr>
                                      <p:to>
                                        <p:strVal val="visible"/>
                                      </p:to>
                                    </p:set>
                                    <p:animEffect transition="in" filter="fade">
                                      <p:cBhvr>
                                        <p:cTn id="14" dur="350"/>
                                        <p:tgtEl>
                                          <p:spTgt spid="16"/>
                                        </p:tgtEl>
                                      </p:cBhvr>
                                    </p:animEffect>
                                    <p:anim calcmode="lin" valueType="num">
                                      <p:cBhvr additive="base">
                                        <p:cTn id="15" dur="350" fill="hold"/>
                                        <p:tgtEl>
                                          <p:spTgt spid="16"/>
                                        </p:tgtEl>
                                        <p:attrNameLst>
                                          <p:attrName>ppt_y</p:attrName>
                                        </p:attrNameLst>
                                      </p:cBhvr>
                                      <p:tavLst>
                                        <p:tav tm="0">
                                          <p:val>
                                            <p:strVal val="#ppt_y+0.0350"/>
                                          </p:val>
                                        </p:tav>
                                        <p:tav tm="100000">
                                          <p:val>
                                            <p:strVal val="#ppt_y"/>
                                          </p:val>
                                        </p:tav>
                                      </p:tavLst>
                                    </p:anim>
                                  </p:childTnLst>
                                </p:cTn>
                              </p:par>
                            </p:childTnLst>
                          </p:cTn>
                        </p:par>
                      </p:childTnLst>
                    </p:cTn>
                  </p:par>
                  <p:par>
                    <p:cTn id="20" fill="hold">
                      <p:stCondLst>
                        <p:cond delay="0"/>
                      </p:stCondLst>
                      <p:childTnLst>
                        <p:par>
                          <p:cTn id="21" fill="hold">
                            <p:stCondLst>
                              <p:cond delay="0"/>
                            </p:stCondLst>
                            <p:childTnLst>
                              <p:par>
                                <p:cTn id="22" presetID="10" presetClass="entr" presetSubtype="0" fill="hold" grpId="0" nodeType="afterEffect">
                                  <p:stCondLst>
                                    <p:cond delay="0"/>
                                  </p:stCondLst>
                                  <p:childTnLst>
                                    <p:set>
                                      <p:cBhvr>
                                        <p:cTn id="23" dur="1" fill="hold">
                                          <p:stCondLst>
                                            <p:cond delay="0"/>
                                          </p:stCondLst>
                                        </p:cTn>
                                        <p:tgtEl>
                                          <p:spTgt spid="20"/>
                                        </p:tgtEl>
                                        <p:attrNameLst>
                                          <p:attrName>style.visibility</p:attrName>
                                        </p:attrNameLst>
                                      </p:cBhvr>
                                      <p:to>
                                        <p:strVal val="visible"/>
                                      </p:to>
                                    </p:set>
                                    <p:animEffect transition="in" filter="fade">
                                      <p:cBhvr>
                                        <p:cTn id="24" dur="350"/>
                                        <p:tgtEl>
                                          <p:spTgt spid="20"/>
                                        </p:tgtEl>
                                      </p:cBhvr>
                                    </p:animEffect>
                                    <p:anim calcmode="lin" valueType="num">
                                      <p:cBhvr additive="base">
                                        <p:cTn id="25" dur="350" fill="hold"/>
                                        <p:tgtEl>
                                          <p:spTgt spid="20"/>
                                        </p:tgtEl>
                                        <p:attrNameLst>
                                          <p:attrName>ppt_y</p:attrName>
                                        </p:attrNameLst>
                                      </p:cBhvr>
                                      <p:tavLst>
                                        <p:tav tm="0">
                                          <p:val>
                                            <p:strVal val="#ppt_y+0.0350"/>
                                          </p:val>
                                        </p:tav>
                                        <p:tav tm="100000">
                                          <p:val>
                                            <p:strVal val="#ppt_y"/>
                                          </p:val>
                                        </p:tav>
                                      </p:tavLst>
                                    </p:anim>
                                  </p:childTnLst>
                                </p:cTn>
                              </p:par>
                            </p:childTnLst>
                          </p:cTn>
                        </p:par>
                      </p:childTnLst>
                    </p:cTn>
                  </p:par>
                  <p:par>
                    <p:cTn id="30" fill="hold">
                      <p:stCondLst>
                        <p:cond delay="0"/>
                      </p:stCondLst>
                      <p:childTnLst>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7"/>
                                        </p:tgtEl>
                                        <p:attrNameLst>
                                          <p:attrName>style.visibility</p:attrName>
                                        </p:attrNameLst>
                                      </p:cBhvr>
                                      <p:to>
                                        <p:strVal val="visible"/>
                                      </p:to>
                                    </p:set>
                                    <p:animEffect transition="in" filter="fade">
                                      <p:cBhvr>
                                        <p:cTn id="34" dur="350"/>
                                        <p:tgtEl>
                                          <p:spTgt spid="7"/>
                                        </p:tgtEl>
                                      </p:cBhvr>
                                    </p:animEffect>
                                    <p:anim calcmode="lin" valueType="num">
                                      <p:cBhvr additive="base">
                                        <p:cTn id="35" dur="350" fill="hold"/>
                                        <p:tgtEl>
                                          <p:spTgt spid="7"/>
                                        </p:tgtEl>
                                        <p:attrNameLst>
                                          <p:attrName>ppt_y</p:attrName>
                                        </p:attrNameLst>
                                      </p:cBhvr>
                                      <p:tavLst>
                                        <p:tav tm="0">
                                          <p:val>
                                            <p:strVal val="#ppt_y+0.0350"/>
                                          </p:val>
                                        </p:tav>
                                        <p:tav tm="100000">
                                          <p:val>
                                            <p:strVal val="#ppt_y"/>
                                          </p:val>
                                        </p:tav>
                                      </p:tavLst>
                                    </p:anim>
                                  </p:childTnLst>
                                </p:cTn>
                              </p:par>
                            </p:childTnLst>
                          </p:cTn>
                        </p:par>
                      </p:childTnLst>
                    </p:cTn>
                  </p:par>
                  <p:par>
                    <p:cTn id="40" fill="hold">
                      <p:stCondLst>
                        <p:cond delay="0"/>
                      </p:stCondLst>
                      <p:childTnLst>
                        <p:par>
                          <p:cTn id="41" fill="hold">
                            <p:stCondLst>
                              <p:cond delay="0"/>
                            </p:stCondLst>
                            <p:childTnLst>
                              <p:par>
                                <p:cTn id="42" presetID="10" presetClass="entr" presetSubtype="0" fill="hold" grpId="0" nodeType="afterEffect">
                                  <p:stCondLst>
                                    <p:cond delay="0"/>
                                  </p:stCondLst>
                                  <p:childTnLst>
                                    <p:set>
                                      <p:cBhvr>
                                        <p:cTn id="43" dur="1" fill="hold">
                                          <p:stCondLst>
                                            <p:cond delay="0"/>
                                          </p:stCondLst>
                                        </p:cTn>
                                        <p:tgtEl>
                                          <p:spTgt spid="10"/>
                                        </p:tgtEl>
                                        <p:attrNameLst>
                                          <p:attrName>style.visibility</p:attrName>
                                        </p:attrNameLst>
                                      </p:cBhvr>
                                      <p:to>
                                        <p:strVal val="visible"/>
                                      </p:to>
                                    </p:set>
                                    <p:animEffect transition="in" filter="fade">
                                      <p:cBhvr>
                                        <p:cTn id="44" dur="350"/>
                                        <p:tgtEl>
                                          <p:spTgt spid="10"/>
                                        </p:tgtEl>
                                      </p:cBhvr>
                                    </p:animEffect>
                                    <p:anim calcmode="lin" valueType="num">
                                      <p:cBhvr additive="base">
                                        <p:cTn id="45" dur="350" fill="hold"/>
                                        <p:tgtEl>
                                          <p:spTgt spid="10"/>
                                        </p:tgtEl>
                                        <p:attrNameLst>
                                          <p:attrName>ppt_y</p:attrName>
                                        </p:attrNameLst>
                                      </p:cBhvr>
                                      <p:tavLst>
                                        <p:tav tm="0">
                                          <p:val>
                                            <p:strVal val="#ppt_y+0.0350"/>
                                          </p:val>
                                        </p:tav>
                                        <p:tav tm="100000">
                                          <p:val>
                                            <p:strVal val="#ppt_y"/>
                                          </p:val>
                                        </p:tav>
                                      </p:tavLst>
                                    </p:anim>
                                  </p:childTnLst>
                                </p:cTn>
                              </p:par>
                            </p:childTnLst>
                          </p:cTn>
                        </p:par>
                      </p:childTnLst>
                    </p:cTn>
                  </p:par>
                  <p:par>
                    <p:cTn id="50" fill="hold">
                      <p:stCondLst>
                        <p:cond delay="0"/>
                      </p:stCondLst>
                      <p:childTnLst>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3"/>
                                        </p:tgtEl>
                                        <p:attrNameLst>
                                          <p:attrName>style.visibility</p:attrName>
                                        </p:attrNameLst>
                                      </p:cBhvr>
                                      <p:to>
                                        <p:strVal val="visible"/>
                                      </p:to>
                                    </p:set>
                                    <p:animEffect transition="in" filter="fade">
                                      <p:cBhvr>
                                        <p:cTn id="54" dur="350"/>
                                        <p:tgtEl>
                                          <p:spTgt spid="13"/>
                                        </p:tgtEl>
                                      </p:cBhvr>
                                    </p:animEffect>
                                    <p:anim calcmode="lin" valueType="num">
                                      <p:cBhvr additive="base">
                                        <p:cTn id="55" dur="350" fill="hold"/>
                                        <p:tgtEl>
                                          <p:spTgt spid="13"/>
                                        </p:tgtEl>
                                        <p:attrNameLst>
                                          <p:attrName>ppt_y</p:attrName>
                                        </p:attrNameLst>
                                      </p:cBhvr>
                                      <p:tavLst>
                                        <p:tav tm="0">
                                          <p:val>
                                            <p:strVal val="#ppt_y+0.0350"/>
                                          </p:val>
                                        </p:tav>
                                        <p:tav tm="100000">
                                          <p:val>
                                            <p:strVal val="#ppt_y"/>
                                          </p:val>
                                        </p:tav>
                                      </p:tavLst>
                                    </p:anim>
                                  </p:childTnLst>
                                </p:cTn>
                              </p:par>
                            </p:childTnLst>
                          </p:cTn>
                        </p:par>
                      </p:childTnLst>
                    </p:cTn>
                  </p:par>
                  <p:par>
                    <p:cTn id="60" fill="hold">
                      <p:stCondLst>
                        <p:cond delay="0"/>
                      </p:stCondLst>
                      <p:childTnLst>
                        <p:par>
                          <p:cTn id="61" fill="hold">
                            <p:stCondLst>
                              <p:cond delay="0"/>
                            </p:stCondLst>
                            <p:childTnLst>
                              <p:par>
                                <p:cTn id="62" presetID="10" presetClass="entr" presetSubtype="0" fill="hold" grpId="0" nodeType="after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350"/>
                                        <p:tgtEl>
                                          <p:spTgt spid="22"/>
                                        </p:tgtEl>
                                      </p:cBhvr>
                                    </p:animEffect>
                                    <p:anim calcmode="lin" valueType="num">
                                      <p:cBhvr additive="base">
                                        <p:cTn id="65" dur="350" fill="hold"/>
                                        <p:tgtEl>
                                          <p:spTgt spid="22"/>
                                        </p:tgtEl>
                                        <p:attrNameLst>
                                          <p:attrName>ppt_y</p:attrName>
                                        </p:attrNameLst>
                                      </p:cBhvr>
                                      <p:tavLst>
                                        <p:tav tm="0">
                                          <p:val>
                                            <p:strVal val="#ppt_y+0.0350"/>
                                          </p:val>
                                        </p:tav>
                                        <p:tav tm="100000">
                                          <p:val>
                                            <p:strVal val="#ppt_y"/>
                                          </p:val>
                                        </p:tav>
                                      </p:tavLst>
                                    </p:anim>
                                  </p:childTnLst>
                                </p:cTn>
                              </p:par>
                            </p:childTnLst>
                          </p:cTn>
                        </p:par>
                      </p:childTnLst>
                    </p:cTn>
                  </p:par>
                  <p:par>
                    <p:cTn id="70" fill="hold">
                      <p:stCondLst>
                        <p:cond delay="0"/>
                      </p:stCondLst>
                      <p:childTnLst>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3"/>
                                        </p:tgtEl>
                                        <p:attrNameLst>
                                          <p:attrName>style.visibility</p:attrName>
                                        </p:attrNameLst>
                                      </p:cBhvr>
                                      <p:to>
                                        <p:strVal val="visible"/>
                                      </p:to>
                                    </p:set>
                                    <p:animEffect transition="in" filter="fade">
                                      <p:cBhvr>
                                        <p:cTn id="74" dur="350"/>
                                        <p:tgtEl>
                                          <p:spTgt spid="23"/>
                                        </p:tgtEl>
                                      </p:cBhvr>
                                    </p:animEffect>
                                    <p:anim calcmode="lin" valueType="num">
                                      <p:cBhvr additive="base">
                                        <p:cTn id="75" dur="350" fill="hold"/>
                                        <p:tgtEl>
                                          <p:spTgt spid="23"/>
                                        </p:tgtEl>
                                        <p:attrNameLst>
                                          <p:attrName>ppt_y</p:attrName>
                                        </p:attrNameLst>
                                      </p:cBhvr>
                                      <p:tavLst>
                                        <p:tav tm="0">
                                          <p:val>
                                            <p:strVal val="#ppt_y+0.0350"/>
                                          </p:val>
                                        </p:tav>
                                        <p:tav tm="100000">
                                          <p:val>
                                            <p:strVal val="#ppt_y"/>
                                          </p:val>
                                        </p:tav>
                                      </p:tavLst>
                                    </p:anim>
                                  </p:childTnLst>
                                </p:cTn>
                              </p:par>
                            </p:childTnLst>
                          </p:cTn>
                        </p:par>
                      </p:childTnLst>
                    </p:cTn>
                  </p:par>
                  <p:par>
                    <p:cTn id="80" fill="hold">
                      <p:stCondLst>
                        <p:cond delay="0"/>
                      </p:stCondLst>
                      <p:childTnLst>
                        <p:par>
                          <p:cTn id="81" fill="hold">
                            <p:stCondLst>
                              <p:cond delay="0"/>
                            </p:stCondLst>
                            <p:childTnLst>
                              <p:par>
                                <p:cTn id="82" presetID="10" presetClass="entr" presetSubtype="0" fill="hold" grpId="0" nodeType="afterEffect">
                                  <p:stCondLst>
                                    <p:cond delay="0"/>
                                  </p:stCondLst>
                                  <p:childTnLst>
                                    <p:set>
                                      <p:cBhvr>
                                        <p:cTn id="83" dur="1" fill="hold">
                                          <p:stCondLst>
                                            <p:cond delay="0"/>
                                          </p:stCondLst>
                                        </p:cTn>
                                        <p:tgtEl>
                                          <p:spTgt spid="24"/>
                                        </p:tgtEl>
                                        <p:attrNameLst>
                                          <p:attrName>style.visibility</p:attrName>
                                        </p:attrNameLst>
                                      </p:cBhvr>
                                      <p:to>
                                        <p:strVal val="visible"/>
                                      </p:to>
                                    </p:set>
                                    <p:animEffect transition="in" filter="fade">
                                      <p:cBhvr>
                                        <p:cTn id="84" dur="350"/>
                                        <p:tgtEl>
                                          <p:spTgt spid="24"/>
                                        </p:tgtEl>
                                      </p:cBhvr>
                                    </p:animEffect>
                                    <p:anim calcmode="lin" valueType="num">
                                      <p:cBhvr additive="base">
                                        <p:cTn id="85" dur="350" fill="hold"/>
                                        <p:tgtEl>
                                          <p:spTgt spid="24"/>
                                        </p:tgtEl>
                                        <p:attrNameLst>
                                          <p:attrName>ppt_y</p:attrName>
                                        </p:attrNameLst>
                                      </p:cBhvr>
                                      <p:tavLst>
                                        <p:tav tm="0">
                                          <p:val>
                                            <p:strVal val="#ppt_y+0.0350"/>
                                          </p:val>
                                        </p:tav>
                                        <p:tav tm="100000">
                                          <p:val>
                                            <p:strVal val="#ppt_y"/>
                                          </p:val>
                                        </p:tav>
                                      </p:tavLst>
                                    </p:anim>
                                  </p:childTnLst>
                                </p:cTn>
                              </p:par>
                            </p:childTnLst>
                          </p:cTn>
                        </p:par>
                      </p:childTnLst>
                    </p:cTn>
                  </p:par>
                </p:childTnLst>
                <p:prevCondLst>
                  <p:cond evt="onPrev" delay="0">
                    <p:tgtEl>
                      <p:sldTgt/>
                    </p:tgtEl>
                  </p:cond>
                </p:prevCondLst>
                <p:nextCondLst>
                  <p:cond evt="onNext" delay="0">
                    <p:tgtEl>
                      <p:sldTgt/>
                    </p:tgtEl>
                  </p:cond>
                </p:nextCondLst>
              </p:cTn>
            </p:seq>
          </p:childTnLst>
        </p:cTn>
      </p:par>
    </p:tnLst>
  </p:timing>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REALISTIC WORKPLACE DEMO 10 · BEFORE AND AFTER</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A simplified returns flow cuts avoidable handling</a:t>
            </a:r>
          </a:p>
        </p:txBody>
      </p:sp>
      <p:sp>
        <p:nvSpPr>
          <p:cNvPr id="6" name="TextBox 5"/>
          <p:cNvSpPr txBox="1"/>
          <p:nvPr/>
        </p:nvSpPr>
        <p:spPr>
          <a:xfrm>
            <a:off x="795528" y="1664208"/>
            <a:ext cx="10607040" cy="365760"/>
          </a:xfrm>
          <a:prstGeom prst="rect">
            <a:avLst/>
          </a:prstGeom>
          <a:noFill/>
        </p:spPr>
        <p:txBody>
          <a:bodyPr wrap="square" anchor="t">
            <a:spAutoFit/>
          </a:bodyPr>
          <a:lstStyle/>
          <a:p>
            <a:pPr algn="l">
              <a:spcAft>
                <a:spcPts val="400"/>
              </a:spcAft>
            </a:pPr>
            <a:r>
              <a:rPr sz="1300" b="0">
                <a:solidFill>
                  <a:srgbClr val="5B6372"/>
                </a:solidFill>
                <a:latin typeface="Arial"/>
              </a:rPr>
              <a:t>Operations redesign · synthetic training data, not operational evidence</a:t>
            </a:r>
          </a:p>
        </p:txBody>
      </p:sp>
      <p:sp>
        <p:nvSpPr>
          <p:cNvPr id="7" name="Rectangle 6"/>
          <p:cNvSpPr/>
          <p:nvPr/>
        </p:nvSpPr>
        <p:spPr>
          <a:xfrm>
            <a:off x="868680" y="2240280"/>
            <a:ext cx="4983480" cy="27889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468880"/>
            <a:ext cx="4983480" cy="411480"/>
          </a:xfrm>
          <a:prstGeom prst="rect">
            <a:avLst/>
          </a:prstGeom>
          <a:noFill/>
        </p:spPr>
        <p:txBody>
          <a:bodyPr wrap="square" anchor="t">
            <a:spAutoFit/>
          </a:bodyPr>
          <a:lstStyle/>
          <a:p>
            <a:pPr algn="ctr">
              <a:spcAft>
                <a:spcPts val="400"/>
              </a:spcAft>
            </a:pPr>
            <a:r>
              <a:rPr sz="1600" b="1">
                <a:solidFill>
                  <a:srgbClr val="5B6372"/>
                </a:solidFill>
                <a:latin typeface="Arial"/>
              </a:rPr>
              <a:t>BEFORE</a:t>
            </a:r>
          </a:p>
        </p:txBody>
      </p:sp>
      <p:sp>
        <p:nvSpPr>
          <p:cNvPr id="9" name="TextBox 8"/>
          <p:cNvSpPr txBox="1"/>
          <p:nvPr/>
        </p:nvSpPr>
        <p:spPr>
          <a:xfrm>
            <a:off x="868680" y="3108960"/>
            <a:ext cx="4983480" cy="731520"/>
          </a:xfrm>
          <a:prstGeom prst="rect">
            <a:avLst/>
          </a:prstGeom>
          <a:noFill/>
        </p:spPr>
        <p:txBody>
          <a:bodyPr wrap="square" anchor="t">
            <a:spAutoFit/>
          </a:bodyPr>
          <a:lstStyle/>
          <a:p>
            <a:pPr algn="ctr">
              <a:spcAft>
                <a:spcPts val="400"/>
              </a:spcAft>
            </a:pPr>
            <a:r>
              <a:rPr sz="3000" b="1">
                <a:solidFill>
                  <a:srgbClr val="5B6372"/>
                </a:solidFill>
                <a:latin typeface="Arial"/>
              </a:rPr>
              <a:t>9</a:t>
            </a:r>
            <a:r>
              <a:rPr sz="1200" b="0">
                <a:solidFill>
                  <a:srgbClr val="161B26"/>
                </a:solidFill>
                <a:latin typeface="Arial"/>
              </a:rPr>
              <a:t>  old steps</a:t>
            </a:r>
          </a:p>
        </p:txBody>
      </p:sp>
      <p:sp>
        <p:nvSpPr>
          <p:cNvPr id="10" name="TextBox 9"/>
          <p:cNvSpPr txBox="1"/>
          <p:nvPr/>
        </p:nvSpPr>
        <p:spPr>
          <a:xfrm>
            <a:off x="868680" y="3977639"/>
            <a:ext cx="4983480" cy="731520"/>
          </a:xfrm>
          <a:prstGeom prst="rect">
            <a:avLst/>
          </a:prstGeom>
          <a:noFill/>
        </p:spPr>
        <p:txBody>
          <a:bodyPr wrap="square" anchor="t">
            <a:spAutoFit/>
          </a:bodyPr>
          <a:lstStyle/>
          <a:p>
            <a:pPr algn="ctr">
              <a:spcAft>
                <a:spcPts val="400"/>
              </a:spcAft>
            </a:pPr>
            <a:r>
              <a:rPr sz="3000" b="1">
                <a:solidFill>
                  <a:srgbClr val="5B6372"/>
                </a:solidFill>
                <a:latin typeface="Arial"/>
              </a:rPr>
              <a:t>18 min</a:t>
            </a:r>
            <a:r>
              <a:rPr sz="1200" b="0">
                <a:solidFill>
                  <a:srgbClr val="161B26"/>
                </a:solidFill>
                <a:latin typeface="Arial"/>
              </a:rPr>
              <a:t>  old handling</a:t>
            </a:r>
          </a:p>
        </p:txBody>
      </p:sp>
      <p:sp>
        <p:nvSpPr>
          <p:cNvPr id="11" name="Rectangle 10"/>
          <p:cNvSpPr/>
          <p:nvPr/>
        </p:nvSpPr>
        <p:spPr>
          <a:xfrm>
            <a:off x="6400800" y="2240280"/>
            <a:ext cx="4983480" cy="27889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2468880"/>
            <a:ext cx="4983480" cy="411480"/>
          </a:xfrm>
          <a:prstGeom prst="rect">
            <a:avLst/>
          </a:prstGeom>
          <a:noFill/>
        </p:spPr>
        <p:txBody>
          <a:bodyPr wrap="square" anchor="t">
            <a:spAutoFit/>
          </a:bodyPr>
          <a:lstStyle/>
          <a:p>
            <a:pPr algn="ctr">
              <a:spcAft>
                <a:spcPts val="400"/>
              </a:spcAft>
            </a:pPr>
            <a:r>
              <a:rPr sz="1600" b="1">
                <a:solidFill>
                  <a:srgbClr val="10B981"/>
                </a:solidFill>
                <a:latin typeface="Arial"/>
              </a:rPr>
              <a:t>AFTER</a:t>
            </a:r>
          </a:p>
        </p:txBody>
      </p:sp>
      <p:sp>
        <p:nvSpPr>
          <p:cNvPr id="13" name="TextBox 12"/>
          <p:cNvSpPr txBox="1"/>
          <p:nvPr/>
        </p:nvSpPr>
        <p:spPr>
          <a:xfrm>
            <a:off x="6400800" y="3108960"/>
            <a:ext cx="4983480" cy="731520"/>
          </a:xfrm>
          <a:prstGeom prst="rect">
            <a:avLst/>
          </a:prstGeom>
          <a:noFill/>
        </p:spPr>
        <p:txBody>
          <a:bodyPr wrap="square" anchor="t">
            <a:spAutoFit/>
          </a:bodyPr>
          <a:lstStyle/>
          <a:p>
            <a:pPr algn="ctr">
              <a:spcAft>
                <a:spcPts val="400"/>
              </a:spcAft>
            </a:pPr>
            <a:r>
              <a:rPr sz="3000" b="1">
                <a:solidFill>
                  <a:srgbClr val="10B981"/>
                </a:solidFill>
                <a:latin typeface="Arial"/>
              </a:rPr>
              <a:t>5</a:t>
            </a:r>
            <a:r>
              <a:rPr sz="1200" b="0">
                <a:solidFill>
                  <a:srgbClr val="161B26"/>
                </a:solidFill>
                <a:latin typeface="Arial"/>
              </a:rPr>
              <a:t>  new steps</a:t>
            </a:r>
          </a:p>
        </p:txBody>
      </p:sp>
      <p:sp>
        <p:nvSpPr>
          <p:cNvPr id="14" name="TextBox 13"/>
          <p:cNvSpPr txBox="1"/>
          <p:nvPr/>
        </p:nvSpPr>
        <p:spPr>
          <a:xfrm>
            <a:off x="6400800" y="3977639"/>
            <a:ext cx="4983480" cy="731520"/>
          </a:xfrm>
          <a:prstGeom prst="rect">
            <a:avLst/>
          </a:prstGeom>
          <a:noFill/>
        </p:spPr>
        <p:txBody>
          <a:bodyPr wrap="square" anchor="t">
            <a:spAutoFit/>
          </a:bodyPr>
          <a:lstStyle/>
          <a:p>
            <a:pPr algn="ctr">
              <a:spcAft>
                <a:spcPts val="400"/>
              </a:spcAft>
            </a:pPr>
            <a:r>
              <a:rPr sz="3000" b="1">
                <a:solidFill>
                  <a:srgbClr val="10B981"/>
                </a:solidFill>
                <a:latin typeface="Arial"/>
              </a:rPr>
              <a:t>11 min</a:t>
            </a:r>
            <a:r>
              <a:rPr sz="1200" b="0">
                <a:solidFill>
                  <a:srgbClr val="161B26"/>
                </a:solidFill>
                <a:latin typeface="Arial"/>
              </a:rPr>
              <a:t>  new handling</a:t>
            </a:r>
          </a:p>
        </p:txBody>
      </p:sp>
      <p:sp>
        <p:nvSpPr>
          <p:cNvPr id="15" name="Rectangle 14"/>
          <p:cNvSpPr/>
          <p:nvPr/>
        </p:nvSpPr>
        <p:spPr>
          <a:xfrm>
            <a:off x="777240" y="5321808"/>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5321808"/>
            <a:ext cx="91440" cy="6583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5321808"/>
            <a:ext cx="10058400" cy="658368"/>
          </a:xfrm>
          <a:prstGeom prst="rect">
            <a:avLst/>
          </a:prstGeom>
          <a:noFill/>
        </p:spPr>
        <p:txBody>
          <a:bodyPr wrap="square" anchor="ctr">
            <a:spAutoFit/>
          </a:bodyPr>
          <a:lstStyle/>
          <a:p>
            <a:pPr algn="l">
              <a:spcAft>
                <a:spcPts val="400"/>
              </a:spcAft>
            </a:pPr>
            <a:r>
              <a:rPr sz="1250" b="1">
                <a:solidFill>
                  <a:srgbClr val="161B26"/>
                </a:solidFill>
                <a:latin typeface="Arial"/>
              </a:rPr>
              <a:t>Standardise the five-step flow and audit exceptions for four weeks.</a:t>
            </a:r>
          </a:p>
        </p:txBody>
      </p:sp>
      <p:sp>
        <p:nvSpPr>
          <p:cNvPr id="18" name="TextBox 17"/>
          <p:cNvSpPr txBox="1"/>
          <p:nvPr/>
        </p:nvSpPr>
        <p:spPr>
          <a:xfrm>
            <a:off x="777240" y="6089904"/>
            <a:ext cx="10607040" cy="201168"/>
          </a:xfrm>
          <a:prstGeom prst="rect">
            <a:avLst/>
          </a:prstGeom>
          <a:noFill/>
        </p:spPr>
        <p:txBody>
          <a:bodyPr wrap="square" anchor="t">
            <a:spAutoFit/>
          </a:bodyPr>
          <a:lstStyle/>
          <a:p>
            <a:pPr algn="l">
              <a:spcAft>
                <a:spcPts val="400"/>
              </a:spcAft>
            </a:pPr>
            <a:r>
              <a:rPr sz="850" b="0">
                <a:solidFill>
                  <a:srgbClr val="5B6372"/>
                </a:solidFill>
                <a:latin typeface="Arial"/>
              </a:rPr>
              <a:t>Source: realistic synthetic training scenario created for this course.</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61</a:t>
            </a:r>
          </a:p>
        </p:txBody>
      </p:sp>
    </p:spTree>
  </p:cSld>
  <p:clrMapOvr>
    <a:masterClrMapping/>
  </p:clrMapOvr>
  <p:transition spd="fast" advClick="1">
    <p:fade/>
  </p:transition>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REALISTIC WORKPLACE DEMO 11 · RESOURCE SCORECARD</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Copilot plus PowerPoint passes the operating gates</a:t>
            </a:r>
          </a:p>
        </p:txBody>
      </p:sp>
      <p:sp>
        <p:nvSpPr>
          <p:cNvPr id="6" name="TextBox 5"/>
          <p:cNvSpPr txBox="1"/>
          <p:nvPr/>
        </p:nvSpPr>
        <p:spPr>
          <a:xfrm>
            <a:off x="795528" y="1664208"/>
            <a:ext cx="10607040" cy="365760"/>
          </a:xfrm>
          <a:prstGeom prst="rect">
            <a:avLst/>
          </a:prstGeom>
          <a:noFill/>
        </p:spPr>
        <p:txBody>
          <a:bodyPr wrap="square" anchor="t">
            <a:spAutoFit/>
          </a:bodyPr>
          <a:lstStyle/>
          <a:p>
            <a:pPr algn="l">
              <a:spcAft>
                <a:spcPts val="400"/>
              </a:spcAft>
            </a:pPr>
            <a:r>
              <a:rPr sz="1300" b="0">
                <a:solidFill>
                  <a:srgbClr val="5B6372"/>
                </a:solidFill>
                <a:latin typeface="Arial"/>
              </a:rPr>
              <a:t>LO3 tool investment · synthetic training data, not operational evidence</a:t>
            </a:r>
          </a:p>
        </p:txBody>
      </p:sp>
      <p:sp>
        <p:nvSpPr>
          <p:cNvPr id="7" name="Rectangle 6"/>
          <p:cNvSpPr/>
          <p:nvPr/>
        </p:nvSpPr>
        <p:spPr>
          <a:xfrm>
            <a:off x="777240" y="2331720"/>
            <a:ext cx="2466594" cy="2468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2466594"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788920"/>
            <a:ext cx="2466594" cy="822960"/>
          </a:xfrm>
          <a:prstGeom prst="rect">
            <a:avLst/>
          </a:prstGeom>
          <a:noFill/>
        </p:spPr>
        <p:txBody>
          <a:bodyPr wrap="square" anchor="t">
            <a:spAutoFit/>
          </a:bodyPr>
          <a:lstStyle/>
          <a:p>
            <a:pPr algn="ctr">
              <a:spcAft>
                <a:spcPts val="400"/>
              </a:spcAft>
            </a:pPr>
            <a:r>
              <a:rPr sz="2800" b="1">
                <a:solidFill>
                  <a:srgbClr val="1F6FEB"/>
                </a:solidFill>
                <a:latin typeface="Arial"/>
              </a:rPr>
              <a:t>SGD 19.7k</a:t>
            </a:r>
          </a:p>
        </p:txBody>
      </p:sp>
      <p:sp>
        <p:nvSpPr>
          <p:cNvPr id="10" name="TextBox 9"/>
          <p:cNvSpPr txBox="1"/>
          <p:nvPr/>
        </p:nvSpPr>
        <p:spPr>
          <a:xfrm>
            <a:off x="923544" y="3794760"/>
            <a:ext cx="2173986" cy="640080"/>
          </a:xfrm>
          <a:prstGeom prst="rect">
            <a:avLst/>
          </a:prstGeom>
          <a:noFill/>
        </p:spPr>
        <p:txBody>
          <a:bodyPr wrap="square" anchor="t">
            <a:spAutoFit/>
          </a:bodyPr>
          <a:lstStyle/>
          <a:p>
            <a:pPr algn="ctr">
              <a:spcAft>
                <a:spcPts val="400"/>
              </a:spcAft>
            </a:pPr>
            <a:r>
              <a:rPr sz="1150" b="0">
                <a:solidFill>
                  <a:srgbClr val="161B26"/>
                </a:solidFill>
                <a:latin typeface="Arial"/>
              </a:rPr>
              <a:t>12-month cost</a:t>
            </a:r>
          </a:p>
        </p:txBody>
      </p:sp>
      <p:sp>
        <p:nvSpPr>
          <p:cNvPr id="11" name="Rectangle 10"/>
          <p:cNvSpPr/>
          <p:nvPr/>
        </p:nvSpPr>
        <p:spPr>
          <a:xfrm>
            <a:off x="3499866" y="2331720"/>
            <a:ext cx="2466594" cy="2468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499866" y="2331720"/>
            <a:ext cx="2466594"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499866" y="2788920"/>
            <a:ext cx="2466594" cy="822960"/>
          </a:xfrm>
          <a:prstGeom prst="rect">
            <a:avLst/>
          </a:prstGeom>
          <a:noFill/>
        </p:spPr>
        <p:txBody>
          <a:bodyPr wrap="square" anchor="t">
            <a:spAutoFit/>
          </a:bodyPr>
          <a:lstStyle/>
          <a:p>
            <a:pPr algn="ctr">
              <a:spcAft>
                <a:spcPts val="400"/>
              </a:spcAft>
            </a:pPr>
            <a:r>
              <a:rPr sz="2800" b="1">
                <a:solidFill>
                  <a:srgbClr val="10B981"/>
                </a:solidFill>
                <a:latin typeface="Arial"/>
              </a:rPr>
              <a:t>4.4/5</a:t>
            </a:r>
          </a:p>
        </p:txBody>
      </p:sp>
      <p:sp>
        <p:nvSpPr>
          <p:cNvPr id="14" name="TextBox 13"/>
          <p:cNvSpPr txBox="1"/>
          <p:nvPr/>
        </p:nvSpPr>
        <p:spPr>
          <a:xfrm>
            <a:off x="3646170" y="3794760"/>
            <a:ext cx="2173986" cy="640080"/>
          </a:xfrm>
          <a:prstGeom prst="rect">
            <a:avLst/>
          </a:prstGeom>
          <a:noFill/>
        </p:spPr>
        <p:txBody>
          <a:bodyPr wrap="square" anchor="t">
            <a:spAutoFit/>
          </a:bodyPr>
          <a:lstStyle/>
          <a:p>
            <a:pPr algn="ctr">
              <a:spcAft>
                <a:spcPts val="400"/>
              </a:spcAft>
            </a:pPr>
            <a:r>
              <a:rPr sz="1150" b="0">
                <a:solidFill>
                  <a:srgbClr val="161B26"/>
                </a:solidFill>
                <a:latin typeface="Arial"/>
              </a:rPr>
              <a:t>effectiveness</a:t>
            </a:r>
          </a:p>
        </p:txBody>
      </p:sp>
      <p:sp>
        <p:nvSpPr>
          <p:cNvPr id="15" name="Rectangle 14"/>
          <p:cNvSpPr/>
          <p:nvPr/>
        </p:nvSpPr>
        <p:spPr>
          <a:xfrm>
            <a:off x="6222492" y="2331720"/>
            <a:ext cx="2466594" cy="2468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22492" y="2331720"/>
            <a:ext cx="2466594"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22492" y="2788920"/>
            <a:ext cx="2466594" cy="822960"/>
          </a:xfrm>
          <a:prstGeom prst="rect">
            <a:avLst/>
          </a:prstGeom>
          <a:noFill/>
        </p:spPr>
        <p:txBody>
          <a:bodyPr wrap="square" anchor="t">
            <a:spAutoFit/>
          </a:bodyPr>
          <a:lstStyle/>
          <a:p>
            <a:pPr algn="ctr">
              <a:spcAft>
                <a:spcPts val="400"/>
              </a:spcAft>
            </a:pPr>
            <a:r>
              <a:rPr sz="2800" b="1">
                <a:solidFill>
                  <a:srgbClr val="7C3AED"/>
                </a:solidFill>
                <a:latin typeface="Arial"/>
              </a:rPr>
              <a:t>4/5</a:t>
            </a:r>
          </a:p>
        </p:txBody>
      </p:sp>
      <p:sp>
        <p:nvSpPr>
          <p:cNvPr id="18" name="TextBox 17"/>
          <p:cNvSpPr txBox="1"/>
          <p:nvPr/>
        </p:nvSpPr>
        <p:spPr>
          <a:xfrm>
            <a:off x="6368796" y="3794760"/>
            <a:ext cx="2173986" cy="640080"/>
          </a:xfrm>
          <a:prstGeom prst="rect">
            <a:avLst/>
          </a:prstGeom>
          <a:noFill/>
        </p:spPr>
        <p:txBody>
          <a:bodyPr wrap="square" anchor="t">
            <a:spAutoFit/>
          </a:bodyPr>
          <a:lstStyle/>
          <a:p>
            <a:pPr algn="ctr">
              <a:spcAft>
                <a:spcPts val="400"/>
              </a:spcAft>
            </a:pPr>
            <a:r>
              <a:rPr sz="1150" b="0">
                <a:solidFill>
                  <a:srgbClr val="161B26"/>
                </a:solidFill>
                <a:latin typeface="Arial"/>
              </a:rPr>
              <a:t>governance</a:t>
            </a:r>
          </a:p>
        </p:txBody>
      </p:sp>
      <p:sp>
        <p:nvSpPr>
          <p:cNvPr id="19" name="Rectangle 18"/>
          <p:cNvSpPr/>
          <p:nvPr/>
        </p:nvSpPr>
        <p:spPr>
          <a:xfrm>
            <a:off x="8945118" y="2331720"/>
            <a:ext cx="2466594" cy="2468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945118" y="2331720"/>
            <a:ext cx="2466594" cy="1097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945118" y="2788920"/>
            <a:ext cx="2466594" cy="822960"/>
          </a:xfrm>
          <a:prstGeom prst="rect">
            <a:avLst/>
          </a:prstGeom>
          <a:noFill/>
        </p:spPr>
        <p:txBody>
          <a:bodyPr wrap="square" anchor="t">
            <a:spAutoFit/>
          </a:bodyPr>
          <a:lstStyle/>
          <a:p>
            <a:pPr algn="ctr">
              <a:spcAft>
                <a:spcPts val="400"/>
              </a:spcAft>
            </a:pPr>
            <a:r>
              <a:rPr sz="2800" b="1">
                <a:solidFill>
                  <a:srgbClr val="F59E0B"/>
                </a:solidFill>
                <a:latin typeface="Arial"/>
              </a:rPr>
              <a:t>96</a:t>
            </a:r>
          </a:p>
        </p:txBody>
      </p:sp>
      <p:sp>
        <p:nvSpPr>
          <p:cNvPr id="22" name="TextBox 21"/>
          <p:cNvSpPr txBox="1"/>
          <p:nvPr/>
        </p:nvSpPr>
        <p:spPr>
          <a:xfrm>
            <a:off x="9091422" y="3794760"/>
            <a:ext cx="2173986" cy="640080"/>
          </a:xfrm>
          <a:prstGeom prst="rect">
            <a:avLst/>
          </a:prstGeom>
          <a:noFill/>
        </p:spPr>
        <p:txBody>
          <a:bodyPr wrap="square" anchor="t">
            <a:spAutoFit/>
          </a:bodyPr>
          <a:lstStyle/>
          <a:p>
            <a:pPr algn="ctr">
              <a:spcAft>
                <a:spcPts val="400"/>
              </a:spcAft>
            </a:pPr>
            <a:r>
              <a:rPr sz="1150" b="0">
                <a:solidFill>
                  <a:srgbClr val="161B26"/>
                </a:solidFill>
                <a:latin typeface="Arial"/>
              </a:rPr>
              <a:t>annual outputs</a:t>
            </a:r>
          </a:p>
        </p:txBody>
      </p:sp>
      <p:sp>
        <p:nvSpPr>
          <p:cNvPr id="23" name="Rectangle 22"/>
          <p:cNvSpPr/>
          <p:nvPr/>
        </p:nvSpPr>
        <p:spPr>
          <a:xfrm>
            <a:off x="777240" y="5321808"/>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77240" y="5321808"/>
            <a:ext cx="91440" cy="65836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97280" y="5321808"/>
            <a:ext cx="10058400" cy="658368"/>
          </a:xfrm>
          <a:prstGeom prst="rect">
            <a:avLst/>
          </a:prstGeom>
          <a:noFill/>
        </p:spPr>
        <p:txBody>
          <a:bodyPr wrap="square" anchor="ctr">
            <a:spAutoFit/>
          </a:bodyPr>
          <a:lstStyle/>
          <a:p>
            <a:pPr algn="l">
              <a:spcAft>
                <a:spcPts val="400"/>
              </a:spcAft>
            </a:pPr>
            <a:r>
              <a:rPr sz="1250" b="1">
                <a:solidFill>
                  <a:srgbClr val="161B26"/>
                </a:solidFill>
                <a:latin typeface="Arial"/>
              </a:rPr>
              <a:t>Fund the workflow with quarterly accuracy and accessibility reviews.</a:t>
            </a:r>
          </a:p>
        </p:txBody>
      </p:sp>
      <p:sp>
        <p:nvSpPr>
          <p:cNvPr id="26" name="TextBox 25"/>
          <p:cNvSpPr txBox="1"/>
          <p:nvPr/>
        </p:nvSpPr>
        <p:spPr>
          <a:xfrm>
            <a:off x="777240" y="6089904"/>
            <a:ext cx="10607040" cy="201168"/>
          </a:xfrm>
          <a:prstGeom prst="rect">
            <a:avLst/>
          </a:prstGeom>
          <a:noFill/>
        </p:spPr>
        <p:txBody>
          <a:bodyPr wrap="square" anchor="t">
            <a:spAutoFit/>
          </a:bodyPr>
          <a:lstStyle/>
          <a:p>
            <a:pPr algn="l">
              <a:spcAft>
                <a:spcPts val="400"/>
              </a:spcAft>
            </a:pPr>
            <a:r>
              <a:rPr sz="850" b="0">
                <a:solidFill>
                  <a:srgbClr val="5B6372"/>
                </a:solidFill>
                <a:latin typeface="Arial"/>
              </a:rPr>
              <a:t>Source: realistic synthetic training scenario created for this course.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62</a:t>
            </a:r>
          </a:p>
        </p:txBody>
      </p:sp>
    </p:spTree>
  </p:cSld>
  <p:clrMapOvr>
    <a:masterClrMapping/>
  </p:clrMapOvr>
  <p:transition spd="fast" advClick="1">
    <p:fade/>
  </p:transition>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REALISTIC WORKPLACE DEMO 12 · DECISION MATRIX</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Wide format wins for leadership</a:t>
            </a:r>
          </a:p>
        </p:txBody>
      </p:sp>
      <p:sp>
        <p:nvSpPr>
          <p:cNvPr id="6" name="TextBox 5"/>
          <p:cNvSpPr txBox="1"/>
          <p:nvPr/>
        </p:nvSpPr>
        <p:spPr>
          <a:xfrm>
            <a:off x="795528" y="1664208"/>
            <a:ext cx="10607040" cy="365760"/>
          </a:xfrm>
          <a:prstGeom prst="rect">
            <a:avLst/>
          </a:prstGeom>
          <a:noFill/>
        </p:spPr>
        <p:txBody>
          <a:bodyPr wrap="square" anchor="t">
            <a:spAutoFit/>
          </a:bodyPr>
          <a:lstStyle/>
          <a:p>
            <a:pPr algn="l">
              <a:spcAft>
                <a:spcPts val="400"/>
              </a:spcAft>
            </a:pPr>
            <a:r>
              <a:rPr sz="1300" b="0">
                <a:solidFill>
                  <a:srgbClr val="5B6372"/>
                </a:solidFill>
                <a:latin typeface="Arial"/>
              </a:rPr>
              <a:t>Channel selection · synthetic training data, not operational evidence</a:t>
            </a:r>
          </a:p>
        </p:txBody>
      </p:sp>
      <p:sp>
        <p:nvSpPr>
          <p:cNvPr id="7" name="Rectangle 6"/>
          <p:cNvSpPr/>
          <p:nvPr/>
        </p:nvSpPr>
        <p:spPr>
          <a:xfrm>
            <a:off x="941832" y="2130552"/>
            <a:ext cx="2468880" cy="5120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41832" y="2221992"/>
            <a:ext cx="2468880" cy="310896"/>
          </a:xfrm>
          <a:prstGeom prst="rect">
            <a:avLst/>
          </a:prstGeom>
          <a:noFill/>
        </p:spPr>
        <p:txBody>
          <a:bodyPr wrap="square" anchor="t">
            <a:spAutoFit/>
          </a:bodyPr>
          <a:lstStyle/>
          <a:p>
            <a:pPr algn="ctr">
              <a:spcAft>
                <a:spcPts val="400"/>
              </a:spcAft>
            </a:pPr>
            <a:r>
              <a:rPr sz="1100" b="1">
                <a:solidFill>
                  <a:srgbClr val="FFFFFF"/>
                </a:solidFill>
                <a:latin typeface="Arial"/>
              </a:rPr>
              <a:t>FORMAT</a:t>
            </a:r>
          </a:p>
        </p:txBody>
      </p:sp>
      <p:sp>
        <p:nvSpPr>
          <p:cNvPr id="9" name="Rectangle 8"/>
          <p:cNvSpPr/>
          <p:nvPr/>
        </p:nvSpPr>
        <p:spPr>
          <a:xfrm>
            <a:off x="3410712" y="2130552"/>
            <a:ext cx="1600200" cy="5120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10712" y="2221992"/>
            <a:ext cx="1600200" cy="310896"/>
          </a:xfrm>
          <a:prstGeom prst="rect">
            <a:avLst/>
          </a:prstGeom>
          <a:noFill/>
        </p:spPr>
        <p:txBody>
          <a:bodyPr wrap="square" anchor="t">
            <a:spAutoFit/>
          </a:bodyPr>
          <a:lstStyle/>
          <a:p>
            <a:pPr algn="ctr">
              <a:spcAft>
                <a:spcPts val="400"/>
              </a:spcAft>
            </a:pPr>
            <a:r>
              <a:rPr sz="1100" b="1">
                <a:solidFill>
                  <a:srgbClr val="FFFFFF"/>
                </a:solidFill>
                <a:latin typeface="Arial"/>
              </a:rPr>
              <a:t>AUDIENCE</a:t>
            </a:r>
          </a:p>
        </p:txBody>
      </p:sp>
      <p:sp>
        <p:nvSpPr>
          <p:cNvPr id="11" name="Rectangle 10"/>
          <p:cNvSpPr/>
          <p:nvPr/>
        </p:nvSpPr>
        <p:spPr>
          <a:xfrm>
            <a:off x="5010912" y="2130552"/>
            <a:ext cx="1600200" cy="5120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10912" y="2221992"/>
            <a:ext cx="1600200" cy="310896"/>
          </a:xfrm>
          <a:prstGeom prst="rect">
            <a:avLst/>
          </a:prstGeom>
          <a:noFill/>
        </p:spPr>
        <p:txBody>
          <a:bodyPr wrap="square" anchor="t">
            <a:spAutoFit/>
          </a:bodyPr>
          <a:lstStyle/>
          <a:p>
            <a:pPr algn="ctr">
              <a:spcAft>
                <a:spcPts val="400"/>
              </a:spcAft>
            </a:pPr>
            <a:r>
              <a:rPr sz="1100" b="1">
                <a:solidFill>
                  <a:srgbClr val="FFFFFF"/>
                </a:solidFill>
                <a:latin typeface="Arial"/>
              </a:rPr>
              <a:t>SCREEN</a:t>
            </a:r>
          </a:p>
        </p:txBody>
      </p:sp>
      <p:sp>
        <p:nvSpPr>
          <p:cNvPr id="13" name="Rectangle 12"/>
          <p:cNvSpPr/>
          <p:nvPr/>
        </p:nvSpPr>
        <p:spPr>
          <a:xfrm>
            <a:off x="6611112" y="2130552"/>
            <a:ext cx="1600200" cy="5120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11112" y="2221992"/>
            <a:ext cx="1600200" cy="310896"/>
          </a:xfrm>
          <a:prstGeom prst="rect">
            <a:avLst/>
          </a:prstGeom>
          <a:noFill/>
        </p:spPr>
        <p:txBody>
          <a:bodyPr wrap="square" anchor="t">
            <a:spAutoFit/>
          </a:bodyPr>
          <a:lstStyle/>
          <a:p>
            <a:pPr algn="ctr">
              <a:spcAft>
                <a:spcPts val="400"/>
              </a:spcAft>
            </a:pPr>
            <a:r>
              <a:rPr sz="1100" b="1">
                <a:solidFill>
                  <a:srgbClr val="FFFFFF"/>
                </a:solidFill>
                <a:latin typeface="Arial"/>
              </a:rPr>
              <a:t>ACTION</a:t>
            </a:r>
          </a:p>
        </p:txBody>
      </p:sp>
      <p:sp>
        <p:nvSpPr>
          <p:cNvPr id="15" name="Rectangle 14"/>
          <p:cNvSpPr/>
          <p:nvPr/>
        </p:nvSpPr>
        <p:spPr>
          <a:xfrm>
            <a:off x="8211312" y="2130552"/>
            <a:ext cx="1600200" cy="5120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11312" y="2221992"/>
            <a:ext cx="1600200" cy="310896"/>
          </a:xfrm>
          <a:prstGeom prst="rect">
            <a:avLst/>
          </a:prstGeom>
          <a:noFill/>
        </p:spPr>
        <p:txBody>
          <a:bodyPr wrap="square" anchor="t">
            <a:spAutoFit/>
          </a:bodyPr>
          <a:lstStyle/>
          <a:p>
            <a:pPr algn="ctr">
              <a:spcAft>
                <a:spcPts val="400"/>
              </a:spcAft>
            </a:pPr>
            <a:r>
              <a:rPr sz="1100" b="1">
                <a:solidFill>
                  <a:srgbClr val="FFFFFF"/>
                </a:solidFill>
                <a:latin typeface="Arial"/>
              </a:rPr>
              <a:t>TOTAL</a:t>
            </a:r>
          </a:p>
        </p:txBody>
      </p:sp>
      <p:sp>
        <p:nvSpPr>
          <p:cNvPr id="17" name="Rectangle 16"/>
          <p:cNvSpPr/>
          <p:nvPr/>
        </p:nvSpPr>
        <p:spPr>
          <a:xfrm>
            <a:off x="941832" y="2660904"/>
            <a:ext cx="2468880" cy="658368"/>
          </a:xfrm>
          <a:prstGeom prst="rect">
            <a:avLst/>
          </a:prstGeom>
          <a:solidFill>
            <a:srgbClr val="EAF8F2"/>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41832" y="2770632"/>
            <a:ext cx="2468880" cy="365760"/>
          </a:xfrm>
          <a:prstGeom prst="rect">
            <a:avLst/>
          </a:prstGeom>
          <a:noFill/>
        </p:spPr>
        <p:txBody>
          <a:bodyPr wrap="square" anchor="t">
            <a:spAutoFit/>
          </a:bodyPr>
          <a:lstStyle/>
          <a:p>
            <a:pPr algn="ctr">
              <a:spcAft>
                <a:spcPts val="400"/>
              </a:spcAft>
            </a:pPr>
            <a:r>
              <a:rPr sz="1400" b="1">
                <a:solidFill>
                  <a:srgbClr val="10B981"/>
                </a:solidFill>
                <a:latin typeface="Arial"/>
              </a:rPr>
              <a:t>Wide</a:t>
            </a:r>
          </a:p>
        </p:txBody>
      </p:sp>
      <p:sp>
        <p:nvSpPr>
          <p:cNvPr id="19" name="Rectangle 18"/>
          <p:cNvSpPr/>
          <p:nvPr/>
        </p:nvSpPr>
        <p:spPr>
          <a:xfrm>
            <a:off x="3410712" y="2660904"/>
            <a:ext cx="1600200" cy="658368"/>
          </a:xfrm>
          <a:prstGeom prst="rect">
            <a:avLst/>
          </a:prstGeom>
          <a:solidFill>
            <a:srgbClr val="EAF8F2"/>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410712" y="2770632"/>
            <a:ext cx="1600200" cy="365760"/>
          </a:xfrm>
          <a:prstGeom prst="rect">
            <a:avLst/>
          </a:prstGeom>
          <a:noFill/>
        </p:spPr>
        <p:txBody>
          <a:bodyPr wrap="square" anchor="t">
            <a:spAutoFit/>
          </a:bodyPr>
          <a:lstStyle/>
          <a:p>
            <a:pPr algn="ctr">
              <a:spcAft>
                <a:spcPts val="400"/>
              </a:spcAft>
            </a:pPr>
            <a:r>
              <a:rPr sz="1400" b="1">
                <a:solidFill>
                  <a:srgbClr val="10B981"/>
                </a:solidFill>
                <a:latin typeface="Arial"/>
              </a:rPr>
              <a:t>5</a:t>
            </a:r>
          </a:p>
        </p:txBody>
      </p:sp>
      <p:sp>
        <p:nvSpPr>
          <p:cNvPr id="21" name="Rectangle 20"/>
          <p:cNvSpPr/>
          <p:nvPr/>
        </p:nvSpPr>
        <p:spPr>
          <a:xfrm>
            <a:off x="5010912" y="2660904"/>
            <a:ext cx="1600200" cy="658368"/>
          </a:xfrm>
          <a:prstGeom prst="rect">
            <a:avLst/>
          </a:prstGeom>
          <a:solidFill>
            <a:srgbClr val="EAF8F2"/>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10912" y="2770632"/>
            <a:ext cx="1600200" cy="365760"/>
          </a:xfrm>
          <a:prstGeom prst="rect">
            <a:avLst/>
          </a:prstGeom>
          <a:noFill/>
        </p:spPr>
        <p:txBody>
          <a:bodyPr wrap="square" anchor="t">
            <a:spAutoFit/>
          </a:bodyPr>
          <a:lstStyle/>
          <a:p>
            <a:pPr algn="ctr">
              <a:spcAft>
                <a:spcPts val="400"/>
              </a:spcAft>
            </a:pPr>
            <a:r>
              <a:rPr sz="1400" b="1">
                <a:solidFill>
                  <a:srgbClr val="10B981"/>
                </a:solidFill>
                <a:latin typeface="Arial"/>
              </a:rPr>
              <a:t>5</a:t>
            </a:r>
          </a:p>
        </p:txBody>
      </p:sp>
      <p:sp>
        <p:nvSpPr>
          <p:cNvPr id="23" name="Rectangle 22"/>
          <p:cNvSpPr/>
          <p:nvPr/>
        </p:nvSpPr>
        <p:spPr>
          <a:xfrm>
            <a:off x="6611112" y="2660904"/>
            <a:ext cx="1600200" cy="658368"/>
          </a:xfrm>
          <a:prstGeom prst="rect">
            <a:avLst/>
          </a:prstGeom>
          <a:solidFill>
            <a:srgbClr val="EAF8F2"/>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611112" y="2770632"/>
            <a:ext cx="1600200" cy="365760"/>
          </a:xfrm>
          <a:prstGeom prst="rect">
            <a:avLst/>
          </a:prstGeom>
          <a:noFill/>
        </p:spPr>
        <p:txBody>
          <a:bodyPr wrap="square" anchor="t">
            <a:spAutoFit/>
          </a:bodyPr>
          <a:lstStyle/>
          <a:p>
            <a:pPr algn="ctr">
              <a:spcAft>
                <a:spcPts val="400"/>
              </a:spcAft>
            </a:pPr>
            <a:r>
              <a:rPr sz="1400" b="1">
                <a:solidFill>
                  <a:srgbClr val="10B981"/>
                </a:solidFill>
                <a:latin typeface="Arial"/>
              </a:rPr>
              <a:t>5</a:t>
            </a:r>
          </a:p>
        </p:txBody>
      </p:sp>
      <p:sp>
        <p:nvSpPr>
          <p:cNvPr id="25" name="Rectangle 24"/>
          <p:cNvSpPr/>
          <p:nvPr/>
        </p:nvSpPr>
        <p:spPr>
          <a:xfrm>
            <a:off x="8211312" y="2660904"/>
            <a:ext cx="1600200" cy="658368"/>
          </a:xfrm>
          <a:prstGeom prst="rect">
            <a:avLst/>
          </a:prstGeom>
          <a:solidFill>
            <a:srgbClr val="EAF8F2"/>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11312" y="2770632"/>
            <a:ext cx="1600200" cy="365760"/>
          </a:xfrm>
          <a:prstGeom prst="rect">
            <a:avLst/>
          </a:prstGeom>
          <a:noFill/>
        </p:spPr>
        <p:txBody>
          <a:bodyPr wrap="square" anchor="t">
            <a:spAutoFit/>
          </a:bodyPr>
          <a:lstStyle/>
          <a:p>
            <a:pPr algn="ctr">
              <a:spcAft>
                <a:spcPts val="400"/>
              </a:spcAft>
            </a:pPr>
            <a:r>
              <a:rPr sz="1400" b="1">
                <a:solidFill>
                  <a:srgbClr val="10B981"/>
                </a:solidFill>
                <a:latin typeface="Arial"/>
              </a:rPr>
              <a:t>15</a:t>
            </a:r>
          </a:p>
        </p:txBody>
      </p:sp>
      <p:sp>
        <p:nvSpPr>
          <p:cNvPr id="27" name="Rectangle 26"/>
          <p:cNvSpPr/>
          <p:nvPr/>
        </p:nvSpPr>
        <p:spPr>
          <a:xfrm>
            <a:off x="941832" y="3383280"/>
            <a:ext cx="2468880" cy="65836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41832" y="3493008"/>
            <a:ext cx="2468880" cy="365760"/>
          </a:xfrm>
          <a:prstGeom prst="rect">
            <a:avLst/>
          </a:prstGeom>
          <a:noFill/>
        </p:spPr>
        <p:txBody>
          <a:bodyPr wrap="square" anchor="t">
            <a:spAutoFit/>
          </a:bodyPr>
          <a:lstStyle/>
          <a:p>
            <a:pPr algn="ctr">
              <a:spcAft>
                <a:spcPts val="400"/>
              </a:spcAft>
            </a:pPr>
            <a:r>
              <a:rPr sz="1400" b="1">
                <a:solidFill>
                  <a:srgbClr val="161B26"/>
                </a:solidFill>
                <a:latin typeface="Arial"/>
              </a:rPr>
              <a:t>Portrait</a:t>
            </a:r>
          </a:p>
        </p:txBody>
      </p:sp>
      <p:sp>
        <p:nvSpPr>
          <p:cNvPr id="29" name="Rectangle 28"/>
          <p:cNvSpPr/>
          <p:nvPr/>
        </p:nvSpPr>
        <p:spPr>
          <a:xfrm>
            <a:off x="3410712" y="3383280"/>
            <a:ext cx="1600200" cy="65836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410712" y="3493008"/>
            <a:ext cx="1600200" cy="365760"/>
          </a:xfrm>
          <a:prstGeom prst="rect">
            <a:avLst/>
          </a:prstGeom>
          <a:noFill/>
        </p:spPr>
        <p:txBody>
          <a:bodyPr wrap="square" anchor="t">
            <a:spAutoFit/>
          </a:bodyPr>
          <a:lstStyle/>
          <a:p>
            <a:pPr algn="ctr">
              <a:spcAft>
                <a:spcPts val="400"/>
              </a:spcAft>
            </a:pPr>
            <a:r>
              <a:rPr sz="1400" b="0">
                <a:solidFill>
                  <a:srgbClr val="161B26"/>
                </a:solidFill>
                <a:latin typeface="Arial"/>
              </a:rPr>
              <a:t>4</a:t>
            </a:r>
          </a:p>
        </p:txBody>
      </p:sp>
      <p:sp>
        <p:nvSpPr>
          <p:cNvPr id="31" name="Rectangle 30"/>
          <p:cNvSpPr/>
          <p:nvPr/>
        </p:nvSpPr>
        <p:spPr>
          <a:xfrm>
            <a:off x="5010912" y="3383280"/>
            <a:ext cx="1600200" cy="65836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10912" y="3493008"/>
            <a:ext cx="1600200" cy="365760"/>
          </a:xfrm>
          <a:prstGeom prst="rect">
            <a:avLst/>
          </a:prstGeom>
          <a:noFill/>
        </p:spPr>
        <p:txBody>
          <a:bodyPr wrap="square" anchor="t">
            <a:spAutoFit/>
          </a:bodyPr>
          <a:lstStyle/>
          <a:p>
            <a:pPr algn="ctr">
              <a:spcAft>
                <a:spcPts val="400"/>
              </a:spcAft>
            </a:pPr>
            <a:r>
              <a:rPr sz="1400" b="0">
                <a:solidFill>
                  <a:srgbClr val="161B26"/>
                </a:solidFill>
                <a:latin typeface="Arial"/>
              </a:rPr>
              <a:t>2</a:t>
            </a:r>
          </a:p>
        </p:txBody>
      </p:sp>
      <p:sp>
        <p:nvSpPr>
          <p:cNvPr id="33" name="Rectangle 32"/>
          <p:cNvSpPr/>
          <p:nvPr/>
        </p:nvSpPr>
        <p:spPr>
          <a:xfrm>
            <a:off x="6611112" y="3383280"/>
            <a:ext cx="1600200" cy="65836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611112" y="3493008"/>
            <a:ext cx="1600200" cy="365760"/>
          </a:xfrm>
          <a:prstGeom prst="rect">
            <a:avLst/>
          </a:prstGeom>
          <a:noFill/>
        </p:spPr>
        <p:txBody>
          <a:bodyPr wrap="square" anchor="t">
            <a:spAutoFit/>
          </a:bodyPr>
          <a:lstStyle/>
          <a:p>
            <a:pPr algn="ctr">
              <a:spcAft>
                <a:spcPts val="400"/>
              </a:spcAft>
            </a:pPr>
            <a:r>
              <a:rPr sz="1400" b="0">
                <a:solidFill>
                  <a:srgbClr val="161B26"/>
                </a:solidFill>
                <a:latin typeface="Arial"/>
              </a:rPr>
              <a:t>4</a:t>
            </a:r>
          </a:p>
        </p:txBody>
      </p:sp>
      <p:sp>
        <p:nvSpPr>
          <p:cNvPr id="35" name="Rectangle 34"/>
          <p:cNvSpPr/>
          <p:nvPr/>
        </p:nvSpPr>
        <p:spPr>
          <a:xfrm>
            <a:off x="8211312" y="3383280"/>
            <a:ext cx="1600200" cy="65836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211312" y="3493008"/>
            <a:ext cx="1600200" cy="365760"/>
          </a:xfrm>
          <a:prstGeom prst="rect">
            <a:avLst/>
          </a:prstGeom>
          <a:noFill/>
        </p:spPr>
        <p:txBody>
          <a:bodyPr wrap="square" anchor="t">
            <a:spAutoFit/>
          </a:bodyPr>
          <a:lstStyle/>
          <a:p>
            <a:pPr algn="ctr">
              <a:spcAft>
                <a:spcPts val="400"/>
              </a:spcAft>
            </a:pPr>
            <a:r>
              <a:rPr sz="1400" b="0">
                <a:solidFill>
                  <a:srgbClr val="161B26"/>
                </a:solidFill>
                <a:latin typeface="Arial"/>
              </a:rPr>
              <a:t>10</a:t>
            </a:r>
          </a:p>
        </p:txBody>
      </p:sp>
      <p:sp>
        <p:nvSpPr>
          <p:cNvPr id="37" name="Rectangle 36"/>
          <p:cNvSpPr/>
          <p:nvPr/>
        </p:nvSpPr>
        <p:spPr>
          <a:xfrm>
            <a:off x="941832" y="4105656"/>
            <a:ext cx="2468880" cy="65836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41832" y="4215384"/>
            <a:ext cx="2468880" cy="365760"/>
          </a:xfrm>
          <a:prstGeom prst="rect">
            <a:avLst/>
          </a:prstGeom>
          <a:noFill/>
        </p:spPr>
        <p:txBody>
          <a:bodyPr wrap="square" anchor="t">
            <a:spAutoFit/>
          </a:bodyPr>
          <a:lstStyle/>
          <a:p>
            <a:pPr algn="ctr">
              <a:spcAft>
                <a:spcPts val="400"/>
              </a:spcAft>
            </a:pPr>
            <a:r>
              <a:rPr sz="1400" b="1">
                <a:solidFill>
                  <a:srgbClr val="161B26"/>
                </a:solidFill>
                <a:latin typeface="Arial"/>
              </a:rPr>
              <a:t>Square</a:t>
            </a:r>
          </a:p>
        </p:txBody>
      </p:sp>
      <p:sp>
        <p:nvSpPr>
          <p:cNvPr id="39" name="Rectangle 38"/>
          <p:cNvSpPr/>
          <p:nvPr/>
        </p:nvSpPr>
        <p:spPr>
          <a:xfrm>
            <a:off x="3410712" y="4105656"/>
            <a:ext cx="1600200" cy="65836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410712" y="4215384"/>
            <a:ext cx="1600200" cy="365760"/>
          </a:xfrm>
          <a:prstGeom prst="rect">
            <a:avLst/>
          </a:prstGeom>
          <a:noFill/>
        </p:spPr>
        <p:txBody>
          <a:bodyPr wrap="square" anchor="t">
            <a:spAutoFit/>
          </a:bodyPr>
          <a:lstStyle/>
          <a:p>
            <a:pPr algn="ctr">
              <a:spcAft>
                <a:spcPts val="400"/>
              </a:spcAft>
            </a:pPr>
            <a:r>
              <a:rPr sz="1400" b="0">
                <a:solidFill>
                  <a:srgbClr val="161B26"/>
                </a:solidFill>
                <a:latin typeface="Arial"/>
              </a:rPr>
              <a:t>3</a:t>
            </a:r>
          </a:p>
        </p:txBody>
      </p:sp>
      <p:sp>
        <p:nvSpPr>
          <p:cNvPr id="41" name="Rectangle 40"/>
          <p:cNvSpPr/>
          <p:nvPr/>
        </p:nvSpPr>
        <p:spPr>
          <a:xfrm>
            <a:off x="5010912" y="4105656"/>
            <a:ext cx="1600200" cy="65836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010912" y="4215384"/>
            <a:ext cx="1600200" cy="365760"/>
          </a:xfrm>
          <a:prstGeom prst="rect">
            <a:avLst/>
          </a:prstGeom>
          <a:noFill/>
        </p:spPr>
        <p:txBody>
          <a:bodyPr wrap="square" anchor="t">
            <a:spAutoFit/>
          </a:bodyPr>
          <a:lstStyle/>
          <a:p>
            <a:pPr algn="ctr">
              <a:spcAft>
                <a:spcPts val="400"/>
              </a:spcAft>
            </a:pPr>
            <a:r>
              <a:rPr sz="1400" b="0">
                <a:solidFill>
                  <a:srgbClr val="161B26"/>
                </a:solidFill>
                <a:latin typeface="Arial"/>
              </a:rPr>
              <a:t>2</a:t>
            </a:r>
          </a:p>
        </p:txBody>
      </p:sp>
      <p:sp>
        <p:nvSpPr>
          <p:cNvPr id="43" name="Rectangle 42"/>
          <p:cNvSpPr/>
          <p:nvPr/>
        </p:nvSpPr>
        <p:spPr>
          <a:xfrm>
            <a:off x="6611112" y="4105656"/>
            <a:ext cx="1600200" cy="65836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611112" y="4215384"/>
            <a:ext cx="1600200" cy="365760"/>
          </a:xfrm>
          <a:prstGeom prst="rect">
            <a:avLst/>
          </a:prstGeom>
          <a:noFill/>
        </p:spPr>
        <p:txBody>
          <a:bodyPr wrap="square" anchor="t">
            <a:spAutoFit/>
          </a:bodyPr>
          <a:lstStyle/>
          <a:p>
            <a:pPr algn="ctr">
              <a:spcAft>
                <a:spcPts val="400"/>
              </a:spcAft>
            </a:pPr>
            <a:r>
              <a:rPr sz="1400" b="0">
                <a:solidFill>
                  <a:srgbClr val="161B26"/>
                </a:solidFill>
                <a:latin typeface="Arial"/>
              </a:rPr>
              <a:t>3</a:t>
            </a:r>
          </a:p>
        </p:txBody>
      </p:sp>
      <p:sp>
        <p:nvSpPr>
          <p:cNvPr id="45" name="Rectangle 44"/>
          <p:cNvSpPr/>
          <p:nvPr/>
        </p:nvSpPr>
        <p:spPr>
          <a:xfrm>
            <a:off x="8211312" y="4105656"/>
            <a:ext cx="1600200" cy="65836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211312" y="4215384"/>
            <a:ext cx="1600200" cy="365760"/>
          </a:xfrm>
          <a:prstGeom prst="rect">
            <a:avLst/>
          </a:prstGeom>
          <a:noFill/>
        </p:spPr>
        <p:txBody>
          <a:bodyPr wrap="square" anchor="t">
            <a:spAutoFit/>
          </a:bodyPr>
          <a:lstStyle/>
          <a:p>
            <a:pPr algn="ctr">
              <a:spcAft>
                <a:spcPts val="400"/>
              </a:spcAft>
            </a:pPr>
            <a:r>
              <a:rPr sz="1400" b="0">
                <a:solidFill>
                  <a:srgbClr val="161B26"/>
                </a:solidFill>
                <a:latin typeface="Arial"/>
              </a:rPr>
              <a:t>8</a:t>
            </a:r>
          </a:p>
        </p:txBody>
      </p:sp>
      <p:sp>
        <p:nvSpPr>
          <p:cNvPr id="47" name="TextBox 46"/>
          <p:cNvSpPr txBox="1"/>
          <p:nvPr/>
        </p:nvSpPr>
        <p:spPr>
          <a:xfrm>
            <a:off x="941832" y="4745736"/>
            <a:ext cx="8869680" cy="292608"/>
          </a:xfrm>
          <a:prstGeom prst="rect">
            <a:avLst/>
          </a:prstGeom>
          <a:noFill/>
        </p:spPr>
        <p:txBody>
          <a:bodyPr wrap="square" anchor="t">
            <a:spAutoFit/>
          </a:bodyPr>
          <a:lstStyle/>
          <a:p>
            <a:pPr algn="l">
              <a:spcAft>
                <a:spcPts val="400"/>
              </a:spcAft>
            </a:pPr>
            <a:r>
              <a:rPr sz="1100" b="0">
                <a:solidFill>
                  <a:srgbClr val="5B6372"/>
                </a:solidFill>
                <a:latin typeface="Arial"/>
              </a:rPr>
              <a:t>Score each format 1–5 against the same decision criteria.</a:t>
            </a:r>
          </a:p>
        </p:txBody>
      </p:sp>
      <p:sp>
        <p:nvSpPr>
          <p:cNvPr id="48" name="Rectangle 47"/>
          <p:cNvSpPr/>
          <p:nvPr/>
        </p:nvSpPr>
        <p:spPr>
          <a:xfrm>
            <a:off x="777240" y="5321808"/>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77240" y="5321808"/>
            <a:ext cx="91440" cy="6583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97280" y="5321808"/>
            <a:ext cx="10058400" cy="658368"/>
          </a:xfrm>
          <a:prstGeom prst="rect">
            <a:avLst/>
          </a:prstGeom>
          <a:noFill/>
        </p:spPr>
        <p:txBody>
          <a:bodyPr wrap="square" anchor="ctr">
            <a:spAutoFit/>
          </a:bodyPr>
          <a:lstStyle/>
          <a:p>
            <a:pPr algn="l">
              <a:spcAft>
                <a:spcPts val="400"/>
              </a:spcAft>
            </a:pPr>
            <a:r>
              <a:rPr sz="1250" b="1">
                <a:solidFill>
                  <a:srgbClr val="161B26"/>
                </a:solidFill>
                <a:latin typeface="Arial"/>
              </a:rPr>
              <a:t>Use Wide for the briefing and export a separate Portrait handout.</a:t>
            </a:r>
          </a:p>
        </p:txBody>
      </p:sp>
      <p:sp>
        <p:nvSpPr>
          <p:cNvPr id="51" name="TextBox 50"/>
          <p:cNvSpPr txBox="1"/>
          <p:nvPr/>
        </p:nvSpPr>
        <p:spPr>
          <a:xfrm>
            <a:off x="777240" y="6089904"/>
            <a:ext cx="10607040" cy="201168"/>
          </a:xfrm>
          <a:prstGeom prst="rect">
            <a:avLst/>
          </a:prstGeom>
          <a:noFill/>
        </p:spPr>
        <p:txBody>
          <a:bodyPr wrap="square" anchor="t">
            <a:spAutoFit/>
          </a:bodyPr>
          <a:lstStyle/>
          <a:p>
            <a:pPr algn="l">
              <a:spcAft>
                <a:spcPts val="400"/>
              </a:spcAft>
            </a:pPr>
            <a:r>
              <a:rPr sz="850" b="0">
                <a:solidFill>
                  <a:srgbClr val="5B6372"/>
                </a:solidFill>
                <a:latin typeface="Arial"/>
              </a:rPr>
              <a:t>Source: realistic synthetic training scenario created for this course.</a:t>
            </a:r>
          </a:p>
        </p:txBody>
      </p:sp>
      <p:sp>
        <p:nvSpPr>
          <p:cNvPr id="52" name="TextBox 5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53" name="TextBox 5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54" name="TextBox 5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63</a:t>
            </a:r>
          </a:p>
        </p:txBody>
      </p:sp>
    </p:spTree>
  </p:cSld>
  <p:clrMapOvr>
    <a:masterClrMapping/>
  </p:clrMapOvr>
  <p:transition spd="fast" advClick="1">
    <p:fade/>
  </p:transition>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LU2 · NATIVE CAPABILITY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PowerPoint's Editable Infographic Toolkit</a:t>
            </a:r>
          </a:p>
        </p:txBody>
      </p:sp>
      <p:sp>
        <p:nvSpPr>
          <p:cNvPr id="6" name="TextBox 5"/>
          <p:cNvSpPr txBox="1"/>
          <p:nvPr/>
        </p:nvSpPr>
        <p:spPr>
          <a:xfrm>
            <a:off x="795528" y="1664208"/>
            <a:ext cx="10607040" cy="365760"/>
          </a:xfrm>
          <a:prstGeom prst="rect">
            <a:avLst/>
          </a:prstGeom>
          <a:noFill/>
        </p:spPr>
        <p:txBody>
          <a:bodyPr wrap="square" anchor="t">
            <a:spAutoFit/>
          </a:bodyPr>
          <a:lstStyle/>
          <a:p>
            <a:pPr algn="l">
              <a:spcAft>
                <a:spcPts val="400"/>
              </a:spcAft>
            </a:pPr>
            <a:r>
              <a:rPr sz="1300" b="0">
                <a:solidFill>
                  <a:srgbClr val="5B6372"/>
                </a:solidFill>
                <a:latin typeface="Arial"/>
              </a:rPr>
              <a:t>Use the simplest editable object that communicates the relationship.</a:t>
            </a:r>
          </a:p>
        </p:txBody>
      </p:sp>
      <p:sp>
        <p:nvSpPr>
          <p:cNvPr id="7" name="Rectangle 6"/>
          <p:cNvSpPr/>
          <p:nvPr/>
        </p:nvSpPr>
        <p:spPr>
          <a:xfrm>
            <a:off x="777240" y="2057400"/>
            <a:ext cx="5180076" cy="11978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057400"/>
            <a:ext cx="91440" cy="119786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2221992"/>
            <a:ext cx="4677156" cy="365760"/>
          </a:xfrm>
          <a:prstGeom prst="rect">
            <a:avLst/>
          </a:prstGeom>
          <a:noFill/>
        </p:spPr>
        <p:txBody>
          <a:bodyPr wrap="square" anchor="t">
            <a:spAutoFit/>
          </a:bodyPr>
          <a:lstStyle/>
          <a:p>
            <a:pPr algn="l">
              <a:spcAft>
                <a:spcPts val="400"/>
              </a:spcAft>
            </a:pPr>
            <a:r>
              <a:rPr sz="1600" b="1">
                <a:solidFill>
                  <a:srgbClr val="1F6FEB"/>
                </a:solidFill>
                <a:latin typeface="Arial"/>
              </a:rPr>
              <a:t>Layout</a:t>
            </a:r>
          </a:p>
        </p:txBody>
      </p:sp>
      <p:sp>
        <p:nvSpPr>
          <p:cNvPr id="10" name="TextBox 9"/>
          <p:cNvSpPr txBox="1"/>
          <p:nvPr/>
        </p:nvSpPr>
        <p:spPr>
          <a:xfrm>
            <a:off x="1051560" y="2624328"/>
            <a:ext cx="4677156" cy="512064"/>
          </a:xfrm>
          <a:prstGeom prst="rect">
            <a:avLst/>
          </a:prstGeom>
          <a:noFill/>
        </p:spPr>
        <p:txBody>
          <a:bodyPr wrap="square" anchor="t">
            <a:spAutoFit/>
          </a:bodyPr>
          <a:lstStyle/>
          <a:p>
            <a:pPr algn="l">
              <a:spcAft>
                <a:spcPts val="400"/>
              </a:spcAft>
            </a:pPr>
            <a:r>
              <a:rPr sz="1200" b="0">
                <a:solidFill>
                  <a:srgbClr val="161B26"/>
                </a:solidFill>
                <a:latin typeface="Arial"/>
              </a:rPr>
              <a:t>Slide size, guides, gridlines, alignment, distribute, group and Selection Pane.</a:t>
            </a:r>
          </a:p>
        </p:txBody>
      </p:sp>
      <p:sp>
        <p:nvSpPr>
          <p:cNvPr id="11" name="Rectangle 10"/>
          <p:cNvSpPr/>
          <p:nvPr/>
        </p:nvSpPr>
        <p:spPr>
          <a:xfrm>
            <a:off x="6231636" y="2057400"/>
            <a:ext cx="5180076" cy="11978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1636" y="2057400"/>
            <a:ext cx="91440" cy="11978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05956" y="2221992"/>
            <a:ext cx="4677156" cy="365760"/>
          </a:xfrm>
          <a:prstGeom prst="rect">
            <a:avLst/>
          </a:prstGeom>
          <a:noFill/>
        </p:spPr>
        <p:txBody>
          <a:bodyPr wrap="square" anchor="t">
            <a:spAutoFit/>
          </a:bodyPr>
          <a:lstStyle/>
          <a:p>
            <a:pPr algn="l">
              <a:spcAft>
                <a:spcPts val="400"/>
              </a:spcAft>
            </a:pPr>
            <a:r>
              <a:rPr sz="1600" b="1">
                <a:solidFill>
                  <a:srgbClr val="10B981"/>
                </a:solidFill>
                <a:latin typeface="Arial"/>
              </a:rPr>
              <a:t>Visual components</a:t>
            </a:r>
          </a:p>
        </p:txBody>
      </p:sp>
      <p:sp>
        <p:nvSpPr>
          <p:cNvPr id="14" name="TextBox 13"/>
          <p:cNvSpPr txBox="1"/>
          <p:nvPr/>
        </p:nvSpPr>
        <p:spPr>
          <a:xfrm>
            <a:off x="6505956" y="2624328"/>
            <a:ext cx="4677156" cy="512064"/>
          </a:xfrm>
          <a:prstGeom prst="rect">
            <a:avLst/>
          </a:prstGeom>
          <a:noFill/>
        </p:spPr>
        <p:txBody>
          <a:bodyPr wrap="square" anchor="t">
            <a:spAutoFit/>
          </a:bodyPr>
          <a:lstStyle/>
          <a:p>
            <a:pPr algn="l">
              <a:spcAft>
                <a:spcPts val="400"/>
              </a:spcAft>
            </a:pPr>
            <a:r>
              <a:rPr sz="1200" b="0">
                <a:solidFill>
                  <a:srgbClr val="161B26"/>
                </a:solidFill>
                <a:latin typeface="Arial"/>
              </a:rPr>
              <a:t>Shapes, connectors, icons, stock images, text boxes and merged shapes.</a:t>
            </a:r>
          </a:p>
        </p:txBody>
      </p:sp>
      <p:sp>
        <p:nvSpPr>
          <p:cNvPr id="15" name="Rectangle 14"/>
          <p:cNvSpPr/>
          <p:nvPr/>
        </p:nvSpPr>
        <p:spPr>
          <a:xfrm>
            <a:off x="777240" y="3493008"/>
            <a:ext cx="5180076" cy="11978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3493008"/>
            <a:ext cx="91440" cy="119786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1560" y="3657600"/>
            <a:ext cx="4677156" cy="365760"/>
          </a:xfrm>
          <a:prstGeom prst="rect">
            <a:avLst/>
          </a:prstGeom>
          <a:noFill/>
        </p:spPr>
        <p:txBody>
          <a:bodyPr wrap="square" anchor="t">
            <a:spAutoFit/>
          </a:bodyPr>
          <a:lstStyle/>
          <a:p>
            <a:pPr algn="l">
              <a:spcAft>
                <a:spcPts val="400"/>
              </a:spcAft>
            </a:pPr>
            <a:r>
              <a:rPr sz="1600" b="1">
                <a:solidFill>
                  <a:srgbClr val="7C3AED"/>
                </a:solidFill>
                <a:latin typeface="Arial"/>
              </a:rPr>
              <a:t>Structured diagrams</a:t>
            </a:r>
          </a:p>
        </p:txBody>
      </p:sp>
      <p:sp>
        <p:nvSpPr>
          <p:cNvPr id="18" name="TextBox 17"/>
          <p:cNvSpPr txBox="1"/>
          <p:nvPr/>
        </p:nvSpPr>
        <p:spPr>
          <a:xfrm>
            <a:off x="1051560" y="4059936"/>
            <a:ext cx="4677156" cy="512064"/>
          </a:xfrm>
          <a:prstGeom prst="rect">
            <a:avLst/>
          </a:prstGeom>
          <a:noFill/>
        </p:spPr>
        <p:txBody>
          <a:bodyPr wrap="square" anchor="t">
            <a:spAutoFit/>
          </a:bodyPr>
          <a:lstStyle/>
          <a:p>
            <a:pPr algn="l">
              <a:spcAft>
                <a:spcPts val="400"/>
              </a:spcAft>
            </a:pPr>
            <a:r>
              <a:rPr sz="1200" b="0">
                <a:solidFill>
                  <a:srgbClr val="161B26"/>
                </a:solidFill>
                <a:latin typeface="Arial"/>
              </a:rPr>
              <a:t>SmartArt lists, cycles, processes, hierarchies and timelines.</a:t>
            </a:r>
          </a:p>
        </p:txBody>
      </p:sp>
      <p:sp>
        <p:nvSpPr>
          <p:cNvPr id="19" name="Rectangle 18"/>
          <p:cNvSpPr/>
          <p:nvPr/>
        </p:nvSpPr>
        <p:spPr>
          <a:xfrm>
            <a:off x="6231636" y="3493008"/>
            <a:ext cx="5180076" cy="11978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31636" y="3493008"/>
            <a:ext cx="91440" cy="1197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05956" y="3657600"/>
            <a:ext cx="4677156" cy="365760"/>
          </a:xfrm>
          <a:prstGeom prst="rect">
            <a:avLst/>
          </a:prstGeom>
          <a:noFill/>
        </p:spPr>
        <p:txBody>
          <a:bodyPr wrap="square" anchor="t">
            <a:spAutoFit/>
          </a:bodyPr>
          <a:lstStyle/>
          <a:p>
            <a:pPr algn="l">
              <a:spcAft>
                <a:spcPts val="400"/>
              </a:spcAft>
            </a:pPr>
            <a:r>
              <a:rPr sz="1600" b="1">
                <a:solidFill>
                  <a:srgbClr val="F59E0B"/>
                </a:solidFill>
                <a:latin typeface="Arial"/>
              </a:rPr>
              <a:t>Data visualisation</a:t>
            </a:r>
          </a:p>
        </p:txBody>
      </p:sp>
      <p:sp>
        <p:nvSpPr>
          <p:cNvPr id="22" name="TextBox 21"/>
          <p:cNvSpPr txBox="1"/>
          <p:nvPr/>
        </p:nvSpPr>
        <p:spPr>
          <a:xfrm>
            <a:off x="6505956" y="4059936"/>
            <a:ext cx="4677156" cy="512064"/>
          </a:xfrm>
          <a:prstGeom prst="rect">
            <a:avLst/>
          </a:prstGeom>
          <a:noFill/>
        </p:spPr>
        <p:txBody>
          <a:bodyPr wrap="square" anchor="t">
            <a:spAutoFit/>
          </a:bodyPr>
          <a:lstStyle/>
          <a:p>
            <a:pPr algn="l">
              <a:spcAft>
                <a:spcPts val="400"/>
              </a:spcAft>
            </a:pPr>
            <a:r>
              <a:rPr sz="1200" b="0">
                <a:solidFill>
                  <a:srgbClr val="161B26"/>
                </a:solidFill>
                <a:latin typeface="Arial"/>
              </a:rPr>
              <a:t>Native charts, embedded workbooks and Excel-linked data.</a:t>
            </a:r>
          </a:p>
        </p:txBody>
      </p:sp>
      <p:sp>
        <p:nvSpPr>
          <p:cNvPr id="23" name="Rectangle 22"/>
          <p:cNvSpPr/>
          <p:nvPr/>
        </p:nvSpPr>
        <p:spPr>
          <a:xfrm>
            <a:off x="777240" y="4928616"/>
            <a:ext cx="5180076" cy="11978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77240" y="4928616"/>
            <a:ext cx="91440" cy="119786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51560" y="5093208"/>
            <a:ext cx="4677156" cy="365760"/>
          </a:xfrm>
          <a:prstGeom prst="rect">
            <a:avLst/>
          </a:prstGeom>
          <a:noFill/>
        </p:spPr>
        <p:txBody>
          <a:bodyPr wrap="square" anchor="t">
            <a:spAutoFit/>
          </a:bodyPr>
          <a:lstStyle/>
          <a:p>
            <a:pPr algn="l">
              <a:spcAft>
                <a:spcPts val="400"/>
              </a:spcAft>
            </a:pPr>
            <a:r>
              <a:rPr sz="1600" b="1">
                <a:solidFill>
                  <a:srgbClr val="1F6FEB"/>
                </a:solidFill>
                <a:latin typeface="Arial"/>
              </a:rPr>
              <a:t>Delivery</a:t>
            </a:r>
          </a:p>
        </p:txBody>
      </p:sp>
      <p:sp>
        <p:nvSpPr>
          <p:cNvPr id="26" name="TextBox 25"/>
          <p:cNvSpPr txBox="1"/>
          <p:nvPr/>
        </p:nvSpPr>
        <p:spPr>
          <a:xfrm>
            <a:off x="1051560" y="5495544"/>
            <a:ext cx="4677156" cy="512064"/>
          </a:xfrm>
          <a:prstGeom prst="rect">
            <a:avLst/>
          </a:prstGeom>
          <a:noFill/>
        </p:spPr>
        <p:txBody>
          <a:bodyPr wrap="square" anchor="t">
            <a:spAutoFit/>
          </a:bodyPr>
          <a:lstStyle/>
          <a:p>
            <a:pPr algn="l">
              <a:spcAft>
                <a:spcPts val="400"/>
              </a:spcAft>
            </a:pPr>
            <a:r>
              <a:rPr sz="1200" b="0">
                <a:solidFill>
                  <a:srgbClr val="161B26"/>
                </a:solidFill>
                <a:latin typeface="Arial"/>
              </a:rPr>
              <a:t>Animations, transitions, comments, co-authoring and presenter-friendly export.</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64</a:t>
            </a:r>
          </a:p>
        </p:txBody>
      </p:sp>
    </p:spTree>
  </p:cSld>
  <p:clrMapOvr>
    <a:masterClrMapping/>
  </p:clrMapOvr>
  <p:transition spd="fast" advClick="1">
    <p:fade/>
  </p:transition>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LU2 · MICROSOFT 2026</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100" b="1">
                <a:solidFill>
                  <a:srgbClr val="161B26"/>
                </a:solidFill>
                <a:latin typeface="Arial"/>
              </a:rPr>
              <a:t>Microsoft 365 Copilot and PowerPoint: Use the Right Control</a:t>
            </a:r>
          </a:p>
        </p:txBody>
      </p:sp>
      <p:sp>
        <p:nvSpPr>
          <p:cNvPr id="6" name="TextBox 5"/>
          <p:cNvSpPr txBox="1"/>
          <p:nvPr/>
        </p:nvSpPr>
        <p:spPr>
          <a:xfrm>
            <a:off x="795528" y="1664208"/>
            <a:ext cx="10607040" cy="365760"/>
          </a:xfrm>
          <a:prstGeom prst="rect">
            <a:avLst/>
          </a:prstGeom>
          <a:noFill/>
        </p:spPr>
        <p:txBody>
          <a:bodyPr wrap="square" anchor="t">
            <a:spAutoFit/>
          </a:bodyPr>
          <a:lstStyle/>
          <a:p>
            <a:pPr algn="l">
              <a:spcAft>
                <a:spcPts val="400"/>
              </a:spcAft>
            </a:pPr>
            <a:r>
              <a:rPr sz="1300" b="0">
                <a:solidFill>
                  <a:srgbClr val="5B6372"/>
                </a:solidFill>
                <a:latin typeface="Arial"/>
              </a:rPr>
              <a:t>Microsoft's current support pages describe Copilot infographic generation and PowerPoint editing as connected stages.</a:t>
            </a:r>
          </a:p>
        </p:txBody>
      </p:sp>
      <p:sp>
        <p:nvSpPr>
          <p:cNvPr id="7" name="Rectangle 6"/>
          <p:cNvSpPr/>
          <p:nvPr/>
        </p:nvSpPr>
        <p:spPr>
          <a:xfrm>
            <a:off x="2926080" y="2103120"/>
            <a:ext cx="4242816" cy="4572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926080" y="2103120"/>
            <a:ext cx="4242816" cy="457200"/>
          </a:xfrm>
          <a:prstGeom prst="rect">
            <a:avLst/>
          </a:prstGeom>
          <a:noFill/>
        </p:spPr>
        <p:txBody>
          <a:bodyPr wrap="square" anchor="ctr">
            <a:spAutoFit/>
          </a:bodyPr>
          <a:lstStyle/>
          <a:p>
            <a:pPr algn="ctr">
              <a:spcAft>
                <a:spcPts val="400"/>
              </a:spcAft>
            </a:pPr>
            <a:r>
              <a:rPr sz="1500" b="1">
                <a:solidFill>
                  <a:srgbClr val="FFFFFF"/>
                </a:solidFill>
                <a:latin typeface="Arial"/>
              </a:rPr>
              <a:t>Useful assistance</a:t>
            </a:r>
          </a:p>
        </p:txBody>
      </p:sp>
      <p:sp>
        <p:nvSpPr>
          <p:cNvPr id="9" name="Rectangle 8"/>
          <p:cNvSpPr/>
          <p:nvPr/>
        </p:nvSpPr>
        <p:spPr>
          <a:xfrm>
            <a:off x="7168896" y="2103120"/>
            <a:ext cx="4242816"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68896" y="2103120"/>
            <a:ext cx="4242816" cy="457200"/>
          </a:xfrm>
          <a:prstGeom prst="rect">
            <a:avLst/>
          </a:prstGeom>
          <a:noFill/>
        </p:spPr>
        <p:txBody>
          <a:bodyPr wrap="square" anchor="ctr">
            <a:spAutoFit/>
          </a:bodyPr>
          <a:lstStyle/>
          <a:p>
            <a:pPr algn="ctr">
              <a:spcAft>
                <a:spcPts val="400"/>
              </a:spcAft>
            </a:pPr>
            <a:r>
              <a:rPr sz="1500" b="1">
                <a:solidFill>
                  <a:srgbClr val="FFFFFF"/>
                </a:solidFill>
                <a:latin typeface="Arial"/>
              </a:rPr>
              <a:t>Human responsibility</a:t>
            </a:r>
          </a:p>
        </p:txBody>
      </p:sp>
      <p:sp>
        <p:nvSpPr>
          <p:cNvPr id="11" name="Rectangle 10"/>
          <p:cNvSpPr/>
          <p:nvPr/>
        </p:nvSpPr>
        <p:spPr>
          <a:xfrm>
            <a:off x="777240" y="2560320"/>
            <a:ext cx="2148840" cy="5943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560320"/>
            <a:ext cx="1874520" cy="594360"/>
          </a:xfrm>
          <a:prstGeom prst="rect">
            <a:avLst/>
          </a:prstGeom>
          <a:noFill/>
        </p:spPr>
        <p:txBody>
          <a:bodyPr wrap="square" anchor="ctr">
            <a:spAutoFit/>
          </a:bodyPr>
          <a:lstStyle/>
          <a:p>
            <a:pPr algn="l">
              <a:spcAft>
                <a:spcPts val="400"/>
              </a:spcAft>
            </a:pPr>
            <a:r>
              <a:rPr sz="1400" b="1">
                <a:solidFill>
                  <a:srgbClr val="161B26"/>
                </a:solidFill>
                <a:latin typeface="Arial"/>
              </a:rPr>
              <a:t>Design an infographic</a:t>
            </a:r>
          </a:p>
        </p:txBody>
      </p:sp>
      <p:sp>
        <p:nvSpPr>
          <p:cNvPr id="13" name="Rectangle 12"/>
          <p:cNvSpPr/>
          <p:nvPr/>
        </p:nvSpPr>
        <p:spPr>
          <a:xfrm>
            <a:off x="2926080" y="2560320"/>
            <a:ext cx="4242816" cy="5943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090672" y="2560320"/>
            <a:ext cx="3913632" cy="594360"/>
          </a:xfrm>
          <a:prstGeom prst="rect">
            <a:avLst/>
          </a:prstGeom>
          <a:noFill/>
        </p:spPr>
        <p:txBody>
          <a:bodyPr wrap="square" anchor="ctr">
            <a:spAutoFit/>
          </a:bodyPr>
          <a:lstStyle/>
          <a:p>
            <a:pPr algn="l">
              <a:spcAft>
                <a:spcPts val="400"/>
              </a:spcAft>
            </a:pPr>
            <a:r>
              <a:rPr sz="1300" b="0">
                <a:solidFill>
                  <a:srgbClr val="161B26"/>
                </a:solidFill>
                <a:latin typeface="Arial"/>
              </a:rPr>
              <a:t>Create a first direction from a detailed description and optional approved content</a:t>
            </a:r>
          </a:p>
        </p:txBody>
      </p:sp>
      <p:sp>
        <p:nvSpPr>
          <p:cNvPr id="15" name="Rectangle 14"/>
          <p:cNvSpPr/>
          <p:nvPr/>
        </p:nvSpPr>
        <p:spPr>
          <a:xfrm>
            <a:off x="7168896" y="2560320"/>
            <a:ext cx="4242816" cy="5943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33488" y="2560320"/>
            <a:ext cx="3913632" cy="594360"/>
          </a:xfrm>
          <a:prstGeom prst="rect">
            <a:avLst/>
          </a:prstGeom>
          <a:noFill/>
        </p:spPr>
        <p:txBody>
          <a:bodyPr wrap="square" anchor="ctr">
            <a:spAutoFit/>
          </a:bodyPr>
          <a:lstStyle/>
          <a:p>
            <a:pPr algn="l">
              <a:spcAft>
                <a:spcPts val="400"/>
              </a:spcAft>
            </a:pPr>
            <a:r>
              <a:rPr sz="1300" b="0">
                <a:solidFill>
                  <a:srgbClr val="161B26"/>
                </a:solidFill>
                <a:latin typeface="Arial"/>
              </a:rPr>
              <a:t>Choose the form by relationship; verify every generated section and claim</a:t>
            </a:r>
          </a:p>
        </p:txBody>
      </p:sp>
      <p:sp>
        <p:nvSpPr>
          <p:cNvPr id="17" name="Rectangle 16"/>
          <p:cNvSpPr/>
          <p:nvPr/>
        </p:nvSpPr>
        <p:spPr>
          <a:xfrm>
            <a:off x="777240" y="3154680"/>
            <a:ext cx="2148840" cy="5943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3154680"/>
            <a:ext cx="1874520" cy="594360"/>
          </a:xfrm>
          <a:prstGeom prst="rect">
            <a:avLst/>
          </a:prstGeom>
          <a:noFill/>
        </p:spPr>
        <p:txBody>
          <a:bodyPr wrap="square" anchor="ctr">
            <a:spAutoFit/>
          </a:bodyPr>
          <a:lstStyle/>
          <a:p>
            <a:pPr algn="l">
              <a:spcAft>
                <a:spcPts val="400"/>
              </a:spcAft>
            </a:pPr>
            <a:r>
              <a:rPr sz="1400" b="1">
                <a:solidFill>
                  <a:srgbClr val="161B26"/>
                </a:solidFill>
                <a:latin typeface="Arial"/>
              </a:rPr>
              <a:t>PowerPoint library</a:t>
            </a:r>
          </a:p>
        </p:txBody>
      </p:sp>
      <p:sp>
        <p:nvSpPr>
          <p:cNvPr id="19" name="Rectangle 18"/>
          <p:cNvSpPr/>
          <p:nvPr/>
        </p:nvSpPr>
        <p:spPr>
          <a:xfrm>
            <a:off x="2926080" y="3154680"/>
            <a:ext cx="4242816" cy="5943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090672" y="3154680"/>
            <a:ext cx="3913632" cy="594360"/>
          </a:xfrm>
          <a:prstGeom prst="rect">
            <a:avLst/>
          </a:prstGeom>
          <a:noFill/>
        </p:spPr>
        <p:txBody>
          <a:bodyPr wrap="square" anchor="ctr">
            <a:spAutoFit/>
          </a:bodyPr>
          <a:lstStyle/>
          <a:p>
            <a:pPr algn="l">
              <a:spcAft>
                <a:spcPts val="400"/>
              </a:spcAft>
            </a:pPr>
            <a:r>
              <a:rPr sz="1300" b="0">
                <a:solidFill>
                  <a:srgbClr val="161B26"/>
                </a:solidFill>
                <a:latin typeface="Arial"/>
              </a:rPr>
              <a:t>Icons, stock images, shapes, fonts, SmartArt and charts</a:t>
            </a:r>
          </a:p>
        </p:txBody>
      </p:sp>
      <p:sp>
        <p:nvSpPr>
          <p:cNvPr id="21" name="Rectangle 20"/>
          <p:cNvSpPr/>
          <p:nvPr/>
        </p:nvSpPr>
        <p:spPr>
          <a:xfrm>
            <a:off x="7168896" y="3154680"/>
            <a:ext cx="4242816" cy="5943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33488" y="3154680"/>
            <a:ext cx="3913632" cy="594360"/>
          </a:xfrm>
          <a:prstGeom prst="rect">
            <a:avLst/>
          </a:prstGeom>
          <a:noFill/>
        </p:spPr>
        <p:txBody>
          <a:bodyPr wrap="square" anchor="ctr">
            <a:spAutoFit/>
          </a:bodyPr>
          <a:lstStyle/>
          <a:p>
            <a:pPr algn="l">
              <a:spcAft>
                <a:spcPts val="400"/>
              </a:spcAft>
            </a:pPr>
            <a:r>
              <a:rPr sz="1300" b="0">
                <a:solidFill>
                  <a:srgbClr val="161B26"/>
                </a:solidFill>
                <a:latin typeface="Arial"/>
              </a:rPr>
              <a:t>Apply hierarchy, brand, accessibility and evidence standards</a:t>
            </a:r>
          </a:p>
        </p:txBody>
      </p:sp>
      <p:sp>
        <p:nvSpPr>
          <p:cNvPr id="23" name="Rectangle 22"/>
          <p:cNvSpPr/>
          <p:nvPr/>
        </p:nvSpPr>
        <p:spPr>
          <a:xfrm>
            <a:off x="777240" y="3749040"/>
            <a:ext cx="2148840" cy="5943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3749040"/>
            <a:ext cx="1874520" cy="594360"/>
          </a:xfrm>
          <a:prstGeom prst="rect">
            <a:avLst/>
          </a:prstGeom>
          <a:noFill/>
        </p:spPr>
        <p:txBody>
          <a:bodyPr wrap="square" anchor="ctr">
            <a:spAutoFit/>
          </a:bodyPr>
          <a:lstStyle/>
          <a:p>
            <a:pPr algn="l">
              <a:spcAft>
                <a:spcPts val="400"/>
              </a:spcAft>
            </a:pPr>
            <a:r>
              <a:rPr sz="1400" b="1">
                <a:solidFill>
                  <a:srgbClr val="161B26"/>
                </a:solidFill>
                <a:latin typeface="Arial"/>
              </a:rPr>
              <a:t>Copilot controls</a:t>
            </a:r>
          </a:p>
        </p:txBody>
      </p:sp>
      <p:sp>
        <p:nvSpPr>
          <p:cNvPr id="25" name="Rectangle 24"/>
          <p:cNvSpPr/>
          <p:nvPr/>
        </p:nvSpPr>
        <p:spPr>
          <a:xfrm>
            <a:off x="2926080" y="3749040"/>
            <a:ext cx="4242816" cy="5943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090672" y="3749040"/>
            <a:ext cx="3913632" cy="594360"/>
          </a:xfrm>
          <a:prstGeom prst="rect">
            <a:avLst/>
          </a:prstGeom>
          <a:noFill/>
        </p:spPr>
        <p:txBody>
          <a:bodyPr wrap="square" anchor="ctr">
            <a:spAutoFit/>
          </a:bodyPr>
          <a:lstStyle/>
          <a:p>
            <a:pPr algn="l">
              <a:spcAft>
                <a:spcPts val="400"/>
              </a:spcAft>
            </a:pPr>
            <a:r>
              <a:rPr sz="1300" b="0">
                <a:solidFill>
                  <a:srgbClr val="161B26"/>
                </a:solidFill>
                <a:latin typeface="Arial"/>
              </a:rPr>
              <a:t>Brand and color, Portrait or Wide, Create, Copy, Edit and Download where available</a:t>
            </a:r>
          </a:p>
        </p:txBody>
      </p:sp>
      <p:sp>
        <p:nvSpPr>
          <p:cNvPr id="27" name="Rectangle 26"/>
          <p:cNvSpPr/>
          <p:nvPr/>
        </p:nvSpPr>
        <p:spPr>
          <a:xfrm>
            <a:off x="7168896" y="3749040"/>
            <a:ext cx="4242816" cy="5943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33488" y="3749040"/>
            <a:ext cx="3913632" cy="594360"/>
          </a:xfrm>
          <a:prstGeom prst="rect">
            <a:avLst/>
          </a:prstGeom>
          <a:noFill/>
        </p:spPr>
        <p:txBody>
          <a:bodyPr wrap="square" anchor="ctr">
            <a:spAutoFit/>
          </a:bodyPr>
          <a:lstStyle/>
          <a:p>
            <a:pPr algn="l">
              <a:spcAft>
                <a:spcPts val="400"/>
              </a:spcAft>
            </a:pPr>
            <a:r>
              <a:rPr sz="1300" b="0">
                <a:solidFill>
                  <a:srgbClr val="161B26"/>
                </a:solidFill>
                <a:latin typeface="Arial"/>
              </a:rPr>
              <a:t>Record the chosen settings and preserve the strongest original direction</a:t>
            </a:r>
          </a:p>
        </p:txBody>
      </p:sp>
      <p:sp>
        <p:nvSpPr>
          <p:cNvPr id="29" name="Rectangle 28"/>
          <p:cNvSpPr/>
          <p:nvPr/>
        </p:nvSpPr>
        <p:spPr>
          <a:xfrm>
            <a:off x="777240" y="4343400"/>
            <a:ext cx="2148840" cy="5943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14400" y="4343400"/>
            <a:ext cx="1874520" cy="594360"/>
          </a:xfrm>
          <a:prstGeom prst="rect">
            <a:avLst/>
          </a:prstGeom>
          <a:noFill/>
        </p:spPr>
        <p:txBody>
          <a:bodyPr wrap="square" anchor="ctr">
            <a:spAutoFit/>
          </a:bodyPr>
          <a:lstStyle/>
          <a:p>
            <a:pPr algn="l">
              <a:spcAft>
                <a:spcPts val="400"/>
              </a:spcAft>
            </a:pPr>
            <a:r>
              <a:rPr sz="1400" b="1">
                <a:solidFill>
                  <a:srgbClr val="161B26"/>
                </a:solidFill>
                <a:latin typeface="Arial"/>
              </a:rPr>
              <a:t>Copilot in PowerPoint</a:t>
            </a:r>
          </a:p>
        </p:txBody>
      </p:sp>
      <p:sp>
        <p:nvSpPr>
          <p:cNvPr id="31" name="Rectangle 30"/>
          <p:cNvSpPr/>
          <p:nvPr/>
        </p:nvSpPr>
        <p:spPr>
          <a:xfrm>
            <a:off x="2926080" y="4343400"/>
            <a:ext cx="4242816" cy="5943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090672" y="4343400"/>
            <a:ext cx="3913632" cy="594360"/>
          </a:xfrm>
          <a:prstGeom prst="rect">
            <a:avLst/>
          </a:prstGeom>
          <a:noFill/>
        </p:spPr>
        <p:txBody>
          <a:bodyPr wrap="square" anchor="ctr">
            <a:spAutoFit/>
          </a:bodyPr>
          <a:lstStyle/>
          <a:p>
            <a:pPr algn="l">
              <a:spcAft>
                <a:spcPts val="400"/>
              </a:spcAft>
            </a:pPr>
            <a:r>
              <a:rPr sz="1300" b="0">
                <a:solidFill>
                  <a:srgbClr val="161B26"/>
                </a:solidFill>
                <a:latin typeface="Arial"/>
              </a:rPr>
              <a:t>Add or edit slides, restructure content and refine visuals</a:t>
            </a:r>
          </a:p>
        </p:txBody>
      </p:sp>
      <p:sp>
        <p:nvSpPr>
          <p:cNvPr id="33" name="Rectangle 32"/>
          <p:cNvSpPr/>
          <p:nvPr/>
        </p:nvSpPr>
        <p:spPr>
          <a:xfrm>
            <a:off x="7168896" y="4343400"/>
            <a:ext cx="4242816" cy="5943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333488" y="4343400"/>
            <a:ext cx="3913632" cy="594360"/>
          </a:xfrm>
          <a:prstGeom prst="rect">
            <a:avLst/>
          </a:prstGeom>
          <a:noFill/>
        </p:spPr>
        <p:txBody>
          <a:bodyPr wrap="square" anchor="ctr">
            <a:spAutoFit/>
          </a:bodyPr>
          <a:lstStyle/>
          <a:p>
            <a:pPr algn="l">
              <a:spcAft>
                <a:spcPts val="400"/>
              </a:spcAft>
            </a:pPr>
            <a:r>
              <a:rPr sz="1300" b="0">
                <a:solidFill>
                  <a:srgbClr val="161B26"/>
                </a:solidFill>
                <a:latin typeface="Arial"/>
              </a:rPr>
              <a:t>Preserve editability and maintain the approved master</a:t>
            </a:r>
          </a:p>
        </p:txBody>
      </p:sp>
      <p:sp>
        <p:nvSpPr>
          <p:cNvPr id="35" name="Rectangle 34"/>
          <p:cNvSpPr/>
          <p:nvPr/>
        </p:nvSpPr>
        <p:spPr>
          <a:xfrm>
            <a:off x="777240" y="4937760"/>
            <a:ext cx="2148840" cy="5943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14400" y="4937760"/>
            <a:ext cx="1874520" cy="594360"/>
          </a:xfrm>
          <a:prstGeom prst="rect">
            <a:avLst/>
          </a:prstGeom>
          <a:noFill/>
        </p:spPr>
        <p:txBody>
          <a:bodyPr wrap="square" anchor="ctr">
            <a:spAutoFit/>
          </a:bodyPr>
          <a:lstStyle/>
          <a:p>
            <a:pPr algn="l">
              <a:spcAft>
                <a:spcPts val="400"/>
              </a:spcAft>
            </a:pPr>
            <a:r>
              <a:rPr sz="1400" b="1">
                <a:solidFill>
                  <a:srgbClr val="161B26"/>
                </a:solidFill>
                <a:latin typeface="Arial"/>
              </a:rPr>
              <a:t>Collaboration</a:t>
            </a:r>
          </a:p>
        </p:txBody>
      </p:sp>
      <p:sp>
        <p:nvSpPr>
          <p:cNvPr id="37" name="Rectangle 36"/>
          <p:cNvSpPr/>
          <p:nvPr/>
        </p:nvSpPr>
        <p:spPr>
          <a:xfrm>
            <a:off x="2926080" y="4937760"/>
            <a:ext cx="4242816" cy="5943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090672" y="4937760"/>
            <a:ext cx="3913632" cy="594360"/>
          </a:xfrm>
          <a:prstGeom prst="rect">
            <a:avLst/>
          </a:prstGeom>
          <a:noFill/>
        </p:spPr>
        <p:txBody>
          <a:bodyPr wrap="square" anchor="ctr">
            <a:spAutoFit/>
          </a:bodyPr>
          <a:lstStyle/>
          <a:p>
            <a:pPr algn="l">
              <a:spcAft>
                <a:spcPts val="400"/>
              </a:spcAft>
            </a:pPr>
            <a:r>
              <a:rPr sz="1300" b="0">
                <a:solidFill>
                  <a:srgbClr val="161B26"/>
                </a:solidFill>
                <a:latin typeface="Arial"/>
              </a:rPr>
              <a:t>Comments, mentions and real-time editing</a:t>
            </a:r>
          </a:p>
        </p:txBody>
      </p:sp>
      <p:sp>
        <p:nvSpPr>
          <p:cNvPr id="39" name="Rectangle 38"/>
          <p:cNvSpPr/>
          <p:nvPr/>
        </p:nvSpPr>
        <p:spPr>
          <a:xfrm>
            <a:off x="7168896" y="4937760"/>
            <a:ext cx="4242816" cy="5943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33488" y="4937760"/>
            <a:ext cx="3913632" cy="594360"/>
          </a:xfrm>
          <a:prstGeom prst="rect">
            <a:avLst/>
          </a:prstGeom>
          <a:noFill/>
        </p:spPr>
        <p:txBody>
          <a:bodyPr wrap="square" anchor="ctr">
            <a:spAutoFit/>
          </a:bodyPr>
          <a:lstStyle/>
          <a:p>
            <a:pPr algn="l">
              <a:spcAft>
                <a:spcPts val="400"/>
              </a:spcAft>
            </a:pPr>
            <a:r>
              <a:rPr sz="1300" b="0">
                <a:solidFill>
                  <a:srgbClr val="161B26"/>
                </a:solidFill>
                <a:latin typeface="Arial"/>
              </a:rPr>
              <a:t>Control ownership, versions, reviewers and release status</a:t>
            </a:r>
          </a:p>
        </p:txBody>
      </p:sp>
      <p:sp>
        <p:nvSpPr>
          <p:cNvPr id="41" name="Rectangle 40"/>
          <p:cNvSpPr/>
          <p:nvPr/>
        </p:nvSpPr>
        <p:spPr>
          <a:xfrm>
            <a:off x="777240" y="5532120"/>
            <a:ext cx="2148840" cy="5943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14400" y="5532120"/>
            <a:ext cx="1874520" cy="594360"/>
          </a:xfrm>
          <a:prstGeom prst="rect">
            <a:avLst/>
          </a:prstGeom>
          <a:noFill/>
        </p:spPr>
        <p:txBody>
          <a:bodyPr wrap="square" anchor="ctr">
            <a:spAutoFit/>
          </a:bodyPr>
          <a:lstStyle/>
          <a:p>
            <a:pPr algn="l">
              <a:spcAft>
                <a:spcPts val="400"/>
              </a:spcAft>
            </a:pPr>
            <a:r>
              <a:rPr sz="1400" b="1">
                <a:solidFill>
                  <a:srgbClr val="161B26"/>
                </a:solidFill>
                <a:latin typeface="Arial"/>
              </a:rPr>
              <a:t>Export</a:t>
            </a:r>
          </a:p>
        </p:txBody>
      </p:sp>
      <p:sp>
        <p:nvSpPr>
          <p:cNvPr id="43" name="Rectangle 42"/>
          <p:cNvSpPr/>
          <p:nvPr/>
        </p:nvSpPr>
        <p:spPr>
          <a:xfrm>
            <a:off x="2926080" y="5532120"/>
            <a:ext cx="4242816" cy="5943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090672" y="5532120"/>
            <a:ext cx="3913632" cy="594360"/>
          </a:xfrm>
          <a:prstGeom prst="rect">
            <a:avLst/>
          </a:prstGeom>
          <a:noFill/>
        </p:spPr>
        <p:txBody>
          <a:bodyPr wrap="square" anchor="ctr">
            <a:spAutoFit/>
          </a:bodyPr>
          <a:lstStyle/>
          <a:p>
            <a:pPr algn="l">
              <a:spcAft>
                <a:spcPts val="400"/>
              </a:spcAft>
            </a:pPr>
            <a:r>
              <a:rPr sz="1300" b="0">
                <a:solidFill>
                  <a:srgbClr val="161B26"/>
                </a:solidFill>
                <a:latin typeface="Arial"/>
              </a:rPr>
              <a:t>PPTX, PDF, JPG, slideshow and print</a:t>
            </a:r>
          </a:p>
        </p:txBody>
      </p:sp>
      <p:sp>
        <p:nvSpPr>
          <p:cNvPr id="45" name="Rectangle 44"/>
          <p:cNvSpPr/>
          <p:nvPr/>
        </p:nvSpPr>
        <p:spPr>
          <a:xfrm>
            <a:off x="7168896" y="5532120"/>
            <a:ext cx="4242816" cy="5943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333488" y="5532120"/>
            <a:ext cx="3913632" cy="594360"/>
          </a:xfrm>
          <a:prstGeom prst="rect">
            <a:avLst/>
          </a:prstGeom>
          <a:noFill/>
        </p:spPr>
        <p:txBody>
          <a:bodyPr wrap="square" anchor="ctr">
            <a:spAutoFit/>
          </a:bodyPr>
          <a:lstStyle/>
          <a:p>
            <a:pPr algn="l">
              <a:spcAft>
                <a:spcPts val="400"/>
              </a:spcAft>
            </a:pPr>
            <a:r>
              <a:rPr sz="1300" b="0">
                <a:solidFill>
                  <a:srgbClr val="161B26"/>
                </a:solidFill>
                <a:latin typeface="Arial"/>
              </a:rPr>
              <a:t>Test each channel for clipping, fonts, links and accessibility</a:t>
            </a:r>
          </a:p>
        </p:txBody>
      </p:sp>
      <p:sp>
        <p:nvSpPr>
          <p:cNvPr id="47" name="TextBox 4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48" name="TextBox 4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9" name="TextBox 4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65</a:t>
            </a:r>
          </a:p>
        </p:txBody>
      </p:sp>
    </p:spTree>
  </p:cSld>
  <p:clrMapOvr>
    <a:masterClrMapping/>
  </p:clrMapOvr>
  <p:transition spd="fast" advClick="1">
    <p:fade/>
  </p:transition>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LU2 · RESPONSIBLE AI</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Human-in-the-Loop AI Workflow</a:t>
            </a:r>
          </a:p>
        </p:txBody>
      </p:sp>
      <p:sp>
        <p:nvSpPr>
          <p:cNvPr id="6" name="Rectangle 5"/>
          <p:cNvSpPr/>
          <p:nvPr/>
        </p:nvSpPr>
        <p:spPr>
          <a:xfrm>
            <a:off x="777240"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240280"/>
            <a:ext cx="154381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219962" y="2551176"/>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19962" y="255117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0" name="TextBox 9"/>
          <p:cNvSpPr txBox="1"/>
          <p:nvPr/>
        </p:nvSpPr>
        <p:spPr>
          <a:xfrm>
            <a:off x="923544" y="3566160"/>
            <a:ext cx="1251204" cy="1280160"/>
          </a:xfrm>
          <a:prstGeom prst="rect">
            <a:avLst/>
          </a:prstGeom>
          <a:noFill/>
        </p:spPr>
        <p:txBody>
          <a:bodyPr wrap="square" anchor="t">
            <a:spAutoFit/>
          </a:bodyPr>
          <a:lstStyle/>
          <a:p>
            <a:pPr algn="ctr">
              <a:spcAft>
                <a:spcPts val="400"/>
              </a:spcAft>
            </a:pPr>
            <a:r>
              <a:rPr sz="1300" b="0">
                <a:solidFill>
                  <a:srgbClr val="161B26"/>
                </a:solidFill>
                <a:latin typeface="Arial"/>
              </a:rPr>
              <a:t>Approved brief</a:t>
            </a:r>
          </a:p>
        </p:txBody>
      </p:sp>
      <p:sp>
        <p:nvSpPr>
          <p:cNvPr id="11" name="Chevron 10"/>
          <p:cNvSpPr/>
          <p:nvPr/>
        </p:nvSpPr>
        <p:spPr>
          <a:xfrm>
            <a:off x="2339340" y="3447288"/>
            <a:ext cx="237744" cy="329184"/>
          </a:xfrm>
          <a:prstGeom prst="chevron">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95372"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95372" y="2240280"/>
            <a:ext cx="154381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038094" y="2551176"/>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038094" y="255117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6" name="TextBox 15"/>
          <p:cNvSpPr txBox="1"/>
          <p:nvPr/>
        </p:nvSpPr>
        <p:spPr>
          <a:xfrm>
            <a:off x="2741676" y="3566160"/>
            <a:ext cx="1251204" cy="1280160"/>
          </a:xfrm>
          <a:prstGeom prst="rect">
            <a:avLst/>
          </a:prstGeom>
          <a:noFill/>
        </p:spPr>
        <p:txBody>
          <a:bodyPr wrap="square" anchor="t">
            <a:spAutoFit/>
          </a:bodyPr>
          <a:lstStyle/>
          <a:p>
            <a:pPr algn="ctr">
              <a:spcAft>
                <a:spcPts val="400"/>
              </a:spcAft>
            </a:pPr>
            <a:r>
              <a:rPr sz="1300" b="0">
                <a:solidFill>
                  <a:srgbClr val="161B26"/>
                </a:solidFill>
                <a:latin typeface="Arial"/>
              </a:rPr>
              <a:t>Structured prompt</a:t>
            </a:r>
          </a:p>
        </p:txBody>
      </p:sp>
      <p:sp>
        <p:nvSpPr>
          <p:cNvPr id="17" name="Chevron 16"/>
          <p:cNvSpPr/>
          <p:nvPr/>
        </p:nvSpPr>
        <p:spPr>
          <a:xfrm>
            <a:off x="4157472" y="3447288"/>
            <a:ext cx="237744" cy="329184"/>
          </a:xfrm>
          <a:prstGeom prst="chevron">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413504"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413504" y="2240280"/>
            <a:ext cx="154381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4856226" y="2551176"/>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856226" y="255117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2" name="TextBox 21"/>
          <p:cNvSpPr txBox="1"/>
          <p:nvPr/>
        </p:nvSpPr>
        <p:spPr>
          <a:xfrm>
            <a:off x="4559808" y="3566160"/>
            <a:ext cx="1251204" cy="1280160"/>
          </a:xfrm>
          <a:prstGeom prst="rect">
            <a:avLst/>
          </a:prstGeom>
          <a:noFill/>
        </p:spPr>
        <p:txBody>
          <a:bodyPr wrap="square" anchor="t">
            <a:spAutoFit/>
          </a:bodyPr>
          <a:lstStyle/>
          <a:p>
            <a:pPr algn="ctr">
              <a:spcAft>
                <a:spcPts val="400"/>
              </a:spcAft>
            </a:pPr>
            <a:r>
              <a:rPr sz="1300" b="0">
                <a:solidFill>
                  <a:srgbClr val="161B26"/>
                </a:solidFill>
                <a:latin typeface="Arial"/>
              </a:rPr>
              <a:t>Two options</a:t>
            </a:r>
          </a:p>
        </p:txBody>
      </p:sp>
      <p:sp>
        <p:nvSpPr>
          <p:cNvPr id="23" name="Chevron 22"/>
          <p:cNvSpPr/>
          <p:nvPr/>
        </p:nvSpPr>
        <p:spPr>
          <a:xfrm>
            <a:off x="5975604" y="3447288"/>
            <a:ext cx="237744" cy="329184"/>
          </a:xfrm>
          <a:prstGeom prst="chevron">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31636"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31636" y="2240280"/>
            <a:ext cx="154381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674358" y="2551176"/>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74358" y="255117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28" name="TextBox 27"/>
          <p:cNvSpPr txBox="1"/>
          <p:nvPr/>
        </p:nvSpPr>
        <p:spPr>
          <a:xfrm>
            <a:off x="6377940" y="3566160"/>
            <a:ext cx="1251204" cy="1280160"/>
          </a:xfrm>
          <a:prstGeom prst="rect">
            <a:avLst/>
          </a:prstGeom>
          <a:noFill/>
        </p:spPr>
        <p:txBody>
          <a:bodyPr wrap="square" anchor="t">
            <a:spAutoFit/>
          </a:bodyPr>
          <a:lstStyle/>
          <a:p>
            <a:pPr algn="ctr">
              <a:spcAft>
                <a:spcPts val="400"/>
              </a:spcAft>
            </a:pPr>
            <a:r>
              <a:rPr sz="1300" b="0">
                <a:solidFill>
                  <a:srgbClr val="161B26"/>
                </a:solidFill>
                <a:latin typeface="Arial"/>
              </a:rPr>
              <a:t>Fact and data check</a:t>
            </a:r>
          </a:p>
        </p:txBody>
      </p:sp>
      <p:sp>
        <p:nvSpPr>
          <p:cNvPr id="29" name="Chevron 28"/>
          <p:cNvSpPr/>
          <p:nvPr/>
        </p:nvSpPr>
        <p:spPr>
          <a:xfrm>
            <a:off x="7793736" y="3447288"/>
            <a:ext cx="237744" cy="329184"/>
          </a:xfrm>
          <a:prstGeom prst="chevron">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049768"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049768" y="2240280"/>
            <a:ext cx="154381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8492490" y="2551176"/>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492490" y="255117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4" name="TextBox 33"/>
          <p:cNvSpPr txBox="1"/>
          <p:nvPr/>
        </p:nvSpPr>
        <p:spPr>
          <a:xfrm>
            <a:off x="8196072" y="3566160"/>
            <a:ext cx="1251204" cy="1280160"/>
          </a:xfrm>
          <a:prstGeom prst="rect">
            <a:avLst/>
          </a:prstGeom>
          <a:noFill/>
        </p:spPr>
        <p:txBody>
          <a:bodyPr wrap="square" anchor="t">
            <a:spAutoFit/>
          </a:bodyPr>
          <a:lstStyle/>
          <a:p>
            <a:pPr algn="ctr">
              <a:spcAft>
                <a:spcPts val="400"/>
              </a:spcAft>
            </a:pPr>
            <a:r>
              <a:rPr sz="1300" b="0">
                <a:solidFill>
                  <a:srgbClr val="161B26"/>
                </a:solidFill>
                <a:latin typeface="Arial"/>
              </a:rPr>
              <a:t>Rebuild and accessibility</a:t>
            </a:r>
          </a:p>
        </p:txBody>
      </p:sp>
      <p:sp>
        <p:nvSpPr>
          <p:cNvPr id="35" name="Chevron 34"/>
          <p:cNvSpPr/>
          <p:nvPr/>
        </p:nvSpPr>
        <p:spPr>
          <a:xfrm>
            <a:off x="9611868" y="3447288"/>
            <a:ext cx="237744" cy="329184"/>
          </a:xfrm>
          <a:prstGeom prst="chevron">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867900"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867900" y="2240280"/>
            <a:ext cx="154381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10310622" y="2551176"/>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310622" y="255117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6</a:t>
            </a:r>
          </a:p>
        </p:txBody>
      </p:sp>
      <p:sp>
        <p:nvSpPr>
          <p:cNvPr id="40" name="TextBox 39"/>
          <p:cNvSpPr txBox="1"/>
          <p:nvPr/>
        </p:nvSpPr>
        <p:spPr>
          <a:xfrm>
            <a:off x="10014204" y="3566160"/>
            <a:ext cx="1251204" cy="1280160"/>
          </a:xfrm>
          <a:prstGeom prst="rect">
            <a:avLst/>
          </a:prstGeom>
          <a:noFill/>
        </p:spPr>
        <p:txBody>
          <a:bodyPr wrap="square" anchor="t">
            <a:spAutoFit/>
          </a:bodyPr>
          <a:lstStyle/>
          <a:p>
            <a:pPr algn="ctr">
              <a:spcAft>
                <a:spcPts val="400"/>
              </a:spcAft>
            </a:pPr>
            <a:r>
              <a:rPr sz="1300" b="0">
                <a:solidFill>
                  <a:srgbClr val="161B26"/>
                </a:solidFill>
                <a:latin typeface="Arial"/>
              </a:rPr>
              <a:t>Named approval</a:t>
            </a:r>
          </a:p>
        </p:txBody>
      </p:sp>
      <p:sp>
        <p:nvSpPr>
          <p:cNvPr id="41" name="Rectangle 40"/>
          <p:cNvSpPr/>
          <p:nvPr/>
        </p:nvSpPr>
        <p:spPr>
          <a:xfrm>
            <a:off x="777240" y="525780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5257800"/>
            <a:ext cx="91440" cy="8229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97280" y="5257800"/>
            <a:ext cx="10058400" cy="822960"/>
          </a:xfrm>
          <a:prstGeom prst="rect">
            <a:avLst/>
          </a:prstGeom>
          <a:noFill/>
        </p:spPr>
        <p:txBody>
          <a:bodyPr wrap="square" anchor="ctr">
            <a:spAutoFit/>
          </a:bodyPr>
          <a:lstStyle/>
          <a:p>
            <a:pPr algn="l">
              <a:spcAft>
                <a:spcPts val="400"/>
              </a:spcAft>
            </a:pPr>
            <a:r>
              <a:rPr sz="1400" b="1">
                <a:solidFill>
                  <a:srgbClr val="161B26"/>
                </a:solidFill>
                <a:latin typeface="Arial"/>
              </a:rPr>
              <a:t>AI can propose an infographic; it cannot own the truth, the data rights or the business decision.</a:t>
            </a:r>
          </a:p>
        </p:txBody>
      </p:sp>
      <p:sp>
        <p:nvSpPr>
          <p:cNvPr id="44" name="TextBox 4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45" name="TextBox 4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6" name="TextBox 4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66</a:t>
            </a:r>
          </a:p>
        </p:txBody>
      </p:sp>
    </p:spTree>
  </p:cSld>
  <p:clrMapOvr>
    <a:masterClrMapping/>
  </p:clrMapOvr>
  <p:transition spd="fast" advClick="1">
    <p:fade/>
  </p:transition>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LU2 · CONTROLLED WORKFLOW</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Editable PowerPoint Production Swimlane</a:t>
            </a:r>
          </a:p>
        </p:txBody>
      </p:sp>
      <p:sp>
        <p:nvSpPr>
          <p:cNvPr id="6" name="Rectangle 5"/>
          <p:cNvSpPr/>
          <p:nvPr/>
        </p:nvSpPr>
        <p:spPr>
          <a:xfrm>
            <a:off x="777240" y="2194560"/>
            <a:ext cx="1874519" cy="78409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05256" y="2194560"/>
            <a:ext cx="1618487" cy="784098"/>
          </a:xfrm>
          <a:prstGeom prst="rect">
            <a:avLst/>
          </a:prstGeom>
          <a:noFill/>
        </p:spPr>
        <p:txBody>
          <a:bodyPr wrap="square" anchor="ctr">
            <a:spAutoFit/>
          </a:bodyPr>
          <a:lstStyle/>
          <a:p>
            <a:pPr algn="l">
              <a:spcAft>
                <a:spcPts val="400"/>
              </a:spcAft>
            </a:pPr>
            <a:r>
              <a:rPr sz="1400" b="1">
                <a:solidFill>
                  <a:srgbClr val="FFFFFF"/>
                </a:solidFill>
                <a:latin typeface="Arial"/>
              </a:rPr>
              <a:t>Content owner</a:t>
            </a:r>
          </a:p>
        </p:txBody>
      </p:sp>
      <p:sp>
        <p:nvSpPr>
          <p:cNvPr id="8" name="Rectangle 7"/>
          <p:cNvSpPr/>
          <p:nvPr/>
        </p:nvSpPr>
        <p:spPr>
          <a:xfrm>
            <a:off x="2834639" y="2194560"/>
            <a:ext cx="2798064" cy="78409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834639" y="2194560"/>
            <a:ext cx="64008" cy="78409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99231" y="2194560"/>
            <a:ext cx="2523744" cy="784098"/>
          </a:xfrm>
          <a:prstGeom prst="rect">
            <a:avLst/>
          </a:prstGeom>
          <a:noFill/>
        </p:spPr>
        <p:txBody>
          <a:bodyPr wrap="square" anchor="ctr">
            <a:spAutoFit/>
          </a:bodyPr>
          <a:lstStyle/>
          <a:p>
            <a:pPr algn="l">
              <a:spcAft>
                <a:spcPts val="400"/>
              </a:spcAft>
            </a:pPr>
            <a:r>
              <a:rPr sz="1250" b="0">
                <a:solidFill>
                  <a:srgbClr val="161B26"/>
                </a:solidFill>
                <a:latin typeface="Arial"/>
              </a:rPr>
              <a:t>Approve question</a:t>
            </a:r>
          </a:p>
        </p:txBody>
      </p:sp>
      <p:sp>
        <p:nvSpPr>
          <p:cNvPr id="11" name="Rectangle 10"/>
          <p:cNvSpPr/>
          <p:nvPr/>
        </p:nvSpPr>
        <p:spPr>
          <a:xfrm>
            <a:off x="5815583" y="2194560"/>
            <a:ext cx="2798064" cy="78409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815583" y="2194560"/>
            <a:ext cx="64008" cy="78409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80175" y="2194560"/>
            <a:ext cx="2523744" cy="784098"/>
          </a:xfrm>
          <a:prstGeom prst="rect">
            <a:avLst/>
          </a:prstGeom>
          <a:noFill/>
        </p:spPr>
        <p:txBody>
          <a:bodyPr wrap="square" anchor="ctr">
            <a:spAutoFit/>
          </a:bodyPr>
          <a:lstStyle/>
          <a:p>
            <a:pPr algn="l">
              <a:spcAft>
                <a:spcPts val="400"/>
              </a:spcAft>
            </a:pPr>
            <a:r>
              <a:rPr sz="1250" b="0">
                <a:solidFill>
                  <a:srgbClr val="161B26"/>
                </a:solidFill>
                <a:latin typeface="Arial"/>
              </a:rPr>
              <a:t>Verify data</a:t>
            </a:r>
          </a:p>
        </p:txBody>
      </p:sp>
      <p:sp>
        <p:nvSpPr>
          <p:cNvPr id="14" name="Rectangle 13"/>
          <p:cNvSpPr/>
          <p:nvPr/>
        </p:nvSpPr>
        <p:spPr>
          <a:xfrm>
            <a:off x="8796527" y="2194560"/>
            <a:ext cx="2798064" cy="78409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796527" y="2194560"/>
            <a:ext cx="64008" cy="78409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961119" y="2194560"/>
            <a:ext cx="2523744" cy="784098"/>
          </a:xfrm>
          <a:prstGeom prst="rect">
            <a:avLst/>
          </a:prstGeom>
          <a:noFill/>
        </p:spPr>
        <p:txBody>
          <a:bodyPr wrap="square" anchor="ctr">
            <a:spAutoFit/>
          </a:bodyPr>
          <a:lstStyle/>
          <a:p>
            <a:pPr algn="l">
              <a:spcAft>
                <a:spcPts val="400"/>
              </a:spcAft>
            </a:pPr>
            <a:r>
              <a:rPr sz="1250" b="0">
                <a:solidFill>
                  <a:srgbClr val="161B26"/>
                </a:solidFill>
                <a:latin typeface="Arial"/>
              </a:rPr>
              <a:t>Approve message</a:t>
            </a:r>
          </a:p>
        </p:txBody>
      </p:sp>
      <p:sp>
        <p:nvSpPr>
          <p:cNvPr id="17" name="Chevron 16"/>
          <p:cNvSpPr/>
          <p:nvPr/>
        </p:nvSpPr>
        <p:spPr>
          <a:xfrm>
            <a:off x="5669279" y="2495169"/>
            <a:ext cx="109728" cy="182880"/>
          </a:xfrm>
          <a:prstGeom prst="chevron">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Chevron 17"/>
          <p:cNvSpPr/>
          <p:nvPr/>
        </p:nvSpPr>
        <p:spPr>
          <a:xfrm>
            <a:off x="8650223" y="2495169"/>
            <a:ext cx="109728" cy="182880"/>
          </a:xfrm>
          <a:prstGeom prst="chevron">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3106674"/>
            <a:ext cx="1874519" cy="78409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3106674"/>
            <a:ext cx="1618487" cy="784098"/>
          </a:xfrm>
          <a:prstGeom prst="rect">
            <a:avLst/>
          </a:prstGeom>
          <a:noFill/>
        </p:spPr>
        <p:txBody>
          <a:bodyPr wrap="square" anchor="ctr">
            <a:spAutoFit/>
          </a:bodyPr>
          <a:lstStyle/>
          <a:p>
            <a:pPr algn="l">
              <a:spcAft>
                <a:spcPts val="400"/>
              </a:spcAft>
            </a:pPr>
            <a:r>
              <a:rPr sz="1400" b="1">
                <a:solidFill>
                  <a:srgbClr val="FFFFFF"/>
                </a:solidFill>
                <a:latin typeface="Arial"/>
              </a:rPr>
              <a:t>PowerPoint / AI</a:t>
            </a:r>
          </a:p>
        </p:txBody>
      </p:sp>
      <p:sp>
        <p:nvSpPr>
          <p:cNvPr id="21" name="Rectangle 20"/>
          <p:cNvSpPr/>
          <p:nvPr/>
        </p:nvSpPr>
        <p:spPr>
          <a:xfrm>
            <a:off x="2834639" y="3106674"/>
            <a:ext cx="2798064" cy="78409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834639" y="3106674"/>
            <a:ext cx="64008" cy="78409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999231" y="3106674"/>
            <a:ext cx="2523744" cy="784098"/>
          </a:xfrm>
          <a:prstGeom prst="rect">
            <a:avLst/>
          </a:prstGeom>
          <a:noFill/>
        </p:spPr>
        <p:txBody>
          <a:bodyPr wrap="square" anchor="ctr">
            <a:spAutoFit/>
          </a:bodyPr>
          <a:lstStyle/>
          <a:p>
            <a:pPr algn="l">
              <a:spcAft>
                <a:spcPts val="400"/>
              </a:spcAft>
            </a:pPr>
            <a:r>
              <a:rPr sz="1250" b="0">
                <a:solidFill>
                  <a:srgbClr val="161B26"/>
                </a:solidFill>
                <a:latin typeface="Arial"/>
              </a:rPr>
              <a:t>Generate options</a:t>
            </a:r>
          </a:p>
        </p:txBody>
      </p:sp>
      <p:sp>
        <p:nvSpPr>
          <p:cNvPr id="24" name="Rectangle 23"/>
          <p:cNvSpPr/>
          <p:nvPr/>
        </p:nvSpPr>
        <p:spPr>
          <a:xfrm>
            <a:off x="5815583" y="3106674"/>
            <a:ext cx="2798064" cy="78409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815583" y="3106674"/>
            <a:ext cx="64008" cy="78409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980175" y="3106674"/>
            <a:ext cx="2523744" cy="784098"/>
          </a:xfrm>
          <a:prstGeom prst="rect">
            <a:avLst/>
          </a:prstGeom>
          <a:noFill/>
        </p:spPr>
        <p:txBody>
          <a:bodyPr wrap="square" anchor="ctr">
            <a:spAutoFit/>
          </a:bodyPr>
          <a:lstStyle/>
          <a:p>
            <a:pPr algn="l">
              <a:spcAft>
                <a:spcPts val="400"/>
              </a:spcAft>
            </a:pPr>
            <a:r>
              <a:rPr sz="1250" b="0">
                <a:solidFill>
                  <a:srgbClr val="161B26"/>
                </a:solidFill>
                <a:latin typeface="Arial"/>
              </a:rPr>
              <a:t>Build native objects</a:t>
            </a:r>
          </a:p>
        </p:txBody>
      </p:sp>
      <p:sp>
        <p:nvSpPr>
          <p:cNvPr id="27" name="Rectangle 26"/>
          <p:cNvSpPr/>
          <p:nvPr/>
        </p:nvSpPr>
        <p:spPr>
          <a:xfrm>
            <a:off x="8796527" y="3106674"/>
            <a:ext cx="2798064" cy="78409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796527" y="3106674"/>
            <a:ext cx="64008" cy="78409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961119" y="3106674"/>
            <a:ext cx="2523744" cy="784098"/>
          </a:xfrm>
          <a:prstGeom prst="rect">
            <a:avLst/>
          </a:prstGeom>
          <a:noFill/>
        </p:spPr>
        <p:txBody>
          <a:bodyPr wrap="square" anchor="ctr">
            <a:spAutoFit/>
          </a:bodyPr>
          <a:lstStyle/>
          <a:p>
            <a:pPr algn="l">
              <a:spcAft>
                <a:spcPts val="400"/>
              </a:spcAft>
            </a:pPr>
            <a:r>
              <a:rPr sz="1250" b="0">
                <a:solidFill>
                  <a:srgbClr val="161B26"/>
                </a:solidFill>
                <a:latin typeface="Arial"/>
              </a:rPr>
              <a:t>Export formats</a:t>
            </a:r>
          </a:p>
        </p:txBody>
      </p:sp>
      <p:sp>
        <p:nvSpPr>
          <p:cNvPr id="30" name="Chevron 29"/>
          <p:cNvSpPr/>
          <p:nvPr/>
        </p:nvSpPr>
        <p:spPr>
          <a:xfrm>
            <a:off x="5669279" y="3407283"/>
            <a:ext cx="109728" cy="182880"/>
          </a:xfrm>
          <a:prstGeom prst="chevron">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Chevron 30"/>
          <p:cNvSpPr/>
          <p:nvPr/>
        </p:nvSpPr>
        <p:spPr>
          <a:xfrm>
            <a:off x="8650223" y="3407283"/>
            <a:ext cx="109728" cy="182880"/>
          </a:xfrm>
          <a:prstGeom prst="chevron">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77240" y="4018788"/>
            <a:ext cx="1874519" cy="78409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05256" y="4018788"/>
            <a:ext cx="1618487" cy="784098"/>
          </a:xfrm>
          <a:prstGeom prst="rect">
            <a:avLst/>
          </a:prstGeom>
          <a:noFill/>
        </p:spPr>
        <p:txBody>
          <a:bodyPr wrap="square" anchor="ctr">
            <a:spAutoFit/>
          </a:bodyPr>
          <a:lstStyle/>
          <a:p>
            <a:pPr algn="l">
              <a:spcAft>
                <a:spcPts val="400"/>
              </a:spcAft>
            </a:pPr>
            <a:r>
              <a:rPr sz="1400" b="1">
                <a:solidFill>
                  <a:srgbClr val="FFFFFF"/>
                </a:solidFill>
                <a:latin typeface="Arial"/>
              </a:rPr>
              <a:t>Designer</a:t>
            </a:r>
          </a:p>
        </p:txBody>
      </p:sp>
      <p:sp>
        <p:nvSpPr>
          <p:cNvPr id="34" name="Rectangle 33"/>
          <p:cNvSpPr/>
          <p:nvPr/>
        </p:nvSpPr>
        <p:spPr>
          <a:xfrm>
            <a:off x="2834639" y="4018788"/>
            <a:ext cx="2798064" cy="78409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2834639" y="4018788"/>
            <a:ext cx="64008" cy="78409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2999231" y="4018788"/>
            <a:ext cx="2523744" cy="784098"/>
          </a:xfrm>
          <a:prstGeom prst="rect">
            <a:avLst/>
          </a:prstGeom>
          <a:noFill/>
        </p:spPr>
        <p:txBody>
          <a:bodyPr wrap="square" anchor="ctr">
            <a:spAutoFit/>
          </a:bodyPr>
          <a:lstStyle/>
          <a:p>
            <a:pPr algn="l">
              <a:spcAft>
                <a:spcPts val="400"/>
              </a:spcAft>
            </a:pPr>
            <a:r>
              <a:rPr sz="1250" b="0">
                <a:solidFill>
                  <a:srgbClr val="161B26"/>
                </a:solidFill>
                <a:latin typeface="Arial"/>
              </a:rPr>
              <a:t>Apply hierarchy</a:t>
            </a:r>
          </a:p>
        </p:txBody>
      </p:sp>
      <p:sp>
        <p:nvSpPr>
          <p:cNvPr id="37" name="Rectangle 36"/>
          <p:cNvSpPr/>
          <p:nvPr/>
        </p:nvSpPr>
        <p:spPr>
          <a:xfrm>
            <a:off x="5815583" y="4018788"/>
            <a:ext cx="2798064" cy="78409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815583" y="4018788"/>
            <a:ext cx="64008" cy="78409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980175" y="4018788"/>
            <a:ext cx="2523744" cy="784098"/>
          </a:xfrm>
          <a:prstGeom prst="rect">
            <a:avLst/>
          </a:prstGeom>
          <a:noFill/>
        </p:spPr>
        <p:txBody>
          <a:bodyPr wrap="square" anchor="ctr">
            <a:spAutoFit/>
          </a:bodyPr>
          <a:lstStyle/>
          <a:p>
            <a:pPr algn="l">
              <a:spcAft>
                <a:spcPts val="400"/>
              </a:spcAft>
            </a:pPr>
            <a:r>
              <a:rPr sz="1250" b="0">
                <a:solidFill>
                  <a:srgbClr val="161B26"/>
                </a:solidFill>
                <a:latin typeface="Arial"/>
              </a:rPr>
              <a:t>Check brand/access</a:t>
            </a:r>
          </a:p>
        </p:txBody>
      </p:sp>
      <p:sp>
        <p:nvSpPr>
          <p:cNvPr id="40" name="Rectangle 39"/>
          <p:cNvSpPr/>
          <p:nvPr/>
        </p:nvSpPr>
        <p:spPr>
          <a:xfrm>
            <a:off x="8796527" y="4018788"/>
            <a:ext cx="2798064" cy="78409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8796527" y="4018788"/>
            <a:ext cx="64008" cy="78409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961119" y="4018788"/>
            <a:ext cx="2523744" cy="784098"/>
          </a:xfrm>
          <a:prstGeom prst="rect">
            <a:avLst/>
          </a:prstGeom>
          <a:noFill/>
        </p:spPr>
        <p:txBody>
          <a:bodyPr wrap="square" anchor="ctr">
            <a:spAutoFit/>
          </a:bodyPr>
          <a:lstStyle/>
          <a:p>
            <a:pPr algn="l">
              <a:spcAft>
                <a:spcPts val="400"/>
              </a:spcAft>
            </a:pPr>
            <a:r>
              <a:rPr sz="1250" b="0">
                <a:solidFill>
                  <a:srgbClr val="161B26"/>
                </a:solidFill>
                <a:latin typeface="Arial"/>
              </a:rPr>
              <a:t>Maintain master</a:t>
            </a:r>
          </a:p>
        </p:txBody>
      </p:sp>
      <p:sp>
        <p:nvSpPr>
          <p:cNvPr id="43" name="Chevron 42"/>
          <p:cNvSpPr/>
          <p:nvPr/>
        </p:nvSpPr>
        <p:spPr>
          <a:xfrm>
            <a:off x="5669279" y="4319397"/>
            <a:ext cx="109728" cy="182880"/>
          </a:xfrm>
          <a:prstGeom prst="chevron">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Chevron 43"/>
          <p:cNvSpPr/>
          <p:nvPr/>
        </p:nvSpPr>
        <p:spPr>
          <a:xfrm>
            <a:off x="8650223" y="4319397"/>
            <a:ext cx="109728" cy="182880"/>
          </a:xfrm>
          <a:prstGeom prst="chevron">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777240" y="4930902"/>
            <a:ext cx="1874519" cy="78409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05256" y="4930902"/>
            <a:ext cx="1618487" cy="784098"/>
          </a:xfrm>
          <a:prstGeom prst="rect">
            <a:avLst/>
          </a:prstGeom>
          <a:noFill/>
        </p:spPr>
        <p:txBody>
          <a:bodyPr wrap="square" anchor="ctr">
            <a:spAutoFit/>
          </a:bodyPr>
          <a:lstStyle/>
          <a:p>
            <a:pPr algn="l">
              <a:spcAft>
                <a:spcPts val="400"/>
              </a:spcAft>
            </a:pPr>
            <a:r>
              <a:rPr sz="1400" b="1">
                <a:solidFill>
                  <a:srgbClr val="FFFFFF"/>
                </a:solidFill>
                <a:latin typeface="Arial"/>
              </a:rPr>
              <a:t>Reviewer</a:t>
            </a:r>
          </a:p>
        </p:txBody>
      </p:sp>
      <p:sp>
        <p:nvSpPr>
          <p:cNvPr id="47" name="Rectangle 46"/>
          <p:cNvSpPr/>
          <p:nvPr/>
        </p:nvSpPr>
        <p:spPr>
          <a:xfrm>
            <a:off x="2834639" y="4930902"/>
            <a:ext cx="2798064" cy="78409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2834639" y="4930902"/>
            <a:ext cx="64008" cy="78409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2999231" y="4930902"/>
            <a:ext cx="2523744" cy="784098"/>
          </a:xfrm>
          <a:prstGeom prst="rect">
            <a:avLst/>
          </a:prstGeom>
          <a:noFill/>
        </p:spPr>
        <p:txBody>
          <a:bodyPr wrap="square" anchor="ctr">
            <a:spAutoFit/>
          </a:bodyPr>
          <a:lstStyle/>
          <a:p>
            <a:pPr algn="l">
              <a:spcAft>
                <a:spcPts val="400"/>
              </a:spcAft>
            </a:pPr>
            <a:r>
              <a:rPr sz="1250" b="0">
                <a:solidFill>
                  <a:srgbClr val="161B26"/>
                </a:solidFill>
                <a:latin typeface="Arial"/>
              </a:rPr>
              <a:t>Challenge claims</a:t>
            </a:r>
          </a:p>
        </p:txBody>
      </p:sp>
      <p:sp>
        <p:nvSpPr>
          <p:cNvPr id="50" name="Rectangle 49"/>
          <p:cNvSpPr/>
          <p:nvPr/>
        </p:nvSpPr>
        <p:spPr>
          <a:xfrm>
            <a:off x="5815583" y="4930902"/>
            <a:ext cx="2798064" cy="78409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5815583" y="4930902"/>
            <a:ext cx="64008" cy="78409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980175" y="4930902"/>
            <a:ext cx="2523744" cy="784098"/>
          </a:xfrm>
          <a:prstGeom prst="rect">
            <a:avLst/>
          </a:prstGeom>
          <a:noFill/>
        </p:spPr>
        <p:txBody>
          <a:bodyPr wrap="square" anchor="ctr">
            <a:spAutoFit/>
          </a:bodyPr>
          <a:lstStyle/>
          <a:p>
            <a:pPr algn="l">
              <a:spcAft>
                <a:spcPts val="400"/>
              </a:spcAft>
            </a:pPr>
            <a:r>
              <a:rPr sz="1250" b="0">
                <a:solidFill>
                  <a:srgbClr val="161B26"/>
                </a:solidFill>
                <a:latin typeface="Arial"/>
              </a:rPr>
              <a:t>Test outputs</a:t>
            </a:r>
          </a:p>
        </p:txBody>
      </p:sp>
      <p:sp>
        <p:nvSpPr>
          <p:cNvPr id="53" name="Rectangle 52"/>
          <p:cNvSpPr/>
          <p:nvPr/>
        </p:nvSpPr>
        <p:spPr>
          <a:xfrm>
            <a:off x="8796527" y="4930902"/>
            <a:ext cx="2798064" cy="78409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8796527" y="4930902"/>
            <a:ext cx="64008" cy="78409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961119" y="4930902"/>
            <a:ext cx="2523744" cy="784098"/>
          </a:xfrm>
          <a:prstGeom prst="rect">
            <a:avLst/>
          </a:prstGeom>
          <a:noFill/>
        </p:spPr>
        <p:txBody>
          <a:bodyPr wrap="square" anchor="ctr">
            <a:spAutoFit/>
          </a:bodyPr>
          <a:lstStyle/>
          <a:p>
            <a:pPr algn="l">
              <a:spcAft>
                <a:spcPts val="400"/>
              </a:spcAft>
            </a:pPr>
            <a:r>
              <a:rPr sz="1250" b="0">
                <a:solidFill>
                  <a:srgbClr val="161B26"/>
                </a:solidFill>
                <a:latin typeface="Arial"/>
              </a:rPr>
              <a:t>Approve release</a:t>
            </a:r>
          </a:p>
        </p:txBody>
      </p:sp>
      <p:sp>
        <p:nvSpPr>
          <p:cNvPr id="56" name="Chevron 55"/>
          <p:cNvSpPr/>
          <p:nvPr/>
        </p:nvSpPr>
        <p:spPr>
          <a:xfrm>
            <a:off x="5669279" y="5231511"/>
            <a:ext cx="109728" cy="182880"/>
          </a:xfrm>
          <a:prstGeom prst="chevron">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Chevron 56"/>
          <p:cNvSpPr/>
          <p:nvPr/>
        </p:nvSpPr>
        <p:spPr>
          <a:xfrm>
            <a:off x="8650223" y="5231511"/>
            <a:ext cx="109728" cy="182880"/>
          </a:xfrm>
          <a:prstGeom prst="chevron">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777240" y="5897880"/>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777240" y="5897880"/>
            <a:ext cx="91440" cy="5303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1097280" y="5897880"/>
            <a:ext cx="10058400" cy="530352"/>
          </a:xfrm>
          <a:prstGeom prst="rect">
            <a:avLst/>
          </a:prstGeom>
          <a:noFill/>
        </p:spPr>
        <p:txBody>
          <a:bodyPr wrap="square" anchor="ctr">
            <a:spAutoFit/>
          </a:bodyPr>
          <a:lstStyle/>
          <a:p>
            <a:pPr algn="l">
              <a:spcAft>
                <a:spcPts val="400"/>
              </a:spcAft>
            </a:pPr>
            <a:r>
              <a:rPr sz="1200" b="1">
                <a:solidFill>
                  <a:srgbClr val="161B26"/>
                </a:solidFill>
                <a:latin typeface="Arial"/>
              </a:rPr>
              <a:t>Decision-critical charts, labels and sources stay editable and traceable.</a:t>
            </a:r>
          </a:p>
        </p:txBody>
      </p:sp>
      <p:sp>
        <p:nvSpPr>
          <p:cNvPr id="61" name="TextBox 60"/>
          <p:cNvSpPr txBox="1"/>
          <p:nvPr/>
        </p:nvSpPr>
        <p:spPr>
          <a:xfrm>
            <a:off x="777240" y="1956816"/>
            <a:ext cx="10607040" cy="201168"/>
          </a:xfrm>
          <a:prstGeom prst="rect">
            <a:avLst/>
          </a:prstGeom>
          <a:noFill/>
        </p:spPr>
        <p:txBody>
          <a:bodyPr wrap="square" anchor="t">
            <a:spAutoFit/>
          </a:bodyPr>
          <a:lstStyle/>
          <a:p>
            <a:pPr algn="l">
              <a:spcAft>
                <a:spcPts val="400"/>
              </a:spcAft>
            </a:pPr>
            <a:r>
              <a:rPr sz="850" b="0">
                <a:solidFill>
                  <a:srgbClr val="5B6372"/>
                </a:solidFill>
                <a:latin typeface="Arial"/>
              </a:rPr>
              <a:t>Source: course workflow synthesis</a:t>
            </a:r>
          </a:p>
        </p:txBody>
      </p:sp>
      <p:sp>
        <p:nvSpPr>
          <p:cNvPr id="62" name="TextBox 6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63" name="TextBox 6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64" name="TextBox 6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67</a:t>
            </a:r>
          </a:p>
        </p:txBody>
      </p:sp>
    </p:spTree>
  </p:cSld>
  <p:clrMapOvr>
    <a:masterClrMapping/>
  </p:clrMapOvr>
  <p:transition spd="fast" advClick="1">
    <p:fade/>
  </p:transition>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LU2 · DATA STORY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A Native Chart Is Part of the Evidence Chain</a:t>
            </a:r>
          </a:p>
        </p:txBody>
      </p:sp>
      <p:sp>
        <p:nvSpPr>
          <p:cNvPr id="6" name="Rectangle 5"/>
          <p:cNvSpPr/>
          <p:nvPr/>
        </p:nvSpPr>
        <p:spPr>
          <a:xfrm>
            <a:off x="777240" y="2212848"/>
            <a:ext cx="3374136" cy="16413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212848"/>
            <a:ext cx="3374136"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487168"/>
            <a:ext cx="3374136" cy="914400"/>
          </a:xfrm>
          <a:prstGeom prst="rect">
            <a:avLst/>
          </a:prstGeom>
          <a:noFill/>
        </p:spPr>
        <p:txBody>
          <a:bodyPr wrap="square" anchor="t">
            <a:spAutoFit/>
          </a:bodyPr>
          <a:lstStyle/>
          <a:p>
            <a:pPr algn="ctr">
              <a:spcAft>
                <a:spcPts val="400"/>
              </a:spcAft>
            </a:pPr>
            <a:r>
              <a:rPr sz="4000" b="1">
                <a:solidFill>
                  <a:srgbClr val="1F6FEB"/>
                </a:solidFill>
                <a:latin typeface="Arial"/>
              </a:rPr>
              <a:t>DATA</a:t>
            </a:r>
          </a:p>
        </p:txBody>
      </p:sp>
      <p:sp>
        <p:nvSpPr>
          <p:cNvPr id="9" name="TextBox 8"/>
          <p:cNvSpPr txBox="1"/>
          <p:nvPr/>
        </p:nvSpPr>
        <p:spPr>
          <a:xfrm>
            <a:off x="923544" y="3419856"/>
            <a:ext cx="3081528" cy="713232"/>
          </a:xfrm>
          <a:prstGeom prst="rect">
            <a:avLst/>
          </a:prstGeom>
          <a:noFill/>
        </p:spPr>
        <p:txBody>
          <a:bodyPr wrap="square" anchor="t">
            <a:spAutoFit/>
          </a:bodyPr>
          <a:lstStyle/>
          <a:p>
            <a:pPr algn="ctr">
              <a:spcAft>
                <a:spcPts val="400"/>
              </a:spcAft>
            </a:pPr>
            <a:r>
              <a:rPr sz="1200" b="0">
                <a:solidFill>
                  <a:srgbClr val="161B26"/>
                </a:solidFill>
                <a:latin typeface="Arial"/>
              </a:rPr>
              <a:t>CSV and workbook retain definitions and formulas</a:t>
            </a:r>
          </a:p>
        </p:txBody>
      </p:sp>
      <p:sp>
        <p:nvSpPr>
          <p:cNvPr id="10" name="Rectangle 9"/>
          <p:cNvSpPr/>
          <p:nvPr/>
        </p:nvSpPr>
        <p:spPr>
          <a:xfrm>
            <a:off x="4407408" y="2212848"/>
            <a:ext cx="3374136" cy="16413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407408" y="2212848"/>
            <a:ext cx="337413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07408" y="2487168"/>
            <a:ext cx="3374136" cy="914400"/>
          </a:xfrm>
          <a:prstGeom prst="rect">
            <a:avLst/>
          </a:prstGeom>
          <a:noFill/>
        </p:spPr>
        <p:txBody>
          <a:bodyPr wrap="square" anchor="t">
            <a:spAutoFit/>
          </a:bodyPr>
          <a:lstStyle/>
          <a:p>
            <a:pPr algn="ctr">
              <a:spcAft>
                <a:spcPts val="400"/>
              </a:spcAft>
            </a:pPr>
            <a:r>
              <a:rPr sz="4000" b="1">
                <a:solidFill>
                  <a:srgbClr val="10B981"/>
                </a:solidFill>
                <a:latin typeface="Arial"/>
              </a:rPr>
              <a:t>CHART</a:t>
            </a:r>
          </a:p>
        </p:txBody>
      </p:sp>
      <p:sp>
        <p:nvSpPr>
          <p:cNvPr id="13" name="TextBox 12"/>
          <p:cNvSpPr txBox="1"/>
          <p:nvPr/>
        </p:nvSpPr>
        <p:spPr>
          <a:xfrm>
            <a:off x="4553712" y="3419856"/>
            <a:ext cx="3081528" cy="713232"/>
          </a:xfrm>
          <a:prstGeom prst="rect">
            <a:avLst/>
          </a:prstGeom>
          <a:noFill/>
        </p:spPr>
        <p:txBody>
          <a:bodyPr wrap="square" anchor="t">
            <a:spAutoFit/>
          </a:bodyPr>
          <a:lstStyle/>
          <a:p>
            <a:pPr algn="ctr">
              <a:spcAft>
                <a:spcPts val="400"/>
              </a:spcAft>
            </a:pPr>
            <a:r>
              <a:rPr sz="1200" b="0">
                <a:solidFill>
                  <a:srgbClr val="161B26"/>
                </a:solidFill>
                <a:latin typeface="Arial"/>
              </a:rPr>
              <a:t>Native PowerPoint object keeps labels and values editable</a:t>
            </a:r>
          </a:p>
        </p:txBody>
      </p:sp>
      <p:sp>
        <p:nvSpPr>
          <p:cNvPr id="14" name="Rectangle 13"/>
          <p:cNvSpPr/>
          <p:nvPr/>
        </p:nvSpPr>
        <p:spPr>
          <a:xfrm>
            <a:off x="8037576" y="2212848"/>
            <a:ext cx="3374136" cy="16413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37576" y="2212848"/>
            <a:ext cx="337413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37576" y="2487168"/>
            <a:ext cx="3374136" cy="914400"/>
          </a:xfrm>
          <a:prstGeom prst="rect">
            <a:avLst/>
          </a:prstGeom>
          <a:noFill/>
        </p:spPr>
        <p:txBody>
          <a:bodyPr wrap="square" anchor="t">
            <a:spAutoFit/>
          </a:bodyPr>
          <a:lstStyle/>
          <a:p>
            <a:pPr algn="ctr">
              <a:spcAft>
                <a:spcPts val="400"/>
              </a:spcAft>
            </a:pPr>
            <a:r>
              <a:rPr sz="4000" b="1">
                <a:solidFill>
                  <a:srgbClr val="7C3AED"/>
                </a:solidFill>
                <a:latin typeface="Arial"/>
              </a:rPr>
              <a:t>TITLE</a:t>
            </a:r>
          </a:p>
        </p:txBody>
      </p:sp>
      <p:sp>
        <p:nvSpPr>
          <p:cNvPr id="17" name="TextBox 16"/>
          <p:cNvSpPr txBox="1"/>
          <p:nvPr/>
        </p:nvSpPr>
        <p:spPr>
          <a:xfrm>
            <a:off x="8183880" y="3419856"/>
            <a:ext cx="3081528" cy="713232"/>
          </a:xfrm>
          <a:prstGeom prst="rect">
            <a:avLst/>
          </a:prstGeom>
          <a:noFill/>
        </p:spPr>
        <p:txBody>
          <a:bodyPr wrap="square" anchor="t">
            <a:spAutoFit/>
          </a:bodyPr>
          <a:lstStyle/>
          <a:p>
            <a:pPr algn="ctr">
              <a:spcAft>
                <a:spcPts val="400"/>
              </a:spcAft>
            </a:pPr>
            <a:r>
              <a:rPr sz="1200" b="0">
                <a:solidFill>
                  <a:srgbClr val="161B26"/>
                </a:solidFill>
                <a:latin typeface="Arial"/>
              </a:rPr>
              <a:t>Action title states the supported insight</a:t>
            </a:r>
          </a:p>
        </p:txBody>
      </p:sp>
      <p:sp>
        <p:nvSpPr>
          <p:cNvPr id="18" name="Rectangle 17"/>
          <p:cNvSpPr/>
          <p:nvPr/>
        </p:nvSpPr>
        <p:spPr>
          <a:xfrm>
            <a:off x="777240" y="4091940"/>
            <a:ext cx="3374136" cy="16413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4091940"/>
            <a:ext cx="3374136"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4366260"/>
            <a:ext cx="3374136" cy="914400"/>
          </a:xfrm>
          <a:prstGeom prst="rect">
            <a:avLst/>
          </a:prstGeom>
          <a:noFill/>
        </p:spPr>
        <p:txBody>
          <a:bodyPr wrap="square" anchor="t">
            <a:spAutoFit/>
          </a:bodyPr>
          <a:lstStyle/>
          <a:p>
            <a:pPr algn="ctr">
              <a:spcAft>
                <a:spcPts val="400"/>
              </a:spcAft>
            </a:pPr>
            <a:r>
              <a:rPr sz="3000" b="1">
                <a:solidFill>
                  <a:srgbClr val="F59E0B"/>
                </a:solidFill>
                <a:latin typeface="Arial"/>
              </a:rPr>
              <a:t>CONTEXT</a:t>
            </a:r>
          </a:p>
        </p:txBody>
      </p:sp>
      <p:sp>
        <p:nvSpPr>
          <p:cNvPr id="21" name="TextBox 20"/>
          <p:cNvSpPr txBox="1"/>
          <p:nvPr/>
        </p:nvSpPr>
        <p:spPr>
          <a:xfrm>
            <a:off x="923544" y="5298948"/>
            <a:ext cx="3081528" cy="713232"/>
          </a:xfrm>
          <a:prstGeom prst="rect">
            <a:avLst/>
          </a:prstGeom>
          <a:noFill/>
        </p:spPr>
        <p:txBody>
          <a:bodyPr wrap="square" anchor="t">
            <a:spAutoFit/>
          </a:bodyPr>
          <a:lstStyle/>
          <a:p>
            <a:pPr algn="ctr">
              <a:spcAft>
                <a:spcPts val="400"/>
              </a:spcAft>
            </a:pPr>
            <a:r>
              <a:rPr sz="1200" b="0">
                <a:solidFill>
                  <a:srgbClr val="161B26"/>
                </a:solidFill>
                <a:latin typeface="Arial"/>
              </a:rPr>
              <a:t>Source, period, unit and limitation travel with the chart</a:t>
            </a:r>
          </a:p>
        </p:txBody>
      </p:sp>
      <p:sp>
        <p:nvSpPr>
          <p:cNvPr id="22" name="Rectangle 21"/>
          <p:cNvSpPr/>
          <p:nvPr/>
        </p:nvSpPr>
        <p:spPr>
          <a:xfrm>
            <a:off x="4407408" y="4091940"/>
            <a:ext cx="3374136" cy="16413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07408" y="4091940"/>
            <a:ext cx="3374136"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407408" y="4366260"/>
            <a:ext cx="3374136" cy="914400"/>
          </a:xfrm>
          <a:prstGeom prst="rect">
            <a:avLst/>
          </a:prstGeom>
          <a:noFill/>
        </p:spPr>
        <p:txBody>
          <a:bodyPr wrap="square" anchor="t">
            <a:spAutoFit/>
          </a:bodyPr>
          <a:lstStyle/>
          <a:p>
            <a:pPr algn="ctr">
              <a:spcAft>
                <a:spcPts val="400"/>
              </a:spcAft>
            </a:pPr>
            <a:r>
              <a:rPr sz="3000" b="1">
                <a:solidFill>
                  <a:srgbClr val="1F6FEB"/>
                </a:solidFill>
                <a:latin typeface="Arial"/>
              </a:rPr>
              <a:t>UPDATE</a:t>
            </a:r>
          </a:p>
        </p:txBody>
      </p:sp>
      <p:sp>
        <p:nvSpPr>
          <p:cNvPr id="25" name="TextBox 24"/>
          <p:cNvSpPr txBox="1"/>
          <p:nvPr/>
        </p:nvSpPr>
        <p:spPr>
          <a:xfrm>
            <a:off x="4553712" y="5298948"/>
            <a:ext cx="3081528" cy="713232"/>
          </a:xfrm>
          <a:prstGeom prst="rect">
            <a:avLst/>
          </a:prstGeom>
          <a:noFill/>
        </p:spPr>
        <p:txBody>
          <a:bodyPr wrap="square" anchor="t">
            <a:spAutoFit/>
          </a:bodyPr>
          <a:lstStyle/>
          <a:p>
            <a:pPr algn="ctr">
              <a:spcAft>
                <a:spcPts val="400"/>
              </a:spcAft>
            </a:pPr>
            <a:r>
              <a:rPr sz="1200" b="0">
                <a:solidFill>
                  <a:srgbClr val="161B26"/>
                </a:solidFill>
                <a:latin typeface="Arial"/>
              </a:rPr>
              <a:t>A changed input can refresh the visual</a:t>
            </a:r>
          </a:p>
        </p:txBody>
      </p:sp>
      <p:sp>
        <p:nvSpPr>
          <p:cNvPr id="26" name="Rectangle 25"/>
          <p:cNvSpPr/>
          <p:nvPr/>
        </p:nvSpPr>
        <p:spPr>
          <a:xfrm>
            <a:off x="8037576" y="4091940"/>
            <a:ext cx="3374136" cy="16413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37576" y="4091940"/>
            <a:ext cx="337413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37576" y="4366260"/>
            <a:ext cx="3374136" cy="914400"/>
          </a:xfrm>
          <a:prstGeom prst="rect">
            <a:avLst/>
          </a:prstGeom>
          <a:noFill/>
        </p:spPr>
        <p:txBody>
          <a:bodyPr wrap="square" anchor="t">
            <a:spAutoFit/>
          </a:bodyPr>
          <a:lstStyle/>
          <a:p>
            <a:pPr algn="ctr">
              <a:spcAft>
                <a:spcPts val="400"/>
              </a:spcAft>
            </a:pPr>
            <a:r>
              <a:rPr sz="4000" b="1">
                <a:solidFill>
                  <a:srgbClr val="10B981"/>
                </a:solidFill>
                <a:latin typeface="Arial"/>
              </a:rPr>
              <a:t>OWNER</a:t>
            </a:r>
          </a:p>
        </p:txBody>
      </p:sp>
      <p:sp>
        <p:nvSpPr>
          <p:cNvPr id="29" name="TextBox 28"/>
          <p:cNvSpPr txBox="1"/>
          <p:nvPr/>
        </p:nvSpPr>
        <p:spPr>
          <a:xfrm>
            <a:off x="8183880" y="5298948"/>
            <a:ext cx="3081528" cy="713232"/>
          </a:xfrm>
          <a:prstGeom prst="rect">
            <a:avLst/>
          </a:prstGeom>
          <a:noFill/>
        </p:spPr>
        <p:txBody>
          <a:bodyPr wrap="square" anchor="t">
            <a:spAutoFit/>
          </a:bodyPr>
          <a:lstStyle/>
          <a:p>
            <a:pPr algn="ctr">
              <a:spcAft>
                <a:spcPts val="400"/>
              </a:spcAft>
            </a:pPr>
            <a:r>
              <a:rPr sz="1200" b="0">
                <a:solidFill>
                  <a:srgbClr val="161B26"/>
                </a:solidFill>
                <a:latin typeface="Arial"/>
              </a:rPr>
              <a:t>A named person verifies and releases the final slide</a:t>
            </a:r>
          </a:p>
        </p:txBody>
      </p:sp>
      <p:sp>
        <p:nvSpPr>
          <p:cNvPr id="30" name="Rectangle 29"/>
          <p:cNvSpPr/>
          <p:nvPr/>
        </p:nvSpPr>
        <p:spPr>
          <a:xfrm>
            <a:off x="777240" y="5897880"/>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77240" y="5897880"/>
            <a:ext cx="9144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97280" y="5897880"/>
            <a:ext cx="10058400" cy="530352"/>
          </a:xfrm>
          <a:prstGeom prst="rect">
            <a:avLst/>
          </a:prstGeom>
          <a:noFill/>
        </p:spPr>
        <p:txBody>
          <a:bodyPr wrap="square" anchor="ctr">
            <a:spAutoFit/>
          </a:bodyPr>
          <a:lstStyle/>
          <a:p>
            <a:pPr algn="l">
              <a:spcAft>
                <a:spcPts val="400"/>
              </a:spcAft>
            </a:pPr>
            <a:r>
              <a:rPr sz="1200" b="1">
                <a:solidFill>
                  <a:srgbClr val="161B26"/>
                </a:solidFill>
                <a:latin typeface="Arial"/>
              </a:rPr>
              <a:t>Screenshots break the update path and hide the calculation trail.</a:t>
            </a:r>
          </a:p>
        </p:txBody>
      </p:sp>
      <p:sp>
        <p:nvSpPr>
          <p:cNvPr id="33" name="TextBox 3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34" name="TextBox 3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5" name="TextBox 3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68</a:t>
            </a:r>
          </a:p>
        </p:txBody>
      </p:sp>
    </p:spTree>
  </p:cSld>
  <p:clrMapOvr>
    <a:masterClrMapping/>
  </p:clrMapOvr>
  <p:transition spd="fast" advClick="1">
    <p:fade/>
  </p:transition>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600" b="1">
                <a:solidFill>
                  <a:srgbClr val="10B981"/>
                </a:solidFill>
                <a:latin typeface="Arial"/>
              </a:rPr>
              <a:t>LO2 · LU2 · T1</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2600" b="1">
                <a:solidFill>
                  <a:srgbClr val="161B26"/>
                </a:solidFill>
                <a:latin typeface="Arial"/>
              </a:rPr>
              <a:t>a Copilot timeline turns dated evidence into an ordered stakeholder story</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T1</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69</a:t>
            </a:r>
          </a:p>
        </p:txBody>
      </p:sp>
    </p:spTree>
  </p:cSld>
  <p:clrMapOvr>
    <a:masterClrMapping/>
  </p:clrMapOvr>
  <p:transition spd="fast" advClick="1">
    <p:push dir="u"/>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350"/>
                                        <p:tgtEl>
                                          <p:spTgt spid="4"/>
                                        </p:tgtEl>
                                      </p:cBhvr>
                                    </p:animEffect>
                                    <p:anim calcmode="lin" valueType="num">
                                      <p:cBhvr additive="base">
                                        <p:cTn id="15" dur="350" fill="hold"/>
                                        <p:tgtEl>
                                          <p:spTgt spid="4"/>
                                        </p:tgtEl>
                                        <p:attrNameLst>
                                          <p:attrName>ppt_y</p:attrName>
                                        </p:attrNameLst>
                                      </p:cBhvr>
                                      <p:tavLst>
                                        <p:tav tm="0">
                                          <p:val>
                                            <p:strVal val="#ppt_y+0.0350"/>
                                          </p:val>
                                        </p:tav>
                                        <p:tav tm="100000">
                                          <p:val>
                                            <p:strVal val="#ppt_y"/>
                                          </p:val>
                                        </p:tav>
                                      </p:tavLst>
                                    </p:anim>
                                  </p:childTnLst>
                                </p:cTn>
                              </p:par>
                            </p:childTnLst>
                          </p:cTn>
                        </p:par>
                      </p:childTnLst>
                    </p:cTn>
                  </p:par>
                  <p:par>
                    <p:cTn id="20" fill="hold">
                      <p:stCondLst>
                        <p:cond delay="0"/>
                      </p:stCondLst>
                      <p:childTnLst>
                        <p:par>
                          <p:cTn id="21" fill="hold">
                            <p:stCondLst>
                              <p:cond delay="0"/>
                            </p:stCondLst>
                            <p:childTnLst>
                              <p:par>
                                <p:cTn id="22" presetID="10" presetClass="entr" presetSubtype="0" fill="hold" grpId="0" nodeType="afterEffect">
                                  <p:stCondLst>
                                    <p:cond delay="0"/>
                                  </p:stCondLst>
                                  <p:childTnLst>
                                    <p:set>
                                      <p:cBhvr>
                                        <p:cTn id="23" dur="1" fill="hold">
                                          <p:stCondLst>
                                            <p:cond delay="0"/>
                                          </p:stCondLst>
                                        </p:cTn>
                                        <p:tgtEl>
                                          <p:spTgt spid="5"/>
                                        </p:tgtEl>
                                        <p:attrNameLst>
                                          <p:attrName>style.visibility</p:attrName>
                                        </p:attrNameLst>
                                      </p:cBhvr>
                                      <p:to>
                                        <p:strVal val="visible"/>
                                      </p:to>
                                    </p:set>
                                    <p:animEffect transition="in" filter="fade">
                                      <p:cBhvr>
                                        <p:cTn id="24" dur="350"/>
                                        <p:tgtEl>
                                          <p:spTgt spid="5"/>
                                        </p:tgtEl>
                                      </p:cBhvr>
                                    </p:animEffect>
                                    <p:anim calcmode="lin" valueType="num">
                                      <p:cBhvr additive="base">
                                        <p:cTn id="25" dur="350" fill="hold"/>
                                        <p:tgtEl>
                                          <p:spTgt spid="5"/>
                                        </p:tgtEl>
                                        <p:attrNameLst>
                                          <p:attrName>ppt_y</p:attrName>
                                        </p:attrNameLst>
                                      </p:cBhvr>
                                      <p:tavLst>
                                        <p:tav tm="0">
                                          <p:val>
                                            <p:strVal val="#ppt_y+0.0350"/>
                                          </p:val>
                                        </p:tav>
                                        <p:tav tm="100000">
                                          <p:val>
                                            <p:strVal val="#ppt_y"/>
                                          </p:val>
                                        </p:tav>
                                      </p:tavLst>
                                    </p:anim>
                                  </p:childTnLst>
                                </p:cTn>
                              </p:par>
                            </p:childTnLst>
                          </p:cTn>
                        </p:par>
                      </p:childTnLst>
                    </p:cTn>
                  </p:par>
                  <p:par>
                    <p:cTn id="30" fill="hold">
                      <p:stCondLst>
                        <p:cond delay="0"/>
                      </p:stCondLst>
                      <p:childTnLst>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6"/>
                                        </p:tgtEl>
                                        <p:attrNameLst>
                                          <p:attrName>style.visibility</p:attrName>
                                        </p:attrNameLst>
                                      </p:cBhvr>
                                      <p:to>
                                        <p:strVal val="visible"/>
                                      </p:to>
                                    </p:set>
                                    <p:animEffect transition="in" filter="fade">
                                      <p:cBhvr>
                                        <p:cTn id="34" dur="350"/>
                                        <p:tgtEl>
                                          <p:spTgt spid="6"/>
                                        </p:tgtEl>
                                      </p:cBhvr>
                                    </p:animEffect>
                                    <p:anim calcmode="lin" valueType="num">
                                      <p:cBhvr additive="base">
                                        <p:cTn id="35" dur="350" fill="hold"/>
                                        <p:tgtEl>
                                          <p:spTgt spid="6"/>
                                        </p:tgtEl>
                                        <p:attrNameLst>
                                          <p:attrName>ppt_y</p:attrName>
                                        </p:attrNameLst>
                                      </p:cBhvr>
                                      <p:tavLst>
                                        <p:tav tm="0">
                                          <p:val>
                                            <p:strVal val="#ppt_y+0.0350"/>
                                          </p:val>
                                        </p:tav>
                                        <p:tav tm="100000">
                                          <p:val>
                                            <p:strVal val="#ppt_y"/>
                                          </p:val>
                                        </p:tav>
                                      </p:tavLst>
                                    </p:anim>
                                  </p:childTnLst>
                                </p:cTn>
                              </p:par>
                            </p:childTnLst>
                          </p:cTn>
                        </p:par>
                      </p:childTnLst>
                    </p:cTn>
                  </p:par>
                </p:childTnLst>
                <p:prevCondLst>
                  <p:cond evt="onPrev" delay="0">
                    <p:tgtEl>
                      <p:sldTgt/>
                    </p:tgtEl>
                  </p:cond>
                </p:prevCondLst>
                <p:nextCondLst>
                  <p:cond evt="onNext" delay="0">
                    <p:tgtEl>
                      <p:sldTgt/>
                    </p:tgtEl>
                  </p:cond>
                </p:nextCondLst>
              </p:cTn>
            </p:seq>
          </p:childTnLst>
        </p:cTn>
      </p:par>
    </p:tnLst>
  </p:timing>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LO2 · LU2 · T1</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1800" b="1">
                <a:solidFill>
                  <a:srgbClr val="161B26"/>
                </a:solidFill>
                <a:latin typeface="Arial"/>
              </a:rPr>
              <a:t>What is a Copilot timeline turns dated evidence into an ordered stakeholder story?</a:t>
            </a:r>
          </a:p>
        </p:txBody>
      </p:sp>
      <p:sp>
        <p:nvSpPr>
          <p:cNvPr id="6" name="Rectangle 5"/>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0" name="TextBox 9"/>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Template fit</a:t>
            </a:r>
          </a:p>
          <a:p>
            <a:pPr algn="l">
              <a:spcAft>
                <a:spcPts val="300"/>
              </a:spcAft>
            </a:pPr>
            <a:r>
              <a:rPr sz="1200" b="0">
                <a:solidFill>
                  <a:srgbClr val="5B6372"/>
                </a:solidFill>
                <a:latin typeface="Arial"/>
              </a:rPr>
              <a:t>Choose a timeline, flowchart, roadmap, poster or comparison that matches the question.</a:t>
            </a:r>
          </a:p>
        </p:txBody>
      </p:sp>
      <p:sp>
        <p:nvSpPr>
          <p:cNvPr id="11" name="Rectangle 10"/>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5" name="TextBox 14"/>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Editable system</a:t>
            </a:r>
          </a:p>
          <a:p>
            <a:pPr algn="l">
              <a:spcAft>
                <a:spcPts val="300"/>
              </a:spcAft>
            </a:pPr>
            <a:r>
              <a:rPr sz="1200" b="0">
                <a:solidFill>
                  <a:srgbClr val="5B6372"/>
                </a:solidFill>
                <a:latin typeface="Arial"/>
              </a:rPr>
              <a:t>Retain shapes, SmartArt, text, charts and brand elements as editable objects.</a:t>
            </a:r>
          </a:p>
        </p:txBody>
      </p:sp>
      <p:sp>
        <p:nvSpPr>
          <p:cNvPr id="16" name="Rectangle 15"/>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0" name="TextBox 19"/>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Brand control</a:t>
            </a:r>
          </a:p>
          <a:p>
            <a:pPr algn="l">
              <a:spcAft>
                <a:spcPts val="300"/>
              </a:spcAft>
            </a:pPr>
            <a:r>
              <a:rPr sz="1200" b="0">
                <a:solidFill>
                  <a:srgbClr val="5B6372"/>
                </a:solidFill>
                <a:latin typeface="Arial"/>
              </a:rPr>
              <a:t>Apply an approved palette, type hierarchy, logo and background deliberately.</a:t>
            </a:r>
          </a:p>
        </p:txBody>
      </p:sp>
      <p:sp>
        <p:nvSpPr>
          <p:cNvPr id="21" name="Rectangle 20"/>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5" name="TextBox 24"/>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Evidence control</a:t>
            </a:r>
          </a:p>
          <a:p>
            <a:pPr algn="l">
              <a:spcAft>
                <a:spcPts val="300"/>
              </a:spcAft>
            </a:pPr>
            <a:r>
              <a:rPr sz="1200" b="0">
                <a:solidFill>
                  <a:srgbClr val="5B6372"/>
                </a:solidFill>
                <a:latin typeface="Arial"/>
              </a:rPr>
              <a:t>Replace every placeholder with verified data and source context.</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70</a:t>
            </a:r>
          </a:p>
        </p:txBody>
      </p:sp>
      <p:sp>
        <p:nvSpPr>
          <p:cNvPr id="29" name="TextBox 28"/>
          <p:cNvSpPr txBox="1"/>
          <p:nvPr/>
        </p:nvSpPr>
        <p:spPr>
          <a:xfrm>
            <a:off x="777240" y="6163056"/>
            <a:ext cx="10607040" cy="201168"/>
          </a:xfrm>
          <a:prstGeom prst="rect">
            <a:avLst/>
          </a:prstGeom>
          <a:noFill/>
        </p:spPr>
        <p:txBody>
          <a:bodyPr wrap="square" anchor="t">
            <a:spAutoFit/>
          </a:bodyPr>
          <a:lstStyle/>
          <a:p>
            <a:pPr algn="l">
              <a:spcAft>
                <a:spcPts val="400"/>
              </a:spcAft>
            </a:pPr>
            <a:r>
              <a:rPr sz="850" b="0">
                <a:solidFill>
                  <a:srgbClr val="5B6372"/>
                </a:solidFill>
                <a:latin typeface="Arial"/>
              </a:rPr>
              <a:t>Source: Microsoft Support — Create an infographic with Microsoft 365 Copilot, accessed 16 August 2026</a:t>
            </a:r>
          </a:p>
        </p:txBody>
      </p:sp>
    </p:spTree>
  </p:cSld>
  <p:clrMapOvr>
    <a:masterClrMapping/>
  </p:clrMapOvr>
  <p:transition spd="fast" advClick="1">
    <p:fade/>
  </p:transition>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LO2 · LU2 · T1 · HOW IT WORKS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Copilot-to-Timeline Workflow</a:t>
            </a:r>
          </a:p>
        </p:txBody>
      </p:sp>
      <p:sp>
        <p:nvSpPr>
          <p:cNvPr id="6" name="Rectangle 5"/>
          <p:cNvSpPr/>
          <p:nvPr/>
        </p:nvSpPr>
        <p:spPr>
          <a:xfrm>
            <a:off x="777240" y="2331720"/>
            <a:ext cx="1907438"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401775" y="2642616"/>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401775" y="264261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0" name="TextBox 9"/>
          <p:cNvSpPr txBox="1"/>
          <p:nvPr/>
        </p:nvSpPr>
        <p:spPr>
          <a:xfrm>
            <a:off x="905256" y="3429000"/>
            <a:ext cx="1651406" cy="365760"/>
          </a:xfrm>
          <a:prstGeom prst="rect">
            <a:avLst/>
          </a:prstGeom>
          <a:noFill/>
        </p:spPr>
        <p:txBody>
          <a:bodyPr wrap="square" anchor="t">
            <a:spAutoFit/>
          </a:bodyPr>
          <a:lstStyle/>
          <a:p>
            <a:pPr algn="ctr">
              <a:spcAft>
                <a:spcPts val="400"/>
              </a:spcAft>
            </a:pPr>
            <a:r>
              <a:rPr sz="1400" b="1">
                <a:solidFill>
                  <a:srgbClr val="161B26"/>
                </a:solidFill>
                <a:latin typeface="Arial"/>
              </a:rPr>
              <a:t>Describe</a:t>
            </a:r>
          </a:p>
        </p:txBody>
      </p:sp>
      <p:sp>
        <p:nvSpPr>
          <p:cNvPr id="11" name="TextBox 10"/>
          <p:cNvSpPr txBox="1"/>
          <p:nvPr/>
        </p:nvSpPr>
        <p:spPr>
          <a:xfrm>
            <a:off x="905256" y="3813048"/>
            <a:ext cx="1651406" cy="1280160"/>
          </a:xfrm>
          <a:prstGeom prst="rect">
            <a:avLst/>
          </a:prstGeom>
          <a:noFill/>
        </p:spPr>
        <p:txBody>
          <a:bodyPr wrap="square" anchor="t">
            <a:spAutoFit/>
          </a:bodyPr>
          <a:lstStyle/>
          <a:p>
            <a:pPr algn="ctr">
              <a:spcAft>
                <a:spcPts val="400"/>
              </a:spcAft>
            </a:pPr>
            <a:r>
              <a:rPr sz="1250" b="0">
                <a:solidFill>
                  <a:srgbClr val="5B6372"/>
                </a:solidFill>
                <a:latin typeface="Arial"/>
              </a:rPr>
              <a:t>Specify the timeline topic, five milestones, audience and decision.</a:t>
            </a:r>
          </a:p>
        </p:txBody>
      </p:sp>
      <p:sp>
        <p:nvSpPr>
          <p:cNvPr id="12" name="Chevron 11"/>
          <p:cNvSpPr/>
          <p:nvPr/>
        </p:nvSpPr>
        <p:spPr>
          <a:xfrm>
            <a:off x="2702966" y="3607308"/>
            <a:ext cx="237744" cy="329184"/>
          </a:xfrm>
          <a:prstGeom prst="chevron">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958998" y="2331720"/>
            <a:ext cx="1907438"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58998" y="233172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83533" y="2642616"/>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83533" y="264261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7" name="TextBox 16"/>
          <p:cNvSpPr txBox="1"/>
          <p:nvPr/>
        </p:nvSpPr>
        <p:spPr>
          <a:xfrm>
            <a:off x="3087014" y="3429000"/>
            <a:ext cx="1651406" cy="365760"/>
          </a:xfrm>
          <a:prstGeom prst="rect">
            <a:avLst/>
          </a:prstGeom>
          <a:noFill/>
        </p:spPr>
        <p:txBody>
          <a:bodyPr wrap="square" anchor="t">
            <a:spAutoFit/>
          </a:bodyPr>
          <a:lstStyle/>
          <a:p>
            <a:pPr algn="ctr">
              <a:spcAft>
                <a:spcPts val="400"/>
              </a:spcAft>
            </a:pPr>
            <a:r>
              <a:rPr sz="1400" b="1">
                <a:solidFill>
                  <a:srgbClr val="161B26"/>
                </a:solidFill>
                <a:latin typeface="Arial"/>
              </a:rPr>
              <a:t>Ground</a:t>
            </a:r>
          </a:p>
        </p:txBody>
      </p:sp>
      <p:sp>
        <p:nvSpPr>
          <p:cNvPr id="18" name="TextBox 17"/>
          <p:cNvSpPr txBox="1"/>
          <p:nvPr/>
        </p:nvSpPr>
        <p:spPr>
          <a:xfrm>
            <a:off x="3087014" y="3813048"/>
            <a:ext cx="1651406" cy="1280160"/>
          </a:xfrm>
          <a:prstGeom prst="rect">
            <a:avLst/>
          </a:prstGeom>
          <a:noFill/>
        </p:spPr>
        <p:txBody>
          <a:bodyPr wrap="square" anchor="t">
            <a:spAutoFit/>
          </a:bodyPr>
          <a:lstStyle/>
          <a:p>
            <a:pPr algn="ctr">
              <a:spcAft>
                <a:spcPts val="400"/>
              </a:spcAft>
            </a:pPr>
            <a:r>
              <a:rPr sz="1250" b="0">
                <a:solidFill>
                  <a:srgbClr val="5B6372"/>
                </a:solidFill>
                <a:latin typeface="Arial"/>
              </a:rPr>
              <a:t>Add only the approved onboarding brief and dated evidence.</a:t>
            </a:r>
          </a:p>
        </p:txBody>
      </p:sp>
      <p:sp>
        <p:nvSpPr>
          <p:cNvPr id="19" name="Chevron 18"/>
          <p:cNvSpPr/>
          <p:nvPr/>
        </p:nvSpPr>
        <p:spPr>
          <a:xfrm>
            <a:off x="4884724" y="3607308"/>
            <a:ext cx="237744" cy="329184"/>
          </a:xfrm>
          <a:prstGeom prst="chevron">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40756" y="2331720"/>
            <a:ext cx="1907438"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140756" y="233172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765291" y="2642616"/>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765291" y="264261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4" name="TextBox 23"/>
          <p:cNvSpPr txBox="1"/>
          <p:nvPr/>
        </p:nvSpPr>
        <p:spPr>
          <a:xfrm>
            <a:off x="5268772" y="3429000"/>
            <a:ext cx="1651406" cy="365760"/>
          </a:xfrm>
          <a:prstGeom prst="rect">
            <a:avLst/>
          </a:prstGeom>
          <a:noFill/>
        </p:spPr>
        <p:txBody>
          <a:bodyPr wrap="square" anchor="t">
            <a:spAutoFit/>
          </a:bodyPr>
          <a:lstStyle/>
          <a:p>
            <a:pPr algn="ctr">
              <a:spcAft>
                <a:spcPts val="400"/>
              </a:spcAft>
            </a:pPr>
            <a:r>
              <a:rPr sz="1400" b="1">
                <a:solidFill>
                  <a:srgbClr val="161B26"/>
                </a:solidFill>
                <a:latin typeface="Arial"/>
              </a:rPr>
              <a:t>Generate</a:t>
            </a:r>
          </a:p>
        </p:txBody>
      </p:sp>
      <p:sp>
        <p:nvSpPr>
          <p:cNvPr id="25" name="TextBox 24"/>
          <p:cNvSpPr txBox="1"/>
          <p:nvPr/>
        </p:nvSpPr>
        <p:spPr>
          <a:xfrm>
            <a:off x="5268772" y="3813048"/>
            <a:ext cx="1651406" cy="1280160"/>
          </a:xfrm>
          <a:prstGeom prst="rect">
            <a:avLst/>
          </a:prstGeom>
          <a:noFill/>
        </p:spPr>
        <p:txBody>
          <a:bodyPr wrap="square" anchor="t">
            <a:spAutoFit/>
          </a:bodyPr>
          <a:lstStyle/>
          <a:p>
            <a:pPr algn="ctr">
              <a:spcAft>
                <a:spcPts val="400"/>
              </a:spcAft>
            </a:pPr>
            <a:r>
              <a:rPr sz="1250" b="0">
                <a:solidFill>
                  <a:srgbClr val="5B6372"/>
                </a:solidFill>
                <a:latin typeface="Arial"/>
              </a:rPr>
              <a:t>Choose Wide, apply brand and create two timeline directions.</a:t>
            </a:r>
          </a:p>
        </p:txBody>
      </p:sp>
      <p:sp>
        <p:nvSpPr>
          <p:cNvPr id="26" name="Chevron 25"/>
          <p:cNvSpPr/>
          <p:nvPr/>
        </p:nvSpPr>
        <p:spPr>
          <a:xfrm>
            <a:off x="7066482" y="3607308"/>
            <a:ext cx="237744" cy="329184"/>
          </a:xfrm>
          <a:prstGeom prst="chevron">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322514" y="2331720"/>
            <a:ext cx="1907438"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22514" y="233172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947049" y="2642616"/>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947049" y="264261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1" name="TextBox 30"/>
          <p:cNvSpPr txBox="1"/>
          <p:nvPr/>
        </p:nvSpPr>
        <p:spPr>
          <a:xfrm>
            <a:off x="7450530" y="3429000"/>
            <a:ext cx="1651406" cy="365760"/>
          </a:xfrm>
          <a:prstGeom prst="rect">
            <a:avLst/>
          </a:prstGeom>
          <a:noFill/>
        </p:spPr>
        <p:txBody>
          <a:bodyPr wrap="square" anchor="t">
            <a:spAutoFit/>
          </a:bodyPr>
          <a:lstStyle/>
          <a:p>
            <a:pPr algn="ctr">
              <a:spcAft>
                <a:spcPts val="400"/>
              </a:spcAft>
            </a:pPr>
            <a:r>
              <a:rPr sz="1400" b="1">
                <a:solidFill>
                  <a:srgbClr val="161B26"/>
                </a:solidFill>
                <a:latin typeface="Arial"/>
              </a:rPr>
              <a:t>Refine</a:t>
            </a:r>
          </a:p>
        </p:txBody>
      </p:sp>
      <p:sp>
        <p:nvSpPr>
          <p:cNvPr id="32" name="TextBox 31"/>
          <p:cNvSpPr txBox="1"/>
          <p:nvPr/>
        </p:nvSpPr>
        <p:spPr>
          <a:xfrm>
            <a:off x="7450530" y="3813048"/>
            <a:ext cx="1651406" cy="1280160"/>
          </a:xfrm>
          <a:prstGeom prst="rect">
            <a:avLst/>
          </a:prstGeom>
          <a:noFill/>
        </p:spPr>
        <p:txBody>
          <a:bodyPr wrap="square" anchor="t">
            <a:spAutoFit/>
          </a:bodyPr>
          <a:lstStyle/>
          <a:p>
            <a:pPr algn="ctr">
              <a:spcAft>
                <a:spcPts val="400"/>
              </a:spcAft>
            </a:pPr>
            <a:r>
              <a:rPr sz="1250" b="0">
                <a:solidFill>
                  <a:srgbClr val="5B6372"/>
                </a:solidFill>
                <a:latin typeface="Arial"/>
              </a:rPr>
              <a:t>Correct sequence, labels, spacing and accessibility in PowerPoint.</a:t>
            </a:r>
          </a:p>
        </p:txBody>
      </p:sp>
      <p:sp>
        <p:nvSpPr>
          <p:cNvPr id="33" name="Chevron 32"/>
          <p:cNvSpPr/>
          <p:nvPr/>
        </p:nvSpPr>
        <p:spPr>
          <a:xfrm>
            <a:off x="9248240" y="3607308"/>
            <a:ext cx="237744" cy="329184"/>
          </a:xfrm>
          <a:prstGeom prst="chevron">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504272" y="2331720"/>
            <a:ext cx="1907438"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504272" y="233172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0128807" y="2642616"/>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128807" y="264261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8" name="TextBox 37"/>
          <p:cNvSpPr txBox="1"/>
          <p:nvPr/>
        </p:nvSpPr>
        <p:spPr>
          <a:xfrm>
            <a:off x="9632288" y="3429000"/>
            <a:ext cx="1651406" cy="365760"/>
          </a:xfrm>
          <a:prstGeom prst="rect">
            <a:avLst/>
          </a:prstGeom>
          <a:noFill/>
        </p:spPr>
        <p:txBody>
          <a:bodyPr wrap="square" anchor="t">
            <a:spAutoFit/>
          </a:bodyPr>
          <a:lstStyle/>
          <a:p>
            <a:pPr algn="ctr">
              <a:spcAft>
                <a:spcPts val="400"/>
              </a:spcAft>
            </a:pPr>
            <a:r>
              <a:rPr sz="1400" b="1">
                <a:solidFill>
                  <a:srgbClr val="161B26"/>
                </a:solidFill>
                <a:latin typeface="Arial"/>
              </a:rPr>
              <a:t>Export</a:t>
            </a:r>
          </a:p>
        </p:txBody>
      </p:sp>
      <p:sp>
        <p:nvSpPr>
          <p:cNvPr id="39" name="TextBox 38"/>
          <p:cNvSpPr txBox="1"/>
          <p:nvPr/>
        </p:nvSpPr>
        <p:spPr>
          <a:xfrm>
            <a:off x="9632288" y="3813048"/>
            <a:ext cx="1651406" cy="1280160"/>
          </a:xfrm>
          <a:prstGeom prst="rect">
            <a:avLst/>
          </a:prstGeom>
          <a:noFill/>
        </p:spPr>
        <p:txBody>
          <a:bodyPr wrap="square" anchor="t">
            <a:spAutoFit/>
          </a:bodyPr>
          <a:lstStyle/>
          <a:p>
            <a:pPr algn="ctr">
              <a:spcAft>
                <a:spcPts val="400"/>
              </a:spcAft>
            </a:pPr>
            <a:r>
              <a:rPr sz="1250" b="0">
                <a:solidFill>
                  <a:srgbClr val="5B6372"/>
                </a:solidFill>
                <a:latin typeface="Arial"/>
              </a:rPr>
              <a:t>Test PPTX, PDF and image output.</a:t>
            </a:r>
          </a:p>
        </p:txBody>
      </p:sp>
      <p:sp>
        <p:nvSpPr>
          <p:cNvPr id="40" name="TextBox 3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41" name="TextBox 4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2" name="TextBox 4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71</a:t>
            </a:r>
          </a:p>
        </p:txBody>
      </p:sp>
    </p:spTree>
  </p:cSld>
  <p:clrMapOvr>
    <a:masterClrMapping/>
  </p:clrMapOvr>
  <p:transition spd="fast" advClick="1">
    <p:fade/>
  </p:transition>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LO2 · LU2 · T1 · COMPARE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Template Decoration vs Message Adaptation</a:t>
            </a:r>
          </a:p>
        </p:txBody>
      </p:sp>
      <p:sp>
        <p:nvSpPr>
          <p:cNvPr id="6" name="Rectangle 5"/>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Decoration-led</a:t>
            </a:r>
          </a:p>
        </p:txBody>
      </p:sp>
      <p:sp>
        <p:nvSpPr>
          <p:cNvPr id="9" name="TextBox 8"/>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Message-led</a:t>
            </a:r>
          </a:p>
        </p:txBody>
      </p:sp>
      <p:sp>
        <p:nvSpPr>
          <p:cNvPr id="10" name="TextBox 9"/>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Keep every template section</a:t>
            </a:r>
          </a:p>
          <a:p>
            <a:pPr>
              <a:spcAft>
                <a:spcPts val="1000"/>
              </a:spcAft>
            </a:pPr>
            <a:r>
              <a:rPr sz="1600" b="0">
                <a:solidFill>
                  <a:srgbClr val="161B26"/>
                </a:solidFill>
                <a:latin typeface="Arial"/>
              </a:rPr>
              <a:t>•  Choose colours first</a:t>
            </a:r>
          </a:p>
          <a:p>
            <a:pPr>
              <a:spcAft>
                <a:spcPts val="1000"/>
              </a:spcAft>
            </a:pPr>
            <a:r>
              <a:rPr sz="1600" b="0">
                <a:solidFill>
                  <a:srgbClr val="161B26"/>
                </a:solidFill>
                <a:latin typeface="Arial"/>
              </a:rPr>
              <a:t>•  Paste data into available boxes</a:t>
            </a:r>
          </a:p>
          <a:p>
            <a:pPr>
              <a:spcAft>
                <a:spcPts val="1000"/>
              </a:spcAft>
            </a:pPr>
            <a:r>
              <a:rPr sz="1600" b="0">
                <a:solidFill>
                  <a:srgbClr val="161B26"/>
                </a:solidFill>
                <a:latin typeface="Arial"/>
              </a:rPr>
              <a:t>•  Flatten the final slide</a:t>
            </a:r>
          </a:p>
        </p:txBody>
      </p:sp>
      <p:sp>
        <p:nvSpPr>
          <p:cNvPr id="11" name="TextBox 10"/>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161B26"/>
                </a:solidFill>
                <a:latin typeface="Arial"/>
              </a:rPr>
              <a:t>•  Remove any section that does not earn space</a:t>
            </a:r>
          </a:p>
          <a:p>
            <a:pPr>
              <a:spcAft>
                <a:spcPts val="1000"/>
              </a:spcAft>
            </a:pPr>
            <a:r>
              <a:rPr sz="1600" b="0">
                <a:solidFill>
                  <a:srgbClr val="161B26"/>
                </a:solidFill>
                <a:latin typeface="Arial"/>
              </a:rPr>
              <a:t>•  Use the approved hierarchy and brand</a:t>
            </a:r>
          </a:p>
          <a:p>
            <a:pPr>
              <a:spcAft>
                <a:spcPts val="1000"/>
              </a:spcAft>
            </a:pPr>
            <a:r>
              <a:rPr sz="1600" b="0">
                <a:solidFill>
                  <a:srgbClr val="161B26"/>
                </a:solidFill>
                <a:latin typeface="Arial"/>
              </a:rPr>
              <a:t>•  Choose the chart or shape for the relationship</a:t>
            </a:r>
          </a:p>
          <a:p>
            <a:pPr>
              <a:spcAft>
                <a:spcPts val="1000"/>
              </a:spcAft>
            </a:pPr>
            <a:r>
              <a:rPr sz="1600" b="0">
                <a:solidFill>
                  <a:srgbClr val="161B26"/>
                </a:solidFill>
                <a:latin typeface="Arial"/>
              </a:rPr>
              <a:t>•  Retain an editable master</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72</a:t>
            </a:r>
          </a:p>
        </p:txBody>
      </p:sp>
      <p:sp>
        <p:nvSpPr>
          <p:cNvPr id="15" name="TextBox 14"/>
          <p:cNvSpPr txBox="1"/>
          <p:nvPr/>
        </p:nvSpPr>
        <p:spPr>
          <a:xfrm>
            <a:off x="777240" y="6163056"/>
            <a:ext cx="10607040" cy="201168"/>
          </a:xfrm>
          <a:prstGeom prst="rect">
            <a:avLst/>
          </a:prstGeom>
          <a:noFill/>
        </p:spPr>
        <p:txBody>
          <a:bodyPr wrap="square" anchor="t">
            <a:spAutoFit/>
          </a:bodyPr>
          <a:lstStyle/>
          <a:p>
            <a:pPr algn="l">
              <a:spcAft>
                <a:spcPts val="400"/>
              </a:spcAft>
            </a:pPr>
            <a:r>
              <a:rPr sz="850" b="0">
                <a:solidFill>
                  <a:srgbClr val="5B6372"/>
                </a:solidFill>
                <a:latin typeface="Arial"/>
              </a:rPr>
              <a:t>Source: course synthesis</a:t>
            </a:r>
          </a:p>
        </p:txBody>
      </p:sp>
    </p:spTree>
  </p:cSld>
  <p:clrMapOvr>
    <a:masterClrMapping/>
  </p:clrMapOvr>
  <p:transition spd="fast" advClick="1">
    <p:fade/>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350"/>
                                        <p:tgtEl>
                                          <p:spTgt spid="10"/>
                                        </p:tgtEl>
                                      </p:cBhvr>
                                    </p:animEffect>
                                    <p:anim calcmode="lin" valueType="num">
                                      <p:cBhvr additive="base">
                                        <p:cTn id="15" dur="350" fill="hold"/>
                                        <p:tgtEl>
                                          <p:spTgt spid="10"/>
                                        </p:tgtEl>
                                        <p:attrNameLst>
                                          <p:attrName>ppt_y</p:attrName>
                                        </p:attrNameLst>
                                      </p:cBhvr>
                                      <p:tavLst>
                                        <p:tav tm="0">
                                          <p:val>
                                            <p:strVal val="#ppt_y+0.0350"/>
                                          </p:val>
                                        </p:tav>
                                        <p:tav tm="100000">
                                          <p:val>
                                            <p:strVal val="#ppt_y"/>
                                          </p:val>
                                        </p:tav>
                                      </p:tavLst>
                                    </p:anim>
                                  </p:childTnLst>
                                </p:cTn>
                              </p:par>
                            </p:childTnLst>
                          </p:cTn>
                        </p:par>
                      </p:childTnLst>
                    </p:cTn>
                  </p:par>
                  <p:par>
                    <p:cTn id="20" fill="hold">
                      <p:stCondLst>
                        <p:cond delay="0"/>
                      </p:stCondLst>
                      <p:childTnLst>
                        <p:par>
                          <p:cTn id="21" fill="hold">
                            <p:stCondLst>
                              <p:cond delay="0"/>
                            </p:stCondLst>
                            <p:childTnLst>
                              <p:par>
                                <p:cTn id="22" presetID="10" presetClass="entr" presetSubtype="0" fill="hold" grpId="0" nodeType="afterEffect">
                                  <p:stCondLst>
                                    <p:cond delay="0"/>
                                  </p:stCondLst>
                                  <p:childTnLst>
                                    <p:set>
                                      <p:cBhvr>
                                        <p:cTn id="23" dur="1" fill="hold">
                                          <p:stCondLst>
                                            <p:cond delay="0"/>
                                          </p:stCondLst>
                                        </p:cTn>
                                        <p:tgtEl>
                                          <p:spTgt spid="11"/>
                                        </p:tgtEl>
                                        <p:attrNameLst>
                                          <p:attrName>style.visibility</p:attrName>
                                        </p:attrNameLst>
                                      </p:cBhvr>
                                      <p:to>
                                        <p:strVal val="visible"/>
                                      </p:to>
                                    </p:set>
                                    <p:animEffect transition="in" filter="fade">
                                      <p:cBhvr>
                                        <p:cTn id="24" dur="350"/>
                                        <p:tgtEl>
                                          <p:spTgt spid="11"/>
                                        </p:tgtEl>
                                      </p:cBhvr>
                                    </p:animEffect>
                                    <p:anim calcmode="lin" valueType="num">
                                      <p:cBhvr additive="base">
                                        <p:cTn id="25" dur="350" fill="hold"/>
                                        <p:tgtEl>
                                          <p:spTgt spid="11"/>
                                        </p:tgtEl>
                                        <p:attrNameLst>
                                          <p:attrName>ppt_y</p:attrName>
                                        </p:attrNameLst>
                                      </p:cBhvr>
                                      <p:tavLst>
                                        <p:tav tm="0">
                                          <p:val>
                                            <p:strVal val="#ppt_y+0.0350"/>
                                          </p:val>
                                        </p:tav>
                                        <p:tav tm="100000">
                                          <p:val>
                                            <p:strVal val="#ppt_y"/>
                                          </p:val>
                                        </p:tav>
                                      </p:tavLst>
                                    </p:anim>
                                  </p:childTnLst>
                                </p:cTn>
                              </p:par>
                            </p:childTnLst>
                          </p:cTn>
                        </p:par>
                      </p:childTnLst>
                    </p:cTn>
                  </p:par>
                </p:childTnLst>
                <p:prevCondLst>
                  <p:cond evt="onPrev" delay="0">
                    <p:tgtEl>
                      <p:sldTgt/>
                    </p:tgtEl>
                  </p:cond>
                </p:prevCondLst>
                <p:nextCondLst>
                  <p:cond evt="onNext" delay="0">
                    <p:tgtEl>
                      <p:sldTgt/>
                    </p:tgtEl>
                  </p:cond>
                </p:nextCondLst>
              </p:cTn>
            </p:seq>
          </p:childTnLst>
        </p:cTn>
      </p:par>
    </p:tnLst>
  </p:timing>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LO2 · LU2 · T1 · SUPPORTING DATA</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Template Audit Checklist</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0" name="TextBox 9"/>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Purpose</a:t>
            </a:r>
          </a:p>
          <a:p>
            <a:pPr algn="l">
              <a:spcAft>
                <a:spcPts val="300"/>
              </a:spcAft>
            </a:pPr>
            <a:r>
              <a:rPr sz="1200" b="0">
                <a:solidFill>
                  <a:srgbClr val="5B6372"/>
                </a:solidFill>
                <a:latin typeface="Arial"/>
              </a:rPr>
              <a:t>Does the layout answer the audience question?</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5" name="TextBox 14"/>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Content</a:t>
            </a:r>
          </a:p>
          <a:p>
            <a:pPr algn="l">
              <a:spcAft>
                <a:spcPts val="300"/>
              </a:spcAft>
            </a:pPr>
            <a:r>
              <a:rPr sz="1200" b="0">
                <a:solidFill>
                  <a:srgbClr val="5B6372"/>
                </a:solidFill>
                <a:latin typeface="Arial"/>
              </a:rPr>
              <a:t>Are all placeholders replaced and all claims verified?</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0" name="TextBox 19"/>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Hierarchy</a:t>
            </a:r>
          </a:p>
          <a:p>
            <a:pPr algn="l">
              <a:spcAft>
                <a:spcPts val="300"/>
              </a:spcAft>
            </a:pPr>
            <a:r>
              <a:rPr sz="1200" b="0">
                <a:solidFill>
                  <a:srgbClr val="5B6372"/>
                </a:solidFill>
                <a:latin typeface="Arial"/>
              </a:rPr>
              <a:t>Is the reading order obvious at thumbnail size?</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5" name="TextBox 24"/>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Brand</a:t>
            </a:r>
          </a:p>
          <a:p>
            <a:pPr algn="l">
              <a:spcAft>
                <a:spcPts val="300"/>
              </a:spcAft>
            </a:pPr>
            <a:r>
              <a:rPr sz="1200" b="0">
                <a:solidFill>
                  <a:srgbClr val="5B6372"/>
                </a:solidFill>
                <a:latin typeface="Arial"/>
              </a:rPr>
              <a:t>Are palette, type, logo and tone approved?</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0" name="TextBox 29"/>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Access</a:t>
            </a:r>
          </a:p>
          <a:p>
            <a:pPr algn="l">
              <a:spcAft>
                <a:spcPts val="300"/>
              </a:spcAft>
            </a:pPr>
            <a:r>
              <a:rPr sz="1200" b="0">
                <a:solidFill>
                  <a:srgbClr val="5B6372"/>
                </a:solidFill>
                <a:latin typeface="Arial"/>
              </a:rPr>
              <a:t>Are contrast, labels and alt text adequate?</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5" name="TextBox 34"/>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Output</a:t>
            </a:r>
          </a:p>
          <a:p>
            <a:pPr algn="l">
              <a:spcAft>
                <a:spcPts val="300"/>
              </a:spcAft>
            </a:pPr>
            <a:r>
              <a:rPr sz="1200" b="0">
                <a:solidFill>
                  <a:srgbClr val="5B6372"/>
                </a:solidFill>
                <a:latin typeface="Arial"/>
              </a:rPr>
              <a:t>Do PPTX, PDF and JPG render as intended?</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73</a:t>
            </a:r>
          </a:p>
        </p:txBody>
      </p:sp>
      <p:sp>
        <p:nvSpPr>
          <p:cNvPr id="39" name="TextBox 38"/>
          <p:cNvSpPr txBox="1"/>
          <p:nvPr/>
        </p:nvSpPr>
        <p:spPr>
          <a:xfrm>
            <a:off x="777240" y="6163056"/>
            <a:ext cx="10607040" cy="201168"/>
          </a:xfrm>
          <a:prstGeom prst="rect">
            <a:avLst/>
          </a:prstGeom>
          <a:noFill/>
        </p:spPr>
        <p:txBody>
          <a:bodyPr wrap="square" anchor="t">
            <a:spAutoFit/>
          </a:bodyPr>
          <a:lstStyle/>
          <a:p>
            <a:pPr algn="l">
              <a:spcAft>
                <a:spcPts val="400"/>
              </a:spcAft>
            </a:pPr>
            <a:r>
              <a:rPr sz="850" b="0">
                <a:solidFill>
                  <a:srgbClr val="5B6372"/>
                </a:solidFill>
                <a:latin typeface="Arial"/>
              </a:rPr>
              <a:t>Source: illustrative synthetic data</a:t>
            </a:r>
          </a:p>
        </p:txBody>
      </p:sp>
    </p:spTree>
  </p:cSld>
  <p:clrMapOvr>
    <a:masterClrMapping/>
  </p:clrMapOvr>
  <p:transition spd="fast" advClick="1">
    <p:fade/>
  </p:transition>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LO2 · LU2 · T1 · ACTIVITY 3</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100" b="1">
                <a:solidFill>
                  <a:srgbClr val="161B26"/>
                </a:solidFill>
                <a:latin typeface="Arial"/>
              </a:rPr>
              <a:t>Create a Timeline Infographic with Microsoft 365 Copilot</a:t>
            </a:r>
          </a:p>
        </p:txBody>
      </p:sp>
      <p:sp>
        <p:nvSpPr>
          <p:cNvPr id="6" name="Rectangle 5"/>
          <p:cNvSpPr/>
          <p:nvPr/>
        </p:nvSpPr>
        <p:spPr>
          <a:xfrm>
            <a:off x="777240" y="1691640"/>
            <a:ext cx="169164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28216"/>
            <a:ext cx="1691640" cy="365760"/>
          </a:xfrm>
          <a:prstGeom prst="rect">
            <a:avLst/>
          </a:prstGeom>
          <a:noFill/>
        </p:spPr>
        <p:txBody>
          <a:bodyPr wrap="square" anchor="t">
            <a:spAutoFit/>
          </a:bodyPr>
          <a:lstStyle/>
          <a:p>
            <a:pPr algn="ctr">
              <a:spcAft>
                <a:spcPts val="400"/>
              </a:spcAft>
            </a:pPr>
            <a:r>
              <a:rPr sz="1300" b="1">
                <a:solidFill>
                  <a:srgbClr val="FFFFFF"/>
                </a:solidFill>
                <a:latin typeface="Arial"/>
              </a:rPr>
              <a:t>CASE STUDY</a:t>
            </a:r>
          </a:p>
        </p:txBody>
      </p:sp>
      <p:sp>
        <p:nvSpPr>
          <p:cNvPr id="8" name="Rectangle 7"/>
          <p:cNvSpPr/>
          <p:nvPr/>
        </p:nvSpPr>
        <p:spPr>
          <a:xfrm>
            <a:off x="777240" y="2286000"/>
            <a:ext cx="1063447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286000"/>
            <a:ext cx="91440" cy="28803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2487168"/>
            <a:ext cx="9966960" cy="320040"/>
          </a:xfrm>
          <a:prstGeom prst="rect">
            <a:avLst/>
          </a:prstGeom>
          <a:noFill/>
        </p:spPr>
        <p:txBody>
          <a:bodyPr wrap="square" anchor="t">
            <a:spAutoFit/>
          </a:bodyPr>
          <a:lstStyle/>
          <a:p>
            <a:pPr algn="l">
              <a:spcAft>
                <a:spcPts val="400"/>
              </a:spcAft>
            </a:pPr>
            <a:r>
              <a:rPr sz="1200" b="1">
                <a:solidFill>
                  <a:srgbClr val="10B981"/>
                </a:solidFill>
                <a:latin typeface="Arial"/>
              </a:rPr>
              <a:t>THE SITUATION</a:t>
            </a:r>
          </a:p>
        </p:txBody>
      </p:sp>
      <p:sp>
        <p:nvSpPr>
          <p:cNvPr id="11" name="TextBox 10"/>
          <p:cNvSpPr txBox="1"/>
          <p:nvPr/>
        </p:nvSpPr>
        <p:spPr>
          <a:xfrm>
            <a:off x="1097280" y="2834640"/>
            <a:ext cx="10058400" cy="2240280"/>
          </a:xfrm>
          <a:prstGeom prst="rect">
            <a:avLst/>
          </a:prstGeom>
          <a:noFill/>
        </p:spPr>
        <p:txBody>
          <a:bodyPr wrap="square" anchor="t">
            <a:spAutoFit/>
          </a:bodyPr>
          <a:lstStyle/>
          <a:p>
            <a:pPr algn="l">
              <a:spcAft>
                <a:spcPts val="800"/>
              </a:spcAft>
            </a:pPr>
            <a:r>
              <a:rPr sz="1450" b="0">
                <a:solidFill>
                  <a:srgbClr val="161B26"/>
                </a:solidFill>
                <a:latin typeface="Arial"/>
              </a:rPr>
              <a:t>Northstar HR needs a five-milestone onboarding timeline for managers: account request, manager plan, Day 1 orientation, Day 7 skills check and Day 30 outcome review.</a:t>
            </a:r>
          </a:p>
          <a:p>
            <a:pPr algn="l">
              <a:spcAft>
                <a:spcPts val="800"/>
              </a:spcAft>
            </a:pPr>
            <a:r>
              <a:rPr sz="1450" b="0">
                <a:solidFill>
                  <a:srgbClr val="161B26"/>
                </a:solidFill>
                <a:latin typeface="Arial"/>
              </a:rPr>
              <a:t>Use Microsoft 365 Copilot Create &gt; Design an infographic with the supplied structured prompt and approved brief. Refine the selected Wide timeline in PowerPoint; do not let generated decoration replace dated evidence.</a:t>
            </a:r>
          </a:p>
        </p:txBody>
      </p:sp>
      <p:sp>
        <p:nvSpPr>
          <p:cNvPr id="12" name="Rectangle 11"/>
          <p:cNvSpPr/>
          <p:nvPr/>
        </p:nvSpPr>
        <p:spPr>
          <a:xfrm>
            <a:off x="777240" y="5349240"/>
            <a:ext cx="10634472" cy="68580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5349240"/>
            <a:ext cx="7315200" cy="685800"/>
          </a:xfrm>
          <a:prstGeom prst="rect">
            <a:avLst/>
          </a:prstGeom>
          <a:noFill/>
        </p:spPr>
        <p:txBody>
          <a:bodyPr wrap="square" anchor="ctr">
            <a:spAutoFit/>
          </a:bodyPr>
          <a:lstStyle/>
          <a:p>
            <a:pPr algn="l">
              <a:spcAft>
                <a:spcPts val="400"/>
              </a:spcAft>
            </a:pPr>
            <a:r>
              <a:rPr sz="1300" b="1">
                <a:solidFill>
                  <a:srgbClr val="1F6FEB"/>
                </a:solidFill>
                <a:latin typeface="Arial"/>
              </a:rPr>
              <a:t>You'll produce:  </a:t>
            </a:r>
            <a:r>
              <a:rPr sz="1300" b="0">
                <a:solidFill>
                  <a:srgbClr val="161B26"/>
                </a:solidFill>
                <a:latin typeface="Arial"/>
              </a:rPr>
              <a:t>An editable five-milestone timeline infographic in PPTX, PDF and JPG</a:t>
            </a:r>
          </a:p>
        </p:txBody>
      </p:sp>
      <p:sp>
        <p:nvSpPr>
          <p:cNvPr id="14" name="TextBox 13"/>
          <p:cNvSpPr txBox="1"/>
          <p:nvPr/>
        </p:nvSpPr>
        <p:spPr>
          <a:xfrm>
            <a:off x="8778240" y="5349240"/>
            <a:ext cx="2606040" cy="685800"/>
          </a:xfrm>
          <a:prstGeom prst="rect">
            <a:avLst/>
          </a:prstGeom>
          <a:noFill/>
        </p:spPr>
        <p:txBody>
          <a:bodyPr wrap="square" anchor="ctr">
            <a:spAutoFit/>
          </a:bodyPr>
          <a:lstStyle/>
          <a:p>
            <a:pPr algn="r">
              <a:spcAft>
                <a:spcPts val="400"/>
              </a:spcAft>
            </a:pPr>
            <a:r>
              <a:rPr sz="1300" b="1">
                <a:solidFill>
                  <a:srgbClr val="5B6372"/>
                </a:solidFill>
                <a:latin typeface="Arial"/>
              </a:rPr>
              <a:t>Duration: </a:t>
            </a:r>
            <a:r>
              <a:rPr sz="1300" b="0">
                <a:solidFill>
                  <a:srgbClr val="5B6372"/>
                </a:solidFill>
                <a:latin typeface="Arial"/>
              </a:rPr>
              <a:t>40 minutes</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74</a:t>
            </a:r>
          </a:p>
        </p:txBody>
      </p:sp>
    </p:spTree>
  </p:cSld>
  <p:clrMapOvr>
    <a:masterClrMapping/>
  </p:clrMapOvr>
  <p:transition spd="fast" advClick="1">
    <p:wipe dir="l"/>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8"/>
                                        </p:tgtEl>
                                        <p:attrNameLst>
                                          <p:attrName>style.visibility</p:attrName>
                                        </p:attrNameLst>
                                      </p:cBhvr>
                                      <p:to>
                                        <p:strVal val="visible"/>
                                      </p:to>
                                    </p:set>
                                    <p:animEffect transition="in" filter="fade">
                                      <p:cBhvr>
                                        <p:cTn id="14" dur="350"/>
                                        <p:tgtEl>
                                          <p:spTgt spid="8"/>
                                        </p:tgtEl>
                                      </p:cBhvr>
                                    </p:animEffect>
                                    <p:anim calcmode="lin" valueType="num">
                                      <p:cBhvr additive="base">
                                        <p:cTn id="15" dur="350" fill="hold"/>
                                        <p:tgtEl>
                                          <p:spTgt spid="8"/>
                                        </p:tgtEl>
                                        <p:attrNameLst>
                                          <p:attrName>ppt_y</p:attrName>
                                        </p:attrNameLst>
                                      </p:cBhvr>
                                      <p:tavLst>
                                        <p:tav tm="0">
                                          <p:val>
                                            <p:strVal val="#ppt_y+0.0350"/>
                                          </p:val>
                                        </p:tav>
                                        <p:tav tm="100000">
                                          <p:val>
                                            <p:strVal val="#ppt_y"/>
                                          </p:val>
                                        </p:tav>
                                      </p:tavLst>
                                    </p:anim>
                                  </p:childTnLst>
                                </p:cTn>
                              </p:par>
                            </p:childTnLst>
                          </p:cTn>
                        </p:par>
                      </p:childTnLst>
                    </p:cTn>
                  </p:par>
                  <p:par>
                    <p:cTn id="20" fill="hold">
                      <p:stCondLst>
                        <p:cond delay="0"/>
                      </p:stCondLst>
                      <p:childTnLst>
                        <p:par>
                          <p:cTn id="21" fill="hold">
                            <p:stCondLst>
                              <p:cond delay="0"/>
                            </p:stCondLst>
                            <p:childTnLst>
                              <p:par>
                                <p:cTn id="22" presetID="10" presetClass="entr" presetSubtype="0" fill="hold" grpId="0" nodeType="after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350"/>
                                        <p:tgtEl>
                                          <p:spTgt spid="9"/>
                                        </p:tgtEl>
                                      </p:cBhvr>
                                    </p:animEffect>
                                    <p:anim calcmode="lin" valueType="num">
                                      <p:cBhvr additive="base">
                                        <p:cTn id="25" dur="350" fill="hold"/>
                                        <p:tgtEl>
                                          <p:spTgt spid="9"/>
                                        </p:tgtEl>
                                        <p:attrNameLst>
                                          <p:attrName>ppt_y</p:attrName>
                                        </p:attrNameLst>
                                      </p:cBhvr>
                                      <p:tavLst>
                                        <p:tav tm="0">
                                          <p:val>
                                            <p:strVal val="#ppt_y+0.0350"/>
                                          </p:val>
                                        </p:tav>
                                        <p:tav tm="100000">
                                          <p:val>
                                            <p:strVal val="#ppt_y"/>
                                          </p:val>
                                        </p:tav>
                                      </p:tavLst>
                                    </p:anim>
                                  </p:childTnLst>
                                </p:cTn>
                              </p:par>
                            </p:childTnLst>
                          </p:cTn>
                        </p:par>
                      </p:childTnLst>
                    </p:cTn>
                  </p:par>
                  <p:par>
                    <p:cTn id="30" fill="hold">
                      <p:stCondLst>
                        <p:cond delay="0"/>
                      </p:stCondLst>
                      <p:childTnLst>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350"/>
                                        <p:tgtEl>
                                          <p:spTgt spid="11"/>
                                        </p:tgtEl>
                                      </p:cBhvr>
                                    </p:animEffect>
                                    <p:anim calcmode="lin" valueType="num">
                                      <p:cBhvr additive="base">
                                        <p:cTn id="35" dur="350" fill="hold"/>
                                        <p:tgtEl>
                                          <p:spTgt spid="11"/>
                                        </p:tgtEl>
                                        <p:attrNameLst>
                                          <p:attrName>ppt_y</p:attrName>
                                        </p:attrNameLst>
                                      </p:cBhvr>
                                      <p:tavLst>
                                        <p:tav tm="0">
                                          <p:val>
                                            <p:strVal val="#ppt_y+0.0350"/>
                                          </p:val>
                                        </p:tav>
                                        <p:tav tm="100000">
                                          <p:val>
                                            <p:strVal val="#ppt_y"/>
                                          </p:val>
                                        </p:tav>
                                      </p:tavLst>
                                    </p:anim>
                                  </p:childTnLst>
                                </p:cTn>
                              </p:par>
                            </p:childTnLst>
                          </p:cTn>
                        </p:par>
                      </p:childTnLst>
                    </p:cTn>
                  </p:par>
                  <p:par>
                    <p:cTn id="40" fill="hold">
                      <p:stCondLst>
                        <p:cond delay="0"/>
                      </p:stCondLst>
                      <p:childTnLst>
                        <p:par>
                          <p:cTn id="41" fill="hold">
                            <p:stCondLst>
                              <p:cond delay="0"/>
                            </p:stCondLst>
                            <p:childTnLst>
                              <p:par>
                                <p:cTn id="42" presetID="10" presetClass="entr" presetSubtype="0" fill="hold" grpId="0" nodeType="afterEffect">
                                  <p:stCondLst>
                                    <p:cond delay="0"/>
                                  </p:stCondLst>
                                  <p:childTnLst>
                                    <p:set>
                                      <p:cBhvr>
                                        <p:cTn id="43" dur="1" fill="hold">
                                          <p:stCondLst>
                                            <p:cond delay="0"/>
                                          </p:stCondLst>
                                        </p:cTn>
                                        <p:tgtEl>
                                          <p:spTgt spid="12"/>
                                        </p:tgtEl>
                                        <p:attrNameLst>
                                          <p:attrName>style.visibility</p:attrName>
                                        </p:attrNameLst>
                                      </p:cBhvr>
                                      <p:to>
                                        <p:strVal val="visible"/>
                                      </p:to>
                                    </p:set>
                                    <p:animEffect transition="in" filter="fade">
                                      <p:cBhvr>
                                        <p:cTn id="44" dur="350"/>
                                        <p:tgtEl>
                                          <p:spTgt spid="12"/>
                                        </p:tgtEl>
                                      </p:cBhvr>
                                    </p:animEffect>
                                    <p:anim calcmode="lin" valueType="num">
                                      <p:cBhvr additive="base">
                                        <p:cTn id="45" dur="350" fill="hold"/>
                                        <p:tgtEl>
                                          <p:spTgt spid="12"/>
                                        </p:tgtEl>
                                        <p:attrNameLst>
                                          <p:attrName>ppt_y</p:attrName>
                                        </p:attrNameLst>
                                      </p:cBhvr>
                                      <p:tavLst>
                                        <p:tav tm="0">
                                          <p:val>
                                            <p:strVal val="#ppt_y+0.0350"/>
                                          </p:val>
                                        </p:tav>
                                        <p:tav tm="100000">
                                          <p:val>
                                            <p:strVal val="#ppt_y"/>
                                          </p:val>
                                        </p:tav>
                                      </p:tavLst>
                                    </p:anim>
                                  </p:childTnLst>
                                </p:cTn>
                              </p:par>
                            </p:childTnLst>
                          </p:cTn>
                        </p:par>
                      </p:childTnLst>
                    </p:cTn>
                  </p:par>
                  <p:par>
                    <p:cTn id="50" fill="hold">
                      <p:stCondLst>
                        <p:cond delay="0"/>
                      </p:stCondLst>
                      <p:childTnLst>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3"/>
                                        </p:tgtEl>
                                        <p:attrNameLst>
                                          <p:attrName>style.visibility</p:attrName>
                                        </p:attrNameLst>
                                      </p:cBhvr>
                                      <p:to>
                                        <p:strVal val="visible"/>
                                      </p:to>
                                    </p:set>
                                    <p:animEffect transition="in" filter="fade">
                                      <p:cBhvr>
                                        <p:cTn id="54" dur="350"/>
                                        <p:tgtEl>
                                          <p:spTgt spid="13"/>
                                        </p:tgtEl>
                                      </p:cBhvr>
                                    </p:animEffect>
                                    <p:anim calcmode="lin" valueType="num">
                                      <p:cBhvr additive="base">
                                        <p:cTn id="55" dur="350" fill="hold"/>
                                        <p:tgtEl>
                                          <p:spTgt spid="13"/>
                                        </p:tgtEl>
                                        <p:attrNameLst>
                                          <p:attrName>ppt_y</p:attrName>
                                        </p:attrNameLst>
                                      </p:cBhvr>
                                      <p:tavLst>
                                        <p:tav tm="0">
                                          <p:val>
                                            <p:strVal val="#ppt_y+0.0350"/>
                                          </p:val>
                                        </p:tav>
                                        <p:tav tm="100000">
                                          <p:val>
                                            <p:strVal val="#ppt_y"/>
                                          </p:val>
                                        </p:tav>
                                      </p:tavLst>
                                    </p:anim>
                                  </p:childTnLst>
                                </p:cTn>
                              </p:par>
                            </p:childTnLst>
                          </p:cTn>
                        </p:par>
                      </p:childTnLst>
                    </p:cTn>
                  </p:par>
                  <p:par>
                    <p:cTn id="60" fill="hold">
                      <p:stCondLst>
                        <p:cond delay="0"/>
                      </p:stCondLst>
                      <p:childTnLst>
                        <p:par>
                          <p:cTn id="61" fill="hold">
                            <p:stCondLst>
                              <p:cond delay="0"/>
                            </p:stCondLst>
                            <p:childTnLst>
                              <p:par>
                                <p:cTn id="62" presetID="10" presetClass="entr" presetSubtype="0" fill="hold" grpId="0" nodeType="afterEffect">
                                  <p:stCondLst>
                                    <p:cond delay="0"/>
                                  </p:stCondLst>
                                  <p:childTnLst>
                                    <p:set>
                                      <p:cBhvr>
                                        <p:cTn id="63" dur="1" fill="hold">
                                          <p:stCondLst>
                                            <p:cond delay="0"/>
                                          </p:stCondLst>
                                        </p:cTn>
                                        <p:tgtEl>
                                          <p:spTgt spid="14"/>
                                        </p:tgtEl>
                                        <p:attrNameLst>
                                          <p:attrName>style.visibility</p:attrName>
                                        </p:attrNameLst>
                                      </p:cBhvr>
                                      <p:to>
                                        <p:strVal val="visible"/>
                                      </p:to>
                                    </p:set>
                                    <p:animEffect transition="in" filter="fade">
                                      <p:cBhvr>
                                        <p:cTn id="64" dur="350"/>
                                        <p:tgtEl>
                                          <p:spTgt spid="14"/>
                                        </p:tgtEl>
                                      </p:cBhvr>
                                    </p:animEffect>
                                    <p:anim calcmode="lin" valueType="num">
                                      <p:cBhvr additive="base">
                                        <p:cTn id="65" dur="350" fill="hold"/>
                                        <p:tgtEl>
                                          <p:spTgt spid="14"/>
                                        </p:tgtEl>
                                        <p:attrNameLst>
                                          <p:attrName>ppt_y</p:attrName>
                                        </p:attrNameLst>
                                      </p:cBhvr>
                                      <p:tavLst>
                                        <p:tav tm="0">
                                          <p:val>
                                            <p:strVal val="#ppt_y+0.0350"/>
                                          </p:val>
                                        </p:tav>
                                        <p:tav tm="100000">
                                          <p:val>
                                            <p:strVal val="#ppt_y"/>
                                          </p:val>
                                        </p:tav>
                                      </p:tavLst>
                                    </p:anim>
                                  </p:childTnLst>
                                </p:cTn>
                              </p:par>
                            </p:childTnLst>
                          </p:cTn>
                        </p:par>
                      </p:childTnLst>
                    </p:cTn>
                  </p:par>
                </p:childTnLst>
                <p:prevCondLst>
                  <p:cond evt="onPrev" delay="0">
                    <p:tgtEl>
                      <p:sldTgt/>
                    </p:tgtEl>
                  </p:cond>
                </p:prevCondLst>
                <p:nextCondLst>
                  <p:cond evt="onNext" delay="0">
                    <p:tgtEl>
                      <p:sldTgt/>
                    </p:tgtEl>
                  </p:cond>
                </p:nextCondLst>
              </p:cTn>
            </p:seq>
          </p:childTnLst>
        </p:cTn>
      </p:par>
    </p:tnLst>
  </p:timing>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LO2 · LU2 · T1 · ACTIVITY 3</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100" b="1">
                <a:solidFill>
                  <a:srgbClr val="161B26"/>
                </a:solidFill>
                <a:latin typeface="Arial"/>
              </a:rPr>
              <a:t>Create a Timeline Infographic with Microsoft 365 Copilot</a:t>
            </a:r>
          </a:p>
        </p:txBody>
      </p:sp>
      <p:sp>
        <p:nvSpPr>
          <p:cNvPr id="6" name="TextBox 5"/>
          <p:cNvSpPr txBox="1"/>
          <p:nvPr/>
        </p:nvSpPr>
        <p:spPr>
          <a:xfrm>
            <a:off x="777240" y="1719072"/>
            <a:ext cx="8229600" cy="365760"/>
          </a:xfrm>
          <a:prstGeom prst="rect">
            <a:avLst/>
          </a:prstGeom>
          <a:noFill/>
        </p:spPr>
        <p:txBody>
          <a:bodyPr wrap="square" anchor="t">
            <a:spAutoFit/>
          </a:bodyPr>
          <a:lstStyle/>
          <a:p>
            <a:pPr algn="l">
              <a:spcAft>
                <a:spcPts val="400"/>
              </a:spcAft>
            </a:pPr>
            <a:r>
              <a:rPr sz="1300" b="1">
                <a:solidFill>
                  <a:srgbClr val="5B6372"/>
                </a:solidFill>
                <a:latin typeface="Arial"/>
              </a:rPr>
              <a:t>DISCUSSION &amp; DECISION PROMPTS</a:t>
            </a:r>
          </a:p>
        </p:txBody>
      </p:sp>
      <p:sp>
        <p:nvSpPr>
          <p:cNvPr id="7" name="Rectangle 6"/>
          <p:cNvSpPr/>
          <p:nvPr/>
        </p:nvSpPr>
        <p:spPr>
          <a:xfrm>
            <a:off x="777240" y="2148840"/>
            <a:ext cx="10634472" cy="8732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73152" cy="8732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78408" y="2334006"/>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78408" y="2334006"/>
            <a:ext cx="502920" cy="50292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737360" y="2148840"/>
            <a:ext cx="9308592" cy="873252"/>
          </a:xfrm>
          <a:prstGeom prst="rect">
            <a:avLst/>
          </a:prstGeom>
          <a:noFill/>
        </p:spPr>
        <p:txBody>
          <a:bodyPr wrap="square" anchor="ctr">
            <a:spAutoFit/>
          </a:bodyPr>
          <a:lstStyle/>
          <a:p>
            <a:pPr algn="l">
              <a:spcAft>
                <a:spcPts val="400"/>
              </a:spcAft>
            </a:pPr>
            <a:r>
              <a:rPr sz="1450" b="0">
                <a:solidFill>
                  <a:srgbClr val="161B26"/>
                </a:solidFill>
                <a:latin typeface="Arial"/>
              </a:rPr>
              <a:t>Why does this template fit the question?</a:t>
            </a:r>
          </a:p>
        </p:txBody>
      </p:sp>
      <p:sp>
        <p:nvSpPr>
          <p:cNvPr id="12" name="Rectangle 11"/>
          <p:cNvSpPr/>
          <p:nvPr/>
        </p:nvSpPr>
        <p:spPr>
          <a:xfrm>
            <a:off x="777240" y="3168396"/>
            <a:ext cx="10634472" cy="8732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168396"/>
            <a:ext cx="73152" cy="8732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78408" y="3353562"/>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78408" y="3353562"/>
            <a:ext cx="502920" cy="50292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6" name="TextBox 15"/>
          <p:cNvSpPr txBox="1"/>
          <p:nvPr/>
        </p:nvSpPr>
        <p:spPr>
          <a:xfrm>
            <a:off x="1737360" y="3168396"/>
            <a:ext cx="9308592" cy="873252"/>
          </a:xfrm>
          <a:prstGeom prst="rect">
            <a:avLst/>
          </a:prstGeom>
          <a:noFill/>
        </p:spPr>
        <p:txBody>
          <a:bodyPr wrap="square" anchor="ctr">
            <a:spAutoFit/>
          </a:bodyPr>
          <a:lstStyle/>
          <a:p>
            <a:pPr algn="l">
              <a:spcAft>
                <a:spcPts val="400"/>
              </a:spcAft>
            </a:pPr>
            <a:r>
              <a:rPr sz="1450" b="0">
                <a:solidFill>
                  <a:srgbClr val="161B26"/>
                </a:solidFill>
                <a:latin typeface="Arial"/>
              </a:rPr>
              <a:t>Which inherited element should be removed first?</a:t>
            </a:r>
          </a:p>
        </p:txBody>
      </p:sp>
      <p:sp>
        <p:nvSpPr>
          <p:cNvPr id="17" name="Rectangle 16"/>
          <p:cNvSpPr/>
          <p:nvPr/>
        </p:nvSpPr>
        <p:spPr>
          <a:xfrm>
            <a:off x="777240" y="4187952"/>
            <a:ext cx="10634472" cy="8732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187952"/>
            <a:ext cx="73152" cy="8732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78408" y="4373118"/>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8408" y="4373118"/>
            <a:ext cx="502920" cy="50292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1" name="TextBox 20"/>
          <p:cNvSpPr txBox="1"/>
          <p:nvPr/>
        </p:nvSpPr>
        <p:spPr>
          <a:xfrm>
            <a:off x="1737360" y="4187952"/>
            <a:ext cx="9308592" cy="873252"/>
          </a:xfrm>
          <a:prstGeom prst="rect">
            <a:avLst/>
          </a:prstGeom>
          <a:noFill/>
        </p:spPr>
        <p:txBody>
          <a:bodyPr wrap="square" anchor="ctr">
            <a:spAutoFit/>
          </a:bodyPr>
          <a:lstStyle/>
          <a:p>
            <a:pPr algn="l">
              <a:spcAft>
                <a:spcPts val="400"/>
              </a:spcAft>
            </a:pPr>
            <a:r>
              <a:rPr sz="1450" b="0">
                <a:solidFill>
                  <a:srgbClr val="161B26"/>
                </a:solidFill>
                <a:latin typeface="Arial"/>
              </a:rPr>
              <a:t>What must remain editable?</a:t>
            </a:r>
          </a:p>
        </p:txBody>
      </p:sp>
      <p:sp>
        <p:nvSpPr>
          <p:cNvPr id="22" name="Rectangle 21"/>
          <p:cNvSpPr/>
          <p:nvPr/>
        </p:nvSpPr>
        <p:spPr>
          <a:xfrm>
            <a:off x="777240" y="5207508"/>
            <a:ext cx="10634472" cy="8732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207508"/>
            <a:ext cx="73152" cy="8732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78408" y="5392674"/>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78408" y="5392674"/>
            <a:ext cx="502920" cy="50292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6" name="TextBox 25"/>
          <p:cNvSpPr txBox="1"/>
          <p:nvPr/>
        </p:nvSpPr>
        <p:spPr>
          <a:xfrm>
            <a:off x="1737360" y="5207508"/>
            <a:ext cx="9308592" cy="873252"/>
          </a:xfrm>
          <a:prstGeom prst="rect">
            <a:avLst/>
          </a:prstGeom>
          <a:noFill/>
        </p:spPr>
        <p:txBody>
          <a:bodyPr wrap="square" anchor="ctr">
            <a:spAutoFit/>
          </a:bodyPr>
          <a:lstStyle/>
          <a:p>
            <a:pPr algn="l">
              <a:spcAft>
                <a:spcPts val="400"/>
              </a:spcAft>
            </a:pPr>
            <a:r>
              <a:rPr sz="1450" b="0">
                <a:solidFill>
                  <a:srgbClr val="161B26"/>
                </a:solidFill>
                <a:latin typeface="Arial"/>
              </a:rPr>
              <a:t>Which export format fits each channel?</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75</a:t>
            </a:r>
          </a:p>
        </p:txBody>
      </p:sp>
    </p:spTree>
  </p:cSld>
  <p:clrMapOvr>
    <a:masterClrMapping/>
  </p:clrMapOvr>
  <p:transition spd="fast" advClick="1">
    <p:wipe dir="l"/>
  </p:transition>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LO2 · LU2 · T1 · ACTIVITY 3</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100" b="1">
                <a:solidFill>
                  <a:srgbClr val="161B26"/>
                </a:solidFill>
                <a:latin typeface="Arial"/>
              </a:rPr>
              <a:t>Create a Timeline Infographic with Microsoft 365 Copilot</a:t>
            </a:r>
          </a:p>
        </p:txBody>
      </p:sp>
      <p:sp>
        <p:nvSpPr>
          <p:cNvPr id="6" name="Rectangle 5"/>
          <p:cNvSpPr/>
          <p:nvPr/>
        </p:nvSpPr>
        <p:spPr>
          <a:xfrm>
            <a:off x="777240" y="1783080"/>
            <a:ext cx="10634472" cy="26517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91440" cy="26517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1965960"/>
            <a:ext cx="10058400" cy="365760"/>
          </a:xfrm>
          <a:prstGeom prst="rect">
            <a:avLst/>
          </a:prstGeom>
          <a:noFill/>
        </p:spPr>
        <p:txBody>
          <a:bodyPr wrap="square" anchor="t">
            <a:spAutoFit/>
          </a:bodyPr>
          <a:lstStyle/>
          <a:p>
            <a:pPr algn="l">
              <a:spcAft>
                <a:spcPts val="400"/>
              </a:spcAft>
            </a:pPr>
            <a:r>
              <a:rPr sz="1300" b="1">
                <a:solidFill>
                  <a:srgbClr val="7C3AED"/>
                </a:solidFill>
                <a:latin typeface="Arial"/>
              </a:rPr>
              <a:t>REFLECT &amp; DISCUSS</a:t>
            </a:r>
          </a:p>
        </p:txBody>
      </p:sp>
      <p:sp>
        <p:nvSpPr>
          <p:cNvPr id="9" name="TextBox 8"/>
          <p:cNvSpPr txBox="1"/>
          <p:nvPr/>
        </p:nvSpPr>
        <p:spPr>
          <a:xfrm>
            <a:off x="1051560" y="2377440"/>
            <a:ext cx="10058400" cy="1920240"/>
          </a:xfrm>
          <a:prstGeom prst="rect">
            <a:avLst/>
          </a:prstGeom>
          <a:noFill/>
        </p:spPr>
        <p:txBody>
          <a:bodyPr wrap="square">
            <a:spAutoFit/>
          </a:bodyPr>
          <a:lstStyle/>
          <a:p>
            <a:pPr>
              <a:spcAft>
                <a:spcPts val="900"/>
              </a:spcAft>
            </a:pPr>
            <a:r>
              <a:rPr sz="1450" b="0">
                <a:solidFill>
                  <a:srgbClr val="161B26"/>
                </a:solidFill>
                <a:latin typeface="Arial"/>
              </a:rPr>
              <a:t>•  Did the result still match the approved wireframe?</a:t>
            </a:r>
          </a:p>
          <a:p>
            <a:pPr>
              <a:spcAft>
                <a:spcPts val="900"/>
              </a:spcAft>
            </a:pPr>
            <a:r>
              <a:rPr sz="1450" b="0">
                <a:solidFill>
                  <a:srgbClr val="161B26"/>
                </a:solidFill>
                <a:latin typeface="Arial"/>
              </a:rPr>
              <a:t>•  Can another team member update the data without rebuilding the design?</a:t>
            </a:r>
          </a:p>
        </p:txBody>
      </p:sp>
      <p:sp>
        <p:nvSpPr>
          <p:cNvPr id="10" name="Rectangle 9"/>
          <p:cNvSpPr/>
          <p:nvPr/>
        </p:nvSpPr>
        <p:spPr>
          <a:xfrm>
            <a:off x="777240" y="4663440"/>
            <a:ext cx="10634472" cy="137160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1560" y="4864608"/>
            <a:ext cx="10058400" cy="365760"/>
          </a:xfrm>
          <a:prstGeom prst="rect">
            <a:avLst/>
          </a:prstGeom>
          <a:noFill/>
        </p:spPr>
        <p:txBody>
          <a:bodyPr wrap="square" anchor="t">
            <a:spAutoFit/>
          </a:bodyPr>
          <a:lstStyle/>
          <a:p>
            <a:pPr algn="l">
              <a:spcAft>
                <a:spcPts val="400"/>
              </a:spcAft>
            </a:pPr>
            <a:r>
              <a:rPr sz="1500" b="1">
                <a:solidFill>
                  <a:srgbClr val="127A3E"/>
                </a:solidFill>
                <a:latin typeface="Arial"/>
              </a:rPr>
              <a:t>✓  Facilitator debrief check</a:t>
            </a:r>
          </a:p>
        </p:txBody>
      </p:sp>
      <p:sp>
        <p:nvSpPr>
          <p:cNvPr id="12" name="TextBox 11"/>
          <p:cNvSpPr txBox="1"/>
          <p:nvPr/>
        </p:nvSpPr>
        <p:spPr>
          <a:xfrm>
            <a:off x="1051560" y="5257800"/>
            <a:ext cx="10058400" cy="731520"/>
          </a:xfrm>
          <a:prstGeom prst="rect">
            <a:avLst/>
          </a:prstGeom>
          <a:noFill/>
        </p:spPr>
        <p:txBody>
          <a:bodyPr wrap="square" anchor="t">
            <a:spAutoFit/>
          </a:bodyPr>
          <a:lstStyle/>
          <a:p>
            <a:pPr algn="l">
              <a:spcAft>
                <a:spcPts val="400"/>
              </a:spcAft>
            </a:pPr>
            <a:r>
              <a:rPr sz="1300" b="0">
                <a:solidFill>
                  <a:srgbClr val="161B26"/>
                </a:solidFill>
                <a:latin typeface="Arial"/>
              </a:rPr>
              <a:t>The final template-based infographic is message-led, branded, accessible, source-labelled and fully editable.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76</a:t>
            </a:r>
          </a:p>
        </p:txBody>
      </p:sp>
    </p:spTree>
  </p:cSld>
  <p:clrMapOvr>
    <a:masterClrMapping/>
  </p:clrMapOvr>
  <p:transition spd="fast" advClick="1">
    <p:wipe dir="l"/>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350"/>
                                        <p:tgtEl>
                                          <p:spTgt spid="9"/>
                                        </p:tgtEl>
                                      </p:cBhvr>
                                    </p:animEffect>
                                    <p:anim calcmode="lin" valueType="num">
                                      <p:cBhvr additive="base">
                                        <p:cTn id="15" dur="350" fill="hold"/>
                                        <p:tgtEl>
                                          <p:spTgt spid="9"/>
                                        </p:tgtEl>
                                        <p:attrNameLst>
                                          <p:attrName>ppt_y</p:attrName>
                                        </p:attrNameLst>
                                      </p:cBhvr>
                                      <p:tavLst>
                                        <p:tav tm="0">
                                          <p:val>
                                            <p:strVal val="#ppt_y+0.0350"/>
                                          </p:val>
                                        </p:tav>
                                        <p:tav tm="100000">
                                          <p:val>
                                            <p:strVal val="#ppt_y"/>
                                          </p:val>
                                        </p:tav>
                                      </p:tavLst>
                                    </p:anim>
                                  </p:childTnLst>
                                </p:cTn>
                              </p:par>
                            </p:childTnLst>
                          </p:cTn>
                        </p:par>
                      </p:childTnLst>
                    </p:cTn>
                  </p:par>
                  <p:par>
                    <p:cTn id="20" fill="hold">
                      <p:stCondLst>
                        <p:cond delay="0"/>
                      </p:stCondLst>
                      <p:childTnLst>
                        <p:par>
                          <p:cTn id="21" fill="hold">
                            <p:stCondLst>
                              <p:cond delay="0"/>
                            </p:stCondLst>
                            <p:childTnLst>
                              <p:par>
                                <p:cTn id="22" presetID="10" presetClass="entr" presetSubtype="0" fill="hold" grpId="0" nodeType="after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350"/>
                                        <p:tgtEl>
                                          <p:spTgt spid="10"/>
                                        </p:tgtEl>
                                      </p:cBhvr>
                                    </p:animEffect>
                                    <p:anim calcmode="lin" valueType="num">
                                      <p:cBhvr additive="base">
                                        <p:cTn id="25" dur="350" fill="hold"/>
                                        <p:tgtEl>
                                          <p:spTgt spid="10"/>
                                        </p:tgtEl>
                                        <p:attrNameLst>
                                          <p:attrName>ppt_y</p:attrName>
                                        </p:attrNameLst>
                                      </p:cBhvr>
                                      <p:tavLst>
                                        <p:tav tm="0">
                                          <p:val>
                                            <p:strVal val="#ppt_y+0.0350"/>
                                          </p:val>
                                        </p:tav>
                                        <p:tav tm="100000">
                                          <p:val>
                                            <p:strVal val="#ppt_y"/>
                                          </p:val>
                                        </p:tav>
                                      </p:tavLst>
                                    </p:anim>
                                  </p:childTnLst>
                                </p:cTn>
                              </p:par>
                            </p:childTnLst>
                          </p:cTn>
                        </p:par>
                      </p:childTnLst>
                    </p:cTn>
                  </p:par>
                  <p:par>
                    <p:cTn id="30" fill="hold">
                      <p:stCondLst>
                        <p:cond delay="0"/>
                      </p:stCondLst>
                      <p:childTnLst>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350"/>
                                        <p:tgtEl>
                                          <p:spTgt spid="12"/>
                                        </p:tgtEl>
                                      </p:cBhvr>
                                    </p:animEffect>
                                    <p:anim calcmode="lin" valueType="num">
                                      <p:cBhvr additive="base">
                                        <p:cTn id="35" dur="350" fill="hold"/>
                                        <p:tgtEl>
                                          <p:spTgt spid="12"/>
                                        </p:tgtEl>
                                        <p:attrNameLst>
                                          <p:attrName>ppt_y</p:attrName>
                                        </p:attrNameLst>
                                      </p:cBhvr>
                                      <p:tavLst>
                                        <p:tav tm="0">
                                          <p:val>
                                            <p:strVal val="#ppt_y+0.0350"/>
                                          </p:val>
                                        </p:tav>
                                        <p:tav tm="100000">
                                          <p:val>
                                            <p:strVal val="#ppt_y"/>
                                          </p:val>
                                        </p:tav>
                                      </p:tavLst>
                                    </p:anim>
                                  </p:childTnLst>
                                </p:cTn>
                              </p:par>
                            </p:childTnLst>
                          </p:cTn>
                        </p:par>
                      </p:childTnLst>
                    </p:cTn>
                  </p:par>
                </p:childTnLst>
                <p:prevCondLst>
                  <p:cond evt="onPrev" delay="0">
                    <p:tgtEl>
                      <p:sldTgt/>
                    </p:tgtEl>
                  </p:cond>
                </p:prevCondLst>
                <p:nextCondLst>
                  <p:cond evt="onNext" delay="0">
                    <p:tgtEl>
                      <p:sldTgt/>
                    </p:tgtEl>
                  </p:cond>
                </p:nextCondLst>
              </p:cTn>
            </p:seq>
          </p:childTnLst>
        </p:cTn>
      </p:par>
    </p:tnLst>
  </p:timing>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600" b="1">
                <a:solidFill>
                  <a:srgbClr val="10B981"/>
                </a:solidFill>
                <a:latin typeface="Arial"/>
              </a:rPr>
              <a:t>LO2 · LU2 · T2</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2100" b="1">
                <a:solidFill>
                  <a:srgbClr val="161B26"/>
                </a:solidFill>
                <a:latin typeface="Arial"/>
              </a:rPr>
              <a:t>Copilot proposes the process direction; PowerPoint preserves the controlled system</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T2</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77</a:t>
            </a:r>
          </a:p>
        </p:txBody>
      </p:sp>
    </p:spTree>
  </p:cSld>
  <p:clrMapOvr>
    <a:masterClrMapping/>
  </p:clrMapOvr>
  <p:transition spd="fast" advClick="1">
    <p:push dir="u"/>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350"/>
                                        <p:tgtEl>
                                          <p:spTgt spid="4"/>
                                        </p:tgtEl>
                                      </p:cBhvr>
                                    </p:animEffect>
                                    <p:anim calcmode="lin" valueType="num">
                                      <p:cBhvr additive="base">
                                        <p:cTn id="15" dur="350" fill="hold"/>
                                        <p:tgtEl>
                                          <p:spTgt spid="4"/>
                                        </p:tgtEl>
                                        <p:attrNameLst>
                                          <p:attrName>ppt_y</p:attrName>
                                        </p:attrNameLst>
                                      </p:cBhvr>
                                      <p:tavLst>
                                        <p:tav tm="0">
                                          <p:val>
                                            <p:strVal val="#ppt_y+0.0350"/>
                                          </p:val>
                                        </p:tav>
                                        <p:tav tm="100000">
                                          <p:val>
                                            <p:strVal val="#ppt_y"/>
                                          </p:val>
                                        </p:tav>
                                      </p:tavLst>
                                    </p:anim>
                                  </p:childTnLst>
                                </p:cTn>
                              </p:par>
                            </p:childTnLst>
                          </p:cTn>
                        </p:par>
                      </p:childTnLst>
                    </p:cTn>
                  </p:par>
                  <p:par>
                    <p:cTn id="20" fill="hold">
                      <p:stCondLst>
                        <p:cond delay="0"/>
                      </p:stCondLst>
                      <p:childTnLst>
                        <p:par>
                          <p:cTn id="21" fill="hold">
                            <p:stCondLst>
                              <p:cond delay="0"/>
                            </p:stCondLst>
                            <p:childTnLst>
                              <p:par>
                                <p:cTn id="22" presetID="10" presetClass="entr" presetSubtype="0" fill="hold" grpId="0" nodeType="afterEffect">
                                  <p:stCondLst>
                                    <p:cond delay="0"/>
                                  </p:stCondLst>
                                  <p:childTnLst>
                                    <p:set>
                                      <p:cBhvr>
                                        <p:cTn id="23" dur="1" fill="hold">
                                          <p:stCondLst>
                                            <p:cond delay="0"/>
                                          </p:stCondLst>
                                        </p:cTn>
                                        <p:tgtEl>
                                          <p:spTgt spid="5"/>
                                        </p:tgtEl>
                                        <p:attrNameLst>
                                          <p:attrName>style.visibility</p:attrName>
                                        </p:attrNameLst>
                                      </p:cBhvr>
                                      <p:to>
                                        <p:strVal val="visible"/>
                                      </p:to>
                                    </p:set>
                                    <p:animEffect transition="in" filter="fade">
                                      <p:cBhvr>
                                        <p:cTn id="24" dur="350"/>
                                        <p:tgtEl>
                                          <p:spTgt spid="5"/>
                                        </p:tgtEl>
                                      </p:cBhvr>
                                    </p:animEffect>
                                    <p:anim calcmode="lin" valueType="num">
                                      <p:cBhvr additive="base">
                                        <p:cTn id="25" dur="350" fill="hold"/>
                                        <p:tgtEl>
                                          <p:spTgt spid="5"/>
                                        </p:tgtEl>
                                        <p:attrNameLst>
                                          <p:attrName>ppt_y</p:attrName>
                                        </p:attrNameLst>
                                      </p:cBhvr>
                                      <p:tavLst>
                                        <p:tav tm="0">
                                          <p:val>
                                            <p:strVal val="#ppt_y+0.0350"/>
                                          </p:val>
                                        </p:tav>
                                        <p:tav tm="100000">
                                          <p:val>
                                            <p:strVal val="#ppt_y"/>
                                          </p:val>
                                        </p:tav>
                                      </p:tavLst>
                                    </p:anim>
                                  </p:childTnLst>
                                </p:cTn>
                              </p:par>
                            </p:childTnLst>
                          </p:cTn>
                        </p:par>
                      </p:childTnLst>
                    </p:cTn>
                  </p:par>
                  <p:par>
                    <p:cTn id="30" fill="hold">
                      <p:stCondLst>
                        <p:cond delay="0"/>
                      </p:stCondLst>
                      <p:childTnLst>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6"/>
                                        </p:tgtEl>
                                        <p:attrNameLst>
                                          <p:attrName>style.visibility</p:attrName>
                                        </p:attrNameLst>
                                      </p:cBhvr>
                                      <p:to>
                                        <p:strVal val="visible"/>
                                      </p:to>
                                    </p:set>
                                    <p:animEffect transition="in" filter="fade">
                                      <p:cBhvr>
                                        <p:cTn id="34" dur="350"/>
                                        <p:tgtEl>
                                          <p:spTgt spid="6"/>
                                        </p:tgtEl>
                                      </p:cBhvr>
                                    </p:animEffect>
                                    <p:anim calcmode="lin" valueType="num">
                                      <p:cBhvr additive="base">
                                        <p:cTn id="35" dur="350" fill="hold"/>
                                        <p:tgtEl>
                                          <p:spTgt spid="6"/>
                                        </p:tgtEl>
                                        <p:attrNameLst>
                                          <p:attrName>ppt_y</p:attrName>
                                        </p:attrNameLst>
                                      </p:cBhvr>
                                      <p:tavLst>
                                        <p:tav tm="0">
                                          <p:val>
                                            <p:strVal val="#ppt_y+0.0350"/>
                                          </p:val>
                                        </p:tav>
                                        <p:tav tm="100000">
                                          <p:val>
                                            <p:strVal val="#ppt_y"/>
                                          </p:val>
                                        </p:tav>
                                      </p:tavLst>
                                    </p:anim>
                                  </p:childTnLst>
                                </p:cTn>
                              </p:par>
                            </p:childTnLst>
                          </p:cTn>
                        </p:par>
                      </p:childTnLst>
                    </p:cTn>
                  </p:par>
                </p:childTnLst>
                <p:prevCondLst>
                  <p:cond evt="onPrev" delay="0">
                    <p:tgtEl>
                      <p:sldTgt/>
                    </p:tgtEl>
                  </p:cond>
                </p:prevCondLst>
                <p:nextCondLst>
                  <p:cond evt="onNext" delay="0">
                    <p:tgtEl>
                      <p:sldTgt/>
                    </p:tgtEl>
                  </p:cond>
                </p:nextCondLst>
              </p:cTn>
            </p:seq>
          </p:childTnLst>
        </p:cTn>
      </p:par>
    </p:tnLst>
  </p:timing>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LO2 · LU2 · T2</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1800" b="1">
                <a:solidFill>
                  <a:srgbClr val="161B26"/>
                </a:solidFill>
                <a:latin typeface="Arial"/>
              </a:rPr>
              <a:t>What is Copilot proposes the process direction; PowerPoint preserves the controlled system?</a:t>
            </a:r>
          </a:p>
        </p:txBody>
      </p:sp>
      <p:sp>
        <p:nvSpPr>
          <p:cNvPr id="6" name="Rectangle 5"/>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0" name="TextBox 9"/>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Asset prompt</a:t>
            </a:r>
          </a:p>
          <a:p>
            <a:pPr algn="l">
              <a:spcAft>
                <a:spcPts val="300"/>
              </a:spcAft>
            </a:pPr>
            <a:r>
              <a:rPr sz="1200" b="0">
                <a:solidFill>
                  <a:srgbClr val="5B6372"/>
                </a:solidFill>
                <a:latin typeface="Arial"/>
              </a:rPr>
              <a:t>Specify subject, style, composition, palette, transparency and exclusions.</a:t>
            </a:r>
          </a:p>
        </p:txBody>
      </p:sp>
      <p:sp>
        <p:nvSpPr>
          <p:cNvPr id="11" name="Rectangle 10"/>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5" name="TextBox 14"/>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Consistency</a:t>
            </a:r>
          </a:p>
          <a:p>
            <a:pPr algn="l">
              <a:spcAft>
                <a:spcPts val="300"/>
              </a:spcAft>
            </a:pPr>
            <a:r>
              <a:rPr sz="1200" b="0">
                <a:solidFill>
                  <a:srgbClr val="5B6372"/>
                </a:solidFill>
                <a:latin typeface="Arial"/>
              </a:rPr>
              <a:t>Generate one coherent family rather than unrelated visual styles.</a:t>
            </a:r>
          </a:p>
        </p:txBody>
      </p:sp>
      <p:sp>
        <p:nvSpPr>
          <p:cNvPr id="16" name="Rectangle 15"/>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0" name="TextBox 19"/>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Editable meaning</a:t>
            </a:r>
          </a:p>
          <a:p>
            <a:pPr algn="l">
              <a:spcAft>
                <a:spcPts val="300"/>
              </a:spcAft>
            </a:pPr>
            <a:r>
              <a:rPr sz="1200" b="0">
                <a:solidFill>
                  <a:srgbClr val="5B6372"/>
                </a:solidFill>
                <a:latin typeface="Arial"/>
              </a:rPr>
              <a:t>Keep claims, labels, numbers, connectors and charts as native PowerPoint objects.</a:t>
            </a:r>
          </a:p>
        </p:txBody>
      </p:sp>
      <p:sp>
        <p:nvSpPr>
          <p:cNvPr id="21" name="Rectangle 20"/>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5" name="TextBox 24"/>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Provenance</a:t>
            </a:r>
          </a:p>
          <a:p>
            <a:pPr algn="l">
              <a:spcAft>
                <a:spcPts val="300"/>
              </a:spcAft>
            </a:pPr>
            <a:r>
              <a:rPr sz="1200" b="0">
                <a:solidFill>
                  <a:srgbClr val="5B6372"/>
                </a:solidFill>
                <a:latin typeface="Arial"/>
              </a:rPr>
              <a:t>Record tool, prompt, date, intended use, review and human changes.</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78</a:t>
            </a:r>
          </a:p>
        </p:txBody>
      </p:sp>
      <p:sp>
        <p:nvSpPr>
          <p:cNvPr id="29" name="TextBox 28"/>
          <p:cNvSpPr txBox="1"/>
          <p:nvPr/>
        </p:nvSpPr>
        <p:spPr>
          <a:xfrm>
            <a:off x="777240" y="6163056"/>
            <a:ext cx="10607040" cy="201168"/>
          </a:xfrm>
          <a:prstGeom prst="rect">
            <a:avLst/>
          </a:prstGeom>
          <a:noFill/>
        </p:spPr>
        <p:txBody>
          <a:bodyPr wrap="square" anchor="t">
            <a:spAutoFit/>
          </a:bodyPr>
          <a:lstStyle/>
          <a:p>
            <a:pPr algn="l">
              <a:spcAft>
                <a:spcPts val="400"/>
              </a:spcAft>
            </a:pPr>
            <a:r>
              <a:rPr sz="850" b="0">
                <a:solidFill>
                  <a:srgbClr val="5B6372"/>
                </a:solidFill>
                <a:latin typeface="Arial"/>
              </a:rPr>
              <a:t>Source: course synthesis</a:t>
            </a:r>
          </a:p>
        </p:txBody>
      </p:sp>
    </p:spTree>
  </p:cSld>
  <p:clrMapOvr>
    <a:masterClrMapping/>
  </p:clrMapOvr>
  <p:transition spd="fast" advClick="1">
    <p:fade/>
  </p:transition>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LO2 · LU2 · T2 · HOW IT WORKS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Prompt-to-Process-to-PowerPoint</a:t>
            </a:r>
          </a:p>
        </p:txBody>
      </p:sp>
      <p:sp>
        <p:nvSpPr>
          <p:cNvPr id="6" name="Rectangle 5"/>
          <p:cNvSpPr/>
          <p:nvPr/>
        </p:nvSpPr>
        <p:spPr>
          <a:xfrm>
            <a:off x="777240" y="2331720"/>
            <a:ext cx="1907438"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401775" y="2642616"/>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401775" y="264261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0" name="TextBox 9"/>
          <p:cNvSpPr txBox="1"/>
          <p:nvPr/>
        </p:nvSpPr>
        <p:spPr>
          <a:xfrm>
            <a:off x="905256" y="3429000"/>
            <a:ext cx="1651406" cy="365760"/>
          </a:xfrm>
          <a:prstGeom prst="rect">
            <a:avLst/>
          </a:prstGeom>
          <a:noFill/>
        </p:spPr>
        <p:txBody>
          <a:bodyPr wrap="square" anchor="t">
            <a:spAutoFit/>
          </a:bodyPr>
          <a:lstStyle/>
          <a:p>
            <a:pPr algn="ctr">
              <a:spcAft>
                <a:spcPts val="400"/>
              </a:spcAft>
            </a:pPr>
            <a:r>
              <a:rPr sz="1400" b="1">
                <a:solidFill>
                  <a:srgbClr val="161B26"/>
                </a:solidFill>
                <a:latin typeface="Arial"/>
              </a:rPr>
              <a:t>Describe</a:t>
            </a:r>
          </a:p>
        </p:txBody>
      </p:sp>
      <p:sp>
        <p:nvSpPr>
          <p:cNvPr id="11" name="TextBox 10"/>
          <p:cNvSpPr txBox="1"/>
          <p:nvPr/>
        </p:nvSpPr>
        <p:spPr>
          <a:xfrm>
            <a:off x="905256" y="3813048"/>
            <a:ext cx="1651406" cy="1280160"/>
          </a:xfrm>
          <a:prstGeom prst="rect">
            <a:avLst/>
          </a:prstGeom>
          <a:noFill/>
        </p:spPr>
        <p:txBody>
          <a:bodyPr wrap="square" anchor="t">
            <a:spAutoFit/>
          </a:bodyPr>
          <a:lstStyle/>
          <a:p>
            <a:pPr algn="ctr">
              <a:spcAft>
                <a:spcPts val="400"/>
              </a:spcAft>
            </a:pPr>
            <a:r>
              <a:rPr sz="1250" b="0">
                <a:solidFill>
                  <a:srgbClr val="5B6372"/>
                </a:solidFill>
                <a:latin typeface="Arial"/>
              </a:rPr>
              <a:t>Name the five stages, audience, decision, source and visual constraints.</a:t>
            </a:r>
          </a:p>
        </p:txBody>
      </p:sp>
      <p:sp>
        <p:nvSpPr>
          <p:cNvPr id="12" name="Chevron 11"/>
          <p:cNvSpPr/>
          <p:nvPr/>
        </p:nvSpPr>
        <p:spPr>
          <a:xfrm>
            <a:off x="2702966" y="3607308"/>
            <a:ext cx="237744" cy="329184"/>
          </a:xfrm>
          <a:prstGeom prst="chevron">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958998" y="2331720"/>
            <a:ext cx="1907438"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58998" y="233172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83533" y="2642616"/>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83533" y="264261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7" name="TextBox 16"/>
          <p:cNvSpPr txBox="1"/>
          <p:nvPr/>
        </p:nvSpPr>
        <p:spPr>
          <a:xfrm>
            <a:off x="3087014" y="3429000"/>
            <a:ext cx="1651406" cy="365760"/>
          </a:xfrm>
          <a:prstGeom prst="rect">
            <a:avLst/>
          </a:prstGeom>
          <a:noFill/>
        </p:spPr>
        <p:txBody>
          <a:bodyPr wrap="square" anchor="t">
            <a:spAutoFit/>
          </a:bodyPr>
          <a:lstStyle/>
          <a:p>
            <a:pPr algn="ctr">
              <a:spcAft>
                <a:spcPts val="400"/>
              </a:spcAft>
            </a:pPr>
            <a:r>
              <a:rPr sz="1400" b="1">
                <a:solidFill>
                  <a:srgbClr val="161B26"/>
                </a:solidFill>
                <a:latin typeface="Arial"/>
              </a:rPr>
              <a:t>Generate</a:t>
            </a:r>
          </a:p>
        </p:txBody>
      </p:sp>
      <p:sp>
        <p:nvSpPr>
          <p:cNvPr id="18" name="TextBox 17"/>
          <p:cNvSpPr txBox="1"/>
          <p:nvPr/>
        </p:nvSpPr>
        <p:spPr>
          <a:xfrm>
            <a:off x="3087014" y="3813048"/>
            <a:ext cx="1651406" cy="1280160"/>
          </a:xfrm>
          <a:prstGeom prst="rect">
            <a:avLst/>
          </a:prstGeom>
          <a:noFill/>
        </p:spPr>
        <p:txBody>
          <a:bodyPr wrap="square" anchor="t">
            <a:spAutoFit/>
          </a:bodyPr>
          <a:lstStyle/>
          <a:p>
            <a:pPr algn="ctr">
              <a:spcAft>
                <a:spcPts val="400"/>
              </a:spcAft>
            </a:pPr>
            <a:r>
              <a:rPr sz="1250" b="0">
                <a:solidFill>
                  <a:srgbClr val="5B6372"/>
                </a:solidFill>
                <a:latin typeface="Arial"/>
              </a:rPr>
              <a:t>Create a Wide process infographic in Microsoft 365 Copilot.</a:t>
            </a:r>
          </a:p>
        </p:txBody>
      </p:sp>
      <p:sp>
        <p:nvSpPr>
          <p:cNvPr id="19" name="Chevron 18"/>
          <p:cNvSpPr/>
          <p:nvPr/>
        </p:nvSpPr>
        <p:spPr>
          <a:xfrm>
            <a:off x="4884724" y="3607308"/>
            <a:ext cx="237744" cy="329184"/>
          </a:xfrm>
          <a:prstGeom prst="chevron">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40756" y="2331720"/>
            <a:ext cx="1907438"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140756" y="233172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765291" y="2642616"/>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765291" y="264261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4" name="TextBox 23"/>
          <p:cNvSpPr txBox="1"/>
          <p:nvPr/>
        </p:nvSpPr>
        <p:spPr>
          <a:xfrm>
            <a:off x="5268772" y="3429000"/>
            <a:ext cx="1651406" cy="365760"/>
          </a:xfrm>
          <a:prstGeom prst="rect">
            <a:avLst/>
          </a:prstGeom>
          <a:noFill/>
        </p:spPr>
        <p:txBody>
          <a:bodyPr wrap="square" anchor="t">
            <a:spAutoFit/>
          </a:bodyPr>
          <a:lstStyle/>
          <a:p>
            <a:pPr algn="ctr">
              <a:spcAft>
                <a:spcPts val="400"/>
              </a:spcAft>
            </a:pPr>
            <a:r>
              <a:rPr sz="1400" b="1">
                <a:solidFill>
                  <a:srgbClr val="161B26"/>
                </a:solidFill>
                <a:latin typeface="Arial"/>
              </a:rPr>
              <a:t>Inspect</a:t>
            </a:r>
          </a:p>
        </p:txBody>
      </p:sp>
      <p:sp>
        <p:nvSpPr>
          <p:cNvPr id="25" name="TextBox 24"/>
          <p:cNvSpPr txBox="1"/>
          <p:nvPr/>
        </p:nvSpPr>
        <p:spPr>
          <a:xfrm>
            <a:off x="5268772" y="3813048"/>
            <a:ext cx="1651406" cy="1280160"/>
          </a:xfrm>
          <a:prstGeom prst="rect">
            <a:avLst/>
          </a:prstGeom>
          <a:noFill/>
        </p:spPr>
        <p:txBody>
          <a:bodyPr wrap="square" anchor="t">
            <a:spAutoFit/>
          </a:bodyPr>
          <a:lstStyle/>
          <a:p>
            <a:pPr algn="ctr">
              <a:spcAft>
                <a:spcPts val="400"/>
              </a:spcAft>
            </a:pPr>
            <a:r>
              <a:rPr sz="1250" b="0">
                <a:solidFill>
                  <a:srgbClr val="5B6372"/>
                </a:solidFill>
                <a:latin typeface="Arial"/>
              </a:rPr>
              <a:t>Reject wrong sequence, invented claims, ambiguous symbols and clutter.</a:t>
            </a:r>
          </a:p>
        </p:txBody>
      </p:sp>
      <p:sp>
        <p:nvSpPr>
          <p:cNvPr id="26" name="Chevron 25"/>
          <p:cNvSpPr/>
          <p:nvPr/>
        </p:nvSpPr>
        <p:spPr>
          <a:xfrm>
            <a:off x="7066482" y="3607308"/>
            <a:ext cx="237744" cy="329184"/>
          </a:xfrm>
          <a:prstGeom prst="chevron">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322514" y="2331720"/>
            <a:ext cx="1907438"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22514" y="233172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947049" y="2642616"/>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947049" y="264261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1" name="TextBox 30"/>
          <p:cNvSpPr txBox="1"/>
          <p:nvPr/>
        </p:nvSpPr>
        <p:spPr>
          <a:xfrm>
            <a:off x="7450530" y="3429000"/>
            <a:ext cx="1651406" cy="365760"/>
          </a:xfrm>
          <a:prstGeom prst="rect">
            <a:avLst/>
          </a:prstGeom>
          <a:noFill/>
        </p:spPr>
        <p:txBody>
          <a:bodyPr wrap="square" anchor="t">
            <a:spAutoFit/>
          </a:bodyPr>
          <a:lstStyle/>
          <a:p>
            <a:pPr algn="ctr">
              <a:spcAft>
                <a:spcPts val="400"/>
              </a:spcAft>
            </a:pPr>
            <a:r>
              <a:rPr sz="1400" b="1">
                <a:solidFill>
                  <a:srgbClr val="161B26"/>
                </a:solidFill>
                <a:latin typeface="Arial"/>
              </a:rPr>
              <a:t>Rebuild</a:t>
            </a:r>
          </a:p>
        </p:txBody>
      </p:sp>
      <p:sp>
        <p:nvSpPr>
          <p:cNvPr id="32" name="TextBox 31"/>
          <p:cNvSpPr txBox="1"/>
          <p:nvPr/>
        </p:nvSpPr>
        <p:spPr>
          <a:xfrm>
            <a:off x="7450530" y="3813048"/>
            <a:ext cx="1651406" cy="1280160"/>
          </a:xfrm>
          <a:prstGeom prst="rect">
            <a:avLst/>
          </a:prstGeom>
          <a:noFill/>
        </p:spPr>
        <p:txBody>
          <a:bodyPr wrap="square" anchor="t">
            <a:spAutoFit/>
          </a:bodyPr>
          <a:lstStyle/>
          <a:p>
            <a:pPr algn="ctr">
              <a:spcAft>
                <a:spcPts val="400"/>
              </a:spcAft>
            </a:pPr>
            <a:r>
              <a:rPr sz="1250" b="0">
                <a:solidFill>
                  <a:srgbClr val="5B6372"/>
                </a:solidFill>
                <a:latin typeface="Arial"/>
              </a:rPr>
              <a:t>Create editable PowerPoint stages, connectors, labels and metrics.</a:t>
            </a:r>
          </a:p>
        </p:txBody>
      </p:sp>
      <p:sp>
        <p:nvSpPr>
          <p:cNvPr id="33" name="Chevron 32"/>
          <p:cNvSpPr/>
          <p:nvPr/>
        </p:nvSpPr>
        <p:spPr>
          <a:xfrm>
            <a:off x="9248240" y="3607308"/>
            <a:ext cx="237744" cy="329184"/>
          </a:xfrm>
          <a:prstGeom prst="chevron">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504272" y="2331720"/>
            <a:ext cx="1907438"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504272" y="233172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0128807" y="2642616"/>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128807" y="264261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8" name="TextBox 37"/>
          <p:cNvSpPr txBox="1"/>
          <p:nvPr/>
        </p:nvSpPr>
        <p:spPr>
          <a:xfrm>
            <a:off x="9632288" y="3429000"/>
            <a:ext cx="1651406" cy="365760"/>
          </a:xfrm>
          <a:prstGeom prst="rect">
            <a:avLst/>
          </a:prstGeom>
          <a:noFill/>
        </p:spPr>
        <p:txBody>
          <a:bodyPr wrap="square" anchor="t">
            <a:spAutoFit/>
          </a:bodyPr>
          <a:lstStyle/>
          <a:p>
            <a:pPr algn="ctr">
              <a:spcAft>
                <a:spcPts val="400"/>
              </a:spcAft>
            </a:pPr>
            <a:r>
              <a:rPr sz="1400" b="1">
                <a:solidFill>
                  <a:srgbClr val="161B26"/>
                </a:solidFill>
                <a:latin typeface="Arial"/>
              </a:rPr>
              <a:t>Verify</a:t>
            </a:r>
          </a:p>
        </p:txBody>
      </p:sp>
      <p:sp>
        <p:nvSpPr>
          <p:cNvPr id="39" name="TextBox 38"/>
          <p:cNvSpPr txBox="1"/>
          <p:nvPr/>
        </p:nvSpPr>
        <p:spPr>
          <a:xfrm>
            <a:off x="9632288" y="3813048"/>
            <a:ext cx="1651406" cy="1280160"/>
          </a:xfrm>
          <a:prstGeom prst="rect">
            <a:avLst/>
          </a:prstGeom>
          <a:noFill/>
        </p:spPr>
        <p:txBody>
          <a:bodyPr wrap="square" anchor="t">
            <a:spAutoFit/>
          </a:bodyPr>
          <a:lstStyle/>
          <a:p>
            <a:pPr algn="ctr">
              <a:spcAft>
                <a:spcPts val="400"/>
              </a:spcAft>
            </a:pPr>
            <a:r>
              <a:rPr sz="1250" b="0">
                <a:solidFill>
                  <a:srgbClr val="5B6372"/>
                </a:solidFill>
                <a:latin typeface="Arial"/>
              </a:rPr>
              <a:t>Check source, alt text, reading order and export.</a:t>
            </a:r>
          </a:p>
        </p:txBody>
      </p:sp>
      <p:sp>
        <p:nvSpPr>
          <p:cNvPr id="40" name="TextBox 3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41" name="TextBox 4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2" name="TextBox 4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79</a:t>
            </a:r>
          </a:p>
        </p:txBody>
      </p:sp>
    </p:spTree>
  </p:cSld>
  <p:clrMapOvr>
    <a:masterClrMapping/>
  </p:clrMapOvr>
  <p:transition spd="fast" advClick="1">
    <p:fade/>
  </p:transition>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LO2 · LU2 · T2 · COMPARE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Generated Asset vs Information Evidence</a:t>
            </a:r>
          </a:p>
        </p:txBody>
      </p:sp>
      <p:sp>
        <p:nvSpPr>
          <p:cNvPr id="6" name="Rectangle 5"/>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AI image can support</a:t>
            </a:r>
          </a:p>
        </p:txBody>
      </p:sp>
      <p:sp>
        <p:nvSpPr>
          <p:cNvPr id="9" name="TextBox 8"/>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PowerPoint must carry</a:t>
            </a:r>
          </a:p>
        </p:txBody>
      </p:sp>
      <p:sp>
        <p:nvSpPr>
          <p:cNvPr id="10" name="TextBox 9"/>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Mood and visual metaphor</a:t>
            </a:r>
          </a:p>
          <a:p>
            <a:pPr>
              <a:spcAft>
                <a:spcPts val="1000"/>
              </a:spcAft>
            </a:pPr>
            <a:r>
              <a:rPr sz="1600" b="0">
                <a:solidFill>
                  <a:srgbClr val="161B26"/>
                </a:solidFill>
                <a:latin typeface="Arial"/>
              </a:rPr>
              <a:t>•  Consistent illustrative icon family</a:t>
            </a:r>
          </a:p>
          <a:p>
            <a:pPr>
              <a:spcAft>
                <a:spcPts val="1000"/>
              </a:spcAft>
            </a:pPr>
            <a:r>
              <a:rPr sz="1600" b="0">
                <a:solidFill>
                  <a:srgbClr val="161B26"/>
                </a:solidFill>
                <a:latin typeface="Arial"/>
              </a:rPr>
              <a:t>•  Background or hero imagery</a:t>
            </a:r>
          </a:p>
          <a:p>
            <a:pPr>
              <a:spcAft>
                <a:spcPts val="1000"/>
              </a:spcAft>
            </a:pPr>
            <a:r>
              <a:rPr sz="1600" b="0">
                <a:solidFill>
                  <a:srgbClr val="161B26"/>
                </a:solidFill>
                <a:latin typeface="Arial"/>
              </a:rPr>
              <a:t>•  Non-data decorative support</a:t>
            </a:r>
          </a:p>
        </p:txBody>
      </p:sp>
      <p:sp>
        <p:nvSpPr>
          <p:cNvPr id="11" name="TextBox 10"/>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161B26"/>
                </a:solidFill>
                <a:latin typeface="Arial"/>
              </a:rPr>
              <a:t>•  Verified numbers and claims</a:t>
            </a:r>
          </a:p>
          <a:p>
            <a:pPr>
              <a:spcAft>
                <a:spcPts val="1000"/>
              </a:spcAft>
            </a:pPr>
            <a:r>
              <a:rPr sz="1600" b="0">
                <a:solidFill>
                  <a:srgbClr val="161B26"/>
                </a:solidFill>
                <a:latin typeface="Arial"/>
              </a:rPr>
              <a:t>•  Editable labels and source notes</a:t>
            </a:r>
          </a:p>
          <a:p>
            <a:pPr>
              <a:spcAft>
                <a:spcPts val="1000"/>
              </a:spcAft>
            </a:pPr>
            <a:r>
              <a:rPr sz="1600" b="0">
                <a:solidFill>
                  <a:srgbClr val="161B26"/>
                </a:solidFill>
                <a:latin typeface="Arial"/>
              </a:rPr>
              <a:t>•  Native charts and meaningful connectors</a:t>
            </a:r>
          </a:p>
          <a:p>
            <a:pPr>
              <a:spcAft>
                <a:spcPts val="1000"/>
              </a:spcAft>
            </a:pPr>
            <a:r>
              <a:rPr sz="1600" b="0">
                <a:solidFill>
                  <a:srgbClr val="161B26"/>
                </a:solidFill>
                <a:latin typeface="Arial"/>
              </a:rPr>
              <a:t>•  Reading order and accessibility</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80</a:t>
            </a:r>
          </a:p>
        </p:txBody>
      </p:sp>
      <p:sp>
        <p:nvSpPr>
          <p:cNvPr id="15" name="TextBox 14"/>
          <p:cNvSpPr txBox="1"/>
          <p:nvPr/>
        </p:nvSpPr>
        <p:spPr>
          <a:xfrm>
            <a:off x="777240" y="6163056"/>
            <a:ext cx="10607040" cy="201168"/>
          </a:xfrm>
          <a:prstGeom prst="rect">
            <a:avLst/>
          </a:prstGeom>
          <a:noFill/>
        </p:spPr>
        <p:txBody>
          <a:bodyPr wrap="square" anchor="t">
            <a:spAutoFit/>
          </a:bodyPr>
          <a:lstStyle/>
          <a:p>
            <a:pPr algn="l">
              <a:spcAft>
                <a:spcPts val="400"/>
              </a:spcAft>
            </a:pPr>
            <a:r>
              <a:rPr sz="850" b="0">
                <a:solidFill>
                  <a:srgbClr val="5B6372"/>
                </a:solidFill>
                <a:latin typeface="Arial"/>
              </a:rPr>
              <a:t>Source: course synthesis</a:t>
            </a:r>
          </a:p>
        </p:txBody>
      </p:sp>
    </p:spTree>
  </p:cSld>
  <p:clrMapOvr>
    <a:masterClrMapping/>
  </p:clrMapOvr>
  <p:transition spd="fast" advClick="1">
    <p:fade/>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350"/>
                                        <p:tgtEl>
                                          <p:spTgt spid="10"/>
                                        </p:tgtEl>
                                      </p:cBhvr>
                                    </p:animEffect>
                                    <p:anim calcmode="lin" valueType="num">
                                      <p:cBhvr additive="base">
                                        <p:cTn id="15" dur="350" fill="hold"/>
                                        <p:tgtEl>
                                          <p:spTgt spid="10"/>
                                        </p:tgtEl>
                                        <p:attrNameLst>
                                          <p:attrName>ppt_y</p:attrName>
                                        </p:attrNameLst>
                                      </p:cBhvr>
                                      <p:tavLst>
                                        <p:tav tm="0">
                                          <p:val>
                                            <p:strVal val="#ppt_y+0.0350"/>
                                          </p:val>
                                        </p:tav>
                                        <p:tav tm="100000">
                                          <p:val>
                                            <p:strVal val="#ppt_y"/>
                                          </p:val>
                                        </p:tav>
                                      </p:tavLst>
                                    </p:anim>
                                  </p:childTnLst>
                                </p:cTn>
                              </p:par>
                            </p:childTnLst>
                          </p:cTn>
                        </p:par>
                      </p:childTnLst>
                    </p:cTn>
                  </p:par>
                  <p:par>
                    <p:cTn id="20" fill="hold">
                      <p:stCondLst>
                        <p:cond delay="0"/>
                      </p:stCondLst>
                      <p:childTnLst>
                        <p:par>
                          <p:cTn id="21" fill="hold">
                            <p:stCondLst>
                              <p:cond delay="0"/>
                            </p:stCondLst>
                            <p:childTnLst>
                              <p:par>
                                <p:cTn id="22" presetID="10" presetClass="entr" presetSubtype="0" fill="hold" grpId="0" nodeType="afterEffect">
                                  <p:stCondLst>
                                    <p:cond delay="0"/>
                                  </p:stCondLst>
                                  <p:childTnLst>
                                    <p:set>
                                      <p:cBhvr>
                                        <p:cTn id="23" dur="1" fill="hold">
                                          <p:stCondLst>
                                            <p:cond delay="0"/>
                                          </p:stCondLst>
                                        </p:cTn>
                                        <p:tgtEl>
                                          <p:spTgt spid="11"/>
                                        </p:tgtEl>
                                        <p:attrNameLst>
                                          <p:attrName>style.visibility</p:attrName>
                                        </p:attrNameLst>
                                      </p:cBhvr>
                                      <p:to>
                                        <p:strVal val="visible"/>
                                      </p:to>
                                    </p:set>
                                    <p:animEffect transition="in" filter="fade">
                                      <p:cBhvr>
                                        <p:cTn id="24" dur="350"/>
                                        <p:tgtEl>
                                          <p:spTgt spid="11"/>
                                        </p:tgtEl>
                                      </p:cBhvr>
                                    </p:animEffect>
                                    <p:anim calcmode="lin" valueType="num">
                                      <p:cBhvr additive="base">
                                        <p:cTn id="25" dur="350" fill="hold"/>
                                        <p:tgtEl>
                                          <p:spTgt spid="11"/>
                                        </p:tgtEl>
                                        <p:attrNameLst>
                                          <p:attrName>ppt_y</p:attrName>
                                        </p:attrNameLst>
                                      </p:cBhvr>
                                      <p:tavLst>
                                        <p:tav tm="0">
                                          <p:val>
                                            <p:strVal val="#ppt_y+0.0350"/>
                                          </p:val>
                                        </p:tav>
                                        <p:tav tm="100000">
                                          <p:val>
                                            <p:strVal val="#ppt_y"/>
                                          </p:val>
                                        </p:tav>
                                      </p:tavLst>
                                    </p:anim>
                                  </p:childTnLst>
                                </p:cTn>
                              </p:par>
                            </p:childTnLst>
                          </p:cTn>
                        </p:par>
                      </p:childTnLst>
                    </p:cTn>
                  </p:par>
                </p:childTnLst>
                <p:prevCondLst>
                  <p:cond evt="onPrev" delay="0">
                    <p:tgtEl>
                      <p:sldTgt/>
                    </p:tgtEl>
                  </p:cond>
                </p:prevCondLst>
                <p:nextCondLst>
                  <p:cond evt="onNext" delay="0">
                    <p:tgtEl>
                      <p:sldTgt/>
                    </p:tgtEl>
                  </p:cond>
                </p:nextCondLst>
              </p:cTn>
            </p:seq>
          </p:childTnLst>
        </p:cTn>
      </p:par>
    </p:tnLst>
  </p:timing>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LO2 · LU2 · T2 · SUPPORTING DATA</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Five-Stage Delivery Process</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0" name="TextBox 9"/>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1</a:t>
            </a:r>
          </a:p>
          <a:p>
            <a:pPr algn="l">
              <a:spcAft>
                <a:spcPts val="300"/>
              </a:spcAft>
            </a:pPr>
            <a:r>
              <a:rPr sz="1200" b="0">
                <a:solidFill>
                  <a:srgbClr val="5B6372"/>
                </a:solidFill>
                <a:latin typeface="Arial"/>
              </a:rPr>
              <a:t>Order confirmed</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5" name="TextBox 14"/>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2</a:t>
            </a:r>
          </a:p>
          <a:p>
            <a:pPr algn="l">
              <a:spcAft>
                <a:spcPts val="300"/>
              </a:spcAft>
            </a:pPr>
            <a:r>
              <a:rPr sz="1200" b="0">
                <a:solidFill>
                  <a:srgbClr val="5B6372"/>
                </a:solidFill>
                <a:latin typeface="Arial"/>
              </a:rPr>
              <a:t>Inventory reserved</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0" name="TextBox 19"/>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3</a:t>
            </a:r>
          </a:p>
          <a:p>
            <a:pPr algn="l">
              <a:spcAft>
                <a:spcPts val="300"/>
              </a:spcAft>
            </a:pPr>
            <a:r>
              <a:rPr sz="1200" b="0">
                <a:solidFill>
                  <a:srgbClr val="5B6372"/>
                </a:solidFill>
                <a:latin typeface="Arial"/>
              </a:rPr>
              <a:t>Route optimised</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5" name="TextBox 24"/>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4</a:t>
            </a:r>
          </a:p>
          <a:p>
            <a:pPr algn="l">
              <a:spcAft>
                <a:spcPts val="300"/>
              </a:spcAft>
            </a:pPr>
            <a:r>
              <a:rPr sz="1200" b="0">
                <a:solidFill>
                  <a:srgbClr val="5B6372"/>
                </a:solidFill>
                <a:latin typeface="Arial"/>
              </a:rPr>
              <a:t>Low-emission delivery</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0" name="TextBox 29"/>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5</a:t>
            </a:r>
          </a:p>
          <a:p>
            <a:pPr algn="l">
              <a:spcAft>
                <a:spcPts val="300"/>
              </a:spcAft>
            </a:pPr>
            <a:r>
              <a:rPr sz="1200" b="0">
                <a:solidFill>
                  <a:srgbClr val="5B6372"/>
                </a:solidFill>
                <a:latin typeface="Arial"/>
              </a:rPr>
              <a:t>Customer feedback</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5" name="TextBox 34"/>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Rule</a:t>
            </a:r>
          </a:p>
          <a:p>
            <a:pPr algn="l">
              <a:spcAft>
                <a:spcPts val="300"/>
              </a:spcAft>
            </a:pPr>
            <a:r>
              <a:rPr sz="1200" b="0">
                <a:solidFill>
                  <a:srgbClr val="5B6372"/>
                </a:solidFill>
                <a:latin typeface="Arial"/>
              </a:rPr>
              <a:t>One stage, one verb, one icon</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81</a:t>
            </a:r>
          </a:p>
        </p:txBody>
      </p:sp>
      <p:sp>
        <p:nvSpPr>
          <p:cNvPr id="39" name="TextBox 38"/>
          <p:cNvSpPr txBox="1"/>
          <p:nvPr/>
        </p:nvSpPr>
        <p:spPr>
          <a:xfrm>
            <a:off x="777240" y="6163056"/>
            <a:ext cx="10607040" cy="201168"/>
          </a:xfrm>
          <a:prstGeom prst="rect">
            <a:avLst/>
          </a:prstGeom>
          <a:noFill/>
        </p:spPr>
        <p:txBody>
          <a:bodyPr wrap="square" anchor="t">
            <a:spAutoFit/>
          </a:bodyPr>
          <a:lstStyle/>
          <a:p>
            <a:pPr algn="l">
              <a:spcAft>
                <a:spcPts val="400"/>
              </a:spcAft>
            </a:pPr>
            <a:r>
              <a:rPr sz="850" b="0">
                <a:solidFill>
                  <a:srgbClr val="5B6372"/>
                </a:solidFill>
                <a:latin typeface="Arial"/>
              </a:rPr>
              <a:t>Source: illustrative synthetic data</a:t>
            </a:r>
          </a:p>
        </p:txBody>
      </p:sp>
    </p:spTree>
  </p:cSld>
  <p:clrMapOvr>
    <a:masterClrMapping/>
  </p:clrMapOvr>
  <p:transition spd="fast" advClick="1">
    <p:fade/>
  </p:transition>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LO2 · LU2 · T2 · ACTIVITY 4</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Create a Process Infographic with Microsoft 365 Copilot</a:t>
            </a:r>
          </a:p>
        </p:txBody>
      </p:sp>
      <p:sp>
        <p:nvSpPr>
          <p:cNvPr id="6" name="Rectangle 5"/>
          <p:cNvSpPr/>
          <p:nvPr/>
        </p:nvSpPr>
        <p:spPr>
          <a:xfrm>
            <a:off x="777240" y="1691640"/>
            <a:ext cx="169164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28216"/>
            <a:ext cx="1691640" cy="365760"/>
          </a:xfrm>
          <a:prstGeom prst="rect">
            <a:avLst/>
          </a:prstGeom>
          <a:noFill/>
        </p:spPr>
        <p:txBody>
          <a:bodyPr wrap="square" anchor="t">
            <a:spAutoFit/>
          </a:bodyPr>
          <a:lstStyle/>
          <a:p>
            <a:pPr algn="ctr">
              <a:spcAft>
                <a:spcPts val="400"/>
              </a:spcAft>
            </a:pPr>
            <a:r>
              <a:rPr sz="1300" b="1">
                <a:solidFill>
                  <a:srgbClr val="FFFFFF"/>
                </a:solidFill>
                <a:latin typeface="Arial"/>
              </a:rPr>
              <a:t>CASE STUDY</a:t>
            </a:r>
          </a:p>
        </p:txBody>
      </p:sp>
      <p:sp>
        <p:nvSpPr>
          <p:cNvPr id="8" name="Rectangle 7"/>
          <p:cNvSpPr/>
          <p:nvPr/>
        </p:nvSpPr>
        <p:spPr>
          <a:xfrm>
            <a:off x="777240" y="2286000"/>
            <a:ext cx="1063447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286000"/>
            <a:ext cx="91440" cy="28803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2487168"/>
            <a:ext cx="9966960" cy="320040"/>
          </a:xfrm>
          <a:prstGeom prst="rect">
            <a:avLst/>
          </a:prstGeom>
          <a:noFill/>
        </p:spPr>
        <p:txBody>
          <a:bodyPr wrap="square" anchor="t">
            <a:spAutoFit/>
          </a:bodyPr>
          <a:lstStyle/>
          <a:p>
            <a:pPr algn="l">
              <a:spcAft>
                <a:spcPts val="400"/>
              </a:spcAft>
            </a:pPr>
            <a:r>
              <a:rPr sz="1200" b="1">
                <a:solidFill>
                  <a:srgbClr val="10B981"/>
                </a:solidFill>
                <a:latin typeface="Arial"/>
              </a:rPr>
              <a:t>THE SITUATION</a:t>
            </a:r>
          </a:p>
        </p:txBody>
      </p:sp>
      <p:sp>
        <p:nvSpPr>
          <p:cNvPr id="11" name="TextBox 10"/>
          <p:cNvSpPr txBox="1"/>
          <p:nvPr/>
        </p:nvSpPr>
        <p:spPr>
          <a:xfrm>
            <a:off x="1097280" y="2834640"/>
            <a:ext cx="10058400" cy="2240280"/>
          </a:xfrm>
          <a:prstGeom prst="rect">
            <a:avLst/>
          </a:prstGeom>
          <a:noFill/>
        </p:spPr>
        <p:txBody>
          <a:bodyPr wrap="square" anchor="t">
            <a:spAutoFit/>
          </a:bodyPr>
          <a:lstStyle/>
          <a:p>
            <a:pPr algn="l">
              <a:spcAft>
                <a:spcPts val="800"/>
              </a:spcAft>
            </a:pPr>
            <a:r>
              <a:rPr sz="1450" b="0">
                <a:solidFill>
                  <a:srgbClr val="161B26"/>
                </a:solidFill>
                <a:latin typeface="Arial"/>
              </a:rPr>
              <a:t>Northstar needs an editable five-stage sustainable-delivery process infographic for store managers. Use the supplied structured Microsoft 365 Copilot prompt and approved synthetic stage data.</a:t>
            </a:r>
          </a:p>
          <a:p>
            <a:pPr algn="l">
              <a:spcAft>
                <a:spcPts val="800"/>
              </a:spcAft>
            </a:pPr>
            <a:r>
              <a:rPr sz="1450" b="0">
                <a:solidFill>
                  <a:srgbClr val="161B26"/>
                </a:solidFill>
                <a:latin typeface="Arial"/>
              </a:rPr>
              <a:t>Treat the Copilot output as a design direction. Build all stage names, values, connectors, source labels and decision meaning as editable PowerPoint objects.</a:t>
            </a:r>
          </a:p>
        </p:txBody>
      </p:sp>
      <p:sp>
        <p:nvSpPr>
          <p:cNvPr id="12" name="Rectangle 11"/>
          <p:cNvSpPr/>
          <p:nvPr/>
        </p:nvSpPr>
        <p:spPr>
          <a:xfrm>
            <a:off x="777240" y="5349240"/>
            <a:ext cx="10634472" cy="68580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5349240"/>
            <a:ext cx="7315200" cy="685800"/>
          </a:xfrm>
          <a:prstGeom prst="rect">
            <a:avLst/>
          </a:prstGeom>
          <a:noFill/>
        </p:spPr>
        <p:txBody>
          <a:bodyPr wrap="square" anchor="ctr">
            <a:spAutoFit/>
          </a:bodyPr>
          <a:lstStyle/>
          <a:p>
            <a:pPr algn="l">
              <a:spcAft>
                <a:spcPts val="400"/>
              </a:spcAft>
            </a:pPr>
            <a:r>
              <a:rPr sz="1300" b="1">
                <a:solidFill>
                  <a:srgbClr val="1F6FEB"/>
                </a:solidFill>
                <a:latin typeface="Arial"/>
              </a:rPr>
              <a:t>You'll produce:  </a:t>
            </a:r>
            <a:r>
              <a:rPr sz="1300" b="0">
                <a:solidFill>
                  <a:srgbClr val="161B26"/>
                </a:solidFill>
                <a:latin typeface="Arial"/>
              </a:rPr>
              <a:t>A Copilot prompt log, editable five-stage process infographic and reusable PowerPoint component slide</a:t>
            </a:r>
          </a:p>
        </p:txBody>
      </p:sp>
      <p:sp>
        <p:nvSpPr>
          <p:cNvPr id="14" name="TextBox 13"/>
          <p:cNvSpPr txBox="1"/>
          <p:nvPr/>
        </p:nvSpPr>
        <p:spPr>
          <a:xfrm>
            <a:off x="8778240" y="5349240"/>
            <a:ext cx="2606040" cy="685800"/>
          </a:xfrm>
          <a:prstGeom prst="rect">
            <a:avLst/>
          </a:prstGeom>
          <a:noFill/>
        </p:spPr>
        <p:txBody>
          <a:bodyPr wrap="square" anchor="ctr">
            <a:spAutoFit/>
          </a:bodyPr>
          <a:lstStyle/>
          <a:p>
            <a:pPr algn="r">
              <a:spcAft>
                <a:spcPts val="400"/>
              </a:spcAft>
            </a:pPr>
            <a:r>
              <a:rPr sz="1300" b="1">
                <a:solidFill>
                  <a:srgbClr val="5B6372"/>
                </a:solidFill>
                <a:latin typeface="Arial"/>
              </a:rPr>
              <a:t>Duration: </a:t>
            </a:r>
            <a:r>
              <a:rPr sz="1300" b="0">
                <a:solidFill>
                  <a:srgbClr val="5B6372"/>
                </a:solidFill>
                <a:latin typeface="Arial"/>
              </a:rPr>
              <a:t>35 minutes</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82</a:t>
            </a:r>
          </a:p>
        </p:txBody>
      </p:sp>
    </p:spTree>
  </p:cSld>
  <p:clrMapOvr>
    <a:masterClrMapping/>
  </p:clrMapOvr>
  <p:transition spd="fast" advClick="1">
    <p:wipe dir="l"/>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8"/>
                                        </p:tgtEl>
                                        <p:attrNameLst>
                                          <p:attrName>style.visibility</p:attrName>
                                        </p:attrNameLst>
                                      </p:cBhvr>
                                      <p:to>
                                        <p:strVal val="visible"/>
                                      </p:to>
                                    </p:set>
                                    <p:animEffect transition="in" filter="fade">
                                      <p:cBhvr>
                                        <p:cTn id="14" dur="350"/>
                                        <p:tgtEl>
                                          <p:spTgt spid="8"/>
                                        </p:tgtEl>
                                      </p:cBhvr>
                                    </p:animEffect>
                                    <p:anim calcmode="lin" valueType="num">
                                      <p:cBhvr additive="base">
                                        <p:cTn id="15" dur="350" fill="hold"/>
                                        <p:tgtEl>
                                          <p:spTgt spid="8"/>
                                        </p:tgtEl>
                                        <p:attrNameLst>
                                          <p:attrName>ppt_y</p:attrName>
                                        </p:attrNameLst>
                                      </p:cBhvr>
                                      <p:tavLst>
                                        <p:tav tm="0">
                                          <p:val>
                                            <p:strVal val="#ppt_y+0.0350"/>
                                          </p:val>
                                        </p:tav>
                                        <p:tav tm="100000">
                                          <p:val>
                                            <p:strVal val="#ppt_y"/>
                                          </p:val>
                                        </p:tav>
                                      </p:tavLst>
                                    </p:anim>
                                  </p:childTnLst>
                                </p:cTn>
                              </p:par>
                            </p:childTnLst>
                          </p:cTn>
                        </p:par>
                      </p:childTnLst>
                    </p:cTn>
                  </p:par>
                  <p:par>
                    <p:cTn id="20" fill="hold">
                      <p:stCondLst>
                        <p:cond delay="0"/>
                      </p:stCondLst>
                      <p:childTnLst>
                        <p:par>
                          <p:cTn id="21" fill="hold">
                            <p:stCondLst>
                              <p:cond delay="0"/>
                            </p:stCondLst>
                            <p:childTnLst>
                              <p:par>
                                <p:cTn id="22" presetID="10" presetClass="entr" presetSubtype="0" fill="hold" grpId="0" nodeType="after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350"/>
                                        <p:tgtEl>
                                          <p:spTgt spid="9"/>
                                        </p:tgtEl>
                                      </p:cBhvr>
                                    </p:animEffect>
                                    <p:anim calcmode="lin" valueType="num">
                                      <p:cBhvr additive="base">
                                        <p:cTn id="25" dur="350" fill="hold"/>
                                        <p:tgtEl>
                                          <p:spTgt spid="9"/>
                                        </p:tgtEl>
                                        <p:attrNameLst>
                                          <p:attrName>ppt_y</p:attrName>
                                        </p:attrNameLst>
                                      </p:cBhvr>
                                      <p:tavLst>
                                        <p:tav tm="0">
                                          <p:val>
                                            <p:strVal val="#ppt_y+0.0350"/>
                                          </p:val>
                                        </p:tav>
                                        <p:tav tm="100000">
                                          <p:val>
                                            <p:strVal val="#ppt_y"/>
                                          </p:val>
                                        </p:tav>
                                      </p:tavLst>
                                    </p:anim>
                                  </p:childTnLst>
                                </p:cTn>
                              </p:par>
                            </p:childTnLst>
                          </p:cTn>
                        </p:par>
                      </p:childTnLst>
                    </p:cTn>
                  </p:par>
                  <p:par>
                    <p:cTn id="30" fill="hold">
                      <p:stCondLst>
                        <p:cond delay="0"/>
                      </p:stCondLst>
                      <p:childTnLst>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350"/>
                                        <p:tgtEl>
                                          <p:spTgt spid="11"/>
                                        </p:tgtEl>
                                      </p:cBhvr>
                                    </p:animEffect>
                                    <p:anim calcmode="lin" valueType="num">
                                      <p:cBhvr additive="base">
                                        <p:cTn id="35" dur="350" fill="hold"/>
                                        <p:tgtEl>
                                          <p:spTgt spid="11"/>
                                        </p:tgtEl>
                                        <p:attrNameLst>
                                          <p:attrName>ppt_y</p:attrName>
                                        </p:attrNameLst>
                                      </p:cBhvr>
                                      <p:tavLst>
                                        <p:tav tm="0">
                                          <p:val>
                                            <p:strVal val="#ppt_y+0.0350"/>
                                          </p:val>
                                        </p:tav>
                                        <p:tav tm="100000">
                                          <p:val>
                                            <p:strVal val="#ppt_y"/>
                                          </p:val>
                                        </p:tav>
                                      </p:tavLst>
                                    </p:anim>
                                  </p:childTnLst>
                                </p:cTn>
                              </p:par>
                            </p:childTnLst>
                          </p:cTn>
                        </p:par>
                      </p:childTnLst>
                    </p:cTn>
                  </p:par>
                  <p:par>
                    <p:cTn id="40" fill="hold">
                      <p:stCondLst>
                        <p:cond delay="0"/>
                      </p:stCondLst>
                      <p:childTnLst>
                        <p:par>
                          <p:cTn id="41" fill="hold">
                            <p:stCondLst>
                              <p:cond delay="0"/>
                            </p:stCondLst>
                            <p:childTnLst>
                              <p:par>
                                <p:cTn id="42" presetID="10" presetClass="entr" presetSubtype="0" fill="hold" grpId="0" nodeType="afterEffect">
                                  <p:stCondLst>
                                    <p:cond delay="0"/>
                                  </p:stCondLst>
                                  <p:childTnLst>
                                    <p:set>
                                      <p:cBhvr>
                                        <p:cTn id="43" dur="1" fill="hold">
                                          <p:stCondLst>
                                            <p:cond delay="0"/>
                                          </p:stCondLst>
                                        </p:cTn>
                                        <p:tgtEl>
                                          <p:spTgt spid="12"/>
                                        </p:tgtEl>
                                        <p:attrNameLst>
                                          <p:attrName>style.visibility</p:attrName>
                                        </p:attrNameLst>
                                      </p:cBhvr>
                                      <p:to>
                                        <p:strVal val="visible"/>
                                      </p:to>
                                    </p:set>
                                    <p:animEffect transition="in" filter="fade">
                                      <p:cBhvr>
                                        <p:cTn id="44" dur="350"/>
                                        <p:tgtEl>
                                          <p:spTgt spid="12"/>
                                        </p:tgtEl>
                                      </p:cBhvr>
                                    </p:animEffect>
                                    <p:anim calcmode="lin" valueType="num">
                                      <p:cBhvr additive="base">
                                        <p:cTn id="45" dur="350" fill="hold"/>
                                        <p:tgtEl>
                                          <p:spTgt spid="12"/>
                                        </p:tgtEl>
                                        <p:attrNameLst>
                                          <p:attrName>ppt_y</p:attrName>
                                        </p:attrNameLst>
                                      </p:cBhvr>
                                      <p:tavLst>
                                        <p:tav tm="0">
                                          <p:val>
                                            <p:strVal val="#ppt_y+0.0350"/>
                                          </p:val>
                                        </p:tav>
                                        <p:tav tm="100000">
                                          <p:val>
                                            <p:strVal val="#ppt_y"/>
                                          </p:val>
                                        </p:tav>
                                      </p:tavLst>
                                    </p:anim>
                                  </p:childTnLst>
                                </p:cTn>
                              </p:par>
                            </p:childTnLst>
                          </p:cTn>
                        </p:par>
                      </p:childTnLst>
                    </p:cTn>
                  </p:par>
                  <p:par>
                    <p:cTn id="50" fill="hold">
                      <p:stCondLst>
                        <p:cond delay="0"/>
                      </p:stCondLst>
                      <p:childTnLst>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3"/>
                                        </p:tgtEl>
                                        <p:attrNameLst>
                                          <p:attrName>style.visibility</p:attrName>
                                        </p:attrNameLst>
                                      </p:cBhvr>
                                      <p:to>
                                        <p:strVal val="visible"/>
                                      </p:to>
                                    </p:set>
                                    <p:animEffect transition="in" filter="fade">
                                      <p:cBhvr>
                                        <p:cTn id="54" dur="350"/>
                                        <p:tgtEl>
                                          <p:spTgt spid="13"/>
                                        </p:tgtEl>
                                      </p:cBhvr>
                                    </p:animEffect>
                                    <p:anim calcmode="lin" valueType="num">
                                      <p:cBhvr additive="base">
                                        <p:cTn id="55" dur="350" fill="hold"/>
                                        <p:tgtEl>
                                          <p:spTgt spid="13"/>
                                        </p:tgtEl>
                                        <p:attrNameLst>
                                          <p:attrName>ppt_y</p:attrName>
                                        </p:attrNameLst>
                                      </p:cBhvr>
                                      <p:tavLst>
                                        <p:tav tm="0">
                                          <p:val>
                                            <p:strVal val="#ppt_y+0.0350"/>
                                          </p:val>
                                        </p:tav>
                                        <p:tav tm="100000">
                                          <p:val>
                                            <p:strVal val="#ppt_y"/>
                                          </p:val>
                                        </p:tav>
                                      </p:tavLst>
                                    </p:anim>
                                  </p:childTnLst>
                                </p:cTn>
                              </p:par>
                            </p:childTnLst>
                          </p:cTn>
                        </p:par>
                      </p:childTnLst>
                    </p:cTn>
                  </p:par>
                  <p:par>
                    <p:cTn id="60" fill="hold">
                      <p:stCondLst>
                        <p:cond delay="0"/>
                      </p:stCondLst>
                      <p:childTnLst>
                        <p:par>
                          <p:cTn id="61" fill="hold">
                            <p:stCondLst>
                              <p:cond delay="0"/>
                            </p:stCondLst>
                            <p:childTnLst>
                              <p:par>
                                <p:cTn id="62" presetID="10" presetClass="entr" presetSubtype="0" fill="hold" grpId="0" nodeType="afterEffect">
                                  <p:stCondLst>
                                    <p:cond delay="0"/>
                                  </p:stCondLst>
                                  <p:childTnLst>
                                    <p:set>
                                      <p:cBhvr>
                                        <p:cTn id="63" dur="1" fill="hold">
                                          <p:stCondLst>
                                            <p:cond delay="0"/>
                                          </p:stCondLst>
                                        </p:cTn>
                                        <p:tgtEl>
                                          <p:spTgt spid="14"/>
                                        </p:tgtEl>
                                        <p:attrNameLst>
                                          <p:attrName>style.visibility</p:attrName>
                                        </p:attrNameLst>
                                      </p:cBhvr>
                                      <p:to>
                                        <p:strVal val="visible"/>
                                      </p:to>
                                    </p:set>
                                    <p:animEffect transition="in" filter="fade">
                                      <p:cBhvr>
                                        <p:cTn id="64" dur="350"/>
                                        <p:tgtEl>
                                          <p:spTgt spid="14"/>
                                        </p:tgtEl>
                                      </p:cBhvr>
                                    </p:animEffect>
                                    <p:anim calcmode="lin" valueType="num">
                                      <p:cBhvr additive="base">
                                        <p:cTn id="65" dur="350" fill="hold"/>
                                        <p:tgtEl>
                                          <p:spTgt spid="14"/>
                                        </p:tgtEl>
                                        <p:attrNameLst>
                                          <p:attrName>ppt_y</p:attrName>
                                        </p:attrNameLst>
                                      </p:cBhvr>
                                      <p:tavLst>
                                        <p:tav tm="0">
                                          <p:val>
                                            <p:strVal val="#ppt_y+0.0350"/>
                                          </p:val>
                                        </p:tav>
                                        <p:tav tm="100000">
                                          <p:val>
                                            <p:strVal val="#ppt_y"/>
                                          </p:val>
                                        </p:tav>
                                      </p:tavLst>
                                    </p:anim>
                                  </p:childTnLst>
                                </p:cTn>
                              </p:par>
                            </p:childTnLst>
                          </p:cTn>
                        </p:par>
                      </p:childTnLst>
                    </p:cTn>
                  </p:par>
                </p:childTnLst>
                <p:prevCondLst>
                  <p:cond evt="onPrev" delay="0">
                    <p:tgtEl>
                      <p:sldTgt/>
                    </p:tgtEl>
                  </p:cond>
                </p:prevCondLst>
                <p:nextCondLst>
                  <p:cond evt="onNext" delay="0">
                    <p:tgtEl>
                      <p:sldTgt/>
                    </p:tgtEl>
                  </p:cond>
                </p:nextCondLst>
              </p:cTn>
            </p:seq>
          </p:childTnLst>
        </p:cTn>
      </p:par>
    </p:tnLst>
  </p:timing>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LO2 · LU2 · T2 · ACTIVITY 4</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Create a Process Infographic with Microsoft 365 Copilot</a:t>
            </a:r>
          </a:p>
        </p:txBody>
      </p:sp>
      <p:sp>
        <p:nvSpPr>
          <p:cNvPr id="6" name="TextBox 5"/>
          <p:cNvSpPr txBox="1"/>
          <p:nvPr/>
        </p:nvSpPr>
        <p:spPr>
          <a:xfrm>
            <a:off x="777240" y="1719072"/>
            <a:ext cx="8229600" cy="365760"/>
          </a:xfrm>
          <a:prstGeom prst="rect">
            <a:avLst/>
          </a:prstGeom>
          <a:noFill/>
        </p:spPr>
        <p:txBody>
          <a:bodyPr wrap="square" anchor="t">
            <a:spAutoFit/>
          </a:bodyPr>
          <a:lstStyle/>
          <a:p>
            <a:pPr algn="l">
              <a:spcAft>
                <a:spcPts val="400"/>
              </a:spcAft>
            </a:pPr>
            <a:r>
              <a:rPr sz="1300" b="1">
                <a:solidFill>
                  <a:srgbClr val="5B6372"/>
                </a:solidFill>
                <a:latin typeface="Arial"/>
              </a:rPr>
              <a:t>DISCUSSION &amp; DECISION PROMPTS</a:t>
            </a:r>
          </a:p>
        </p:txBody>
      </p:sp>
      <p:sp>
        <p:nvSpPr>
          <p:cNvPr id="7" name="Rectangle 6"/>
          <p:cNvSpPr/>
          <p:nvPr/>
        </p:nvSpPr>
        <p:spPr>
          <a:xfrm>
            <a:off x="777240" y="2148840"/>
            <a:ext cx="10634472" cy="8732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73152" cy="8732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78408" y="2334006"/>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78408" y="2334006"/>
            <a:ext cx="502920" cy="50292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737360" y="2148840"/>
            <a:ext cx="9308592" cy="873252"/>
          </a:xfrm>
          <a:prstGeom prst="rect">
            <a:avLst/>
          </a:prstGeom>
          <a:noFill/>
        </p:spPr>
        <p:txBody>
          <a:bodyPr wrap="square" anchor="ctr">
            <a:spAutoFit/>
          </a:bodyPr>
          <a:lstStyle/>
          <a:p>
            <a:pPr algn="l">
              <a:spcAft>
                <a:spcPts val="400"/>
              </a:spcAft>
            </a:pPr>
            <a:r>
              <a:rPr sz="1450" b="0">
                <a:solidFill>
                  <a:srgbClr val="161B26"/>
                </a:solidFill>
                <a:latin typeface="Arial"/>
              </a:rPr>
              <a:t>Which visual property signals sequence?</a:t>
            </a:r>
          </a:p>
        </p:txBody>
      </p:sp>
      <p:sp>
        <p:nvSpPr>
          <p:cNvPr id="12" name="Rectangle 11"/>
          <p:cNvSpPr/>
          <p:nvPr/>
        </p:nvSpPr>
        <p:spPr>
          <a:xfrm>
            <a:off x="777240" y="3168396"/>
            <a:ext cx="10634472" cy="8732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168396"/>
            <a:ext cx="73152" cy="8732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78408" y="3353562"/>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78408" y="3353562"/>
            <a:ext cx="502920" cy="50292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6" name="TextBox 15"/>
          <p:cNvSpPr txBox="1"/>
          <p:nvPr/>
        </p:nvSpPr>
        <p:spPr>
          <a:xfrm>
            <a:off x="1737360" y="3168396"/>
            <a:ext cx="9308592" cy="873252"/>
          </a:xfrm>
          <a:prstGeom prst="rect">
            <a:avLst/>
          </a:prstGeom>
          <a:noFill/>
        </p:spPr>
        <p:txBody>
          <a:bodyPr wrap="square" anchor="ctr">
            <a:spAutoFit/>
          </a:bodyPr>
          <a:lstStyle/>
          <a:p>
            <a:pPr algn="l">
              <a:spcAft>
                <a:spcPts val="400"/>
              </a:spcAft>
            </a:pPr>
            <a:r>
              <a:rPr sz="1450" b="0">
                <a:solidFill>
                  <a:srgbClr val="161B26"/>
                </a:solidFill>
                <a:latin typeface="Arial"/>
              </a:rPr>
              <a:t>Where is direct labelling still required?</a:t>
            </a:r>
          </a:p>
        </p:txBody>
      </p:sp>
      <p:sp>
        <p:nvSpPr>
          <p:cNvPr id="17" name="Rectangle 16"/>
          <p:cNvSpPr/>
          <p:nvPr/>
        </p:nvSpPr>
        <p:spPr>
          <a:xfrm>
            <a:off x="777240" y="4187952"/>
            <a:ext cx="10634472" cy="8732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187952"/>
            <a:ext cx="73152" cy="8732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78408" y="4373118"/>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8408" y="4373118"/>
            <a:ext cx="502920" cy="50292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1" name="TextBox 20"/>
          <p:cNvSpPr txBox="1"/>
          <p:nvPr/>
        </p:nvSpPr>
        <p:spPr>
          <a:xfrm>
            <a:off x="1737360" y="4187952"/>
            <a:ext cx="9308592" cy="873252"/>
          </a:xfrm>
          <a:prstGeom prst="rect">
            <a:avLst/>
          </a:prstGeom>
          <a:noFill/>
        </p:spPr>
        <p:txBody>
          <a:bodyPr wrap="square" anchor="ctr">
            <a:spAutoFit/>
          </a:bodyPr>
          <a:lstStyle/>
          <a:p>
            <a:pPr algn="l">
              <a:spcAft>
                <a:spcPts val="400"/>
              </a:spcAft>
            </a:pPr>
            <a:r>
              <a:rPr sz="1450" b="0">
                <a:solidFill>
                  <a:srgbClr val="161B26"/>
                </a:solidFill>
                <a:latin typeface="Arial"/>
              </a:rPr>
              <a:t>Would SmartArt clarify or constrain this design?</a:t>
            </a:r>
          </a:p>
        </p:txBody>
      </p:sp>
      <p:sp>
        <p:nvSpPr>
          <p:cNvPr id="22" name="Rectangle 21"/>
          <p:cNvSpPr/>
          <p:nvPr/>
        </p:nvSpPr>
        <p:spPr>
          <a:xfrm>
            <a:off x="777240" y="5207508"/>
            <a:ext cx="10634472" cy="8732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207508"/>
            <a:ext cx="73152" cy="8732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78408" y="5392674"/>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78408" y="5392674"/>
            <a:ext cx="502920" cy="50292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6" name="TextBox 25"/>
          <p:cNvSpPr txBox="1"/>
          <p:nvPr/>
        </p:nvSpPr>
        <p:spPr>
          <a:xfrm>
            <a:off x="1737360" y="5207508"/>
            <a:ext cx="9308592" cy="873252"/>
          </a:xfrm>
          <a:prstGeom prst="rect">
            <a:avLst/>
          </a:prstGeom>
          <a:noFill/>
        </p:spPr>
        <p:txBody>
          <a:bodyPr wrap="square" anchor="ctr">
            <a:spAutoFit/>
          </a:bodyPr>
          <a:lstStyle/>
          <a:p>
            <a:pPr algn="l">
              <a:spcAft>
                <a:spcPts val="400"/>
              </a:spcAft>
            </a:pPr>
            <a:r>
              <a:rPr sz="1450" b="0">
                <a:solidFill>
                  <a:srgbClr val="161B26"/>
                </a:solidFill>
                <a:latin typeface="Arial"/>
              </a:rPr>
              <a:t>How will the system remain reusable?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83</a:t>
            </a:r>
          </a:p>
        </p:txBody>
      </p:sp>
    </p:spTree>
  </p:cSld>
  <p:clrMapOvr>
    <a:masterClrMapping/>
  </p:clrMapOvr>
  <p:transition spd="fast" advClick="1">
    <p:wipe dir="l"/>
  </p:transition>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LO2 · LU2 · T2 · ACTIVITY 4</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Create a Process Infographic with Microsoft 365 Copilot</a:t>
            </a:r>
          </a:p>
        </p:txBody>
      </p:sp>
      <p:sp>
        <p:nvSpPr>
          <p:cNvPr id="6" name="Rectangle 5"/>
          <p:cNvSpPr/>
          <p:nvPr/>
        </p:nvSpPr>
        <p:spPr>
          <a:xfrm>
            <a:off x="777240" y="1783080"/>
            <a:ext cx="10634472" cy="26517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91440" cy="26517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1965960"/>
            <a:ext cx="10058400" cy="365760"/>
          </a:xfrm>
          <a:prstGeom prst="rect">
            <a:avLst/>
          </a:prstGeom>
          <a:noFill/>
        </p:spPr>
        <p:txBody>
          <a:bodyPr wrap="square" anchor="t">
            <a:spAutoFit/>
          </a:bodyPr>
          <a:lstStyle/>
          <a:p>
            <a:pPr algn="l">
              <a:spcAft>
                <a:spcPts val="400"/>
              </a:spcAft>
            </a:pPr>
            <a:r>
              <a:rPr sz="1300" b="1">
                <a:solidFill>
                  <a:srgbClr val="7C3AED"/>
                </a:solidFill>
                <a:latin typeface="Arial"/>
              </a:rPr>
              <a:t>REFLECT &amp; DISCUSS</a:t>
            </a:r>
          </a:p>
        </p:txBody>
      </p:sp>
      <p:sp>
        <p:nvSpPr>
          <p:cNvPr id="9" name="TextBox 8"/>
          <p:cNvSpPr txBox="1"/>
          <p:nvPr/>
        </p:nvSpPr>
        <p:spPr>
          <a:xfrm>
            <a:off x="1051560" y="2377440"/>
            <a:ext cx="10058400" cy="1920240"/>
          </a:xfrm>
          <a:prstGeom prst="rect">
            <a:avLst/>
          </a:prstGeom>
          <a:noFill/>
        </p:spPr>
        <p:txBody>
          <a:bodyPr wrap="square">
            <a:spAutoFit/>
          </a:bodyPr>
          <a:lstStyle/>
          <a:p>
            <a:pPr>
              <a:spcAft>
                <a:spcPts val="900"/>
              </a:spcAft>
            </a:pPr>
            <a:r>
              <a:rPr sz="1450" b="0">
                <a:solidFill>
                  <a:srgbClr val="161B26"/>
                </a:solidFill>
                <a:latin typeface="Arial"/>
              </a:rPr>
              <a:t>•  Can the process be scanned left to right in five seconds?</a:t>
            </a:r>
          </a:p>
          <a:p>
            <a:pPr>
              <a:spcAft>
                <a:spcPts val="900"/>
              </a:spcAft>
            </a:pPr>
            <a:r>
              <a:rPr sz="1450" b="0">
                <a:solidFill>
                  <a:srgbClr val="161B26"/>
                </a:solidFill>
                <a:latin typeface="Arial"/>
              </a:rPr>
              <a:t>•  Are all objects aligned, grouped and editable?</a:t>
            </a:r>
          </a:p>
        </p:txBody>
      </p:sp>
      <p:sp>
        <p:nvSpPr>
          <p:cNvPr id="10" name="Rectangle 9"/>
          <p:cNvSpPr/>
          <p:nvPr/>
        </p:nvSpPr>
        <p:spPr>
          <a:xfrm>
            <a:off x="777240" y="4663440"/>
            <a:ext cx="10634472" cy="137160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1560" y="4864608"/>
            <a:ext cx="10058400" cy="365760"/>
          </a:xfrm>
          <a:prstGeom prst="rect">
            <a:avLst/>
          </a:prstGeom>
          <a:noFill/>
        </p:spPr>
        <p:txBody>
          <a:bodyPr wrap="square" anchor="t">
            <a:spAutoFit/>
          </a:bodyPr>
          <a:lstStyle/>
          <a:p>
            <a:pPr algn="l">
              <a:spcAft>
                <a:spcPts val="400"/>
              </a:spcAft>
            </a:pPr>
            <a:r>
              <a:rPr sz="1500" b="1">
                <a:solidFill>
                  <a:srgbClr val="127A3E"/>
                </a:solidFill>
                <a:latin typeface="Arial"/>
              </a:rPr>
              <a:t>✓  Facilitator debrief check</a:t>
            </a:r>
          </a:p>
        </p:txBody>
      </p:sp>
      <p:sp>
        <p:nvSpPr>
          <p:cNvPr id="12" name="TextBox 11"/>
          <p:cNvSpPr txBox="1"/>
          <p:nvPr/>
        </p:nvSpPr>
        <p:spPr>
          <a:xfrm>
            <a:off x="1051560" y="5257800"/>
            <a:ext cx="10058400" cy="731520"/>
          </a:xfrm>
          <a:prstGeom prst="rect">
            <a:avLst/>
          </a:prstGeom>
          <a:noFill/>
        </p:spPr>
        <p:txBody>
          <a:bodyPr wrap="square" anchor="t">
            <a:spAutoFit/>
          </a:bodyPr>
          <a:lstStyle/>
          <a:p>
            <a:pPr algn="l">
              <a:spcAft>
                <a:spcPts val="400"/>
              </a:spcAft>
            </a:pPr>
            <a:r>
              <a:rPr sz="1300" b="0">
                <a:solidFill>
                  <a:srgbClr val="161B26"/>
                </a:solidFill>
                <a:latin typeface="Arial"/>
              </a:rPr>
              <a:t>The process uses a consistent component system, real connectors, direct labels, purposeful whitespace and editable PowerPoint objects.</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84</a:t>
            </a:r>
          </a:p>
        </p:txBody>
      </p:sp>
    </p:spTree>
  </p:cSld>
  <p:clrMapOvr>
    <a:masterClrMapping/>
  </p:clrMapOvr>
  <p:transition spd="fast" advClick="1">
    <p:wipe dir="l"/>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350"/>
                                        <p:tgtEl>
                                          <p:spTgt spid="9"/>
                                        </p:tgtEl>
                                      </p:cBhvr>
                                    </p:animEffect>
                                    <p:anim calcmode="lin" valueType="num">
                                      <p:cBhvr additive="base">
                                        <p:cTn id="15" dur="350" fill="hold"/>
                                        <p:tgtEl>
                                          <p:spTgt spid="9"/>
                                        </p:tgtEl>
                                        <p:attrNameLst>
                                          <p:attrName>ppt_y</p:attrName>
                                        </p:attrNameLst>
                                      </p:cBhvr>
                                      <p:tavLst>
                                        <p:tav tm="0">
                                          <p:val>
                                            <p:strVal val="#ppt_y+0.0350"/>
                                          </p:val>
                                        </p:tav>
                                        <p:tav tm="100000">
                                          <p:val>
                                            <p:strVal val="#ppt_y"/>
                                          </p:val>
                                        </p:tav>
                                      </p:tavLst>
                                    </p:anim>
                                  </p:childTnLst>
                                </p:cTn>
                              </p:par>
                            </p:childTnLst>
                          </p:cTn>
                        </p:par>
                      </p:childTnLst>
                    </p:cTn>
                  </p:par>
                  <p:par>
                    <p:cTn id="20" fill="hold">
                      <p:stCondLst>
                        <p:cond delay="0"/>
                      </p:stCondLst>
                      <p:childTnLst>
                        <p:par>
                          <p:cTn id="21" fill="hold">
                            <p:stCondLst>
                              <p:cond delay="0"/>
                            </p:stCondLst>
                            <p:childTnLst>
                              <p:par>
                                <p:cTn id="22" presetID="10" presetClass="entr" presetSubtype="0" fill="hold" grpId="0" nodeType="after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350"/>
                                        <p:tgtEl>
                                          <p:spTgt spid="10"/>
                                        </p:tgtEl>
                                      </p:cBhvr>
                                    </p:animEffect>
                                    <p:anim calcmode="lin" valueType="num">
                                      <p:cBhvr additive="base">
                                        <p:cTn id="25" dur="350" fill="hold"/>
                                        <p:tgtEl>
                                          <p:spTgt spid="10"/>
                                        </p:tgtEl>
                                        <p:attrNameLst>
                                          <p:attrName>ppt_y</p:attrName>
                                        </p:attrNameLst>
                                      </p:cBhvr>
                                      <p:tavLst>
                                        <p:tav tm="0">
                                          <p:val>
                                            <p:strVal val="#ppt_y+0.0350"/>
                                          </p:val>
                                        </p:tav>
                                        <p:tav tm="100000">
                                          <p:val>
                                            <p:strVal val="#ppt_y"/>
                                          </p:val>
                                        </p:tav>
                                      </p:tavLst>
                                    </p:anim>
                                  </p:childTnLst>
                                </p:cTn>
                              </p:par>
                            </p:childTnLst>
                          </p:cTn>
                        </p:par>
                      </p:childTnLst>
                    </p:cTn>
                  </p:par>
                  <p:par>
                    <p:cTn id="30" fill="hold">
                      <p:stCondLst>
                        <p:cond delay="0"/>
                      </p:stCondLst>
                      <p:childTnLst>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350"/>
                                        <p:tgtEl>
                                          <p:spTgt spid="12"/>
                                        </p:tgtEl>
                                      </p:cBhvr>
                                    </p:animEffect>
                                    <p:anim calcmode="lin" valueType="num">
                                      <p:cBhvr additive="base">
                                        <p:cTn id="35" dur="350" fill="hold"/>
                                        <p:tgtEl>
                                          <p:spTgt spid="12"/>
                                        </p:tgtEl>
                                        <p:attrNameLst>
                                          <p:attrName>ppt_y</p:attrName>
                                        </p:attrNameLst>
                                      </p:cBhvr>
                                      <p:tavLst>
                                        <p:tav tm="0">
                                          <p:val>
                                            <p:strVal val="#ppt_y+0.0350"/>
                                          </p:val>
                                        </p:tav>
                                        <p:tav tm="100000">
                                          <p:val>
                                            <p:strVal val="#ppt_y"/>
                                          </p:val>
                                        </p:tav>
                                      </p:tavLst>
                                    </p:anim>
                                  </p:childTnLst>
                                </p:cTn>
                              </p:par>
                            </p:childTnLst>
                          </p:cTn>
                        </p:par>
                      </p:childTnLst>
                    </p:cTn>
                  </p:par>
                </p:childTnLst>
                <p:prevCondLst>
                  <p:cond evt="onPrev" delay="0">
                    <p:tgtEl>
                      <p:sldTgt/>
                    </p:tgtEl>
                  </p:cond>
                </p:prevCondLst>
                <p:nextCondLst>
                  <p:cond evt="onNext" delay="0">
                    <p:tgtEl>
                      <p:sldTgt/>
                    </p:tgtEl>
                  </p:cond>
                </p:nextCondLst>
              </p:cTn>
            </p:seq>
          </p:childTnLst>
        </p:cTn>
      </p:par>
    </p:tnLst>
  </p:timing>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600" b="1">
                <a:solidFill>
                  <a:srgbClr val="10B981"/>
                </a:solidFill>
                <a:latin typeface="Arial"/>
              </a:rPr>
              <a:t>LO2 · LU2 · T3</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2600" b="1">
                <a:solidFill>
                  <a:srgbClr val="161B26"/>
                </a:solidFill>
                <a:latin typeface="Arial"/>
              </a:rPr>
              <a:t>AI finds candidate patterns; Excel and PowerPoint make the evidence auditable</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T3</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85</a:t>
            </a:r>
          </a:p>
        </p:txBody>
      </p:sp>
    </p:spTree>
  </p:cSld>
  <p:clrMapOvr>
    <a:masterClrMapping/>
  </p:clrMapOvr>
  <p:transition spd="fast" advClick="1">
    <p:push dir="u"/>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350"/>
                                        <p:tgtEl>
                                          <p:spTgt spid="4"/>
                                        </p:tgtEl>
                                      </p:cBhvr>
                                    </p:animEffect>
                                    <p:anim calcmode="lin" valueType="num">
                                      <p:cBhvr additive="base">
                                        <p:cTn id="15" dur="350" fill="hold"/>
                                        <p:tgtEl>
                                          <p:spTgt spid="4"/>
                                        </p:tgtEl>
                                        <p:attrNameLst>
                                          <p:attrName>ppt_y</p:attrName>
                                        </p:attrNameLst>
                                      </p:cBhvr>
                                      <p:tavLst>
                                        <p:tav tm="0">
                                          <p:val>
                                            <p:strVal val="#ppt_y+0.0350"/>
                                          </p:val>
                                        </p:tav>
                                        <p:tav tm="100000">
                                          <p:val>
                                            <p:strVal val="#ppt_y"/>
                                          </p:val>
                                        </p:tav>
                                      </p:tavLst>
                                    </p:anim>
                                  </p:childTnLst>
                                </p:cTn>
                              </p:par>
                            </p:childTnLst>
                          </p:cTn>
                        </p:par>
                      </p:childTnLst>
                    </p:cTn>
                  </p:par>
                  <p:par>
                    <p:cTn id="20" fill="hold">
                      <p:stCondLst>
                        <p:cond delay="0"/>
                      </p:stCondLst>
                      <p:childTnLst>
                        <p:par>
                          <p:cTn id="21" fill="hold">
                            <p:stCondLst>
                              <p:cond delay="0"/>
                            </p:stCondLst>
                            <p:childTnLst>
                              <p:par>
                                <p:cTn id="22" presetID="10" presetClass="entr" presetSubtype="0" fill="hold" grpId="0" nodeType="afterEffect">
                                  <p:stCondLst>
                                    <p:cond delay="0"/>
                                  </p:stCondLst>
                                  <p:childTnLst>
                                    <p:set>
                                      <p:cBhvr>
                                        <p:cTn id="23" dur="1" fill="hold">
                                          <p:stCondLst>
                                            <p:cond delay="0"/>
                                          </p:stCondLst>
                                        </p:cTn>
                                        <p:tgtEl>
                                          <p:spTgt spid="5"/>
                                        </p:tgtEl>
                                        <p:attrNameLst>
                                          <p:attrName>style.visibility</p:attrName>
                                        </p:attrNameLst>
                                      </p:cBhvr>
                                      <p:to>
                                        <p:strVal val="visible"/>
                                      </p:to>
                                    </p:set>
                                    <p:animEffect transition="in" filter="fade">
                                      <p:cBhvr>
                                        <p:cTn id="24" dur="350"/>
                                        <p:tgtEl>
                                          <p:spTgt spid="5"/>
                                        </p:tgtEl>
                                      </p:cBhvr>
                                    </p:animEffect>
                                    <p:anim calcmode="lin" valueType="num">
                                      <p:cBhvr additive="base">
                                        <p:cTn id="25" dur="350" fill="hold"/>
                                        <p:tgtEl>
                                          <p:spTgt spid="5"/>
                                        </p:tgtEl>
                                        <p:attrNameLst>
                                          <p:attrName>ppt_y</p:attrName>
                                        </p:attrNameLst>
                                      </p:cBhvr>
                                      <p:tavLst>
                                        <p:tav tm="0">
                                          <p:val>
                                            <p:strVal val="#ppt_y+0.0350"/>
                                          </p:val>
                                        </p:tav>
                                        <p:tav tm="100000">
                                          <p:val>
                                            <p:strVal val="#ppt_y"/>
                                          </p:val>
                                        </p:tav>
                                      </p:tavLst>
                                    </p:anim>
                                  </p:childTnLst>
                                </p:cTn>
                              </p:par>
                            </p:childTnLst>
                          </p:cTn>
                        </p:par>
                      </p:childTnLst>
                    </p:cTn>
                  </p:par>
                  <p:par>
                    <p:cTn id="30" fill="hold">
                      <p:stCondLst>
                        <p:cond delay="0"/>
                      </p:stCondLst>
                      <p:childTnLst>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6"/>
                                        </p:tgtEl>
                                        <p:attrNameLst>
                                          <p:attrName>style.visibility</p:attrName>
                                        </p:attrNameLst>
                                      </p:cBhvr>
                                      <p:to>
                                        <p:strVal val="visible"/>
                                      </p:to>
                                    </p:set>
                                    <p:animEffect transition="in" filter="fade">
                                      <p:cBhvr>
                                        <p:cTn id="34" dur="350"/>
                                        <p:tgtEl>
                                          <p:spTgt spid="6"/>
                                        </p:tgtEl>
                                      </p:cBhvr>
                                    </p:animEffect>
                                    <p:anim calcmode="lin" valueType="num">
                                      <p:cBhvr additive="base">
                                        <p:cTn id="35" dur="350" fill="hold"/>
                                        <p:tgtEl>
                                          <p:spTgt spid="6"/>
                                        </p:tgtEl>
                                        <p:attrNameLst>
                                          <p:attrName>ppt_y</p:attrName>
                                        </p:attrNameLst>
                                      </p:cBhvr>
                                      <p:tavLst>
                                        <p:tav tm="0">
                                          <p:val>
                                            <p:strVal val="#ppt_y+0.0350"/>
                                          </p:val>
                                        </p:tav>
                                        <p:tav tm="100000">
                                          <p:val>
                                            <p:strVal val="#ppt_y"/>
                                          </p:val>
                                        </p:tav>
                                      </p:tavLst>
                                    </p:anim>
                                  </p:childTnLst>
                                </p:cTn>
                              </p:par>
                            </p:childTnLst>
                          </p:cTn>
                        </p:par>
                      </p:childTnLst>
                    </p:cTn>
                  </p:par>
                </p:childTnLst>
                <p:prevCondLst>
                  <p:cond evt="onPrev" delay="0">
                    <p:tgtEl>
                      <p:sldTgt/>
                    </p:tgtEl>
                  </p:cond>
                </p:prevCondLst>
                <p:nextCondLst>
                  <p:cond evt="onNext" delay="0">
                    <p:tgtEl>
                      <p:sldTgt/>
                    </p:tgtEl>
                  </p:cond>
                </p:nextCondLst>
              </p:cTn>
            </p:seq>
          </p:childTnLst>
        </p:cTn>
      </p:par>
    </p:tnLst>
  </p:timing>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LO2 · LU2 · T3</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1800" b="1">
                <a:solidFill>
                  <a:srgbClr val="161B26"/>
                </a:solidFill>
                <a:latin typeface="Arial"/>
              </a:rPr>
              <a:t>What is AI finds candidate patterns; Excel and PowerPoint make the evidence auditable?</a:t>
            </a:r>
          </a:p>
        </p:txBody>
      </p:sp>
      <p:sp>
        <p:nvSpPr>
          <p:cNvPr id="6" name="Rectangle 5"/>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0" name="TextBox 9"/>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Metric fit</a:t>
            </a:r>
          </a:p>
          <a:p>
            <a:pPr algn="l">
              <a:spcAft>
                <a:spcPts val="300"/>
              </a:spcAft>
            </a:pPr>
            <a:r>
              <a:rPr sz="1200" b="0">
                <a:solidFill>
                  <a:srgbClr val="5B6372"/>
                </a:solidFill>
                <a:latin typeface="Arial"/>
              </a:rPr>
              <a:t>Select values that answer the business question and use consistent denominators.</a:t>
            </a:r>
          </a:p>
        </p:txBody>
      </p:sp>
      <p:sp>
        <p:nvSpPr>
          <p:cNvPr id="11" name="Rectangle 10"/>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5" name="TextBox 14"/>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Chart fit</a:t>
            </a:r>
          </a:p>
          <a:p>
            <a:pPr algn="l">
              <a:spcAft>
                <a:spcPts val="300"/>
              </a:spcAft>
            </a:pPr>
            <a:r>
              <a:rPr sz="1200" b="0">
                <a:solidFill>
                  <a:srgbClr val="5B6372"/>
                </a:solidFill>
                <a:latin typeface="Arial"/>
              </a:rPr>
              <a:t>Bar for comparison, line for time, scatter for relationship, composition only when part-to-whole matters.</a:t>
            </a:r>
          </a:p>
        </p:txBody>
      </p:sp>
      <p:sp>
        <p:nvSpPr>
          <p:cNvPr id="16" name="Rectangle 15"/>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0" name="TextBox 19"/>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Data integrity</a:t>
            </a:r>
          </a:p>
          <a:p>
            <a:pPr algn="l">
              <a:spcAft>
                <a:spcPts val="300"/>
              </a:spcAft>
            </a:pPr>
            <a:r>
              <a:rPr sz="1200" b="0">
                <a:solidFill>
                  <a:srgbClr val="5B6372"/>
                </a:solidFill>
                <a:latin typeface="Arial"/>
              </a:rPr>
              <a:t>Preserve units, timeframe, source and calculation logic.</a:t>
            </a:r>
          </a:p>
        </p:txBody>
      </p:sp>
      <p:sp>
        <p:nvSpPr>
          <p:cNvPr id="21" name="Rectangle 20"/>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5" name="TextBox 24"/>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Annotation</a:t>
            </a:r>
          </a:p>
          <a:p>
            <a:pPr algn="l">
              <a:spcAft>
                <a:spcPts val="300"/>
              </a:spcAft>
            </a:pPr>
            <a:r>
              <a:rPr sz="1200" b="0">
                <a:solidFill>
                  <a:srgbClr val="5B6372"/>
                </a:solidFill>
                <a:latin typeface="Arial"/>
              </a:rPr>
              <a:t>Use an action title, direct labels and one purposeful accent to reveal the takeaway.</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86</a:t>
            </a:r>
          </a:p>
        </p:txBody>
      </p:sp>
      <p:sp>
        <p:nvSpPr>
          <p:cNvPr id="29" name="TextBox 28"/>
          <p:cNvSpPr txBox="1"/>
          <p:nvPr/>
        </p:nvSpPr>
        <p:spPr>
          <a:xfrm>
            <a:off x="777240" y="6163056"/>
            <a:ext cx="10607040" cy="201168"/>
          </a:xfrm>
          <a:prstGeom prst="rect">
            <a:avLst/>
          </a:prstGeom>
          <a:noFill/>
        </p:spPr>
        <p:txBody>
          <a:bodyPr wrap="square" anchor="t">
            <a:spAutoFit/>
          </a:bodyPr>
          <a:lstStyle/>
          <a:p>
            <a:pPr algn="l">
              <a:spcAft>
                <a:spcPts val="400"/>
              </a:spcAft>
            </a:pPr>
            <a:r>
              <a:rPr sz="850" b="0">
                <a:solidFill>
                  <a:srgbClr val="5B6372"/>
                </a:solidFill>
                <a:latin typeface="Arial"/>
              </a:rPr>
              <a:t>Source: course synthesis</a:t>
            </a:r>
          </a:p>
        </p:txBody>
      </p:sp>
    </p:spTree>
  </p:cSld>
  <p:clrMapOvr>
    <a:masterClrMapping/>
  </p:clrMapOvr>
  <p:transition spd="fast" advClick="1">
    <p:fade/>
  </p:transition>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LO2 · LU2 · T3 · HOW IT WORKS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Data-to-Decision Chart</a:t>
            </a:r>
          </a:p>
        </p:txBody>
      </p:sp>
      <p:sp>
        <p:nvSpPr>
          <p:cNvPr id="6" name="Rectangle 5"/>
          <p:cNvSpPr/>
          <p:nvPr/>
        </p:nvSpPr>
        <p:spPr>
          <a:xfrm>
            <a:off x="777240" y="2331720"/>
            <a:ext cx="1907438"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401775" y="2642616"/>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401775" y="264261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0" name="TextBox 9"/>
          <p:cNvSpPr txBox="1"/>
          <p:nvPr/>
        </p:nvSpPr>
        <p:spPr>
          <a:xfrm>
            <a:off x="905256" y="3429000"/>
            <a:ext cx="1651406" cy="365760"/>
          </a:xfrm>
          <a:prstGeom prst="rect">
            <a:avLst/>
          </a:prstGeom>
          <a:noFill/>
        </p:spPr>
        <p:txBody>
          <a:bodyPr wrap="square" anchor="t">
            <a:spAutoFit/>
          </a:bodyPr>
          <a:lstStyle/>
          <a:p>
            <a:pPr algn="ctr">
              <a:spcAft>
                <a:spcPts val="400"/>
              </a:spcAft>
            </a:pPr>
            <a:r>
              <a:rPr sz="1400" b="1">
                <a:solidFill>
                  <a:srgbClr val="161B26"/>
                </a:solidFill>
                <a:latin typeface="Arial"/>
              </a:rPr>
              <a:t>Question</a:t>
            </a:r>
          </a:p>
        </p:txBody>
      </p:sp>
      <p:sp>
        <p:nvSpPr>
          <p:cNvPr id="11" name="TextBox 10"/>
          <p:cNvSpPr txBox="1"/>
          <p:nvPr/>
        </p:nvSpPr>
        <p:spPr>
          <a:xfrm>
            <a:off x="905256" y="3813048"/>
            <a:ext cx="1651406" cy="1280160"/>
          </a:xfrm>
          <a:prstGeom prst="rect">
            <a:avLst/>
          </a:prstGeom>
          <a:noFill/>
        </p:spPr>
        <p:txBody>
          <a:bodyPr wrap="square" anchor="t">
            <a:spAutoFit/>
          </a:bodyPr>
          <a:lstStyle/>
          <a:p>
            <a:pPr algn="ctr">
              <a:spcAft>
                <a:spcPts val="400"/>
              </a:spcAft>
            </a:pPr>
            <a:r>
              <a:rPr sz="1250" b="0">
                <a:solidFill>
                  <a:srgbClr val="5B6372"/>
                </a:solidFill>
                <a:latin typeface="Arial"/>
              </a:rPr>
              <a:t>Define which products to promote and why.</a:t>
            </a:r>
          </a:p>
        </p:txBody>
      </p:sp>
      <p:sp>
        <p:nvSpPr>
          <p:cNvPr id="12" name="Chevron 11"/>
          <p:cNvSpPr/>
          <p:nvPr/>
        </p:nvSpPr>
        <p:spPr>
          <a:xfrm>
            <a:off x="2702966" y="3607308"/>
            <a:ext cx="237744" cy="329184"/>
          </a:xfrm>
          <a:prstGeom prst="chevron">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958998" y="2331720"/>
            <a:ext cx="1907438"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58998" y="233172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83533" y="2642616"/>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83533" y="264261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7" name="TextBox 16"/>
          <p:cNvSpPr txBox="1"/>
          <p:nvPr/>
        </p:nvSpPr>
        <p:spPr>
          <a:xfrm>
            <a:off x="3087014" y="3429000"/>
            <a:ext cx="1651406" cy="365760"/>
          </a:xfrm>
          <a:prstGeom prst="rect">
            <a:avLst/>
          </a:prstGeom>
          <a:noFill/>
        </p:spPr>
        <p:txBody>
          <a:bodyPr wrap="square" anchor="t">
            <a:spAutoFit/>
          </a:bodyPr>
          <a:lstStyle/>
          <a:p>
            <a:pPr algn="ctr">
              <a:spcAft>
                <a:spcPts val="400"/>
              </a:spcAft>
            </a:pPr>
            <a:r>
              <a:rPr sz="1400" b="1">
                <a:solidFill>
                  <a:srgbClr val="161B26"/>
                </a:solidFill>
                <a:latin typeface="Arial"/>
              </a:rPr>
              <a:t>Prepare</a:t>
            </a:r>
          </a:p>
        </p:txBody>
      </p:sp>
      <p:sp>
        <p:nvSpPr>
          <p:cNvPr id="18" name="TextBox 17"/>
          <p:cNvSpPr txBox="1"/>
          <p:nvPr/>
        </p:nvSpPr>
        <p:spPr>
          <a:xfrm>
            <a:off x="3087014" y="3813048"/>
            <a:ext cx="1651406" cy="1280160"/>
          </a:xfrm>
          <a:prstGeom prst="rect">
            <a:avLst/>
          </a:prstGeom>
          <a:noFill/>
        </p:spPr>
        <p:txBody>
          <a:bodyPr wrap="square" anchor="t">
            <a:spAutoFit/>
          </a:bodyPr>
          <a:lstStyle/>
          <a:p>
            <a:pPr algn="ctr">
              <a:spcAft>
                <a:spcPts val="400"/>
              </a:spcAft>
            </a:pPr>
            <a:r>
              <a:rPr sz="1250" b="0">
                <a:solidFill>
                  <a:srgbClr val="5B6372"/>
                </a:solidFill>
                <a:latin typeface="Arial"/>
              </a:rPr>
              <a:t>Ask AI to flag data types, missing values, duplicates and inconsistent periods.</a:t>
            </a:r>
          </a:p>
        </p:txBody>
      </p:sp>
      <p:sp>
        <p:nvSpPr>
          <p:cNvPr id="19" name="Chevron 18"/>
          <p:cNvSpPr/>
          <p:nvPr/>
        </p:nvSpPr>
        <p:spPr>
          <a:xfrm>
            <a:off x="4884724" y="3607308"/>
            <a:ext cx="237744" cy="329184"/>
          </a:xfrm>
          <a:prstGeom prst="chevron">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40756" y="2331720"/>
            <a:ext cx="1907438"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140756" y="233172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765291" y="2642616"/>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765291" y="264261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4" name="TextBox 23"/>
          <p:cNvSpPr txBox="1"/>
          <p:nvPr/>
        </p:nvSpPr>
        <p:spPr>
          <a:xfrm>
            <a:off x="5268772" y="3429000"/>
            <a:ext cx="1651406" cy="365760"/>
          </a:xfrm>
          <a:prstGeom prst="rect">
            <a:avLst/>
          </a:prstGeom>
          <a:noFill/>
        </p:spPr>
        <p:txBody>
          <a:bodyPr wrap="square" anchor="t">
            <a:spAutoFit/>
          </a:bodyPr>
          <a:lstStyle/>
          <a:p>
            <a:pPr algn="ctr">
              <a:spcAft>
                <a:spcPts val="400"/>
              </a:spcAft>
            </a:pPr>
            <a:r>
              <a:rPr sz="1400" b="1">
                <a:solidFill>
                  <a:srgbClr val="161B26"/>
                </a:solidFill>
                <a:latin typeface="Arial"/>
              </a:rPr>
              <a:t>Choose</a:t>
            </a:r>
          </a:p>
        </p:txBody>
      </p:sp>
      <p:sp>
        <p:nvSpPr>
          <p:cNvPr id="25" name="TextBox 24"/>
          <p:cNvSpPr txBox="1"/>
          <p:nvPr/>
        </p:nvSpPr>
        <p:spPr>
          <a:xfrm>
            <a:off x="5268772" y="3813048"/>
            <a:ext cx="1651406" cy="1280160"/>
          </a:xfrm>
          <a:prstGeom prst="rect">
            <a:avLst/>
          </a:prstGeom>
          <a:noFill/>
        </p:spPr>
        <p:txBody>
          <a:bodyPr wrap="square" anchor="t">
            <a:spAutoFit/>
          </a:bodyPr>
          <a:lstStyle/>
          <a:p>
            <a:pPr algn="ctr">
              <a:spcAft>
                <a:spcPts val="400"/>
              </a:spcAft>
            </a:pPr>
            <a:r>
              <a:rPr sz="1250" b="0">
                <a:solidFill>
                  <a:srgbClr val="5B6372"/>
                </a:solidFill>
                <a:latin typeface="Arial"/>
              </a:rPr>
              <a:t>Select metric and chart based on the relationship.</a:t>
            </a:r>
          </a:p>
        </p:txBody>
      </p:sp>
      <p:sp>
        <p:nvSpPr>
          <p:cNvPr id="26" name="Chevron 25"/>
          <p:cNvSpPr/>
          <p:nvPr/>
        </p:nvSpPr>
        <p:spPr>
          <a:xfrm>
            <a:off x="7066482" y="3607308"/>
            <a:ext cx="237744" cy="329184"/>
          </a:xfrm>
          <a:prstGeom prst="chevron">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322514" y="2331720"/>
            <a:ext cx="1907438"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22514" y="233172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947049" y="2642616"/>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947049" y="264261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1" name="TextBox 30"/>
          <p:cNvSpPr txBox="1"/>
          <p:nvPr/>
        </p:nvSpPr>
        <p:spPr>
          <a:xfrm>
            <a:off x="7450530" y="3429000"/>
            <a:ext cx="1651406" cy="365760"/>
          </a:xfrm>
          <a:prstGeom prst="rect">
            <a:avLst/>
          </a:prstGeom>
          <a:noFill/>
        </p:spPr>
        <p:txBody>
          <a:bodyPr wrap="square" anchor="t">
            <a:spAutoFit/>
          </a:bodyPr>
          <a:lstStyle/>
          <a:p>
            <a:pPr algn="ctr">
              <a:spcAft>
                <a:spcPts val="400"/>
              </a:spcAft>
            </a:pPr>
            <a:r>
              <a:rPr sz="1400" b="1">
                <a:solidFill>
                  <a:srgbClr val="161B26"/>
                </a:solidFill>
                <a:latin typeface="Arial"/>
              </a:rPr>
              <a:t>Build</a:t>
            </a:r>
          </a:p>
        </p:txBody>
      </p:sp>
      <p:sp>
        <p:nvSpPr>
          <p:cNvPr id="32" name="TextBox 31"/>
          <p:cNvSpPr txBox="1"/>
          <p:nvPr/>
        </p:nvSpPr>
        <p:spPr>
          <a:xfrm>
            <a:off x="7450530" y="3813048"/>
            <a:ext cx="1651406" cy="1280160"/>
          </a:xfrm>
          <a:prstGeom prst="rect">
            <a:avLst/>
          </a:prstGeom>
          <a:noFill/>
        </p:spPr>
        <p:txBody>
          <a:bodyPr wrap="square" anchor="t">
            <a:spAutoFit/>
          </a:bodyPr>
          <a:lstStyle/>
          <a:p>
            <a:pPr algn="ctr">
              <a:spcAft>
                <a:spcPts val="400"/>
              </a:spcAft>
            </a:pPr>
            <a:r>
              <a:rPr sz="1250" b="0">
                <a:solidFill>
                  <a:srgbClr val="5B6372"/>
                </a:solidFill>
                <a:latin typeface="Arial"/>
              </a:rPr>
              <a:t>Create or paste a native editable PowerPoint chart.</a:t>
            </a:r>
          </a:p>
        </p:txBody>
      </p:sp>
      <p:sp>
        <p:nvSpPr>
          <p:cNvPr id="33" name="Chevron 32"/>
          <p:cNvSpPr/>
          <p:nvPr/>
        </p:nvSpPr>
        <p:spPr>
          <a:xfrm>
            <a:off x="9248240" y="3607308"/>
            <a:ext cx="237744" cy="329184"/>
          </a:xfrm>
          <a:prstGeom prst="chevron">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504272" y="2331720"/>
            <a:ext cx="1907438"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504272" y="233172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0128807" y="2642616"/>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128807" y="264261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8" name="TextBox 37"/>
          <p:cNvSpPr txBox="1"/>
          <p:nvPr/>
        </p:nvSpPr>
        <p:spPr>
          <a:xfrm>
            <a:off x="9632288" y="3429000"/>
            <a:ext cx="1651406" cy="365760"/>
          </a:xfrm>
          <a:prstGeom prst="rect">
            <a:avLst/>
          </a:prstGeom>
          <a:noFill/>
        </p:spPr>
        <p:txBody>
          <a:bodyPr wrap="square" anchor="t">
            <a:spAutoFit/>
          </a:bodyPr>
          <a:lstStyle/>
          <a:p>
            <a:pPr algn="ctr">
              <a:spcAft>
                <a:spcPts val="400"/>
              </a:spcAft>
            </a:pPr>
            <a:r>
              <a:rPr sz="1400" b="1">
                <a:solidFill>
                  <a:srgbClr val="161B26"/>
                </a:solidFill>
                <a:latin typeface="Arial"/>
              </a:rPr>
              <a:t>Explain</a:t>
            </a:r>
          </a:p>
        </p:txBody>
      </p:sp>
      <p:sp>
        <p:nvSpPr>
          <p:cNvPr id="39" name="TextBox 38"/>
          <p:cNvSpPr txBox="1"/>
          <p:nvPr/>
        </p:nvSpPr>
        <p:spPr>
          <a:xfrm>
            <a:off x="9632288" y="3813048"/>
            <a:ext cx="1651406" cy="1280160"/>
          </a:xfrm>
          <a:prstGeom prst="rect">
            <a:avLst/>
          </a:prstGeom>
          <a:noFill/>
        </p:spPr>
        <p:txBody>
          <a:bodyPr wrap="square" anchor="t">
            <a:spAutoFit/>
          </a:bodyPr>
          <a:lstStyle/>
          <a:p>
            <a:pPr algn="ctr">
              <a:spcAft>
                <a:spcPts val="400"/>
              </a:spcAft>
            </a:pPr>
            <a:r>
              <a:rPr sz="1250" b="0">
                <a:solidFill>
                  <a:srgbClr val="5B6372"/>
                </a:solidFill>
                <a:latin typeface="Arial"/>
              </a:rPr>
              <a:t>Write the action title, annotation and implication.</a:t>
            </a:r>
          </a:p>
        </p:txBody>
      </p:sp>
      <p:sp>
        <p:nvSpPr>
          <p:cNvPr id="40" name="TextBox 3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41" name="TextBox 4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2" name="TextBox 4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87</a:t>
            </a:r>
          </a:p>
        </p:txBody>
      </p:sp>
    </p:spTree>
  </p:cSld>
  <p:clrMapOvr>
    <a:masterClrMapping/>
  </p:clrMapOvr>
  <p:transition spd="fast" advClick="1">
    <p:fade/>
  </p:transition>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LO2 · LU2 · T3 · COMPARE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Default Chart vs Decision Visual</a:t>
            </a:r>
          </a:p>
        </p:txBody>
      </p:sp>
      <p:sp>
        <p:nvSpPr>
          <p:cNvPr id="6" name="Rectangle 5"/>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Default</a:t>
            </a:r>
          </a:p>
        </p:txBody>
      </p:sp>
      <p:sp>
        <p:nvSpPr>
          <p:cNvPr id="9" name="TextBox 8"/>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Decision-ready</a:t>
            </a:r>
          </a:p>
        </p:txBody>
      </p:sp>
      <p:sp>
        <p:nvSpPr>
          <p:cNvPr id="10" name="TextBox 9"/>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Generic chart title</a:t>
            </a:r>
          </a:p>
          <a:p>
            <a:pPr>
              <a:spcAft>
                <a:spcPts val="1000"/>
              </a:spcAft>
            </a:pPr>
            <a:r>
              <a:rPr sz="1600" b="0">
                <a:solidFill>
                  <a:srgbClr val="161B26"/>
                </a:solidFill>
                <a:latin typeface="Arial"/>
              </a:rPr>
              <a:t>•  Legend far from data</a:t>
            </a:r>
          </a:p>
          <a:p>
            <a:pPr>
              <a:spcAft>
                <a:spcPts val="1000"/>
              </a:spcAft>
            </a:pPr>
            <a:r>
              <a:rPr sz="1600" b="0">
                <a:solidFill>
                  <a:srgbClr val="161B26"/>
                </a:solidFill>
                <a:latin typeface="Arial"/>
              </a:rPr>
              <a:t>•  Rainbow series</a:t>
            </a:r>
          </a:p>
          <a:p>
            <a:pPr>
              <a:spcAft>
                <a:spcPts val="1000"/>
              </a:spcAft>
            </a:pPr>
            <a:r>
              <a:rPr sz="1600" b="0">
                <a:solidFill>
                  <a:srgbClr val="161B26"/>
                </a:solidFill>
                <a:latin typeface="Arial"/>
              </a:rPr>
              <a:t>•  No source or timeframe</a:t>
            </a:r>
          </a:p>
        </p:txBody>
      </p:sp>
      <p:sp>
        <p:nvSpPr>
          <p:cNvPr id="11" name="TextBox 10"/>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161B26"/>
                </a:solidFill>
                <a:latin typeface="Arial"/>
              </a:rPr>
              <a:t>•  Action title states the insight</a:t>
            </a:r>
          </a:p>
          <a:p>
            <a:pPr>
              <a:spcAft>
                <a:spcPts val="1000"/>
              </a:spcAft>
            </a:pPr>
            <a:r>
              <a:rPr sz="1600" b="0">
                <a:solidFill>
                  <a:srgbClr val="161B26"/>
                </a:solidFill>
                <a:latin typeface="Arial"/>
              </a:rPr>
              <a:t>•  Direct labels</a:t>
            </a:r>
          </a:p>
          <a:p>
            <a:pPr>
              <a:spcAft>
                <a:spcPts val="1000"/>
              </a:spcAft>
            </a:pPr>
            <a:r>
              <a:rPr sz="1600" b="0">
                <a:solidFill>
                  <a:srgbClr val="161B26"/>
                </a:solidFill>
                <a:latin typeface="Arial"/>
              </a:rPr>
              <a:t>•  One accent highlights the decision</a:t>
            </a:r>
          </a:p>
          <a:p>
            <a:pPr>
              <a:spcAft>
                <a:spcPts val="1000"/>
              </a:spcAft>
            </a:pPr>
            <a:r>
              <a:rPr sz="1600" b="0">
                <a:solidFill>
                  <a:srgbClr val="161B26"/>
                </a:solidFill>
                <a:latin typeface="Arial"/>
              </a:rPr>
              <a:t>•  Source, period and unit are visible</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88</a:t>
            </a:r>
          </a:p>
        </p:txBody>
      </p:sp>
      <p:sp>
        <p:nvSpPr>
          <p:cNvPr id="15" name="TextBox 14"/>
          <p:cNvSpPr txBox="1"/>
          <p:nvPr/>
        </p:nvSpPr>
        <p:spPr>
          <a:xfrm>
            <a:off x="777240" y="6163056"/>
            <a:ext cx="10607040" cy="201168"/>
          </a:xfrm>
          <a:prstGeom prst="rect">
            <a:avLst/>
          </a:prstGeom>
          <a:noFill/>
        </p:spPr>
        <p:txBody>
          <a:bodyPr wrap="square" anchor="t">
            <a:spAutoFit/>
          </a:bodyPr>
          <a:lstStyle/>
          <a:p>
            <a:pPr algn="l">
              <a:spcAft>
                <a:spcPts val="400"/>
              </a:spcAft>
            </a:pPr>
            <a:r>
              <a:rPr sz="850" b="0">
                <a:solidFill>
                  <a:srgbClr val="5B6372"/>
                </a:solidFill>
                <a:latin typeface="Arial"/>
              </a:rPr>
              <a:t>Source: course synthesis</a:t>
            </a:r>
          </a:p>
        </p:txBody>
      </p:sp>
    </p:spTree>
  </p:cSld>
  <p:clrMapOvr>
    <a:masterClrMapping/>
  </p:clrMapOvr>
  <p:transition spd="fast" advClick="1">
    <p:fade/>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350"/>
                                        <p:tgtEl>
                                          <p:spTgt spid="10"/>
                                        </p:tgtEl>
                                      </p:cBhvr>
                                    </p:animEffect>
                                    <p:anim calcmode="lin" valueType="num">
                                      <p:cBhvr additive="base">
                                        <p:cTn id="15" dur="350" fill="hold"/>
                                        <p:tgtEl>
                                          <p:spTgt spid="10"/>
                                        </p:tgtEl>
                                        <p:attrNameLst>
                                          <p:attrName>ppt_y</p:attrName>
                                        </p:attrNameLst>
                                      </p:cBhvr>
                                      <p:tavLst>
                                        <p:tav tm="0">
                                          <p:val>
                                            <p:strVal val="#ppt_y+0.0350"/>
                                          </p:val>
                                        </p:tav>
                                        <p:tav tm="100000">
                                          <p:val>
                                            <p:strVal val="#ppt_y"/>
                                          </p:val>
                                        </p:tav>
                                      </p:tavLst>
                                    </p:anim>
                                  </p:childTnLst>
                                </p:cTn>
                              </p:par>
                            </p:childTnLst>
                          </p:cTn>
                        </p:par>
                      </p:childTnLst>
                    </p:cTn>
                  </p:par>
                  <p:par>
                    <p:cTn id="20" fill="hold">
                      <p:stCondLst>
                        <p:cond delay="0"/>
                      </p:stCondLst>
                      <p:childTnLst>
                        <p:par>
                          <p:cTn id="21" fill="hold">
                            <p:stCondLst>
                              <p:cond delay="0"/>
                            </p:stCondLst>
                            <p:childTnLst>
                              <p:par>
                                <p:cTn id="22" presetID="10" presetClass="entr" presetSubtype="0" fill="hold" grpId="0" nodeType="afterEffect">
                                  <p:stCondLst>
                                    <p:cond delay="0"/>
                                  </p:stCondLst>
                                  <p:childTnLst>
                                    <p:set>
                                      <p:cBhvr>
                                        <p:cTn id="23" dur="1" fill="hold">
                                          <p:stCondLst>
                                            <p:cond delay="0"/>
                                          </p:stCondLst>
                                        </p:cTn>
                                        <p:tgtEl>
                                          <p:spTgt spid="11"/>
                                        </p:tgtEl>
                                        <p:attrNameLst>
                                          <p:attrName>style.visibility</p:attrName>
                                        </p:attrNameLst>
                                      </p:cBhvr>
                                      <p:to>
                                        <p:strVal val="visible"/>
                                      </p:to>
                                    </p:set>
                                    <p:animEffect transition="in" filter="fade">
                                      <p:cBhvr>
                                        <p:cTn id="24" dur="350"/>
                                        <p:tgtEl>
                                          <p:spTgt spid="11"/>
                                        </p:tgtEl>
                                      </p:cBhvr>
                                    </p:animEffect>
                                    <p:anim calcmode="lin" valueType="num">
                                      <p:cBhvr additive="base">
                                        <p:cTn id="25" dur="350" fill="hold"/>
                                        <p:tgtEl>
                                          <p:spTgt spid="11"/>
                                        </p:tgtEl>
                                        <p:attrNameLst>
                                          <p:attrName>ppt_y</p:attrName>
                                        </p:attrNameLst>
                                      </p:cBhvr>
                                      <p:tavLst>
                                        <p:tav tm="0">
                                          <p:val>
                                            <p:strVal val="#ppt_y+0.0350"/>
                                          </p:val>
                                        </p:tav>
                                        <p:tav tm="100000">
                                          <p:val>
                                            <p:strVal val="#ppt_y"/>
                                          </p:val>
                                        </p:tav>
                                      </p:tavLst>
                                    </p:anim>
                                  </p:childTnLst>
                                </p:cTn>
                              </p:par>
                            </p:childTnLst>
                          </p:cTn>
                        </p:par>
                      </p:childTnLst>
                    </p:cTn>
                  </p:par>
                </p:childTnLst>
                <p:prevCondLst>
                  <p:cond evt="onPrev" delay="0">
                    <p:tgtEl>
                      <p:sldTgt/>
                    </p:tgtEl>
                  </p:cond>
                </p:prevCondLst>
                <p:nextCondLst>
                  <p:cond evt="onNext" delay="0">
                    <p:tgtEl>
                      <p:sldTgt/>
                    </p:tgtEl>
                  </p:cond>
                </p:nextCondLst>
              </p:cTn>
            </p:seq>
          </p:childTnLst>
        </p:cTn>
      </p:par>
    </p:tnLst>
  </p:timing>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LO2 · LU2 · T3 · SUPPORTING DATA</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Product Promotion Signals</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0" name="TextBox 9"/>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Beverages</a:t>
            </a:r>
          </a:p>
          <a:p>
            <a:pPr algn="l">
              <a:spcAft>
                <a:spcPts val="300"/>
              </a:spcAft>
            </a:pPr>
            <a:r>
              <a:rPr sz="1200" b="0">
                <a:solidFill>
                  <a:srgbClr val="5B6372"/>
                </a:solidFill>
                <a:latin typeface="Arial"/>
              </a:rPr>
              <a:t>Highest revenue; stable margin</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5" name="TextBox 14"/>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Ready meals</a:t>
            </a:r>
          </a:p>
          <a:p>
            <a:pPr algn="l">
              <a:spcAft>
                <a:spcPts val="300"/>
              </a:spcAft>
            </a:pPr>
            <a:r>
              <a:rPr sz="1200" b="0">
                <a:solidFill>
                  <a:srgbClr val="5B6372"/>
                </a:solidFill>
                <a:latin typeface="Arial"/>
              </a:rPr>
              <a:t>Fastest Q2 growth; above-floor margin</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0" name="TextBox 19"/>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Snacks</a:t>
            </a:r>
          </a:p>
          <a:p>
            <a:pPr algn="l">
              <a:spcAft>
                <a:spcPts val="300"/>
              </a:spcAft>
            </a:pPr>
            <a:r>
              <a:rPr sz="1200" b="0">
                <a:solidFill>
                  <a:srgbClr val="5B6372"/>
                </a:solidFill>
                <a:latin typeface="Arial"/>
              </a:rPr>
              <a:t>High volume; lower margin</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5" name="TextBox 24"/>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Household</a:t>
            </a:r>
          </a:p>
          <a:p>
            <a:pPr algn="l">
              <a:spcAft>
                <a:spcPts val="300"/>
              </a:spcAft>
            </a:pPr>
            <a:r>
              <a:rPr sz="1200" b="0">
                <a:solidFill>
                  <a:srgbClr val="5B6372"/>
                </a:solidFill>
                <a:latin typeface="Arial"/>
              </a:rPr>
              <a:t>Seasonal spike; higher returns</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0" name="TextBox 29"/>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Metric</a:t>
            </a:r>
          </a:p>
          <a:p>
            <a:pPr algn="l">
              <a:spcAft>
                <a:spcPts val="300"/>
              </a:spcAft>
            </a:pPr>
            <a:r>
              <a:rPr sz="1200" b="0">
                <a:solidFill>
                  <a:srgbClr val="5B6372"/>
                </a:solidFill>
                <a:latin typeface="Arial"/>
              </a:rPr>
              <a:t>Revenue + growth + margin, not volume alone</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5" name="TextBox 34"/>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Action</a:t>
            </a:r>
          </a:p>
          <a:p>
            <a:pPr algn="l">
              <a:spcAft>
                <a:spcPts val="300"/>
              </a:spcAft>
            </a:pPr>
            <a:r>
              <a:rPr sz="1200" b="0">
                <a:solidFill>
                  <a:srgbClr val="5B6372"/>
                </a:solidFill>
                <a:latin typeface="Arial"/>
              </a:rPr>
              <a:t>Test Ready Meals as the campaign hero</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89</a:t>
            </a:r>
          </a:p>
        </p:txBody>
      </p:sp>
      <p:sp>
        <p:nvSpPr>
          <p:cNvPr id="39" name="TextBox 38"/>
          <p:cNvSpPr txBox="1"/>
          <p:nvPr/>
        </p:nvSpPr>
        <p:spPr>
          <a:xfrm>
            <a:off x="777240" y="6163056"/>
            <a:ext cx="10607040" cy="201168"/>
          </a:xfrm>
          <a:prstGeom prst="rect">
            <a:avLst/>
          </a:prstGeom>
          <a:noFill/>
        </p:spPr>
        <p:txBody>
          <a:bodyPr wrap="square" anchor="t">
            <a:spAutoFit/>
          </a:bodyPr>
          <a:lstStyle/>
          <a:p>
            <a:pPr algn="l">
              <a:spcAft>
                <a:spcPts val="400"/>
              </a:spcAft>
            </a:pPr>
            <a:r>
              <a:rPr sz="850" b="0">
                <a:solidFill>
                  <a:srgbClr val="5B6372"/>
                </a:solidFill>
                <a:latin typeface="Arial"/>
              </a:rPr>
              <a:t>Source: illustrative synthetic data</a:t>
            </a:r>
          </a:p>
        </p:txBody>
      </p:sp>
    </p:spTree>
  </p:cSld>
  <p:clrMapOvr>
    <a:masterClrMapping/>
  </p:clrMapOvr>
  <p:transition spd="fast" advClick="1">
    <p:fade/>
  </p:transition>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LO2 · LU2 · T3 · ACTIVITY 5</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100" b="1">
                <a:solidFill>
                  <a:srgbClr val="161B26"/>
                </a:solidFill>
                <a:latin typeface="Arial"/>
              </a:rPr>
              <a:t>Create a Comparison Data Story with Copilot and PowerPoint</a:t>
            </a:r>
          </a:p>
        </p:txBody>
      </p:sp>
      <p:sp>
        <p:nvSpPr>
          <p:cNvPr id="6" name="Rectangle 5"/>
          <p:cNvSpPr/>
          <p:nvPr/>
        </p:nvSpPr>
        <p:spPr>
          <a:xfrm>
            <a:off x="777240" y="1691640"/>
            <a:ext cx="169164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28216"/>
            <a:ext cx="1691640" cy="365760"/>
          </a:xfrm>
          <a:prstGeom prst="rect">
            <a:avLst/>
          </a:prstGeom>
          <a:noFill/>
        </p:spPr>
        <p:txBody>
          <a:bodyPr wrap="square" anchor="t">
            <a:spAutoFit/>
          </a:bodyPr>
          <a:lstStyle/>
          <a:p>
            <a:pPr algn="ctr">
              <a:spcAft>
                <a:spcPts val="400"/>
              </a:spcAft>
            </a:pPr>
            <a:r>
              <a:rPr sz="1300" b="1">
                <a:solidFill>
                  <a:srgbClr val="FFFFFF"/>
                </a:solidFill>
                <a:latin typeface="Arial"/>
              </a:rPr>
              <a:t>CASE STUDY</a:t>
            </a:r>
          </a:p>
        </p:txBody>
      </p:sp>
      <p:sp>
        <p:nvSpPr>
          <p:cNvPr id="8" name="Rectangle 7"/>
          <p:cNvSpPr/>
          <p:nvPr/>
        </p:nvSpPr>
        <p:spPr>
          <a:xfrm>
            <a:off x="777240" y="2286000"/>
            <a:ext cx="1063447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286000"/>
            <a:ext cx="91440" cy="28803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2487168"/>
            <a:ext cx="9966960" cy="320040"/>
          </a:xfrm>
          <a:prstGeom prst="rect">
            <a:avLst/>
          </a:prstGeom>
          <a:noFill/>
        </p:spPr>
        <p:txBody>
          <a:bodyPr wrap="square" anchor="t">
            <a:spAutoFit/>
          </a:bodyPr>
          <a:lstStyle/>
          <a:p>
            <a:pPr algn="l">
              <a:spcAft>
                <a:spcPts val="400"/>
              </a:spcAft>
            </a:pPr>
            <a:r>
              <a:rPr sz="1200" b="1">
                <a:solidFill>
                  <a:srgbClr val="10B981"/>
                </a:solidFill>
                <a:latin typeface="Arial"/>
              </a:rPr>
              <a:t>THE SITUATION</a:t>
            </a:r>
          </a:p>
        </p:txBody>
      </p:sp>
      <p:sp>
        <p:nvSpPr>
          <p:cNvPr id="11" name="TextBox 10"/>
          <p:cNvSpPr txBox="1"/>
          <p:nvPr/>
        </p:nvSpPr>
        <p:spPr>
          <a:xfrm>
            <a:off x="1097280" y="2834640"/>
            <a:ext cx="10058400" cy="2240280"/>
          </a:xfrm>
          <a:prstGeom prst="rect">
            <a:avLst/>
          </a:prstGeom>
          <a:noFill/>
        </p:spPr>
        <p:txBody>
          <a:bodyPr wrap="square" anchor="t">
            <a:spAutoFit/>
          </a:bodyPr>
          <a:lstStyle/>
          <a:p>
            <a:pPr algn="l">
              <a:spcAft>
                <a:spcPts val="800"/>
              </a:spcAft>
            </a:pPr>
            <a:r>
              <a:rPr sz="1450" b="0">
                <a:solidFill>
                  <a:srgbClr val="161B26"/>
                </a:solidFill>
                <a:latin typeface="Arial"/>
              </a:rPr>
              <a:t>Northstar's marketing team must choose one product family for the next promotion. The supplied workbook contains monthly revenue, units, margin and returns for four categories.</a:t>
            </a:r>
          </a:p>
          <a:p>
            <a:pPr algn="l">
              <a:spcAft>
                <a:spcPts val="800"/>
              </a:spcAft>
            </a:pPr>
            <a:r>
              <a:rPr sz="1450" b="0">
                <a:solidFill>
                  <a:srgbClr val="161B26"/>
                </a:solidFill>
                <a:latin typeface="Arial"/>
              </a:rPr>
              <a:t>Prompt an approved AI assistant to analyse the workbook and propose candidate insights. Reproduce the selected calculations in Excel, then create an editable PowerPoint chart with an explicit decision implication.</a:t>
            </a:r>
          </a:p>
        </p:txBody>
      </p:sp>
      <p:sp>
        <p:nvSpPr>
          <p:cNvPr id="12" name="Rectangle 11"/>
          <p:cNvSpPr/>
          <p:nvPr/>
        </p:nvSpPr>
        <p:spPr>
          <a:xfrm>
            <a:off x="777240" y="5349240"/>
            <a:ext cx="10634472" cy="68580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5349240"/>
            <a:ext cx="7315200" cy="685800"/>
          </a:xfrm>
          <a:prstGeom prst="rect">
            <a:avLst/>
          </a:prstGeom>
          <a:noFill/>
        </p:spPr>
        <p:txBody>
          <a:bodyPr wrap="square" anchor="ctr">
            <a:spAutoFit/>
          </a:bodyPr>
          <a:lstStyle/>
          <a:p>
            <a:pPr algn="l">
              <a:spcAft>
                <a:spcPts val="400"/>
              </a:spcAft>
            </a:pPr>
            <a:r>
              <a:rPr sz="1300" b="1">
                <a:solidFill>
                  <a:srgbClr val="1F6FEB"/>
                </a:solidFill>
                <a:latin typeface="Arial"/>
              </a:rPr>
              <a:t>You'll produce:  </a:t>
            </a:r>
            <a:r>
              <a:rPr sz="1300" b="0">
                <a:solidFill>
                  <a:srgbClr val="161B26"/>
                </a:solidFill>
                <a:latin typeface="Arial"/>
              </a:rPr>
              <a:t>A Copilot analysis log, verified formula workbook, comparison infographic and annotated decision slide</a:t>
            </a:r>
          </a:p>
        </p:txBody>
      </p:sp>
      <p:sp>
        <p:nvSpPr>
          <p:cNvPr id="14" name="TextBox 13"/>
          <p:cNvSpPr txBox="1"/>
          <p:nvPr/>
        </p:nvSpPr>
        <p:spPr>
          <a:xfrm>
            <a:off x="8778240" y="5349240"/>
            <a:ext cx="2606040" cy="685800"/>
          </a:xfrm>
          <a:prstGeom prst="rect">
            <a:avLst/>
          </a:prstGeom>
          <a:noFill/>
        </p:spPr>
        <p:txBody>
          <a:bodyPr wrap="square" anchor="ctr">
            <a:spAutoFit/>
          </a:bodyPr>
          <a:lstStyle/>
          <a:p>
            <a:pPr algn="r">
              <a:spcAft>
                <a:spcPts val="400"/>
              </a:spcAft>
            </a:pPr>
            <a:r>
              <a:rPr sz="1300" b="1">
                <a:solidFill>
                  <a:srgbClr val="5B6372"/>
                </a:solidFill>
                <a:latin typeface="Arial"/>
              </a:rPr>
              <a:t>Duration: </a:t>
            </a:r>
            <a:r>
              <a:rPr sz="1300" b="0">
                <a:solidFill>
                  <a:srgbClr val="5B6372"/>
                </a:solidFill>
                <a:latin typeface="Arial"/>
              </a:rPr>
              <a:t>45 minutes</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90</a:t>
            </a:r>
          </a:p>
        </p:txBody>
      </p:sp>
    </p:spTree>
  </p:cSld>
  <p:clrMapOvr>
    <a:masterClrMapping/>
  </p:clrMapOvr>
  <p:transition spd="fast" advClick="1">
    <p:wipe dir="l"/>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8"/>
                                        </p:tgtEl>
                                        <p:attrNameLst>
                                          <p:attrName>style.visibility</p:attrName>
                                        </p:attrNameLst>
                                      </p:cBhvr>
                                      <p:to>
                                        <p:strVal val="visible"/>
                                      </p:to>
                                    </p:set>
                                    <p:animEffect transition="in" filter="fade">
                                      <p:cBhvr>
                                        <p:cTn id="14" dur="350"/>
                                        <p:tgtEl>
                                          <p:spTgt spid="8"/>
                                        </p:tgtEl>
                                      </p:cBhvr>
                                    </p:animEffect>
                                    <p:anim calcmode="lin" valueType="num">
                                      <p:cBhvr additive="base">
                                        <p:cTn id="15" dur="350" fill="hold"/>
                                        <p:tgtEl>
                                          <p:spTgt spid="8"/>
                                        </p:tgtEl>
                                        <p:attrNameLst>
                                          <p:attrName>ppt_y</p:attrName>
                                        </p:attrNameLst>
                                      </p:cBhvr>
                                      <p:tavLst>
                                        <p:tav tm="0">
                                          <p:val>
                                            <p:strVal val="#ppt_y+0.0350"/>
                                          </p:val>
                                        </p:tav>
                                        <p:tav tm="100000">
                                          <p:val>
                                            <p:strVal val="#ppt_y"/>
                                          </p:val>
                                        </p:tav>
                                      </p:tavLst>
                                    </p:anim>
                                  </p:childTnLst>
                                </p:cTn>
                              </p:par>
                            </p:childTnLst>
                          </p:cTn>
                        </p:par>
                      </p:childTnLst>
                    </p:cTn>
                  </p:par>
                  <p:par>
                    <p:cTn id="20" fill="hold">
                      <p:stCondLst>
                        <p:cond delay="0"/>
                      </p:stCondLst>
                      <p:childTnLst>
                        <p:par>
                          <p:cTn id="21" fill="hold">
                            <p:stCondLst>
                              <p:cond delay="0"/>
                            </p:stCondLst>
                            <p:childTnLst>
                              <p:par>
                                <p:cTn id="22" presetID="10" presetClass="entr" presetSubtype="0" fill="hold" grpId="0" nodeType="after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350"/>
                                        <p:tgtEl>
                                          <p:spTgt spid="9"/>
                                        </p:tgtEl>
                                      </p:cBhvr>
                                    </p:animEffect>
                                    <p:anim calcmode="lin" valueType="num">
                                      <p:cBhvr additive="base">
                                        <p:cTn id="25" dur="350" fill="hold"/>
                                        <p:tgtEl>
                                          <p:spTgt spid="9"/>
                                        </p:tgtEl>
                                        <p:attrNameLst>
                                          <p:attrName>ppt_y</p:attrName>
                                        </p:attrNameLst>
                                      </p:cBhvr>
                                      <p:tavLst>
                                        <p:tav tm="0">
                                          <p:val>
                                            <p:strVal val="#ppt_y+0.0350"/>
                                          </p:val>
                                        </p:tav>
                                        <p:tav tm="100000">
                                          <p:val>
                                            <p:strVal val="#ppt_y"/>
                                          </p:val>
                                        </p:tav>
                                      </p:tavLst>
                                    </p:anim>
                                  </p:childTnLst>
                                </p:cTn>
                              </p:par>
                            </p:childTnLst>
                          </p:cTn>
                        </p:par>
                      </p:childTnLst>
                    </p:cTn>
                  </p:par>
                  <p:par>
                    <p:cTn id="30" fill="hold">
                      <p:stCondLst>
                        <p:cond delay="0"/>
                      </p:stCondLst>
                      <p:childTnLst>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350"/>
                                        <p:tgtEl>
                                          <p:spTgt spid="11"/>
                                        </p:tgtEl>
                                      </p:cBhvr>
                                    </p:animEffect>
                                    <p:anim calcmode="lin" valueType="num">
                                      <p:cBhvr additive="base">
                                        <p:cTn id="35" dur="350" fill="hold"/>
                                        <p:tgtEl>
                                          <p:spTgt spid="11"/>
                                        </p:tgtEl>
                                        <p:attrNameLst>
                                          <p:attrName>ppt_y</p:attrName>
                                        </p:attrNameLst>
                                      </p:cBhvr>
                                      <p:tavLst>
                                        <p:tav tm="0">
                                          <p:val>
                                            <p:strVal val="#ppt_y+0.0350"/>
                                          </p:val>
                                        </p:tav>
                                        <p:tav tm="100000">
                                          <p:val>
                                            <p:strVal val="#ppt_y"/>
                                          </p:val>
                                        </p:tav>
                                      </p:tavLst>
                                    </p:anim>
                                  </p:childTnLst>
                                </p:cTn>
                              </p:par>
                            </p:childTnLst>
                          </p:cTn>
                        </p:par>
                      </p:childTnLst>
                    </p:cTn>
                  </p:par>
                  <p:par>
                    <p:cTn id="40" fill="hold">
                      <p:stCondLst>
                        <p:cond delay="0"/>
                      </p:stCondLst>
                      <p:childTnLst>
                        <p:par>
                          <p:cTn id="41" fill="hold">
                            <p:stCondLst>
                              <p:cond delay="0"/>
                            </p:stCondLst>
                            <p:childTnLst>
                              <p:par>
                                <p:cTn id="42" presetID="10" presetClass="entr" presetSubtype="0" fill="hold" grpId="0" nodeType="afterEffect">
                                  <p:stCondLst>
                                    <p:cond delay="0"/>
                                  </p:stCondLst>
                                  <p:childTnLst>
                                    <p:set>
                                      <p:cBhvr>
                                        <p:cTn id="43" dur="1" fill="hold">
                                          <p:stCondLst>
                                            <p:cond delay="0"/>
                                          </p:stCondLst>
                                        </p:cTn>
                                        <p:tgtEl>
                                          <p:spTgt spid="12"/>
                                        </p:tgtEl>
                                        <p:attrNameLst>
                                          <p:attrName>style.visibility</p:attrName>
                                        </p:attrNameLst>
                                      </p:cBhvr>
                                      <p:to>
                                        <p:strVal val="visible"/>
                                      </p:to>
                                    </p:set>
                                    <p:animEffect transition="in" filter="fade">
                                      <p:cBhvr>
                                        <p:cTn id="44" dur="350"/>
                                        <p:tgtEl>
                                          <p:spTgt spid="12"/>
                                        </p:tgtEl>
                                      </p:cBhvr>
                                    </p:animEffect>
                                    <p:anim calcmode="lin" valueType="num">
                                      <p:cBhvr additive="base">
                                        <p:cTn id="45" dur="350" fill="hold"/>
                                        <p:tgtEl>
                                          <p:spTgt spid="12"/>
                                        </p:tgtEl>
                                        <p:attrNameLst>
                                          <p:attrName>ppt_y</p:attrName>
                                        </p:attrNameLst>
                                      </p:cBhvr>
                                      <p:tavLst>
                                        <p:tav tm="0">
                                          <p:val>
                                            <p:strVal val="#ppt_y+0.0350"/>
                                          </p:val>
                                        </p:tav>
                                        <p:tav tm="100000">
                                          <p:val>
                                            <p:strVal val="#ppt_y"/>
                                          </p:val>
                                        </p:tav>
                                      </p:tavLst>
                                    </p:anim>
                                  </p:childTnLst>
                                </p:cTn>
                              </p:par>
                            </p:childTnLst>
                          </p:cTn>
                        </p:par>
                      </p:childTnLst>
                    </p:cTn>
                  </p:par>
                  <p:par>
                    <p:cTn id="50" fill="hold">
                      <p:stCondLst>
                        <p:cond delay="0"/>
                      </p:stCondLst>
                      <p:childTnLst>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3"/>
                                        </p:tgtEl>
                                        <p:attrNameLst>
                                          <p:attrName>style.visibility</p:attrName>
                                        </p:attrNameLst>
                                      </p:cBhvr>
                                      <p:to>
                                        <p:strVal val="visible"/>
                                      </p:to>
                                    </p:set>
                                    <p:animEffect transition="in" filter="fade">
                                      <p:cBhvr>
                                        <p:cTn id="54" dur="350"/>
                                        <p:tgtEl>
                                          <p:spTgt spid="13"/>
                                        </p:tgtEl>
                                      </p:cBhvr>
                                    </p:animEffect>
                                    <p:anim calcmode="lin" valueType="num">
                                      <p:cBhvr additive="base">
                                        <p:cTn id="55" dur="350" fill="hold"/>
                                        <p:tgtEl>
                                          <p:spTgt spid="13"/>
                                        </p:tgtEl>
                                        <p:attrNameLst>
                                          <p:attrName>ppt_y</p:attrName>
                                        </p:attrNameLst>
                                      </p:cBhvr>
                                      <p:tavLst>
                                        <p:tav tm="0">
                                          <p:val>
                                            <p:strVal val="#ppt_y+0.0350"/>
                                          </p:val>
                                        </p:tav>
                                        <p:tav tm="100000">
                                          <p:val>
                                            <p:strVal val="#ppt_y"/>
                                          </p:val>
                                        </p:tav>
                                      </p:tavLst>
                                    </p:anim>
                                  </p:childTnLst>
                                </p:cTn>
                              </p:par>
                            </p:childTnLst>
                          </p:cTn>
                        </p:par>
                      </p:childTnLst>
                    </p:cTn>
                  </p:par>
                  <p:par>
                    <p:cTn id="60" fill="hold">
                      <p:stCondLst>
                        <p:cond delay="0"/>
                      </p:stCondLst>
                      <p:childTnLst>
                        <p:par>
                          <p:cTn id="61" fill="hold">
                            <p:stCondLst>
                              <p:cond delay="0"/>
                            </p:stCondLst>
                            <p:childTnLst>
                              <p:par>
                                <p:cTn id="62" presetID="10" presetClass="entr" presetSubtype="0" fill="hold" grpId="0" nodeType="afterEffect">
                                  <p:stCondLst>
                                    <p:cond delay="0"/>
                                  </p:stCondLst>
                                  <p:childTnLst>
                                    <p:set>
                                      <p:cBhvr>
                                        <p:cTn id="63" dur="1" fill="hold">
                                          <p:stCondLst>
                                            <p:cond delay="0"/>
                                          </p:stCondLst>
                                        </p:cTn>
                                        <p:tgtEl>
                                          <p:spTgt spid="14"/>
                                        </p:tgtEl>
                                        <p:attrNameLst>
                                          <p:attrName>style.visibility</p:attrName>
                                        </p:attrNameLst>
                                      </p:cBhvr>
                                      <p:to>
                                        <p:strVal val="visible"/>
                                      </p:to>
                                    </p:set>
                                    <p:animEffect transition="in" filter="fade">
                                      <p:cBhvr>
                                        <p:cTn id="64" dur="350"/>
                                        <p:tgtEl>
                                          <p:spTgt spid="14"/>
                                        </p:tgtEl>
                                      </p:cBhvr>
                                    </p:animEffect>
                                    <p:anim calcmode="lin" valueType="num">
                                      <p:cBhvr additive="base">
                                        <p:cTn id="65" dur="350" fill="hold"/>
                                        <p:tgtEl>
                                          <p:spTgt spid="14"/>
                                        </p:tgtEl>
                                        <p:attrNameLst>
                                          <p:attrName>ppt_y</p:attrName>
                                        </p:attrNameLst>
                                      </p:cBhvr>
                                      <p:tavLst>
                                        <p:tav tm="0">
                                          <p:val>
                                            <p:strVal val="#ppt_y+0.0350"/>
                                          </p:val>
                                        </p:tav>
                                        <p:tav tm="100000">
                                          <p:val>
                                            <p:strVal val="#ppt_y"/>
                                          </p:val>
                                        </p:tav>
                                      </p:tavLst>
                                    </p:anim>
                                  </p:childTnLst>
                                </p:cTn>
                              </p:par>
                            </p:childTnLst>
                          </p:cTn>
                        </p:par>
                      </p:childTnLst>
                    </p:cTn>
                  </p:par>
                </p:childTnLst>
                <p:prevCondLst>
                  <p:cond evt="onPrev" delay="0">
                    <p:tgtEl>
                      <p:sldTgt/>
                    </p:tgtEl>
                  </p:cond>
                </p:prevCondLst>
                <p:nextCondLst>
                  <p:cond evt="onNext" delay="0">
                    <p:tgtEl>
                      <p:sldTgt/>
                    </p:tgtEl>
                  </p:cond>
                </p:nextCondLst>
              </p:cTn>
            </p:seq>
          </p:childTnLst>
        </p:cTn>
      </p:par>
    </p:tnLst>
  </p:timing>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LO2 · LU2 · T3 · ACTIVITY 5</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100" b="1">
                <a:solidFill>
                  <a:srgbClr val="161B26"/>
                </a:solidFill>
                <a:latin typeface="Arial"/>
              </a:rPr>
              <a:t>Create a Comparison Data Story with Copilot and PowerPoint</a:t>
            </a:r>
          </a:p>
        </p:txBody>
      </p:sp>
      <p:sp>
        <p:nvSpPr>
          <p:cNvPr id="6" name="TextBox 5"/>
          <p:cNvSpPr txBox="1"/>
          <p:nvPr/>
        </p:nvSpPr>
        <p:spPr>
          <a:xfrm>
            <a:off x="777240" y="1719072"/>
            <a:ext cx="8229600" cy="365760"/>
          </a:xfrm>
          <a:prstGeom prst="rect">
            <a:avLst/>
          </a:prstGeom>
          <a:noFill/>
        </p:spPr>
        <p:txBody>
          <a:bodyPr wrap="square" anchor="t">
            <a:spAutoFit/>
          </a:bodyPr>
          <a:lstStyle/>
          <a:p>
            <a:pPr algn="l">
              <a:spcAft>
                <a:spcPts val="400"/>
              </a:spcAft>
            </a:pPr>
            <a:r>
              <a:rPr sz="1300" b="1">
                <a:solidFill>
                  <a:srgbClr val="5B6372"/>
                </a:solidFill>
                <a:latin typeface="Arial"/>
              </a:rPr>
              <a:t>DISCUSSION &amp; DECISION PROMPTS</a:t>
            </a:r>
          </a:p>
        </p:txBody>
      </p:sp>
      <p:sp>
        <p:nvSpPr>
          <p:cNvPr id="7" name="Rectangle 6"/>
          <p:cNvSpPr/>
          <p:nvPr/>
        </p:nvSpPr>
        <p:spPr>
          <a:xfrm>
            <a:off x="777240" y="2148840"/>
            <a:ext cx="10634472" cy="8732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73152" cy="8732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78408" y="2334006"/>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78408" y="2334006"/>
            <a:ext cx="502920" cy="50292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737360" y="2148840"/>
            <a:ext cx="9308592" cy="873252"/>
          </a:xfrm>
          <a:prstGeom prst="rect">
            <a:avLst/>
          </a:prstGeom>
          <a:noFill/>
        </p:spPr>
        <p:txBody>
          <a:bodyPr wrap="square" anchor="ctr">
            <a:spAutoFit/>
          </a:bodyPr>
          <a:lstStyle/>
          <a:p>
            <a:pPr algn="l">
              <a:spcAft>
                <a:spcPts val="400"/>
              </a:spcAft>
            </a:pPr>
            <a:r>
              <a:rPr sz="1450" b="0">
                <a:solidFill>
                  <a:srgbClr val="161B26"/>
                </a:solidFill>
                <a:latin typeface="Arial"/>
              </a:rPr>
              <a:t>Which metric answers the actual business question?</a:t>
            </a:r>
          </a:p>
        </p:txBody>
      </p:sp>
      <p:sp>
        <p:nvSpPr>
          <p:cNvPr id="12" name="Rectangle 11"/>
          <p:cNvSpPr/>
          <p:nvPr/>
        </p:nvSpPr>
        <p:spPr>
          <a:xfrm>
            <a:off x="777240" y="3168396"/>
            <a:ext cx="10634472" cy="8732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168396"/>
            <a:ext cx="73152" cy="8732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78408" y="3353562"/>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78408" y="3353562"/>
            <a:ext cx="502920" cy="50292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6" name="TextBox 15"/>
          <p:cNvSpPr txBox="1"/>
          <p:nvPr/>
        </p:nvSpPr>
        <p:spPr>
          <a:xfrm>
            <a:off x="1737360" y="3168396"/>
            <a:ext cx="9308592" cy="873252"/>
          </a:xfrm>
          <a:prstGeom prst="rect">
            <a:avLst/>
          </a:prstGeom>
          <a:noFill/>
        </p:spPr>
        <p:txBody>
          <a:bodyPr wrap="square" anchor="ctr">
            <a:spAutoFit/>
          </a:bodyPr>
          <a:lstStyle/>
          <a:p>
            <a:pPr algn="l">
              <a:spcAft>
                <a:spcPts val="400"/>
              </a:spcAft>
            </a:pPr>
            <a:r>
              <a:rPr sz="1450" b="0">
                <a:solidFill>
                  <a:srgbClr val="161B26"/>
                </a:solidFill>
                <a:latin typeface="Arial"/>
              </a:rPr>
              <a:t>What does the chart show that a table does not?</a:t>
            </a:r>
          </a:p>
        </p:txBody>
      </p:sp>
      <p:sp>
        <p:nvSpPr>
          <p:cNvPr id="17" name="Rectangle 16"/>
          <p:cNvSpPr/>
          <p:nvPr/>
        </p:nvSpPr>
        <p:spPr>
          <a:xfrm>
            <a:off x="777240" y="4187952"/>
            <a:ext cx="10634472" cy="8732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187952"/>
            <a:ext cx="73152" cy="8732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78408" y="4373118"/>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8408" y="4373118"/>
            <a:ext cx="502920" cy="50292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1" name="TextBox 20"/>
          <p:cNvSpPr txBox="1"/>
          <p:nvPr/>
        </p:nvSpPr>
        <p:spPr>
          <a:xfrm>
            <a:off x="1737360" y="4187952"/>
            <a:ext cx="9308592" cy="873252"/>
          </a:xfrm>
          <a:prstGeom prst="rect">
            <a:avLst/>
          </a:prstGeom>
          <a:noFill/>
        </p:spPr>
        <p:txBody>
          <a:bodyPr wrap="square" anchor="ctr">
            <a:spAutoFit/>
          </a:bodyPr>
          <a:lstStyle/>
          <a:p>
            <a:pPr algn="l">
              <a:spcAft>
                <a:spcPts val="400"/>
              </a:spcAft>
            </a:pPr>
            <a:r>
              <a:rPr sz="1450" b="0">
                <a:solidFill>
                  <a:srgbClr val="161B26"/>
                </a:solidFill>
                <a:latin typeface="Arial"/>
              </a:rPr>
              <a:t>Which context or caveat belongs on the slide?</a:t>
            </a:r>
          </a:p>
        </p:txBody>
      </p:sp>
      <p:sp>
        <p:nvSpPr>
          <p:cNvPr id="22" name="Rectangle 21"/>
          <p:cNvSpPr/>
          <p:nvPr/>
        </p:nvSpPr>
        <p:spPr>
          <a:xfrm>
            <a:off x="777240" y="5207508"/>
            <a:ext cx="10634472" cy="8732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207508"/>
            <a:ext cx="73152" cy="8732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78408" y="5392674"/>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78408" y="5392674"/>
            <a:ext cx="502920" cy="50292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6" name="TextBox 25"/>
          <p:cNvSpPr txBox="1"/>
          <p:nvPr/>
        </p:nvSpPr>
        <p:spPr>
          <a:xfrm>
            <a:off x="1737360" y="5207508"/>
            <a:ext cx="9308592" cy="873252"/>
          </a:xfrm>
          <a:prstGeom prst="rect">
            <a:avLst/>
          </a:prstGeom>
          <a:noFill/>
        </p:spPr>
        <p:txBody>
          <a:bodyPr wrap="square" anchor="ctr">
            <a:spAutoFit/>
          </a:bodyPr>
          <a:lstStyle/>
          <a:p>
            <a:pPr algn="l">
              <a:spcAft>
                <a:spcPts val="400"/>
              </a:spcAft>
            </a:pPr>
            <a:r>
              <a:rPr sz="1450" b="0">
                <a:solidFill>
                  <a:srgbClr val="161B26"/>
                </a:solidFill>
                <a:latin typeface="Arial"/>
              </a:rPr>
              <a:t>Which product should be tested and why?</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91</a:t>
            </a:r>
          </a:p>
        </p:txBody>
      </p:sp>
    </p:spTree>
  </p:cSld>
  <p:clrMapOvr>
    <a:masterClrMapping/>
  </p:clrMapOvr>
  <p:transition spd="fast" advClick="1">
    <p:wipe dir="l"/>
  </p:transition>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LO2 · LU2 · T3 · ACTIVITY 5</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100" b="1">
                <a:solidFill>
                  <a:srgbClr val="161B26"/>
                </a:solidFill>
                <a:latin typeface="Arial"/>
              </a:rPr>
              <a:t>Create a Comparison Data Story with Copilot and PowerPoint</a:t>
            </a:r>
          </a:p>
        </p:txBody>
      </p:sp>
      <p:sp>
        <p:nvSpPr>
          <p:cNvPr id="6" name="Rectangle 5"/>
          <p:cNvSpPr/>
          <p:nvPr/>
        </p:nvSpPr>
        <p:spPr>
          <a:xfrm>
            <a:off x="777240" y="1783080"/>
            <a:ext cx="10634472" cy="26517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91440" cy="26517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1965960"/>
            <a:ext cx="10058400" cy="365760"/>
          </a:xfrm>
          <a:prstGeom prst="rect">
            <a:avLst/>
          </a:prstGeom>
          <a:noFill/>
        </p:spPr>
        <p:txBody>
          <a:bodyPr wrap="square" anchor="t">
            <a:spAutoFit/>
          </a:bodyPr>
          <a:lstStyle/>
          <a:p>
            <a:pPr algn="l">
              <a:spcAft>
                <a:spcPts val="400"/>
              </a:spcAft>
            </a:pPr>
            <a:r>
              <a:rPr sz="1300" b="1">
                <a:solidFill>
                  <a:srgbClr val="7C3AED"/>
                </a:solidFill>
                <a:latin typeface="Arial"/>
              </a:rPr>
              <a:t>REFLECT &amp; DISCUSS</a:t>
            </a:r>
          </a:p>
        </p:txBody>
      </p:sp>
      <p:sp>
        <p:nvSpPr>
          <p:cNvPr id="9" name="TextBox 8"/>
          <p:cNvSpPr txBox="1"/>
          <p:nvPr/>
        </p:nvSpPr>
        <p:spPr>
          <a:xfrm>
            <a:off x="1051560" y="2377440"/>
            <a:ext cx="10058400" cy="1920240"/>
          </a:xfrm>
          <a:prstGeom prst="rect">
            <a:avLst/>
          </a:prstGeom>
          <a:noFill/>
        </p:spPr>
        <p:txBody>
          <a:bodyPr wrap="square">
            <a:spAutoFit/>
          </a:bodyPr>
          <a:lstStyle/>
          <a:p>
            <a:pPr>
              <a:spcAft>
                <a:spcPts val="900"/>
              </a:spcAft>
            </a:pPr>
            <a:r>
              <a:rPr sz="1450" b="0">
                <a:solidFill>
                  <a:srgbClr val="161B26"/>
                </a:solidFill>
                <a:latin typeface="Arial"/>
              </a:rPr>
              <a:t>•  Can the chart be updated from the workbook?</a:t>
            </a:r>
          </a:p>
          <a:p>
            <a:pPr>
              <a:spcAft>
                <a:spcPts val="900"/>
              </a:spcAft>
            </a:pPr>
            <a:r>
              <a:rPr sz="1450" b="0">
                <a:solidFill>
                  <a:srgbClr val="161B26"/>
                </a:solidFill>
                <a:latin typeface="Arial"/>
              </a:rPr>
              <a:t>•  Does the title state the conclusion rather than the topic?</a:t>
            </a:r>
          </a:p>
        </p:txBody>
      </p:sp>
      <p:sp>
        <p:nvSpPr>
          <p:cNvPr id="10" name="Rectangle 9"/>
          <p:cNvSpPr/>
          <p:nvPr/>
        </p:nvSpPr>
        <p:spPr>
          <a:xfrm>
            <a:off x="777240" y="4663440"/>
            <a:ext cx="10634472" cy="137160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1560" y="4864608"/>
            <a:ext cx="10058400" cy="365760"/>
          </a:xfrm>
          <a:prstGeom prst="rect">
            <a:avLst/>
          </a:prstGeom>
          <a:noFill/>
        </p:spPr>
        <p:txBody>
          <a:bodyPr wrap="square" anchor="t">
            <a:spAutoFit/>
          </a:bodyPr>
          <a:lstStyle/>
          <a:p>
            <a:pPr algn="l">
              <a:spcAft>
                <a:spcPts val="400"/>
              </a:spcAft>
            </a:pPr>
            <a:r>
              <a:rPr sz="1500" b="1">
                <a:solidFill>
                  <a:srgbClr val="127A3E"/>
                </a:solidFill>
                <a:latin typeface="Arial"/>
              </a:rPr>
              <a:t>✓  Facilitator debrief check</a:t>
            </a:r>
          </a:p>
        </p:txBody>
      </p:sp>
      <p:sp>
        <p:nvSpPr>
          <p:cNvPr id="12" name="TextBox 11"/>
          <p:cNvSpPr txBox="1"/>
          <p:nvPr/>
        </p:nvSpPr>
        <p:spPr>
          <a:xfrm>
            <a:off x="1051560" y="5257800"/>
            <a:ext cx="10058400" cy="731520"/>
          </a:xfrm>
          <a:prstGeom prst="rect">
            <a:avLst/>
          </a:prstGeom>
          <a:noFill/>
        </p:spPr>
        <p:txBody>
          <a:bodyPr wrap="square" anchor="t">
            <a:spAutoFit/>
          </a:bodyPr>
          <a:lstStyle/>
          <a:p>
            <a:pPr algn="l">
              <a:spcAft>
                <a:spcPts val="400"/>
              </a:spcAft>
            </a:pPr>
            <a:r>
              <a:rPr sz="1300" b="0">
                <a:solidFill>
                  <a:srgbClr val="161B26"/>
                </a:solidFill>
                <a:latin typeface="Arial"/>
              </a:rPr>
              <a:t>The chart is native/editable, uses an appropriate form, retains source context and makes a proportionate product-promotion recommendation.</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92</a:t>
            </a:r>
          </a:p>
        </p:txBody>
      </p:sp>
    </p:spTree>
  </p:cSld>
  <p:clrMapOvr>
    <a:masterClrMapping/>
  </p:clrMapOvr>
  <p:transition spd="fast" advClick="1">
    <p:wipe dir="l"/>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350"/>
                                        <p:tgtEl>
                                          <p:spTgt spid="9"/>
                                        </p:tgtEl>
                                      </p:cBhvr>
                                    </p:animEffect>
                                    <p:anim calcmode="lin" valueType="num">
                                      <p:cBhvr additive="base">
                                        <p:cTn id="15" dur="350" fill="hold"/>
                                        <p:tgtEl>
                                          <p:spTgt spid="9"/>
                                        </p:tgtEl>
                                        <p:attrNameLst>
                                          <p:attrName>ppt_y</p:attrName>
                                        </p:attrNameLst>
                                      </p:cBhvr>
                                      <p:tavLst>
                                        <p:tav tm="0">
                                          <p:val>
                                            <p:strVal val="#ppt_y+0.0350"/>
                                          </p:val>
                                        </p:tav>
                                        <p:tav tm="100000">
                                          <p:val>
                                            <p:strVal val="#ppt_y"/>
                                          </p:val>
                                        </p:tav>
                                      </p:tavLst>
                                    </p:anim>
                                  </p:childTnLst>
                                </p:cTn>
                              </p:par>
                            </p:childTnLst>
                          </p:cTn>
                        </p:par>
                      </p:childTnLst>
                    </p:cTn>
                  </p:par>
                  <p:par>
                    <p:cTn id="20" fill="hold">
                      <p:stCondLst>
                        <p:cond delay="0"/>
                      </p:stCondLst>
                      <p:childTnLst>
                        <p:par>
                          <p:cTn id="21" fill="hold">
                            <p:stCondLst>
                              <p:cond delay="0"/>
                            </p:stCondLst>
                            <p:childTnLst>
                              <p:par>
                                <p:cTn id="22" presetID="10" presetClass="entr" presetSubtype="0" fill="hold" grpId="0" nodeType="after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350"/>
                                        <p:tgtEl>
                                          <p:spTgt spid="10"/>
                                        </p:tgtEl>
                                      </p:cBhvr>
                                    </p:animEffect>
                                    <p:anim calcmode="lin" valueType="num">
                                      <p:cBhvr additive="base">
                                        <p:cTn id="25" dur="350" fill="hold"/>
                                        <p:tgtEl>
                                          <p:spTgt spid="10"/>
                                        </p:tgtEl>
                                        <p:attrNameLst>
                                          <p:attrName>ppt_y</p:attrName>
                                        </p:attrNameLst>
                                      </p:cBhvr>
                                      <p:tavLst>
                                        <p:tav tm="0">
                                          <p:val>
                                            <p:strVal val="#ppt_y+0.0350"/>
                                          </p:val>
                                        </p:tav>
                                        <p:tav tm="100000">
                                          <p:val>
                                            <p:strVal val="#ppt_y"/>
                                          </p:val>
                                        </p:tav>
                                      </p:tavLst>
                                    </p:anim>
                                  </p:childTnLst>
                                </p:cTn>
                              </p:par>
                            </p:childTnLst>
                          </p:cTn>
                        </p:par>
                      </p:childTnLst>
                    </p:cTn>
                  </p:par>
                  <p:par>
                    <p:cTn id="30" fill="hold">
                      <p:stCondLst>
                        <p:cond delay="0"/>
                      </p:stCondLst>
                      <p:childTnLst>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350"/>
                                        <p:tgtEl>
                                          <p:spTgt spid="12"/>
                                        </p:tgtEl>
                                      </p:cBhvr>
                                    </p:animEffect>
                                    <p:anim calcmode="lin" valueType="num">
                                      <p:cBhvr additive="base">
                                        <p:cTn id="35" dur="350" fill="hold"/>
                                        <p:tgtEl>
                                          <p:spTgt spid="12"/>
                                        </p:tgtEl>
                                        <p:attrNameLst>
                                          <p:attrName>ppt_y</p:attrName>
                                        </p:attrNameLst>
                                      </p:cBhvr>
                                      <p:tavLst>
                                        <p:tav tm="0">
                                          <p:val>
                                            <p:strVal val="#ppt_y+0.0350"/>
                                          </p:val>
                                        </p:tav>
                                        <p:tav tm="100000">
                                          <p:val>
                                            <p:strVal val="#ppt_y"/>
                                          </p:val>
                                        </p:tav>
                                      </p:tavLst>
                                    </p:anim>
                                  </p:childTnLst>
                                </p:cTn>
                              </p:par>
                            </p:childTnLst>
                          </p:cTn>
                        </p:par>
                      </p:childTnLst>
                    </p:cTn>
                  </p:par>
                </p:childTnLst>
                <p:prevCondLst>
                  <p:cond evt="onPrev" delay="0">
                    <p:tgtEl>
                      <p:sldTgt/>
                    </p:tgtEl>
                  </p:cond>
                </p:prevCondLst>
                <p:nextCondLst>
                  <p:cond evt="onNext" delay="0">
                    <p:tgtEl>
                      <p:sldTgt/>
                    </p:tgtEl>
                  </p:cond>
                </p:nextCondLst>
              </p:cTn>
            </p:seq>
          </p:childTnLst>
        </p:cTn>
      </p:par>
    </p:tnLst>
  </p:timing>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600" b="1">
                <a:solidFill>
                  <a:srgbClr val="10B981"/>
                </a:solidFill>
                <a:latin typeface="Arial"/>
              </a:rPr>
              <a:t>LO2 · LU2 · T4</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2600" b="1">
                <a:solidFill>
                  <a:srgbClr val="161B26"/>
                </a:solidFill>
                <a:latin typeface="Arial"/>
              </a:rPr>
              <a:t>a hierarchy connects the business goal to outcomes, measures, owners and review</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T4</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93</a:t>
            </a:r>
          </a:p>
        </p:txBody>
      </p:sp>
    </p:spTree>
  </p:cSld>
  <p:clrMapOvr>
    <a:masterClrMapping/>
  </p:clrMapOvr>
  <p:transition spd="fast" advClick="1">
    <p:push dir="u"/>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350"/>
                                        <p:tgtEl>
                                          <p:spTgt spid="4"/>
                                        </p:tgtEl>
                                      </p:cBhvr>
                                    </p:animEffect>
                                    <p:anim calcmode="lin" valueType="num">
                                      <p:cBhvr additive="base">
                                        <p:cTn id="15" dur="350" fill="hold"/>
                                        <p:tgtEl>
                                          <p:spTgt spid="4"/>
                                        </p:tgtEl>
                                        <p:attrNameLst>
                                          <p:attrName>ppt_y</p:attrName>
                                        </p:attrNameLst>
                                      </p:cBhvr>
                                      <p:tavLst>
                                        <p:tav tm="0">
                                          <p:val>
                                            <p:strVal val="#ppt_y+0.0350"/>
                                          </p:val>
                                        </p:tav>
                                        <p:tav tm="100000">
                                          <p:val>
                                            <p:strVal val="#ppt_y"/>
                                          </p:val>
                                        </p:tav>
                                      </p:tavLst>
                                    </p:anim>
                                  </p:childTnLst>
                                </p:cTn>
                              </p:par>
                            </p:childTnLst>
                          </p:cTn>
                        </p:par>
                      </p:childTnLst>
                    </p:cTn>
                  </p:par>
                  <p:par>
                    <p:cTn id="20" fill="hold">
                      <p:stCondLst>
                        <p:cond delay="0"/>
                      </p:stCondLst>
                      <p:childTnLst>
                        <p:par>
                          <p:cTn id="21" fill="hold">
                            <p:stCondLst>
                              <p:cond delay="0"/>
                            </p:stCondLst>
                            <p:childTnLst>
                              <p:par>
                                <p:cTn id="22" presetID="10" presetClass="entr" presetSubtype="0" fill="hold" grpId="0" nodeType="afterEffect">
                                  <p:stCondLst>
                                    <p:cond delay="0"/>
                                  </p:stCondLst>
                                  <p:childTnLst>
                                    <p:set>
                                      <p:cBhvr>
                                        <p:cTn id="23" dur="1" fill="hold">
                                          <p:stCondLst>
                                            <p:cond delay="0"/>
                                          </p:stCondLst>
                                        </p:cTn>
                                        <p:tgtEl>
                                          <p:spTgt spid="5"/>
                                        </p:tgtEl>
                                        <p:attrNameLst>
                                          <p:attrName>style.visibility</p:attrName>
                                        </p:attrNameLst>
                                      </p:cBhvr>
                                      <p:to>
                                        <p:strVal val="visible"/>
                                      </p:to>
                                    </p:set>
                                    <p:animEffect transition="in" filter="fade">
                                      <p:cBhvr>
                                        <p:cTn id="24" dur="350"/>
                                        <p:tgtEl>
                                          <p:spTgt spid="5"/>
                                        </p:tgtEl>
                                      </p:cBhvr>
                                    </p:animEffect>
                                    <p:anim calcmode="lin" valueType="num">
                                      <p:cBhvr additive="base">
                                        <p:cTn id="25" dur="350" fill="hold"/>
                                        <p:tgtEl>
                                          <p:spTgt spid="5"/>
                                        </p:tgtEl>
                                        <p:attrNameLst>
                                          <p:attrName>ppt_y</p:attrName>
                                        </p:attrNameLst>
                                      </p:cBhvr>
                                      <p:tavLst>
                                        <p:tav tm="0">
                                          <p:val>
                                            <p:strVal val="#ppt_y+0.0350"/>
                                          </p:val>
                                        </p:tav>
                                        <p:tav tm="100000">
                                          <p:val>
                                            <p:strVal val="#ppt_y"/>
                                          </p:val>
                                        </p:tav>
                                      </p:tavLst>
                                    </p:anim>
                                  </p:childTnLst>
                                </p:cTn>
                              </p:par>
                            </p:childTnLst>
                          </p:cTn>
                        </p:par>
                      </p:childTnLst>
                    </p:cTn>
                  </p:par>
                  <p:par>
                    <p:cTn id="30" fill="hold">
                      <p:stCondLst>
                        <p:cond delay="0"/>
                      </p:stCondLst>
                      <p:childTnLst>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6"/>
                                        </p:tgtEl>
                                        <p:attrNameLst>
                                          <p:attrName>style.visibility</p:attrName>
                                        </p:attrNameLst>
                                      </p:cBhvr>
                                      <p:to>
                                        <p:strVal val="visible"/>
                                      </p:to>
                                    </p:set>
                                    <p:animEffect transition="in" filter="fade">
                                      <p:cBhvr>
                                        <p:cTn id="34" dur="350"/>
                                        <p:tgtEl>
                                          <p:spTgt spid="6"/>
                                        </p:tgtEl>
                                      </p:cBhvr>
                                    </p:animEffect>
                                    <p:anim calcmode="lin" valueType="num">
                                      <p:cBhvr additive="base">
                                        <p:cTn id="35" dur="350" fill="hold"/>
                                        <p:tgtEl>
                                          <p:spTgt spid="6"/>
                                        </p:tgtEl>
                                        <p:attrNameLst>
                                          <p:attrName>ppt_y</p:attrName>
                                        </p:attrNameLst>
                                      </p:cBhvr>
                                      <p:tavLst>
                                        <p:tav tm="0">
                                          <p:val>
                                            <p:strVal val="#ppt_y+0.0350"/>
                                          </p:val>
                                        </p:tav>
                                        <p:tav tm="100000">
                                          <p:val>
                                            <p:strVal val="#ppt_y"/>
                                          </p:val>
                                        </p:tav>
                                      </p:tavLst>
                                    </p:anim>
                                  </p:childTnLst>
                                </p:cTn>
                              </p:par>
                            </p:childTnLst>
                          </p:cTn>
                        </p:par>
                      </p:childTnLst>
                    </p:cTn>
                  </p:par>
                </p:childTnLst>
                <p:prevCondLst>
                  <p:cond evt="onPrev" delay="0">
                    <p:tgtEl>
                      <p:sldTgt/>
                    </p:tgtEl>
                  </p:cond>
                </p:prevCondLst>
                <p:nextCondLst>
                  <p:cond evt="onNext" delay="0">
                    <p:tgtEl>
                      <p:sldTgt/>
                    </p:tgtEl>
                  </p:cond>
                </p:nextCondLst>
              </p:cTn>
            </p:seq>
          </p:childTnLst>
        </p:cTn>
      </p:par>
    </p:tnLst>
  </p:timing>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LO2 · LU2 · T4</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1800" b="1">
                <a:solidFill>
                  <a:srgbClr val="161B26"/>
                </a:solidFill>
                <a:latin typeface="Arial"/>
              </a:rPr>
              <a:t>What is a hierarchy connects the business goal to outcomes, measures, owners and review?</a:t>
            </a:r>
          </a:p>
        </p:txBody>
      </p:sp>
      <p:sp>
        <p:nvSpPr>
          <p:cNvPr id="6" name="Rectangle 5"/>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0" name="TextBox 9"/>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Business goal</a:t>
            </a:r>
          </a:p>
          <a:p>
            <a:pPr algn="l">
              <a:spcAft>
                <a:spcPts val="300"/>
              </a:spcAft>
            </a:pPr>
            <a:r>
              <a:rPr sz="1200" b="0">
                <a:solidFill>
                  <a:srgbClr val="5B6372"/>
                </a:solidFill>
                <a:latin typeface="Arial"/>
              </a:rPr>
              <a:t>State the intended outcome and boundary at the top.</a:t>
            </a:r>
          </a:p>
        </p:txBody>
      </p:sp>
      <p:sp>
        <p:nvSpPr>
          <p:cNvPr id="11" name="Rectangle 10"/>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5" name="TextBox 14"/>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Outcome</a:t>
            </a:r>
          </a:p>
          <a:p>
            <a:pPr algn="l">
              <a:spcAft>
                <a:spcPts val="300"/>
              </a:spcAft>
            </a:pPr>
            <a:r>
              <a:rPr sz="1200" b="0">
                <a:solidFill>
                  <a:srgbClr val="5B6372"/>
                </a:solidFill>
                <a:latin typeface="Arial"/>
              </a:rPr>
              <a:t>Show the observable change that indicates progress.</a:t>
            </a:r>
          </a:p>
        </p:txBody>
      </p:sp>
      <p:sp>
        <p:nvSpPr>
          <p:cNvPr id="16" name="Rectangle 15"/>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0" name="TextBox 19"/>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Measure</a:t>
            </a:r>
          </a:p>
          <a:p>
            <a:pPr algn="l">
              <a:spcAft>
                <a:spcPts val="300"/>
              </a:spcAft>
            </a:pPr>
            <a:r>
              <a:rPr sz="1200" b="0">
                <a:solidFill>
                  <a:srgbClr val="5B6372"/>
                </a:solidFill>
                <a:latin typeface="Arial"/>
              </a:rPr>
              <a:t>Attach a defined metric, unit, source and target.</a:t>
            </a:r>
          </a:p>
        </p:txBody>
      </p:sp>
      <p:sp>
        <p:nvSpPr>
          <p:cNvPr id="21" name="Rectangle 20"/>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5" name="TextBox 24"/>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Owner and review</a:t>
            </a:r>
          </a:p>
          <a:p>
            <a:pPr algn="l">
              <a:spcAft>
                <a:spcPts val="300"/>
              </a:spcAft>
            </a:pPr>
            <a:r>
              <a:rPr sz="1200" b="0">
                <a:solidFill>
                  <a:srgbClr val="5B6372"/>
                </a:solidFill>
                <a:latin typeface="Arial"/>
              </a:rPr>
              <a:t>Name accountability and a review cadence at the base.</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94</a:t>
            </a:r>
          </a:p>
        </p:txBody>
      </p:sp>
      <p:sp>
        <p:nvSpPr>
          <p:cNvPr id="29" name="TextBox 28"/>
          <p:cNvSpPr txBox="1"/>
          <p:nvPr/>
        </p:nvSpPr>
        <p:spPr>
          <a:xfrm>
            <a:off x="777240" y="6163056"/>
            <a:ext cx="10607040" cy="201168"/>
          </a:xfrm>
          <a:prstGeom prst="rect">
            <a:avLst/>
          </a:prstGeom>
          <a:noFill/>
        </p:spPr>
        <p:txBody>
          <a:bodyPr wrap="square" anchor="t">
            <a:spAutoFit/>
          </a:bodyPr>
          <a:lstStyle/>
          <a:p>
            <a:pPr algn="l">
              <a:spcAft>
                <a:spcPts val="400"/>
              </a:spcAft>
            </a:pPr>
            <a:r>
              <a:rPr sz="850" b="0">
                <a:solidFill>
                  <a:srgbClr val="5B6372"/>
                </a:solidFill>
                <a:latin typeface="Arial"/>
              </a:rPr>
              <a:t>Source: Microsoft Support — Create an infographic with the Microsoft 365 Copilot app, accessed 5 September 2026</a:t>
            </a:r>
          </a:p>
        </p:txBody>
      </p:sp>
    </p:spTree>
  </p:cSld>
  <p:clrMapOvr>
    <a:masterClrMapping/>
  </p:clrMapOvr>
  <p:transition spd="fast" advClick="1">
    <p:fade/>
  </p:transition>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LO2 · LU2 · T4 · HOW IT WORKS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Goal-to-Measure Hierarchy</a:t>
            </a:r>
          </a:p>
        </p:txBody>
      </p:sp>
      <p:sp>
        <p:nvSpPr>
          <p:cNvPr id="6" name="Rectangle 5"/>
          <p:cNvSpPr/>
          <p:nvPr/>
        </p:nvSpPr>
        <p:spPr>
          <a:xfrm>
            <a:off x="777240" y="2331720"/>
            <a:ext cx="1907438"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401775" y="2642616"/>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401775" y="264261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0" name="TextBox 9"/>
          <p:cNvSpPr txBox="1"/>
          <p:nvPr/>
        </p:nvSpPr>
        <p:spPr>
          <a:xfrm>
            <a:off x="905256" y="3429000"/>
            <a:ext cx="1651406" cy="365760"/>
          </a:xfrm>
          <a:prstGeom prst="rect">
            <a:avLst/>
          </a:prstGeom>
          <a:noFill/>
        </p:spPr>
        <p:txBody>
          <a:bodyPr wrap="square" anchor="t">
            <a:spAutoFit/>
          </a:bodyPr>
          <a:lstStyle/>
          <a:p>
            <a:pPr algn="ctr">
              <a:spcAft>
                <a:spcPts val="400"/>
              </a:spcAft>
            </a:pPr>
            <a:r>
              <a:rPr sz="1400" b="1">
                <a:solidFill>
                  <a:srgbClr val="161B26"/>
                </a:solidFill>
                <a:latin typeface="Arial"/>
              </a:rPr>
              <a:t>Ground</a:t>
            </a:r>
          </a:p>
        </p:txBody>
      </p:sp>
      <p:sp>
        <p:nvSpPr>
          <p:cNvPr id="11" name="TextBox 10"/>
          <p:cNvSpPr txBox="1"/>
          <p:nvPr/>
        </p:nvSpPr>
        <p:spPr>
          <a:xfrm>
            <a:off x="905256" y="3813048"/>
            <a:ext cx="1651406" cy="1280160"/>
          </a:xfrm>
          <a:prstGeom prst="rect">
            <a:avLst/>
          </a:prstGeom>
          <a:noFill/>
        </p:spPr>
        <p:txBody>
          <a:bodyPr wrap="square" anchor="t">
            <a:spAutoFit/>
          </a:bodyPr>
          <a:lstStyle/>
          <a:p>
            <a:pPr algn="ctr">
              <a:spcAft>
                <a:spcPts val="400"/>
              </a:spcAft>
            </a:pPr>
            <a:r>
              <a:rPr sz="1250" b="0">
                <a:solidFill>
                  <a:srgbClr val="5B6372"/>
                </a:solidFill>
                <a:latin typeface="Arial"/>
              </a:rPr>
              <a:t>Load the approved strategy note and metric definitions.</a:t>
            </a:r>
          </a:p>
        </p:txBody>
      </p:sp>
      <p:sp>
        <p:nvSpPr>
          <p:cNvPr id="12" name="Chevron 11"/>
          <p:cNvSpPr/>
          <p:nvPr/>
        </p:nvSpPr>
        <p:spPr>
          <a:xfrm>
            <a:off x="2702966" y="3607308"/>
            <a:ext cx="237744" cy="329184"/>
          </a:xfrm>
          <a:prstGeom prst="chevron">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958998" y="2331720"/>
            <a:ext cx="1907438"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58998" y="233172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83533" y="2642616"/>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83533" y="264261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7" name="TextBox 16"/>
          <p:cNvSpPr txBox="1"/>
          <p:nvPr/>
        </p:nvSpPr>
        <p:spPr>
          <a:xfrm>
            <a:off x="3087014" y="3429000"/>
            <a:ext cx="1651406" cy="365760"/>
          </a:xfrm>
          <a:prstGeom prst="rect">
            <a:avLst/>
          </a:prstGeom>
          <a:noFill/>
        </p:spPr>
        <p:txBody>
          <a:bodyPr wrap="square" anchor="t">
            <a:spAutoFit/>
          </a:bodyPr>
          <a:lstStyle/>
          <a:p>
            <a:pPr algn="ctr">
              <a:spcAft>
                <a:spcPts val="400"/>
              </a:spcAft>
            </a:pPr>
            <a:r>
              <a:rPr sz="1400" b="1">
                <a:solidFill>
                  <a:srgbClr val="161B26"/>
                </a:solidFill>
                <a:latin typeface="Arial"/>
              </a:rPr>
              <a:t>Prompt</a:t>
            </a:r>
          </a:p>
        </p:txBody>
      </p:sp>
      <p:sp>
        <p:nvSpPr>
          <p:cNvPr id="18" name="TextBox 17"/>
          <p:cNvSpPr txBox="1"/>
          <p:nvPr/>
        </p:nvSpPr>
        <p:spPr>
          <a:xfrm>
            <a:off x="3087014" y="3813048"/>
            <a:ext cx="1651406" cy="1280160"/>
          </a:xfrm>
          <a:prstGeom prst="rect">
            <a:avLst/>
          </a:prstGeom>
          <a:noFill/>
        </p:spPr>
        <p:txBody>
          <a:bodyPr wrap="square" anchor="t">
            <a:spAutoFit/>
          </a:bodyPr>
          <a:lstStyle/>
          <a:p>
            <a:pPr algn="ctr">
              <a:spcAft>
                <a:spcPts val="400"/>
              </a:spcAft>
            </a:pPr>
            <a:r>
              <a:rPr sz="1250" b="0">
                <a:solidFill>
                  <a:srgbClr val="5B6372"/>
                </a:solidFill>
                <a:latin typeface="Arial"/>
              </a:rPr>
              <a:t>Specify a five-level hierarchy, audience, decision and source rule.</a:t>
            </a:r>
          </a:p>
        </p:txBody>
      </p:sp>
      <p:sp>
        <p:nvSpPr>
          <p:cNvPr id="19" name="Chevron 18"/>
          <p:cNvSpPr/>
          <p:nvPr/>
        </p:nvSpPr>
        <p:spPr>
          <a:xfrm>
            <a:off x="4884724" y="3607308"/>
            <a:ext cx="237744" cy="329184"/>
          </a:xfrm>
          <a:prstGeom prst="chevron">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40756" y="2331720"/>
            <a:ext cx="1907438"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140756" y="233172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765291" y="2642616"/>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765291" y="264261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4" name="TextBox 23"/>
          <p:cNvSpPr txBox="1"/>
          <p:nvPr/>
        </p:nvSpPr>
        <p:spPr>
          <a:xfrm>
            <a:off x="5268772" y="3429000"/>
            <a:ext cx="1651406" cy="365760"/>
          </a:xfrm>
          <a:prstGeom prst="rect">
            <a:avLst/>
          </a:prstGeom>
          <a:noFill/>
        </p:spPr>
        <p:txBody>
          <a:bodyPr wrap="square" anchor="t">
            <a:spAutoFit/>
          </a:bodyPr>
          <a:lstStyle/>
          <a:p>
            <a:pPr algn="ctr">
              <a:spcAft>
                <a:spcPts val="400"/>
              </a:spcAft>
            </a:pPr>
            <a:r>
              <a:rPr sz="1400" b="1">
                <a:solidFill>
                  <a:srgbClr val="161B26"/>
                </a:solidFill>
                <a:latin typeface="Arial"/>
              </a:rPr>
              <a:t>Generate</a:t>
            </a:r>
          </a:p>
        </p:txBody>
      </p:sp>
      <p:sp>
        <p:nvSpPr>
          <p:cNvPr id="25" name="TextBox 24"/>
          <p:cNvSpPr txBox="1"/>
          <p:nvPr/>
        </p:nvSpPr>
        <p:spPr>
          <a:xfrm>
            <a:off x="5268772" y="3813048"/>
            <a:ext cx="1651406" cy="1280160"/>
          </a:xfrm>
          <a:prstGeom prst="rect">
            <a:avLst/>
          </a:prstGeom>
          <a:noFill/>
        </p:spPr>
        <p:txBody>
          <a:bodyPr wrap="square" anchor="t">
            <a:spAutoFit/>
          </a:bodyPr>
          <a:lstStyle/>
          <a:p>
            <a:pPr algn="ctr">
              <a:spcAft>
                <a:spcPts val="400"/>
              </a:spcAft>
            </a:pPr>
            <a:r>
              <a:rPr sz="1250" b="0">
                <a:solidFill>
                  <a:srgbClr val="5B6372"/>
                </a:solidFill>
                <a:latin typeface="Arial"/>
              </a:rPr>
              <a:t>Create two Copilot hierarchy directions in Wide format.</a:t>
            </a:r>
          </a:p>
        </p:txBody>
      </p:sp>
      <p:sp>
        <p:nvSpPr>
          <p:cNvPr id="26" name="Chevron 25"/>
          <p:cNvSpPr/>
          <p:nvPr/>
        </p:nvSpPr>
        <p:spPr>
          <a:xfrm>
            <a:off x="7066482" y="3607308"/>
            <a:ext cx="237744" cy="329184"/>
          </a:xfrm>
          <a:prstGeom prst="chevron">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322514" y="2331720"/>
            <a:ext cx="1907438"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22514" y="233172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947049" y="2642616"/>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947049" y="264261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1" name="TextBox 30"/>
          <p:cNvSpPr txBox="1"/>
          <p:nvPr/>
        </p:nvSpPr>
        <p:spPr>
          <a:xfrm>
            <a:off x="7450530" y="3429000"/>
            <a:ext cx="1651406" cy="365760"/>
          </a:xfrm>
          <a:prstGeom prst="rect">
            <a:avLst/>
          </a:prstGeom>
          <a:noFill/>
        </p:spPr>
        <p:txBody>
          <a:bodyPr wrap="square" anchor="t">
            <a:spAutoFit/>
          </a:bodyPr>
          <a:lstStyle/>
          <a:p>
            <a:pPr algn="ctr">
              <a:spcAft>
                <a:spcPts val="400"/>
              </a:spcAft>
            </a:pPr>
            <a:r>
              <a:rPr sz="1400" b="1">
                <a:solidFill>
                  <a:srgbClr val="161B26"/>
                </a:solidFill>
                <a:latin typeface="Arial"/>
              </a:rPr>
              <a:t>Rebuild</a:t>
            </a:r>
          </a:p>
        </p:txBody>
      </p:sp>
      <p:sp>
        <p:nvSpPr>
          <p:cNvPr id="32" name="TextBox 31"/>
          <p:cNvSpPr txBox="1"/>
          <p:nvPr/>
        </p:nvSpPr>
        <p:spPr>
          <a:xfrm>
            <a:off x="7450530" y="3813048"/>
            <a:ext cx="1651406" cy="1280160"/>
          </a:xfrm>
          <a:prstGeom prst="rect">
            <a:avLst/>
          </a:prstGeom>
          <a:noFill/>
        </p:spPr>
        <p:txBody>
          <a:bodyPr wrap="square" anchor="t">
            <a:spAutoFit/>
          </a:bodyPr>
          <a:lstStyle/>
          <a:p>
            <a:pPr algn="ctr">
              <a:spcAft>
                <a:spcPts val="400"/>
              </a:spcAft>
            </a:pPr>
            <a:r>
              <a:rPr sz="1250" b="0">
                <a:solidFill>
                  <a:srgbClr val="5B6372"/>
                </a:solidFill>
                <a:latin typeface="Arial"/>
              </a:rPr>
              <a:t>Make goal, outcome, measure, owner and review editable in PowerPoint.</a:t>
            </a:r>
          </a:p>
        </p:txBody>
      </p:sp>
      <p:sp>
        <p:nvSpPr>
          <p:cNvPr id="33" name="Chevron 32"/>
          <p:cNvSpPr/>
          <p:nvPr/>
        </p:nvSpPr>
        <p:spPr>
          <a:xfrm>
            <a:off x="9248240" y="3607308"/>
            <a:ext cx="237744" cy="329184"/>
          </a:xfrm>
          <a:prstGeom prst="chevron">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504272" y="2331720"/>
            <a:ext cx="1907438"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504272" y="233172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0128807" y="2642616"/>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128807" y="264261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8" name="TextBox 37"/>
          <p:cNvSpPr txBox="1"/>
          <p:nvPr/>
        </p:nvSpPr>
        <p:spPr>
          <a:xfrm>
            <a:off x="9632288" y="3429000"/>
            <a:ext cx="1651406" cy="365760"/>
          </a:xfrm>
          <a:prstGeom prst="rect">
            <a:avLst/>
          </a:prstGeom>
          <a:noFill/>
        </p:spPr>
        <p:txBody>
          <a:bodyPr wrap="square" anchor="t">
            <a:spAutoFit/>
          </a:bodyPr>
          <a:lstStyle/>
          <a:p>
            <a:pPr algn="ctr">
              <a:spcAft>
                <a:spcPts val="400"/>
              </a:spcAft>
            </a:pPr>
            <a:r>
              <a:rPr sz="1400" b="1">
                <a:solidFill>
                  <a:srgbClr val="161B26"/>
                </a:solidFill>
                <a:latin typeface="Arial"/>
              </a:rPr>
              <a:t>Verify</a:t>
            </a:r>
          </a:p>
        </p:txBody>
      </p:sp>
      <p:sp>
        <p:nvSpPr>
          <p:cNvPr id="39" name="TextBox 38"/>
          <p:cNvSpPr txBox="1"/>
          <p:nvPr/>
        </p:nvSpPr>
        <p:spPr>
          <a:xfrm>
            <a:off x="9632288" y="3813048"/>
            <a:ext cx="1651406" cy="1280160"/>
          </a:xfrm>
          <a:prstGeom prst="rect">
            <a:avLst/>
          </a:prstGeom>
          <a:noFill/>
        </p:spPr>
        <p:txBody>
          <a:bodyPr wrap="square" anchor="t">
            <a:spAutoFit/>
          </a:bodyPr>
          <a:lstStyle/>
          <a:p>
            <a:pPr algn="ctr">
              <a:spcAft>
                <a:spcPts val="400"/>
              </a:spcAft>
            </a:pPr>
            <a:r>
              <a:rPr sz="1250" b="0">
                <a:solidFill>
                  <a:srgbClr val="5B6372"/>
                </a:solidFill>
                <a:latin typeface="Arial"/>
              </a:rPr>
              <a:t>Trace each relationship to the source and test reading order.</a:t>
            </a:r>
          </a:p>
        </p:txBody>
      </p:sp>
      <p:sp>
        <p:nvSpPr>
          <p:cNvPr id="40" name="TextBox 3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41" name="TextBox 4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2" name="TextBox 4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95</a:t>
            </a:r>
          </a:p>
        </p:txBody>
      </p:sp>
    </p:spTree>
  </p:cSld>
  <p:clrMapOvr>
    <a:masterClrMapping/>
  </p:clrMapOvr>
  <p:transition spd="fast" advClick="1">
    <p:fade/>
  </p:transition>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LO2 · LU2 · T4 · COMPARE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Decorative Pyramid vs Accountable Hierarchy</a:t>
            </a:r>
          </a:p>
        </p:txBody>
      </p:sp>
      <p:sp>
        <p:nvSpPr>
          <p:cNvPr id="6" name="Rectangle 5"/>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Decorative</a:t>
            </a:r>
          </a:p>
        </p:txBody>
      </p:sp>
      <p:sp>
        <p:nvSpPr>
          <p:cNvPr id="9" name="TextBox 8"/>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Accountable</a:t>
            </a:r>
          </a:p>
        </p:txBody>
      </p:sp>
      <p:sp>
        <p:nvSpPr>
          <p:cNvPr id="10" name="TextBox 9"/>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Vague ambition at the top</a:t>
            </a:r>
          </a:p>
          <a:p>
            <a:pPr>
              <a:spcAft>
                <a:spcPts val="1000"/>
              </a:spcAft>
            </a:pPr>
            <a:r>
              <a:rPr sz="1600" b="0">
                <a:solidFill>
                  <a:srgbClr val="161B26"/>
                </a:solidFill>
                <a:latin typeface="Arial"/>
              </a:rPr>
              <a:t>•  Mixed measures and activities</a:t>
            </a:r>
          </a:p>
          <a:p>
            <a:pPr>
              <a:spcAft>
                <a:spcPts val="1000"/>
              </a:spcAft>
            </a:pPr>
            <a:r>
              <a:rPr sz="1600" b="0">
                <a:solidFill>
                  <a:srgbClr val="161B26"/>
                </a:solidFill>
                <a:latin typeface="Arial"/>
              </a:rPr>
              <a:t>•  No source or owner</a:t>
            </a:r>
          </a:p>
          <a:p>
            <a:pPr>
              <a:spcAft>
                <a:spcPts val="1000"/>
              </a:spcAft>
            </a:pPr>
            <a:r>
              <a:rPr sz="1600" b="0">
                <a:solidFill>
                  <a:srgbClr val="161B26"/>
                </a:solidFill>
                <a:latin typeface="Arial"/>
              </a:rPr>
              <a:t>•  No review trigger</a:t>
            </a:r>
          </a:p>
        </p:txBody>
      </p:sp>
      <p:sp>
        <p:nvSpPr>
          <p:cNvPr id="11" name="TextBox 10"/>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161B26"/>
                </a:solidFill>
                <a:latin typeface="Arial"/>
              </a:rPr>
              <a:t>•  Defined goal and boundary</a:t>
            </a:r>
          </a:p>
          <a:p>
            <a:pPr>
              <a:spcAft>
                <a:spcPts val="1000"/>
              </a:spcAft>
            </a:pPr>
            <a:r>
              <a:rPr sz="1600" b="0">
                <a:solidFill>
                  <a:srgbClr val="161B26"/>
                </a:solidFill>
                <a:latin typeface="Arial"/>
              </a:rPr>
              <a:t>•  Outcome linked to one metric</a:t>
            </a:r>
          </a:p>
          <a:p>
            <a:pPr>
              <a:spcAft>
                <a:spcPts val="1000"/>
              </a:spcAft>
            </a:pPr>
            <a:r>
              <a:rPr sz="1600" b="0">
                <a:solidFill>
                  <a:srgbClr val="161B26"/>
                </a:solidFill>
                <a:latin typeface="Arial"/>
              </a:rPr>
              <a:t>•  Named source and owner</a:t>
            </a:r>
          </a:p>
          <a:p>
            <a:pPr>
              <a:spcAft>
                <a:spcPts val="1000"/>
              </a:spcAft>
            </a:pPr>
            <a:r>
              <a:rPr sz="1600" b="0">
                <a:solidFill>
                  <a:srgbClr val="161B26"/>
                </a:solidFill>
                <a:latin typeface="Arial"/>
              </a:rPr>
              <a:t>•  Review cadence and reversal trigger</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96</a:t>
            </a:r>
          </a:p>
        </p:txBody>
      </p:sp>
      <p:sp>
        <p:nvSpPr>
          <p:cNvPr id="15" name="TextBox 14"/>
          <p:cNvSpPr txBox="1"/>
          <p:nvPr/>
        </p:nvSpPr>
        <p:spPr>
          <a:xfrm>
            <a:off x="777240" y="6163056"/>
            <a:ext cx="10607040" cy="201168"/>
          </a:xfrm>
          <a:prstGeom prst="rect">
            <a:avLst/>
          </a:prstGeom>
          <a:noFill/>
        </p:spPr>
        <p:txBody>
          <a:bodyPr wrap="square" anchor="t">
            <a:spAutoFit/>
          </a:bodyPr>
          <a:lstStyle/>
          <a:p>
            <a:pPr algn="l">
              <a:spcAft>
                <a:spcPts val="400"/>
              </a:spcAft>
            </a:pPr>
            <a:r>
              <a:rPr sz="850" b="0">
                <a:solidFill>
                  <a:srgbClr val="5B6372"/>
                </a:solidFill>
                <a:latin typeface="Arial"/>
              </a:rPr>
              <a:t>Source: course synthesis</a:t>
            </a:r>
          </a:p>
        </p:txBody>
      </p:sp>
    </p:spTree>
  </p:cSld>
  <p:clrMapOvr>
    <a:masterClrMapping/>
  </p:clrMapOvr>
  <p:transition spd="fast" advClick="1">
    <p:fade/>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350"/>
                                        <p:tgtEl>
                                          <p:spTgt spid="10"/>
                                        </p:tgtEl>
                                      </p:cBhvr>
                                    </p:animEffect>
                                    <p:anim calcmode="lin" valueType="num">
                                      <p:cBhvr additive="base">
                                        <p:cTn id="15" dur="350" fill="hold"/>
                                        <p:tgtEl>
                                          <p:spTgt spid="10"/>
                                        </p:tgtEl>
                                        <p:attrNameLst>
                                          <p:attrName>ppt_y</p:attrName>
                                        </p:attrNameLst>
                                      </p:cBhvr>
                                      <p:tavLst>
                                        <p:tav tm="0">
                                          <p:val>
                                            <p:strVal val="#ppt_y+0.0350"/>
                                          </p:val>
                                        </p:tav>
                                        <p:tav tm="100000">
                                          <p:val>
                                            <p:strVal val="#ppt_y"/>
                                          </p:val>
                                        </p:tav>
                                      </p:tavLst>
                                    </p:anim>
                                  </p:childTnLst>
                                </p:cTn>
                              </p:par>
                            </p:childTnLst>
                          </p:cTn>
                        </p:par>
                      </p:childTnLst>
                    </p:cTn>
                  </p:par>
                  <p:par>
                    <p:cTn id="20" fill="hold">
                      <p:stCondLst>
                        <p:cond delay="0"/>
                      </p:stCondLst>
                      <p:childTnLst>
                        <p:par>
                          <p:cTn id="21" fill="hold">
                            <p:stCondLst>
                              <p:cond delay="0"/>
                            </p:stCondLst>
                            <p:childTnLst>
                              <p:par>
                                <p:cTn id="22" presetID="10" presetClass="entr" presetSubtype="0" fill="hold" grpId="0" nodeType="afterEffect">
                                  <p:stCondLst>
                                    <p:cond delay="0"/>
                                  </p:stCondLst>
                                  <p:childTnLst>
                                    <p:set>
                                      <p:cBhvr>
                                        <p:cTn id="23" dur="1" fill="hold">
                                          <p:stCondLst>
                                            <p:cond delay="0"/>
                                          </p:stCondLst>
                                        </p:cTn>
                                        <p:tgtEl>
                                          <p:spTgt spid="11"/>
                                        </p:tgtEl>
                                        <p:attrNameLst>
                                          <p:attrName>style.visibility</p:attrName>
                                        </p:attrNameLst>
                                      </p:cBhvr>
                                      <p:to>
                                        <p:strVal val="visible"/>
                                      </p:to>
                                    </p:set>
                                    <p:animEffect transition="in" filter="fade">
                                      <p:cBhvr>
                                        <p:cTn id="24" dur="350"/>
                                        <p:tgtEl>
                                          <p:spTgt spid="11"/>
                                        </p:tgtEl>
                                      </p:cBhvr>
                                    </p:animEffect>
                                    <p:anim calcmode="lin" valueType="num">
                                      <p:cBhvr additive="base">
                                        <p:cTn id="25" dur="350" fill="hold"/>
                                        <p:tgtEl>
                                          <p:spTgt spid="11"/>
                                        </p:tgtEl>
                                        <p:attrNameLst>
                                          <p:attrName>ppt_y</p:attrName>
                                        </p:attrNameLst>
                                      </p:cBhvr>
                                      <p:tavLst>
                                        <p:tav tm="0">
                                          <p:val>
                                            <p:strVal val="#ppt_y+0.0350"/>
                                          </p:val>
                                        </p:tav>
                                        <p:tav tm="100000">
                                          <p:val>
                                            <p:strVal val="#ppt_y"/>
                                          </p:val>
                                        </p:tav>
                                      </p:tavLst>
                                    </p:anim>
                                  </p:childTnLst>
                                </p:cTn>
                              </p:par>
                            </p:childTnLst>
                          </p:cTn>
                        </p:par>
                      </p:childTnLst>
                    </p:cTn>
                  </p:par>
                </p:childTnLst>
                <p:prevCondLst>
                  <p:cond evt="onPrev" delay="0">
                    <p:tgtEl>
                      <p:sldTgt/>
                    </p:tgtEl>
                  </p:cond>
                </p:prevCondLst>
                <p:nextCondLst>
                  <p:cond evt="onNext" delay="0">
                    <p:tgtEl>
                      <p:sldTgt/>
                    </p:tgtEl>
                  </p:cond>
                </p:nextCondLst>
              </p:cTn>
            </p:seq>
          </p:childTnLst>
        </p:cTn>
      </p:par>
    </p:tnLst>
  </p:timing>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LO2 · LU2 · T4 · SUPPORTING DATA</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Accountable Goal Hierarchy</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0" name="TextBox 9"/>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Goal</a:t>
            </a:r>
          </a:p>
          <a:p>
            <a:pPr algn="l">
              <a:spcAft>
                <a:spcPts val="300"/>
              </a:spcAft>
            </a:pPr>
            <a:r>
              <a:rPr sz="1200" b="0">
                <a:solidFill>
                  <a:srgbClr val="5B6372"/>
                </a:solidFill>
                <a:latin typeface="Arial"/>
              </a:rPr>
              <a:t>Improve service trust within the customer-support function.</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5" name="TextBox 14"/>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Outcome</a:t>
            </a:r>
          </a:p>
          <a:p>
            <a:pPr algn="l">
              <a:spcAft>
                <a:spcPts val="300"/>
              </a:spcAft>
            </a:pPr>
            <a:r>
              <a:rPr sz="1200" b="0">
                <a:solidFill>
                  <a:srgbClr val="5B6372"/>
                </a:solidFill>
                <a:latin typeface="Arial"/>
              </a:rPr>
              <a:t>Customers receive faster, clearer recovery updates.</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0" name="TextBox 19"/>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Measure</a:t>
            </a:r>
          </a:p>
          <a:p>
            <a:pPr algn="l">
              <a:spcAft>
                <a:spcPts val="300"/>
              </a:spcAft>
            </a:pPr>
            <a:r>
              <a:rPr sz="1200" b="0">
                <a:solidFill>
                  <a:srgbClr val="5B6372"/>
                </a:solidFill>
                <a:latin typeface="Arial"/>
              </a:rPr>
              <a:t>Priority cases resolved within four hours.</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5" name="TextBox 24"/>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Owner</a:t>
            </a:r>
          </a:p>
          <a:p>
            <a:pPr algn="l">
              <a:spcAft>
                <a:spcPts val="300"/>
              </a:spcAft>
            </a:pPr>
            <a:r>
              <a:rPr sz="1200" b="0">
                <a:solidFill>
                  <a:srgbClr val="5B6372"/>
                </a:solidFill>
                <a:latin typeface="Arial"/>
              </a:rPr>
              <a:t>Customer operations director.</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0" name="TextBox 29"/>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Review</a:t>
            </a:r>
          </a:p>
          <a:p>
            <a:pPr algn="l">
              <a:spcAft>
                <a:spcPts val="300"/>
              </a:spcAft>
            </a:pPr>
            <a:r>
              <a:rPr sz="1200" b="0">
                <a:solidFill>
                  <a:srgbClr val="5B6372"/>
                </a:solidFill>
                <a:latin typeface="Arial"/>
              </a:rPr>
              <a:t>Monthly governance review with exception evidence.</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5" name="TextBox 34"/>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Gate</a:t>
            </a:r>
          </a:p>
          <a:p>
            <a:pPr algn="l">
              <a:spcAft>
                <a:spcPts val="300"/>
              </a:spcAft>
            </a:pPr>
            <a:r>
              <a:rPr sz="1200" b="0">
                <a:solidFill>
                  <a:srgbClr val="5B6372"/>
                </a:solidFill>
                <a:latin typeface="Arial"/>
              </a:rPr>
              <a:t>No public claim without source, period and approval.</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97</a:t>
            </a:r>
          </a:p>
        </p:txBody>
      </p:sp>
      <p:sp>
        <p:nvSpPr>
          <p:cNvPr id="39" name="TextBox 38"/>
          <p:cNvSpPr txBox="1"/>
          <p:nvPr/>
        </p:nvSpPr>
        <p:spPr>
          <a:xfrm>
            <a:off x="777240" y="6163056"/>
            <a:ext cx="10607040" cy="201168"/>
          </a:xfrm>
          <a:prstGeom prst="rect">
            <a:avLst/>
          </a:prstGeom>
          <a:noFill/>
        </p:spPr>
        <p:txBody>
          <a:bodyPr wrap="square" anchor="t">
            <a:spAutoFit/>
          </a:bodyPr>
          <a:lstStyle/>
          <a:p>
            <a:pPr algn="l">
              <a:spcAft>
                <a:spcPts val="400"/>
              </a:spcAft>
            </a:pPr>
            <a:r>
              <a:rPr sz="850" b="0">
                <a:solidFill>
                  <a:srgbClr val="5B6372"/>
                </a:solidFill>
                <a:latin typeface="Arial"/>
              </a:rPr>
              <a:t>Source: illustrative synthetic data</a:t>
            </a:r>
          </a:p>
        </p:txBody>
      </p:sp>
    </p:spTree>
  </p:cSld>
  <p:clrMapOvr>
    <a:masterClrMapping/>
  </p:clrMapOvr>
  <p:transition spd="fast" advClick="1">
    <p:fade/>
  </p:transition>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LO2 · LU2 · T4 · ACTIVITY 6</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100" b="1">
                <a:solidFill>
                  <a:srgbClr val="161B26"/>
                </a:solidFill>
                <a:latin typeface="Arial"/>
              </a:rPr>
              <a:t>Create a Hierarchy Infographic with Microsoft 365 Copilot</a:t>
            </a:r>
          </a:p>
        </p:txBody>
      </p:sp>
      <p:sp>
        <p:nvSpPr>
          <p:cNvPr id="6" name="Rectangle 5"/>
          <p:cNvSpPr/>
          <p:nvPr/>
        </p:nvSpPr>
        <p:spPr>
          <a:xfrm>
            <a:off x="777240" y="1691640"/>
            <a:ext cx="169164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28216"/>
            <a:ext cx="1691640" cy="365760"/>
          </a:xfrm>
          <a:prstGeom prst="rect">
            <a:avLst/>
          </a:prstGeom>
          <a:noFill/>
        </p:spPr>
        <p:txBody>
          <a:bodyPr wrap="square" anchor="t">
            <a:spAutoFit/>
          </a:bodyPr>
          <a:lstStyle/>
          <a:p>
            <a:pPr algn="ctr">
              <a:spcAft>
                <a:spcPts val="400"/>
              </a:spcAft>
            </a:pPr>
            <a:r>
              <a:rPr sz="1300" b="1">
                <a:solidFill>
                  <a:srgbClr val="FFFFFF"/>
                </a:solidFill>
                <a:latin typeface="Arial"/>
              </a:rPr>
              <a:t>CASE STUDY</a:t>
            </a:r>
          </a:p>
        </p:txBody>
      </p:sp>
      <p:sp>
        <p:nvSpPr>
          <p:cNvPr id="8" name="Rectangle 7"/>
          <p:cNvSpPr/>
          <p:nvPr/>
        </p:nvSpPr>
        <p:spPr>
          <a:xfrm>
            <a:off x="777240" y="2286000"/>
            <a:ext cx="1063447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286000"/>
            <a:ext cx="91440" cy="28803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2487168"/>
            <a:ext cx="9966960" cy="320040"/>
          </a:xfrm>
          <a:prstGeom prst="rect">
            <a:avLst/>
          </a:prstGeom>
          <a:noFill/>
        </p:spPr>
        <p:txBody>
          <a:bodyPr wrap="square" anchor="t">
            <a:spAutoFit/>
          </a:bodyPr>
          <a:lstStyle/>
          <a:p>
            <a:pPr algn="l">
              <a:spcAft>
                <a:spcPts val="400"/>
              </a:spcAft>
            </a:pPr>
            <a:r>
              <a:rPr sz="1200" b="1">
                <a:solidFill>
                  <a:srgbClr val="10B981"/>
                </a:solidFill>
                <a:latin typeface="Arial"/>
              </a:rPr>
              <a:t>THE SITUATION</a:t>
            </a:r>
          </a:p>
        </p:txBody>
      </p:sp>
      <p:sp>
        <p:nvSpPr>
          <p:cNvPr id="11" name="TextBox 10"/>
          <p:cNvSpPr txBox="1"/>
          <p:nvPr/>
        </p:nvSpPr>
        <p:spPr>
          <a:xfrm>
            <a:off x="1097280" y="2834640"/>
            <a:ext cx="10058400" cy="2240280"/>
          </a:xfrm>
          <a:prstGeom prst="rect">
            <a:avLst/>
          </a:prstGeom>
          <a:noFill/>
        </p:spPr>
        <p:txBody>
          <a:bodyPr wrap="square" anchor="t">
            <a:spAutoFit/>
          </a:bodyPr>
          <a:lstStyle/>
          <a:p>
            <a:pPr algn="l">
              <a:spcAft>
                <a:spcPts val="800"/>
              </a:spcAft>
            </a:pPr>
            <a:r>
              <a:rPr sz="1450" b="0">
                <a:solidFill>
                  <a:srgbClr val="161B26"/>
                </a:solidFill>
                <a:latin typeface="Arial"/>
              </a:rPr>
              <a:t>Northstar wants an executive hierarchy infographic connecting its service-trust goal to a recovery outcome, a four-hour measure, the customer-operations owner and a monthly review.</a:t>
            </a:r>
          </a:p>
          <a:p>
            <a:pPr algn="l">
              <a:spcAft>
                <a:spcPts val="800"/>
              </a:spcAft>
            </a:pPr>
            <a:r>
              <a:rPr sz="1450" b="0">
                <a:solidFill>
                  <a:srgbClr val="161B26"/>
                </a:solidFill>
                <a:latin typeface="Arial"/>
              </a:rPr>
              <a:t>Use Microsoft 365 Copilot with the approved strategy note to create two hierarchy directions. Verify the relationships, then rebuild the selected direction as an editable PowerPoint hierarchy.</a:t>
            </a:r>
          </a:p>
        </p:txBody>
      </p:sp>
      <p:sp>
        <p:nvSpPr>
          <p:cNvPr id="12" name="Rectangle 11"/>
          <p:cNvSpPr/>
          <p:nvPr/>
        </p:nvSpPr>
        <p:spPr>
          <a:xfrm>
            <a:off x="777240" y="5349240"/>
            <a:ext cx="10634472" cy="68580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5349240"/>
            <a:ext cx="7315200" cy="685800"/>
          </a:xfrm>
          <a:prstGeom prst="rect">
            <a:avLst/>
          </a:prstGeom>
          <a:noFill/>
        </p:spPr>
        <p:txBody>
          <a:bodyPr wrap="square" anchor="ctr">
            <a:spAutoFit/>
          </a:bodyPr>
          <a:lstStyle/>
          <a:p>
            <a:pPr algn="l">
              <a:spcAft>
                <a:spcPts val="400"/>
              </a:spcAft>
            </a:pPr>
            <a:r>
              <a:rPr sz="1300" b="1">
                <a:solidFill>
                  <a:srgbClr val="1F6FEB"/>
                </a:solidFill>
                <a:latin typeface="Arial"/>
              </a:rPr>
              <a:t>You'll produce:  </a:t>
            </a:r>
            <a:r>
              <a:rPr sz="1300" b="0">
                <a:solidFill>
                  <a:srgbClr val="161B26"/>
                </a:solidFill>
                <a:latin typeface="Arial"/>
              </a:rPr>
              <a:t>Two Copilot hierarchy directions, a reviewed editable PowerPoint hierarchy and a prompt/source log</a:t>
            </a:r>
          </a:p>
        </p:txBody>
      </p:sp>
      <p:sp>
        <p:nvSpPr>
          <p:cNvPr id="14" name="TextBox 13"/>
          <p:cNvSpPr txBox="1"/>
          <p:nvPr/>
        </p:nvSpPr>
        <p:spPr>
          <a:xfrm>
            <a:off x="8778240" y="5349240"/>
            <a:ext cx="2606040" cy="685800"/>
          </a:xfrm>
          <a:prstGeom prst="rect">
            <a:avLst/>
          </a:prstGeom>
          <a:noFill/>
        </p:spPr>
        <p:txBody>
          <a:bodyPr wrap="square" anchor="ctr">
            <a:spAutoFit/>
          </a:bodyPr>
          <a:lstStyle/>
          <a:p>
            <a:pPr algn="r">
              <a:spcAft>
                <a:spcPts val="400"/>
              </a:spcAft>
            </a:pPr>
            <a:r>
              <a:rPr sz="1300" b="1">
                <a:solidFill>
                  <a:srgbClr val="5B6372"/>
                </a:solidFill>
                <a:latin typeface="Arial"/>
              </a:rPr>
              <a:t>Duration: </a:t>
            </a:r>
            <a:r>
              <a:rPr sz="1300" b="0">
                <a:solidFill>
                  <a:srgbClr val="5B6372"/>
                </a:solidFill>
                <a:latin typeface="Arial"/>
              </a:rPr>
              <a:t>45 minutes</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98</a:t>
            </a:r>
          </a:p>
        </p:txBody>
      </p:sp>
    </p:spTree>
  </p:cSld>
  <p:clrMapOvr>
    <a:masterClrMapping/>
  </p:clrMapOvr>
  <p:transition spd="fast" advClick="1">
    <p:wipe dir="l"/>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8"/>
                                        </p:tgtEl>
                                        <p:attrNameLst>
                                          <p:attrName>style.visibility</p:attrName>
                                        </p:attrNameLst>
                                      </p:cBhvr>
                                      <p:to>
                                        <p:strVal val="visible"/>
                                      </p:to>
                                    </p:set>
                                    <p:animEffect transition="in" filter="fade">
                                      <p:cBhvr>
                                        <p:cTn id="14" dur="350"/>
                                        <p:tgtEl>
                                          <p:spTgt spid="8"/>
                                        </p:tgtEl>
                                      </p:cBhvr>
                                    </p:animEffect>
                                    <p:anim calcmode="lin" valueType="num">
                                      <p:cBhvr additive="base">
                                        <p:cTn id="15" dur="350" fill="hold"/>
                                        <p:tgtEl>
                                          <p:spTgt spid="8"/>
                                        </p:tgtEl>
                                        <p:attrNameLst>
                                          <p:attrName>ppt_y</p:attrName>
                                        </p:attrNameLst>
                                      </p:cBhvr>
                                      <p:tavLst>
                                        <p:tav tm="0">
                                          <p:val>
                                            <p:strVal val="#ppt_y+0.0350"/>
                                          </p:val>
                                        </p:tav>
                                        <p:tav tm="100000">
                                          <p:val>
                                            <p:strVal val="#ppt_y"/>
                                          </p:val>
                                        </p:tav>
                                      </p:tavLst>
                                    </p:anim>
                                  </p:childTnLst>
                                </p:cTn>
                              </p:par>
                            </p:childTnLst>
                          </p:cTn>
                        </p:par>
                      </p:childTnLst>
                    </p:cTn>
                  </p:par>
                  <p:par>
                    <p:cTn id="20" fill="hold">
                      <p:stCondLst>
                        <p:cond delay="0"/>
                      </p:stCondLst>
                      <p:childTnLst>
                        <p:par>
                          <p:cTn id="21" fill="hold">
                            <p:stCondLst>
                              <p:cond delay="0"/>
                            </p:stCondLst>
                            <p:childTnLst>
                              <p:par>
                                <p:cTn id="22" presetID="10" presetClass="entr" presetSubtype="0" fill="hold" grpId="0" nodeType="after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350"/>
                                        <p:tgtEl>
                                          <p:spTgt spid="9"/>
                                        </p:tgtEl>
                                      </p:cBhvr>
                                    </p:animEffect>
                                    <p:anim calcmode="lin" valueType="num">
                                      <p:cBhvr additive="base">
                                        <p:cTn id="25" dur="350" fill="hold"/>
                                        <p:tgtEl>
                                          <p:spTgt spid="9"/>
                                        </p:tgtEl>
                                        <p:attrNameLst>
                                          <p:attrName>ppt_y</p:attrName>
                                        </p:attrNameLst>
                                      </p:cBhvr>
                                      <p:tavLst>
                                        <p:tav tm="0">
                                          <p:val>
                                            <p:strVal val="#ppt_y+0.0350"/>
                                          </p:val>
                                        </p:tav>
                                        <p:tav tm="100000">
                                          <p:val>
                                            <p:strVal val="#ppt_y"/>
                                          </p:val>
                                        </p:tav>
                                      </p:tavLst>
                                    </p:anim>
                                  </p:childTnLst>
                                </p:cTn>
                              </p:par>
                            </p:childTnLst>
                          </p:cTn>
                        </p:par>
                      </p:childTnLst>
                    </p:cTn>
                  </p:par>
                  <p:par>
                    <p:cTn id="30" fill="hold">
                      <p:stCondLst>
                        <p:cond delay="0"/>
                      </p:stCondLst>
                      <p:childTnLst>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350"/>
                                        <p:tgtEl>
                                          <p:spTgt spid="11"/>
                                        </p:tgtEl>
                                      </p:cBhvr>
                                    </p:animEffect>
                                    <p:anim calcmode="lin" valueType="num">
                                      <p:cBhvr additive="base">
                                        <p:cTn id="35" dur="350" fill="hold"/>
                                        <p:tgtEl>
                                          <p:spTgt spid="11"/>
                                        </p:tgtEl>
                                        <p:attrNameLst>
                                          <p:attrName>ppt_y</p:attrName>
                                        </p:attrNameLst>
                                      </p:cBhvr>
                                      <p:tavLst>
                                        <p:tav tm="0">
                                          <p:val>
                                            <p:strVal val="#ppt_y+0.0350"/>
                                          </p:val>
                                        </p:tav>
                                        <p:tav tm="100000">
                                          <p:val>
                                            <p:strVal val="#ppt_y"/>
                                          </p:val>
                                        </p:tav>
                                      </p:tavLst>
                                    </p:anim>
                                  </p:childTnLst>
                                </p:cTn>
                              </p:par>
                            </p:childTnLst>
                          </p:cTn>
                        </p:par>
                      </p:childTnLst>
                    </p:cTn>
                  </p:par>
                  <p:par>
                    <p:cTn id="40" fill="hold">
                      <p:stCondLst>
                        <p:cond delay="0"/>
                      </p:stCondLst>
                      <p:childTnLst>
                        <p:par>
                          <p:cTn id="41" fill="hold">
                            <p:stCondLst>
                              <p:cond delay="0"/>
                            </p:stCondLst>
                            <p:childTnLst>
                              <p:par>
                                <p:cTn id="42" presetID="10" presetClass="entr" presetSubtype="0" fill="hold" grpId="0" nodeType="afterEffect">
                                  <p:stCondLst>
                                    <p:cond delay="0"/>
                                  </p:stCondLst>
                                  <p:childTnLst>
                                    <p:set>
                                      <p:cBhvr>
                                        <p:cTn id="43" dur="1" fill="hold">
                                          <p:stCondLst>
                                            <p:cond delay="0"/>
                                          </p:stCondLst>
                                        </p:cTn>
                                        <p:tgtEl>
                                          <p:spTgt spid="12"/>
                                        </p:tgtEl>
                                        <p:attrNameLst>
                                          <p:attrName>style.visibility</p:attrName>
                                        </p:attrNameLst>
                                      </p:cBhvr>
                                      <p:to>
                                        <p:strVal val="visible"/>
                                      </p:to>
                                    </p:set>
                                    <p:animEffect transition="in" filter="fade">
                                      <p:cBhvr>
                                        <p:cTn id="44" dur="350"/>
                                        <p:tgtEl>
                                          <p:spTgt spid="12"/>
                                        </p:tgtEl>
                                      </p:cBhvr>
                                    </p:animEffect>
                                    <p:anim calcmode="lin" valueType="num">
                                      <p:cBhvr additive="base">
                                        <p:cTn id="45" dur="350" fill="hold"/>
                                        <p:tgtEl>
                                          <p:spTgt spid="12"/>
                                        </p:tgtEl>
                                        <p:attrNameLst>
                                          <p:attrName>ppt_y</p:attrName>
                                        </p:attrNameLst>
                                      </p:cBhvr>
                                      <p:tavLst>
                                        <p:tav tm="0">
                                          <p:val>
                                            <p:strVal val="#ppt_y+0.0350"/>
                                          </p:val>
                                        </p:tav>
                                        <p:tav tm="100000">
                                          <p:val>
                                            <p:strVal val="#ppt_y"/>
                                          </p:val>
                                        </p:tav>
                                      </p:tavLst>
                                    </p:anim>
                                  </p:childTnLst>
                                </p:cTn>
                              </p:par>
                            </p:childTnLst>
                          </p:cTn>
                        </p:par>
                      </p:childTnLst>
                    </p:cTn>
                  </p:par>
                  <p:par>
                    <p:cTn id="50" fill="hold">
                      <p:stCondLst>
                        <p:cond delay="0"/>
                      </p:stCondLst>
                      <p:childTnLst>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3"/>
                                        </p:tgtEl>
                                        <p:attrNameLst>
                                          <p:attrName>style.visibility</p:attrName>
                                        </p:attrNameLst>
                                      </p:cBhvr>
                                      <p:to>
                                        <p:strVal val="visible"/>
                                      </p:to>
                                    </p:set>
                                    <p:animEffect transition="in" filter="fade">
                                      <p:cBhvr>
                                        <p:cTn id="54" dur="350"/>
                                        <p:tgtEl>
                                          <p:spTgt spid="13"/>
                                        </p:tgtEl>
                                      </p:cBhvr>
                                    </p:animEffect>
                                    <p:anim calcmode="lin" valueType="num">
                                      <p:cBhvr additive="base">
                                        <p:cTn id="55" dur="350" fill="hold"/>
                                        <p:tgtEl>
                                          <p:spTgt spid="13"/>
                                        </p:tgtEl>
                                        <p:attrNameLst>
                                          <p:attrName>ppt_y</p:attrName>
                                        </p:attrNameLst>
                                      </p:cBhvr>
                                      <p:tavLst>
                                        <p:tav tm="0">
                                          <p:val>
                                            <p:strVal val="#ppt_y+0.0350"/>
                                          </p:val>
                                        </p:tav>
                                        <p:tav tm="100000">
                                          <p:val>
                                            <p:strVal val="#ppt_y"/>
                                          </p:val>
                                        </p:tav>
                                      </p:tavLst>
                                    </p:anim>
                                  </p:childTnLst>
                                </p:cTn>
                              </p:par>
                            </p:childTnLst>
                          </p:cTn>
                        </p:par>
                      </p:childTnLst>
                    </p:cTn>
                  </p:par>
                  <p:par>
                    <p:cTn id="60" fill="hold">
                      <p:stCondLst>
                        <p:cond delay="0"/>
                      </p:stCondLst>
                      <p:childTnLst>
                        <p:par>
                          <p:cTn id="61" fill="hold">
                            <p:stCondLst>
                              <p:cond delay="0"/>
                            </p:stCondLst>
                            <p:childTnLst>
                              <p:par>
                                <p:cTn id="62" presetID="10" presetClass="entr" presetSubtype="0" fill="hold" grpId="0" nodeType="afterEffect">
                                  <p:stCondLst>
                                    <p:cond delay="0"/>
                                  </p:stCondLst>
                                  <p:childTnLst>
                                    <p:set>
                                      <p:cBhvr>
                                        <p:cTn id="63" dur="1" fill="hold">
                                          <p:stCondLst>
                                            <p:cond delay="0"/>
                                          </p:stCondLst>
                                        </p:cTn>
                                        <p:tgtEl>
                                          <p:spTgt spid="14"/>
                                        </p:tgtEl>
                                        <p:attrNameLst>
                                          <p:attrName>style.visibility</p:attrName>
                                        </p:attrNameLst>
                                      </p:cBhvr>
                                      <p:to>
                                        <p:strVal val="visible"/>
                                      </p:to>
                                    </p:set>
                                    <p:animEffect transition="in" filter="fade">
                                      <p:cBhvr>
                                        <p:cTn id="64" dur="350"/>
                                        <p:tgtEl>
                                          <p:spTgt spid="14"/>
                                        </p:tgtEl>
                                      </p:cBhvr>
                                    </p:animEffect>
                                    <p:anim calcmode="lin" valueType="num">
                                      <p:cBhvr additive="base">
                                        <p:cTn id="65" dur="350" fill="hold"/>
                                        <p:tgtEl>
                                          <p:spTgt spid="14"/>
                                        </p:tgtEl>
                                        <p:attrNameLst>
                                          <p:attrName>ppt_y</p:attrName>
                                        </p:attrNameLst>
                                      </p:cBhvr>
                                      <p:tavLst>
                                        <p:tav tm="0">
                                          <p:val>
                                            <p:strVal val="#ppt_y+0.0350"/>
                                          </p:val>
                                        </p:tav>
                                        <p:tav tm="100000">
                                          <p:val>
                                            <p:strVal val="#ppt_y"/>
                                          </p:val>
                                        </p:tav>
                                      </p:tavLst>
                                    </p:anim>
                                  </p:childTnLst>
                                </p:cTn>
                              </p:par>
                            </p:childTnLst>
                          </p:cTn>
                        </p:par>
                      </p:childTnLst>
                    </p:cTn>
                  </p:par>
                </p:childTnLst>
                <p:prevCondLst>
                  <p:cond evt="onPrev" delay="0">
                    <p:tgtEl>
                      <p:sldTgt/>
                    </p:tgtEl>
                  </p:cond>
                </p:prevCondLst>
                <p:nextCondLst>
                  <p:cond evt="onNext" delay="0">
                    <p:tgtEl>
                      <p:sldTgt/>
                    </p:tgtEl>
                  </p:cond>
                </p:nextCondLst>
              </p:cTn>
            </p:seq>
          </p:childTnLst>
        </p:cTn>
      </p:par>
    </p:tnLst>
  </p:timing>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LO2 · LU2 · T4 · ACTIVITY 6</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100" b="1">
                <a:solidFill>
                  <a:srgbClr val="161B26"/>
                </a:solidFill>
                <a:latin typeface="Arial"/>
              </a:rPr>
              <a:t>Create a Hierarchy Infographic with Microsoft 365 Copilot</a:t>
            </a:r>
          </a:p>
        </p:txBody>
      </p:sp>
      <p:sp>
        <p:nvSpPr>
          <p:cNvPr id="6" name="TextBox 5"/>
          <p:cNvSpPr txBox="1"/>
          <p:nvPr/>
        </p:nvSpPr>
        <p:spPr>
          <a:xfrm>
            <a:off x="777240" y="1719072"/>
            <a:ext cx="8229600" cy="365760"/>
          </a:xfrm>
          <a:prstGeom prst="rect">
            <a:avLst/>
          </a:prstGeom>
          <a:noFill/>
        </p:spPr>
        <p:txBody>
          <a:bodyPr wrap="square" anchor="t">
            <a:spAutoFit/>
          </a:bodyPr>
          <a:lstStyle/>
          <a:p>
            <a:pPr algn="l">
              <a:spcAft>
                <a:spcPts val="400"/>
              </a:spcAft>
            </a:pPr>
            <a:r>
              <a:rPr sz="1300" b="1">
                <a:solidFill>
                  <a:srgbClr val="5B6372"/>
                </a:solidFill>
                <a:latin typeface="Arial"/>
              </a:rPr>
              <a:t>DISCUSSION &amp; DECISION PROMPTS</a:t>
            </a:r>
          </a:p>
        </p:txBody>
      </p:sp>
      <p:sp>
        <p:nvSpPr>
          <p:cNvPr id="7" name="Rectangle 6"/>
          <p:cNvSpPr/>
          <p:nvPr/>
        </p:nvSpPr>
        <p:spPr>
          <a:xfrm>
            <a:off x="777240" y="2148840"/>
            <a:ext cx="10634472" cy="8732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73152" cy="8732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78408" y="2334006"/>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78408" y="2334006"/>
            <a:ext cx="502920" cy="50292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737360" y="2148840"/>
            <a:ext cx="9308592" cy="873252"/>
          </a:xfrm>
          <a:prstGeom prst="rect">
            <a:avLst/>
          </a:prstGeom>
          <a:noFill/>
        </p:spPr>
        <p:txBody>
          <a:bodyPr wrap="square" anchor="ctr">
            <a:spAutoFit/>
          </a:bodyPr>
          <a:lstStyle/>
          <a:p>
            <a:pPr algn="l">
              <a:spcAft>
                <a:spcPts val="400"/>
              </a:spcAft>
            </a:pPr>
            <a:r>
              <a:rPr sz="1450" b="0">
                <a:solidFill>
                  <a:srgbClr val="161B26"/>
                </a:solidFill>
                <a:latin typeface="Arial"/>
              </a:rPr>
              <a:t>What must the prompt include to prevent a generic output?</a:t>
            </a:r>
          </a:p>
        </p:txBody>
      </p:sp>
      <p:sp>
        <p:nvSpPr>
          <p:cNvPr id="12" name="Rectangle 11"/>
          <p:cNvSpPr/>
          <p:nvPr/>
        </p:nvSpPr>
        <p:spPr>
          <a:xfrm>
            <a:off x="777240" y="3168396"/>
            <a:ext cx="10634472" cy="8732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168396"/>
            <a:ext cx="73152" cy="8732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78408" y="3353562"/>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78408" y="3353562"/>
            <a:ext cx="502920" cy="50292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6" name="TextBox 15"/>
          <p:cNvSpPr txBox="1"/>
          <p:nvPr/>
        </p:nvSpPr>
        <p:spPr>
          <a:xfrm>
            <a:off x="1737360" y="3168396"/>
            <a:ext cx="9308592" cy="873252"/>
          </a:xfrm>
          <a:prstGeom prst="rect">
            <a:avLst/>
          </a:prstGeom>
          <a:noFill/>
        </p:spPr>
        <p:txBody>
          <a:bodyPr wrap="square" anchor="ctr">
            <a:spAutoFit/>
          </a:bodyPr>
          <a:lstStyle/>
          <a:p>
            <a:pPr algn="l">
              <a:spcAft>
                <a:spcPts val="400"/>
              </a:spcAft>
            </a:pPr>
            <a:r>
              <a:rPr sz="1450" b="0">
                <a:solidFill>
                  <a:srgbClr val="161B26"/>
                </a:solidFill>
                <a:latin typeface="Arial"/>
              </a:rPr>
              <a:t>Which data cannot be sent to an unapproved service?</a:t>
            </a:r>
          </a:p>
        </p:txBody>
      </p:sp>
      <p:sp>
        <p:nvSpPr>
          <p:cNvPr id="17" name="Rectangle 16"/>
          <p:cNvSpPr/>
          <p:nvPr/>
        </p:nvSpPr>
        <p:spPr>
          <a:xfrm>
            <a:off x="777240" y="4187952"/>
            <a:ext cx="10634472" cy="8732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187952"/>
            <a:ext cx="73152" cy="8732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78408" y="4373118"/>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8408" y="4373118"/>
            <a:ext cx="502920" cy="50292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1" name="TextBox 20"/>
          <p:cNvSpPr txBox="1"/>
          <p:nvPr/>
        </p:nvSpPr>
        <p:spPr>
          <a:xfrm>
            <a:off x="1737360" y="4187952"/>
            <a:ext cx="9308592" cy="873252"/>
          </a:xfrm>
          <a:prstGeom prst="rect">
            <a:avLst/>
          </a:prstGeom>
          <a:noFill/>
        </p:spPr>
        <p:txBody>
          <a:bodyPr wrap="square" anchor="ctr">
            <a:spAutoFit/>
          </a:bodyPr>
          <a:lstStyle/>
          <a:p>
            <a:pPr algn="l">
              <a:spcAft>
                <a:spcPts val="400"/>
              </a:spcAft>
            </a:pPr>
            <a:r>
              <a:rPr sz="1450" b="0">
                <a:solidFill>
                  <a:srgbClr val="161B26"/>
                </a:solidFill>
                <a:latin typeface="Arial"/>
              </a:rPr>
              <a:t>What must be rebuilt as native PowerPoint objects?</a:t>
            </a:r>
          </a:p>
        </p:txBody>
      </p:sp>
      <p:sp>
        <p:nvSpPr>
          <p:cNvPr id="22" name="Rectangle 21"/>
          <p:cNvSpPr/>
          <p:nvPr/>
        </p:nvSpPr>
        <p:spPr>
          <a:xfrm>
            <a:off x="777240" y="5207508"/>
            <a:ext cx="10634472" cy="8732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207508"/>
            <a:ext cx="73152" cy="8732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78408" y="5392674"/>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78408" y="5392674"/>
            <a:ext cx="502920" cy="50292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6" name="TextBox 25"/>
          <p:cNvSpPr txBox="1"/>
          <p:nvPr/>
        </p:nvSpPr>
        <p:spPr>
          <a:xfrm>
            <a:off x="1737360" y="5207508"/>
            <a:ext cx="9308592" cy="873252"/>
          </a:xfrm>
          <a:prstGeom prst="rect">
            <a:avLst/>
          </a:prstGeom>
          <a:noFill/>
        </p:spPr>
        <p:txBody>
          <a:bodyPr wrap="square" anchor="ctr">
            <a:spAutoFit/>
          </a:bodyPr>
          <a:lstStyle/>
          <a:p>
            <a:pPr algn="l">
              <a:spcAft>
                <a:spcPts val="400"/>
              </a:spcAft>
            </a:pPr>
            <a:r>
              <a:rPr sz="1450" b="0">
                <a:solidFill>
                  <a:srgbClr val="161B26"/>
                </a:solidFill>
                <a:latin typeface="Arial"/>
              </a:rPr>
              <a:t>Who signs off the final infographic?</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99</a:t>
            </a:r>
          </a:p>
        </p:txBody>
      </p:sp>
    </p:spTree>
  </p:cSld>
  <p:clrMapOvr>
    <a:masterClrMapping/>
  </p:clrMapOvr>
  <p:transition spd="fast" advClick="1">
    <p:wipe dir="l"/>
  </p:transition>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LO2 · LU2 · T4 · ACTIVITY 6</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100" b="1">
                <a:solidFill>
                  <a:srgbClr val="161B26"/>
                </a:solidFill>
                <a:latin typeface="Arial"/>
              </a:rPr>
              <a:t>Create a Hierarchy Infographic with Microsoft 365 Copilot</a:t>
            </a:r>
          </a:p>
        </p:txBody>
      </p:sp>
      <p:sp>
        <p:nvSpPr>
          <p:cNvPr id="6" name="Rectangle 5"/>
          <p:cNvSpPr/>
          <p:nvPr/>
        </p:nvSpPr>
        <p:spPr>
          <a:xfrm>
            <a:off x="777240" y="1783080"/>
            <a:ext cx="10634472" cy="26517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91440" cy="26517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1965960"/>
            <a:ext cx="10058400" cy="365760"/>
          </a:xfrm>
          <a:prstGeom prst="rect">
            <a:avLst/>
          </a:prstGeom>
          <a:noFill/>
        </p:spPr>
        <p:txBody>
          <a:bodyPr wrap="square" anchor="t">
            <a:spAutoFit/>
          </a:bodyPr>
          <a:lstStyle/>
          <a:p>
            <a:pPr algn="l">
              <a:spcAft>
                <a:spcPts val="400"/>
              </a:spcAft>
            </a:pPr>
            <a:r>
              <a:rPr sz="1300" b="1">
                <a:solidFill>
                  <a:srgbClr val="7C3AED"/>
                </a:solidFill>
                <a:latin typeface="Arial"/>
              </a:rPr>
              <a:t>REFLECT &amp; DISCUSS</a:t>
            </a:r>
          </a:p>
        </p:txBody>
      </p:sp>
      <p:sp>
        <p:nvSpPr>
          <p:cNvPr id="9" name="TextBox 8"/>
          <p:cNvSpPr txBox="1"/>
          <p:nvPr/>
        </p:nvSpPr>
        <p:spPr>
          <a:xfrm>
            <a:off x="1051560" y="2377440"/>
            <a:ext cx="10058400" cy="1920240"/>
          </a:xfrm>
          <a:prstGeom prst="rect">
            <a:avLst/>
          </a:prstGeom>
          <a:noFill/>
        </p:spPr>
        <p:txBody>
          <a:bodyPr wrap="square">
            <a:spAutoFit/>
          </a:bodyPr>
          <a:lstStyle/>
          <a:p>
            <a:pPr>
              <a:spcAft>
                <a:spcPts val="900"/>
              </a:spcAft>
            </a:pPr>
            <a:r>
              <a:rPr sz="1450" b="0">
                <a:solidFill>
                  <a:srgbClr val="161B26"/>
                </a:solidFill>
                <a:latin typeface="Arial"/>
              </a:rPr>
              <a:t>•  Did AI accelerate options without becoming the source of truth?</a:t>
            </a:r>
          </a:p>
          <a:p>
            <a:pPr>
              <a:spcAft>
                <a:spcPts val="900"/>
              </a:spcAft>
            </a:pPr>
            <a:r>
              <a:rPr sz="1450" b="0">
                <a:solidFill>
                  <a:srgbClr val="161B26"/>
                </a:solidFill>
                <a:latin typeface="Arial"/>
              </a:rPr>
              <a:t>•  Is the final result independently editable and auditable?</a:t>
            </a:r>
          </a:p>
        </p:txBody>
      </p:sp>
      <p:sp>
        <p:nvSpPr>
          <p:cNvPr id="10" name="Rectangle 9"/>
          <p:cNvSpPr/>
          <p:nvPr/>
        </p:nvSpPr>
        <p:spPr>
          <a:xfrm>
            <a:off x="777240" y="4663440"/>
            <a:ext cx="10634472" cy="137160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1560" y="4864608"/>
            <a:ext cx="10058400" cy="365760"/>
          </a:xfrm>
          <a:prstGeom prst="rect">
            <a:avLst/>
          </a:prstGeom>
          <a:noFill/>
        </p:spPr>
        <p:txBody>
          <a:bodyPr wrap="square" anchor="t">
            <a:spAutoFit/>
          </a:bodyPr>
          <a:lstStyle/>
          <a:p>
            <a:pPr algn="l">
              <a:spcAft>
                <a:spcPts val="400"/>
              </a:spcAft>
            </a:pPr>
            <a:r>
              <a:rPr sz="1500" b="1">
                <a:solidFill>
                  <a:srgbClr val="127A3E"/>
                </a:solidFill>
                <a:latin typeface="Arial"/>
              </a:rPr>
              <a:t>✓  Facilitator debrief check</a:t>
            </a:r>
          </a:p>
        </p:txBody>
      </p:sp>
      <p:sp>
        <p:nvSpPr>
          <p:cNvPr id="12" name="TextBox 11"/>
          <p:cNvSpPr txBox="1"/>
          <p:nvPr/>
        </p:nvSpPr>
        <p:spPr>
          <a:xfrm>
            <a:off x="1051560" y="5257800"/>
            <a:ext cx="10058400" cy="731520"/>
          </a:xfrm>
          <a:prstGeom prst="rect">
            <a:avLst/>
          </a:prstGeom>
          <a:noFill/>
        </p:spPr>
        <p:txBody>
          <a:bodyPr wrap="square" anchor="t">
            <a:spAutoFit/>
          </a:bodyPr>
          <a:lstStyle/>
          <a:p>
            <a:pPr algn="l">
              <a:spcAft>
                <a:spcPts val="400"/>
              </a:spcAft>
            </a:pPr>
            <a:r>
              <a:rPr sz="1300" b="0">
                <a:solidFill>
                  <a:srgbClr val="161B26"/>
                </a:solidFill>
                <a:latin typeface="Arial"/>
              </a:rPr>
              <a:t>The final slide records the prompt, sources and human changes; all claims are verified and the decision evidence remains editable.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100</a:t>
            </a:r>
          </a:p>
        </p:txBody>
      </p:sp>
    </p:spTree>
  </p:cSld>
  <p:clrMapOvr>
    <a:masterClrMapping/>
  </p:clrMapOvr>
  <p:transition spd="fast" advClick="1">
    <p:wipe dir="l"/>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350"/>
                                        <p:tgtEl>
                                          <p:spTgt spid="9"/>
                                        </p:tgtEl>
                                      </p:cBhvr>
                                    </p:animEffect>
                                    <p:anim calcmode="lin" valueType="num">
                                      <p:cBhvr additive="base">
                                        <p:cTn id="15" dur="350" fill="hold"/>
                                        <p:tgtEl>
                                          <p:spTgt spid="9"/>
                                        </p:tgtEl>
                                        <p:attrNameLst>
                                          <p:attrName>ppt_y</p:attrName>
                                        </p:attrNameLst>
                                      </p:cBhvr>
                                      <p:tavLst>
                                        <p:tav tm="0">
                                          <p:val>
                                            <p:strVal val="#ppt_y+0.0350"/>
                                          </p:val>
                                        </p:tav>
                                        <p:tav tm="100000">
                                          <p:val>
                                            <p:strVal val="#ppt_y"/>
                                          </p:val>
                                        </p:tav>
                                      </p:tavLst>
                                    </p:anim>
                                  </p:childTnLst>
                                </p:cTn>
                              </p:par>
                            </p:childTnLst>
                          </p:cTn>
                        </p:par>
                      </p:childTnLst>
                    </p:cTn>
                  </p:par>
                  <p:par>
                    <p:cTn id="20" fill="hold">
                      <p:stCondLst>
                        <p:cond delay="0"/>
                      </p:stCondLst>
                      <p:childTnLst>
                        <p:par>
                          <p:cTn id="21" fill="hold">
                            <p:stCondLst>
                              <p:cond delay="0"/>
                            </p:stCondLst>
                            <p:childTnLst>
                              <p:par>
                                <p:cTn id="22" presetID="10" presetClass="entr" presetSubtype="0" fill="hold" grpId="0" nodeType="after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350"/>
                                        <p:tgtEl>
                                          <p:spTgt spid="10"/>
                                        </p:tgtEl>
                                      </p:cBhvr>
                                    </p:animEffect>
                                    <p:anim calcmode="lin" valueType="num">
                                      <p:cBhvr additive="base">
                                        <p:cTn id="25" dur="350" fill="hold"/>
                                        <p:tgtEl>
                                          <p:spTgt spid="10"/>
                                        </p:tgtEl>
                                        <p:attrNameLst>
                                          <p:attrName>ppt_y</p:attrName>
                                        </p:attrNameLst>
                                      </p:cBhvr>
                                      <p:tavLst>
                                        <p:tav tm="0">
                                          <p:val>
                                            <p:strVal val="#ppt_y+0.0350"/>
                                          </p:val>
                                        </p:tav>
                                        <p:tav tm="100000">
                                          <p:val>
                                            <p:strVal val="#ppt_y"/>
                                          </p:val>
                                        </p:tav>
                                      </p:tavLst>
                                    </p:anim>
                                  </p:childTnLst>
                                </p:cTn>
                              </p:par>
                            </p:childTnLst>
                          </p:cTn>
                        </p:par>
                      </p:childTnLst>
                    </p:cTn>
                  </p:par>
                  <p:par>
                    <p:cTn id="30" fill="hold">
                      <p:stCondLst>
                        <p:cond delay="0"/>
                      </p:stCondLst>
                      <p:childTnLst>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350"/>
                                        <p:tgtEl>
                                          <p:spTgt spid="12"/>
                                        </p:tgtEl>
                                      </p:cBhvr>
                                    </p:animEffect>
                                    <p:anim calcmode="lin" valueType="num">
                                      <p:cBhvr additive="base">
                                        <p:cTn id="35" dur="350" fill="hold"/>
                                        <p:tgtEl>
                                          <p:spTgt spid="12"/>
                                        </p:tgtEl>
                                        <p:attrNameLst>
                                          <p:attrName>ppt_y</p:attrName>
                                        </p:attrNameLst>
                                      </p:cBhvr>
                                      <p:tavLst>
                                        <p:tav tm="0">
                                          <p:val>
                                            <p:strVal val="#ppt_y+0.0350"/>
                                          </p:val>
                                        </p:tav>
                                        <p:tav tm="100000">
                                          <p:val>
                                            <p:strVal val="#ppt_y"/>
                                          </p:val>
                                        </p:tav>
                                      </p:tavLst>
                                    </p:anim>
                                  </p:childTnLst>
                                </p:cTn>
                              </p:par>
                            </p:childTnLst>
                          </p:cTn>
                        </p:par>
                      </p:childTnLst>
                    </p:cTn>
                  </p:par>
                </p:childTnLst>
                <p:prevCondLst>
                  <p:cond evt="onPrev" delay="0">
                    <p:tgtEl>
                      <p:sldTgt/>
                    </p:tgtEl>
                  </p:cond>
                </p:prevCondLst>
                <p:nextCondLst>
                  <p:cond evt="onNext" delay="0">
                    <p:tgtEl>
                      <p:sldTgt/>
                    </p:tgtEl>
                  </p:cond>
                </p:nextCondLst>
              </p:cTn>
            </p:seq>
          </p:childTnLst>
        </p:cTn>
      </p:par>
    </p:tnLst>
  </p:timing>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LU2 RECAP</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Recap — Creating PowerPoint Infographics with AI</a:t>
            </a:r>
          </a:p>
        </p:txBody>
      </p:sp>
      <p:sp>
        <p:nvSpPr>
          <p:cNvPr id="6" name="Rectangle 5"/>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0" name="TextBox 9"/>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Create a Timeline Infographic with Microsoft 365 Copilot</a:t>
            </a:r>
          </a:p>
          <a:p>
            <a:pPr algn="l">
              <a:spcAft>
                <a:spcPts val="300"/>
              </a:spcAft>
            </a:pPr>
            <a:r>
              <a:rPr sz="1200" b="0">
                <a:solidFill>
                  <a:srgbClr val="5B6372"/>
                </a:solidFill>
                <a:latin typeface="Arial"/>
              </a:rPr>
              <a:t>You can now: create a timeline infographic in the Microsoft 365 Copilot app, then preserve hierarchy, editability, brand and evidence in PowerPoint.</a:t>
            </a:r>
          </a:p>
        </p:txBody>
      </p:sp>
      <p:sp>
        <p:nvSpPr>
          <p:cNvPr id="11" name="Rectangle 10"/>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5" name="TextBox 14"/>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Create a Process Infographic with Microsoft 365 Copilot</a:t>
            </a:r>
          </a:p>
          <a:p>
            <a:pPr algn="l">
              <a:spcAft>
                <a:spcPts val="300"/>
              </a:spcAft>
            </a:pPr>
            <a:r>
              <a:rPr sz="1200" b="0">
                <a:solidFill>
                  <a:srgbClr val="5B6372"/>
                </a:solidFill>
                <a:latin typeface="Arial"/>
              </a:rPr>
              <a:t>You can now: use Microsoft 365 Copilot to generate a five-stage process infographic, then rebuild decision-critical labels, shapes, connectors and SmartArt as editable PowerPoint objects.</a:t>
            </a:r>
          </a:p>
        </p:txBody>
      </p:sp>
      <p:sp>
        <p:nvSpPr>
          <p:cNvPr id="16" name="Rectangle 15"/>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0" name="TextBox 19"/>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Create a Comparison Data Story with Copilot and PowerPoint</a:t>
            </a:r>
          </a:p>
          <a:p>
            <a:pPr algn="l">
              <a:spcAft>
                <a:spcPts val="300"/>
              </a:spcAft>
            </a:pPr>
            <a:r>
              <a:rPr sz="1200" b="0">
                <a:solidFill>
                  <a:srgbClr val="5B6372"/>
                </a:solidFill>
                <a:latin typeface="Arial"/>
              </a:rPr>
              <a:t>You can now: use Microsoft 365 Copilot to analyse approved mock Excel data, verify calculations, then create a comparison infographic with a native editable chart in PowerPoint.</a:t>
            </a:r>
          </a:p>
        </p:txBody>
      </p:sp>
      <p:sp>
        <p:nvSpPr>
          <p:cNvPr id="21" name="Rectangle 20"/>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5" name="TextBox 24"/>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Create a Hierarchy Infographic with Microsoft 365 Copilot</a:t>
            </a:r>
          </a:p>
          <a:p>
            <a:pPr algn="l">
              <a:spcAft>
                <a:spcPts val="300"/>
              </a:spcAft>
            </a:pPr>
            <a:r>
              <a:rPr sz="1200" b="0">
                <a:solidFill>
                  <a:srgbClr val="5B6372"/>
                </a:solidFill>
                <a:latin typeface="Arial"/>
              </a:rPr>
              <a:t>You can now: generate a source-grounded business-goal hierarchy in Microsoft 365 Copilot and refine it as an accountable editable PowerPoint master.</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101</a:t>
            </a:r>
          </a:p>
        </p:txBody>
      </p:sp>
    </p:spTree>
  </p:cSld>
  <p:clrMapOvr>
    <a:masterClrMapping/>
  </p:clrMapOvr>
  <p:transition spd="fast" advClick="1">
    <p:fade/>
  </p:transition>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7C3AED"/>
                </a:solidFill>
                <a:latin typeface="Arial"/>
              </a:rPr>
              <a:t>LU2 · WHY IT MATTERS</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The fastest workflow keeps the message editable.</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Use templates and AI for options; keep data, charts, labels and decisions under human control.</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102</a:t>
            </a:r>
          </a:p>
        </p:txBody>
      </p:sp>
    </p:spTree>
  </p:cSld>
  <p:clrMapOvr>
    <a:masterClrMapping/>
  </p:clrMapOvr>
  <p:transition spd="fast" advClick="1">
    <p:zoom/>
  </p:transition>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LU3</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Evaluating and Presenting Infographics for Business Impact</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Story · Context · Simplicity · Coaching · Budget · Effectiveness · Improvement</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LU3</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103</a:t>
            </a:r>
          </a:p>
        </p:txBody>
      </p:sp>
    </p:spTree>
  </p:cSld>
  <p:clrMapOvr>
    <a:masterClrMapping/>
  </p:clrMapOvr>
  <p:transition spd="fast" advClick="1">
    <p:push dir="l"/>
  </p:transition>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LU3 · KEY CONCEPTS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100" b="1">
                <a:solidFill>
                  <a:srgbClr val="161B26"/>
                </a:solidFill>
                <a:latin typeface="Arial"/>
              </a:rPr>
              <a:t>Key Concepts — Evaluating and Presenting Infographics for Business Impact</a:t>
            </a:r>
          </a:p>
        </p:txBody>
      </p:sp>
      <p:sp>
        <p:nvSpPr>
          <p:cNvPr id="6" name="Rectangle 5"/>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0" name="TextBox 9"/>
          <p:cNvSpPr txBox="1"/>
          <p:nvPr/>
        </p:nvSpPr>
        <p:spPr>
          <a:xfrm>
            <a:off x="1764792" y="1874520"/>
            <a:ext cx="3973068" cy="1920240"/>
          </a:xfrm>
          <a:prstGeom prst="rect">
            <a:avLst/>
          </a:prstGeom>
          <a:noFill/>
        </p:spPr>
        <p:txBody>
          <a:bodyPr wrap="square" anchor="ctr">
            <a:spAutoFit/>
          </a:bodyPr>
          <a:lstStyle/>
          <a:p>
            <a:pPr algn="l">
              <a:spcAft>
                <a:spcPts val="400"/>
              </a:spcAft>
            </a:pPr>
            <a:r>
              <a:rPr sz="1400" b="0">
                <a:solidFill>
                  <a:srgbClr val="161B26"/>
                </a:solidFill>
                <a:latin typeface="Arial"/>
              </a:rPr>
              <a:t>Effective review separates message clarity, data integrity, visual hierarchy, accessibility, audience fit and business usefulness.</a:t>
            </a:r>
          </a:p>
        </p:txBody>
      </p:sp>
      <p:sp>
        <p:nvSpPr>
          <p:cNvPr id="11" name="Rectangle 10"/>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5" name="TextBox 14"/>
          <p:cNvSpPr txBox="1"/>
          <p:nvPr/>
        </p:nvSpPr>
        <p:spPr>
          <a:xfrm>
            <a:off x="7219188" y="1874520"/>
            <a:ext cx="3973068" cy="1920240"/>
          </a:xfrm>
          <a:prstGeom prst="rect">
            <a:avLst/>
          </a:prstGeom>
          <a:noFill/>
        </p:spPr>
        <p:txBody>
          <a:bodyPr wrap="square" anchor="ctr">
            <a:spAutoFit/>
          </a:bodyPr>
          <a:lstStyle/>
          <a:p>
            <a:pPr algn="l">
              <a:spcAft>
                <a:spcPts val="400"/>
              </a:spcAft>
            </a:pPr>
            <a:r>
              <a:rPr sz="1400" b="0">
                <a:solidFill>
                  <a:srgbClr val="161B26"/>
                </a:solidFill>
                <a:latin typeface="Arial"/>
              </a:rPr>
              <a:t>Coaching uses specific observations, questions and criteria rather than taste-based comments such as 'make it pop'.</a:t>
            </a:r>
          </a:p>
        </p:txBody>
      </p:sp>
      <p:sp>
        <p:nvSpPr>
          <p:cNvPr id="16" name="Rectangle 15"/>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0" name="TextBox 19"/>
          <p:cNvSpPr txBox="1"/>
          <p:nvPr/>
        </p:nvSpPr>
        <p:spPr>
          <a:xfrm>
            <a:off x="1764792" y="4178808"/>
            <a:ext cx="3973068" cy="1920240"/>
          </a:xfrm>
          <a:prstGeom prst="rect">
            <a:avLst/>
          </a:prstGeom>
          <a:noFill/>
        </p:spPr>
        <p:txBody>
          <a:bodyPr wrap="square" anchor="ctr">
            <a:spAutoFit/>
          </a:bodyPr>
          <a:lstStyle/>
          <a:p>
            <a:pPr algn="l">
              <a:spcAft>
                <a:spcPts val="400"/>
              </a:spcAft>
            </a:pPr>
            <a:r>
              <a:rPr sz="1400" b="0">
                <a:solidFill>
                  <a:srgbClr val="161B26"/>
                </a:solidFill>
                <a:latin typeface="Arial"/>
              </a:rPr>
              <a:t>Tool investment is evaluated through capability, licence, learning, production, governance, collaboration and maintenance costs.</a:t>
            </a:r>
          </a:p>
        </p:txBody>
      </p:sp>
      <p:sp>
        <p:nvSpPr>
          <p:cNvPr id="21" name="Rectangle 20"/>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5" name="TextBox 24"/>
          <p:cNvSpPr txBox="1"/>
          <p:nvPr/>
        </p:nvSpPr>
        <p:spPr>
          <a:xfrm>
            <a:off x="7219188" y="4178808"/>
            <a:ext cx="3973068" cy="1920240"/>
          </a:xfrm>
          <a:prstGeom prst="rect">
            <a:avLst/>
          </a:prstGeom>
          <a:noFill/>
        </p:spPr>
        <p:txBody>
          <a:bodyPr wrap="square" anchor="ctr">
            <a:spAutoFit/>
          </a:bodyPr>
          <a:lstStyle/>
          <a:p>
            <a:pPr algn="l">
              <a:spcAft>
                <a:spcPts val="400"/>
              </a:spcAft>
            </a:pPr>
            <a:r>
              <a:rPr sz="1400" b="0">
                <a:solidFill>
                  <a:srgbClr val="161B26"/>
                </a:solidFill>
                <a:latin typeface="Arial"/>
              </a:rPr>
              <a:t>Improvement is evidence-led: gather feedback, prioritise changes, revise the controlled master and retest the intended outcome.</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104</a:t>
            </a:r>
          </a:p>
        </p:txBody>
      </p:sp>
    </p:spTree>
  </p:cSld>
  <p:clrMapOvr>
    <a:masterClrMapping/>
  </p:clrMapOvr>
  <p:transition spd="fast" advClick="1">
    <p:fade/>
  </p:transition>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LU3 · REVIEW</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Six Dimensions of Infographic Effectiveness</a:t>
            </a:r>
          </a:p>
        </p:txBody>
      </p:sp>
      <p:sp>
        <p:nvSpPr>
          <p:cNvPr id="6" name="TextBox 5"/>
          <p:cNvSpPr txBox="1"/>
          <p:nvPr/>
        </p:nvSpPr>
        <p:spPr>
          <a:xfrm>
            <a:off x="795528" y="1664208"/>
            <a:ext cx="10607040" cy="365760"/>
          </a:xfrm>
          <a:prstGeom prst="rect">
            <a:avLst/>
          </a:prstGeom>
          <a:noFill/>
        </p:spPr>
        <p:txBody>
          <a:bodyPr wrap="square" anchor="t">
            <a:spAutoFit/>
          </a:bodyPr>
          <a:lstStyle/>
          <a:p>
            <a:pPr algn="l">
              <a:spcAft>
                <a:spcPts val="400"/>
              </a:spcAft>
            </a:pPr>
            <a:r>
              <a:rPr sz="1300" b="0">
                <a:solidFill>
                  <a:srgbClr val="5B6372"/>
                </a:solidFill>
                <a:latin typeface="Arial"/>
              </a:rPr>
              <a:t>A professional review connects design decisions to audience and business outcomes.</a:t>
            </a:r>
          </a:p>
        </p:txBody>
      </p:sp>
      <p:sp>
        <p:nvSpPr>
          <p:cNvPr id="7" name="Rectangle 6"/>
          <p:cNvSpPr/>
          <p:nvPr/>
        </p:nvSpPr>
        <p:spPr>
          <a:xfrm>
            <a:off x="777240" y="2057400"/>
            <a:ext cx="5180076" cy="11978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057400"/>
            <a:ext cx="91440" cy="119786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2221992"/>
            <a:ext cx="4677156" cy="365760"/>
          </a:xfrm>
          <a:prstGeom prst="rect">
            <a:avLst/>
          </a:prstGeom>
          <a:noFill/>
        </p:spPr>
        <p:txBody>
          <a:bodyPr wrap="square" anchor="t">
            <a:spAutoFit/>
          </a:bodyPr>
          <a:lstStyle/>
          <a:p>
            <a:pPr algn="l">
              <a:spcAft>
                <a:spcPts val="400"/>
              </a:spcAft>
            </a:pPr>
            <a:r>
              <a:rPr sz="1600" b="1">
                <a:solidFill>
                  <a:srgbClr val="1F6FEB"/>
                </a:solidFill>
                <a:latin typeface="Arial"/>
              </a:rPr>
              <a:t>Clarity</a:t>
            </a:r>
          </a:p>
        </p:txBody>
      </p:sp>
      <p:sp>
        <p:nvSpPr>
          <p:cNvPr id="10" name="TextBox 9"/>
          <p:cNvSpPr txBox="1"/>
          <p:nvPr/>
        </p:nvSpPr>
        <p:spPr>
          <a:xfrm>
            <a:off x="1051560" y="2624328"/>
            <a:ext cx="4677156" cy="512064"/>
          </a:xfrm>
          <a:prstGeom prst="rect">
            <a:avLst/>
          </a:prstGeom>
          <a:noFill/>
        </p:spPr>
        <p:txBody>
          <a:bodyPr wrap="square" anchor="t">
            <a:spAutoFit/>
          </a:bodyPr>
          <a:lstStyle/>
          <a:p>
            <a:pPr algn="l">
              <a:spcAft>
                <a:spcPts val="400"/>
              </a:spcAft>
            </a:pPr>
            <a:r>
              <a:rPr sz="1200" b="0">
                <a:solidFill>
                  <a:srgbClr val="161B26"/>
                </a:solidFill>
                <a:latin typeface="Arial"/>
              </a:rPr>
              <a:t>The audience can state the message and action without trainer explanation.</a:t>
            </a:r>
          </a:p>
        </p:txBody>
      </p:sp>
      <p:sp>
        <p:nvSpPr>
          <p:cNvPr id="11" name="Rectangle 10"/>
          <p:cNvSpPr/>
          <p:nvPr/>
        </p:nvSpPr>
        <p:spPr>
          <a:xfrm>
            <a:off x="6231636" y="2057400"/>
            <a:ext cx="5180076" cy="11978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1636" y="2057400"/>
            <a:ext cx="91440" cy="11978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05956" y="2221992"/>
            <a:ext cx="4677156" cy="365760"/>
          </a:xfrm>
          <a:prstGeom prst="rect">
            <a:avLst/>
          </a:prstGeom>
          <a:noFill/>
        </p:spPr>
        <p:txBody>
          <a:bodyPr wrap="square" anchor="t">
            <a:spAutoFit/>
          </a:bodyPr>
          <a:lstStyle/>
          <a:p>
            <a:pPr algn="l">
              <a:spcAft>
                <a:spcPts val="400"/>
              </a:spcAft>
            </a:pPr>
            <a:r>
              <a:rPr sz="1600" b="1">
                <a:solidFill>
                  <a:srgbClr val="10B981"/>
                </a:solidFill>
                <a:latin typeface="Arial"/>
              </a:rPr>
              <a:t>Integrity</a:t>
            </a:r>
          </a:p>
        </p:txBody>
      </p:sp>
      <p:sp>
        <p:nvSpPr>
          <p:cNvPr id="14" name="TextBox 13"/>
          <p:cNvSpPr txBox="1"/>
          <p:nvPr/>
        </p:nvSpPr>
        <p:spPr>
          <a:xfrm>
            <a:off x="6505956" y="2624328"/>
            <a:ext cx="4677156" cy="512064"/>
          </a:xfrm>
          <a:prstGeom prst="rect">
            <a:avLst/>
          </a:prstGeom>
          <a:noFill/>
        </p:spPr>
        <p:txBody>
          <a:bodyPr wrap="square" anchor="t">
            <a:spAutoFit/>
          </a:bodyPr>
          <a:lstStyle/>
          <a:p>
            <a:pPr algn="l">
              <a:spcAft>
                <a:spcPts val="400"/>
              </a:spcAft>
            </a:pPr>
            <a:r>
              <a:rPr sz="1200" b="0">
                <a:solidFill>
                  <a:srgbClr val="161B26"/>
                </a:solidFill>
                <a:latin typeface="Arial"/>
              </a:rPr>
              <a:t>Data, scale, context, source and uncertainty are accurate and visible.</a:t>
            </a:r>
          </a:p>
        </p:txBody>
      </p:sp>
      <p:sp>
        <p:nvSpPr>
          <p:cNvPr id="15" name="Rectangle 14"/>
          <p:cNvSpPr/>
          <p:nvPr/>
        </p:nvSpPr>
        <p:spPr>
          <a:xfrm>
            <a:off x="777240" y="3493008"/>
            <a:ext cx="5180076" cy="11978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3493008"/>
            <a:ext cx="91440" cy="119786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1560" y="3657600"/>
            <a:ext cx="4677156" cy="365760"/>
          </a:xfrm>
          <a:prstGeom prst="rect">
            <a:avLst/>
          </a:prstGeom>
          <a:noFill/>
        </p:spPr>
        <p:txBody>
          <a:bodyPr wrap="square" anchor="t">
            <a:spAutoFit/>
          </a:bodyPr>
          <a:lstStyle/>
          <a:p>
            <a:pPr algn="l">
              <a:spcAft>
                <a:spcPts val="400"/>
              </a:spcAft>
            </a:pPr>
            <a:r>
              <a:rPr sz="1600" b="1">
                <a:solidFill>
                  <a:srgbClr val="7C3AED"/>
                </a:solidFill>
                <a:latin typeface="Arial"/>
              </a:rPr>
              <a:t>Hierarchy</a:t>
            </a:r>
          </a:p>
        </p:txBody>
      </p:sp>
      <p:sp>
        <p:nvSpPr>
          <p:cNvPr id="18" name="TextBox 17"/>
          <p:cNvSpPr txBox="1"/>
          <p:nvPr/>
        </p:nvSpPr>
        <p:spPr>
          <a:xfrm>
            <a:off x="1051560" y="4059936"/>
            <a:ext cx="4677156" cy="512064"/>
          </a:xfrm>
          <a:prstGeom prst="rect">
            <a:avLst/>
          </a:prstGeom>
          <a:noFill/>
        </p:spPr>
        <p:txBody>
          <a:bodyPr wrap="square" anchor="t">
            <a:spAutoFit/>
          </a:bodyPr>
          <a:lstStyle/>
          <a:p>
            <a:pPr algn="l">
              <a:spcAft>
                <a:spcPts val="400"/>
              </a:spcAft>
            </a:pPr>
            <a:r>
              <a:rPr sz="1200" b="0">
                <a:solidFill>
                  <a:srgbClr val="161B26"/>
                </a:solidFill>
                <a:latin typeface="Arial"/>
              </a:rPr>
              <a:t>The reading order guides attention to evidence and implication.</a:t>
            </a:r>
          </a:p>
        </p:txBody>
      </p:sp>
      <p:sp>
        <p:nvSpPr>
          <p:cNvPr id="19" name="Rectangle 18"/>
          <p:cNvSpPr/>
          <p:nvPr/>
        </p:nvSpPr>
        <p:spPr>
          <a:xfrm>
            <a:off x="6231636" y="3493008"/>
            <a:ext cx="5180076" cy="11978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31636" y="3493008"/>
            <a:ext cx="91440" cy="1197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05956" y="3657600"/>
            <a:ext cx="4677156" cy="365760"/>
          </a:xfrm>
          <a:prstGeom prst="rect">
            <a:avLst/>
          </a:prstGeom>
          <a:noFill/>
        </p:spPr>
        <p:txBody>
          <a:bodyPr wrap="square" anchor="t">
            <a:spAutoFit/>
          </a:bodyPr>
          <a:lstStyle/>
          <a:p>
            <a:pPr algn="l">
              <a:spcAft>
                <a:spcPts val="400"/>
              </a:spcAft>
            </a:pPr>
            <a:r>
              <a:rPr sz="1600" b="1">
                <a:solidFill>
                  <a:srgbClr val="F59E0B"/>
                </a:solidFill>
                <a:latin typeface="Arial"/>
              </a:rPr>
              <a:t>Accessibility</a:t>
            </a:r>
          </a:p>
        </p:txBody>
      </p:sp>
      <p:sp>
        <p:nvSpPr>
          <p:cNvPr id="22" name="TextBox 21"/>
          <p:cNvSpPr txBox="1"/>
          <p:nvPr/>
        </p:nvSpPr>
        <p:spPr>
          <a:xfrm>
            <a:off x="6505956" y="4059936"/>
            <a:ext cx="4677156" cy="512064"/>
          </a:xfrm>
          <a:prstGeom prst="rect">
            <a:avLst/>
          </a:prstGeom>
          <a:noFill/>
        </p:spPr>
        <p:txBody>
          <a:bodyPr wrap="square" anchor="t">
            <a:spAutoFit/>
          </a:bodyPr>
          <a:lstStyle/>
          <a:p>
            <a:pPr algn="l">
              <a:spcAft>
                <a:spcPts val="400"/>
              </a:spcAft>
            </a:pPr>
            <a:r>
              <a:rPr sz="1200" b="0">
                <a:solidFill>
                  <a:srgbClr val="161B26"/>
                </a:solidFill>
                <a:latin typeface="Arial"/>
              </a:rPr>
              <a:t>Contrast, text size, labels, alt text and non-colour cues support access.</a:t>
            </a:r>
          </a:p>
        </p:txBody>
      </p:sp>
      <p:sp>
        <p:nvSpPr>
          <p:cNvPr id="23" name="Rectangle 22"/>
          <p:cNvSpPr/>
          <p:nvPr/>
        </p:nvSpPr>
        <p:spPr>
          <a:xfrm>
            <a:off x="777240" y="4928616"/>
            <a:ext cx="5180076" cy="11978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77240" y="4928616"/>
            <a:ext cx="91440" cy="119786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51560" y="5093208"/>
            <a:ext cx="4677156" cy="365760"/>
          </a:xfrm>
          <a:prstGeom prst="rect">
            <a:avLst/>
          </a:prstGeom>
          <a:noFill/>
        </p:spPr>
        <p:txBody>
          <a:bodyPr wrap="square" anchor="t">
            <a:spAutoFit/>
          </a:bodyPr>
          <a:lstStyle/>
          <a:p>
            <a:pPr algn="l">
              <a:spcAft>
                <a:spcPts val="400"/>
              </a:spcAft>
            </a:pPr>
            <a:r>
              <a:rPr sz="1600" b="1">
                <a:solidFill>
                  <a:srgbClr val="1F6FEB"/>
                </a:solidFill>
                <a:latin typeface="Arial"/>
              </a:rPr>
              <a:t>Engagement</a:t>
            </a:r>
          </a:p>
        </p:txBody>
      </p:sp>
      <p:sp>
        <p:nvSpPr>
          <p:cNvPr id="26" name="TextBox 25"/>
          <p:cNvSpPr txBox="1"/>
          <p:nvPr/>
        </p:nvSpPr>
        <p:spPr>
          <a:xfrm>
            <a:off x="1051560" y="5495544"/>
            <a:ext cx="4677156" cy="512064"/>
          </a:xfrm>
          <a:prstGeom prst="rect">
            <a:avLst/>
          </a:prstGeom>
          <a:noFill/>
        </p:spPr>
        <p:txBody>
          <a:bodyPr wrap="square" anchor="t">
            <a:spAutoFit/>
          </a:bodyPr>
          <a:lstStyle/>
          <a:p>
            <a:pPr algn="l">
              <a:spcAft>
                <a:spcPts val="400"/>
              </a:spcAft>
            </a:pPr>
            <a:r>
              <a:rPr sz="1200" b="0">
                <a:solidFill>
                  <a:srgbClr val="161B26"/>
                </a:solidFill>
                <a:latin typeface="Arial"/>
              </a:rPr>
              <a:t>The visual earns attention without chart junk or decorative distraction.</a:t>
            </a:r>
          </a:p>
        </p:txBody>
      </p:sp>
      <p:sp>
        <p:nvSpPr>
          <p:cNvPr id="27" name="Rectangle 26"/>
          <p:cNvSpPr/>
          <p:nvPr/>
        </p:nvSpPr>
        <p:spPr>
          <a:xfrm>
            <a:off x="6231636" y="4928616"/>
            <a:ext cx="5180076" cy="11978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31636" y="4928616"/>
            <a:ext cx="91440" cy="11978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05956" y="5093208"/>
            <a:ext cx="4677156" cy="365760"/>
          </a:xfrm>
          <a:prstGeom prst="rect">
            <a:avLst/>
          </a:prstGeom>
          <a:noFill/>
        </p:spPr>
        <p:txBody>
          <a:bodyPr wrap="square" anchor="t">
            <a:spAutoFit/>
          </a:bodyPr>
          <a:lstStyle/>
          <a:p>
            <a:pPr algn="l">
              <a:spcAft>
                <a:spcPts val="400"/>
              </a:spcAft>
            </a:pPr>
            <a:r>
              <a:rPr sz="1600" b="1">
                <a:solidFill>
                  <a:srgbClr val="10B981"/>
                </a:solidFill>
                <a:latin typeface="Arial"/>
              </a:rPr>
              <a:t>Business fit</a:t>
            </a:r>
          </a:p>
        </p:txBody>
      </p:sp>
      <p:sp>
        <p:nvSpPr>
          <p:cNvPr id="30" name="TextBox 29"/>
          <p:cNvSpPr txBox="1"/>
          <p:nvPr/>
        </p:nvSpPr>
        <p:spPr>
          <a:xfrm>
            <a:off x="6505956" y="5495544"/>
            <a:ext cx="4677156" cy="512064"/>
          </a:xfrm>
          <a:prstGeom prst="rect">
            <a:avLst/>
          </a:prstGeom>
          <a:noFill/>
        </p:spPr>
        <p:txBody>
          <a:bodyPr wrap="square" anchor="t">
            <a:spAutoFit/>
          </a:bodyPr>
          <a:lstStyle/>
          <a:p>
            <a:pPr algn="l">
              <a:spcAft>
                <a:spcPts val="400"/>
              </a:spcAft>
            </a:pPr>
            <a:r>
              <a:rPr sz="1200" b="0">
                <a:solidFill>
                  <a:srgbClr val="161B26"/>
                </a:solidFill>
                <a:latin typeface="Arial"/>
              </a:rPr>
              <a:t>The output supports the stated decision, channel, resources and governance.</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105</a:t>
            </a:r>
          </a:p>
        </p:txBody>
      </p:sp>
    </p:spTree>
  </p:cSld>
  <p:clrMapOvr>
    <a:masterClrMapping/>
  </p:clrMapOvr>
  <p:transition spd="fast" advClick="1">
    <p:fade/>
  </p:transition>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LU3 · QUALITY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Do and Don't: Review the Story, Not Just the Style</a:t>
            </a:r>
          </a:p>
        </p:txBody>
      </p:sp>
      <p:sp>
        <p:nvSpPr>
          <p:cNvPr id="6" name="TextBox 5"/>
          <p:cNvSpPr txBox="1"/>
          <p:nvPr/>
        </p:nvSpPr>
        <p:spPr>
          <a:xfrm>
            <a:off x="795528" y="1664208"/>
            <a:ext cx="10607040" cy="365760"/>
          </a:xfrm>
          <a:prstGeom prst="rect">
            <a:avLst/>
          </a:prstGeom>
          <a:noFill/>
        </p:spPr>
        <p:txBody>
          <a:bodyPr wrap="square" anchor="t">
            <a:spAutoFit/>
          </a:bodyPr>
          <a:lstStyle/>
          <a:p>
            <a:pPr algn="l">
              <a:spcAft>
                <a:spcPts val="400"/>
              </a:spcAft>
            </a:pPr>
            <a:r>
              <a:rPr sz="1300" b="0">
                <a:solidFill>
                  <a:srgbClr val="5B6372"/>
                </a:solidFill>
                <a:latin typeface="Arial"/>
              </a:rPr>
              <a:t>The legacy deck's core dos and don'ts remain valid and are now tied to review criteria.</a:t>
            </a:r>
          </a:p>
        </p:txBody>
      </p:sp>
      <p:sp>
        <p:nvSpPr>
          <p:cNvPr id="7" name="Rectangle 6"/>
          <p:cNvSpPr/>
          <p:nvPr/>
        </p:nvSpPr>
        <p:spPr>
          <a:xfrm>
            <a:off x="2926080" y="2103120"/>
            <a:ext cx="4242816" cy="4572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926080" y="2103120"/>
            <a:ext cx="4242816" cy="457200"/>
          </a:xfrm>
          <a:prstGeom prst="rect">
            <a:avLst/>
          </a:prstGeom>
          <a:noFill/>
        </p:spPr>
        <p:txBody>
          <a:bodyPr wrap="square" anchor="ctr">
            <a:spAutoFit/>
          </a:bodyPr>
          <a:lstStyle/>
          <a:p>
            <a:pPr algn="ctr">
              <a:spcAft>
                <a:spcPts val="400"/>
              </a:spcAft>
            </a:pPr>
            <a:r>
              <a:rPr sz="1500" b="1">
                <a:solidFill>
                  <a:srgbClr val="FFFFFF"/>
                </a:solidFill>
                <a:latin typeface="Arial"/>
              </a:rPr>
              <a:t>Don't</a:t>
            </a:r>
          </a:p>
        </p:txBody>
      </p:sp>
      <p:sp>
        <p:nvSpPr>
          <p:cNvPr id="9" name="Rectangle 8"/>
          <p:cNvSpPr/>
          <p:nvPr/>
        </p:nvSpPr>
        <p:spPr>
          <a:xfrm>
            <a:off x="7168896" y="2103120"/>
            <a:ext cx="4242816"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68896" y="2103120"/>
            <a:ext cx="4242816" cy="457200"/>
          </a:xfrm>
          <a:prstGeom prst="rect">
            <a:avLst/>
          </a:prstGeom>
          <a:noFill/>
        </p:spPr>
        <p:txBody>
          <a:bodyPr wrap="square" anchor="ctr">
            <a:spAutoFit/>
          </a:bodyPr>
          <a:lstStyle/>
          <a:p>
            <a:pPr algn="ctr">
              <a:spcAft>
                <a:spcPts val="400"/>
              </a:spcAft>
            </a:pPr>
            <a:r>
              <a:rPr sz="1500" b="1">
                <a:solidFill>
                  <a:srgbClr val="FFFFFF"/>
                </a:solidFill>
                <a:latin typeface="Arial"/>
              </a:rPr>
              <a:t>Do</a:t>
            </a:r>
          </a:p>
        </p:txBody>
      </p:sp>
      <p:sp>
        <p:nvSpPr>
          <p:cNvPr id="11" name="Rectangle 10"/>
          <p:cNvSpPr/>
          <p:nvPr/>
        </p:nvSpPr>
        <p:spPr>
          <a:xfrm>
            <a:off x="777240" y="2560320"/>
            <a:ext cx="214884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560320"/>
            <a:ext cx="1874520" cy="713232"/>
          </a:xfrm>
          <a:prstGeom prst="rect">
            <a:avLst/>
          </a:prstGeom>
          <a:noFill/>
        </p:spPr>
        <p:txBody>
          <a:bodyPr wrap="square" anchor="ctr">
            <a:spAutoFit/>
          </a:bodyPr>
          <a:lstStyle/>
          <a:p>
            <a:pPr algn="l">
              <a:spcAft>
                <a:spcPts val="400"/>
              </a:spcAft>
            </a:pPr>
            <a:r>
              <a:rPr sz="1400" b="1">
                <a:solidFill>
                  <a:srgbClr val="161B26"/>
                </a:solidFill>
                <a:latin typeface="Arial"/>
              </a:rPr>
              <a:t>Meaning</a:t>
            </a:r>
          </a:p>
        </p:txBody>
      </p:sp>
      <p:sp>
        <p:nvSpPr>
          <p:cNvPr id="13" name="Rectangle 12"/>
          <p:cNvSpPr/>
          <p:nvPr/>
        </p:nvSpPr>
        <p:spPr>
          <a:xfrm>
            <a:off x="2926080" y="2560320"/>
            <a:ext cx="4242816"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090672" y="2560320"/>
            <a:ext cx="3913632" cy="713232"/>
          </a:xfrm>
          <a:prstGeom prst="rect">
            <a:avLst/>
          </a:prstGeom>
          <a:noFill/>
        </p:spPr>
        <p:txBody>
          <a:bodyPr wrap="square" anchor="ctr">
            <a:spAutoFit/>
          </a:bodyPr>
          <a:lstStyle/>
          <a:p>
            <a:pPr algn="l">
              <a:spcAft>
                <a:spcPts val="400"/>
              </a:spcAft>
            </a:pPr>
            <a:r>
              <a:rPr sz="1300" b="0">
                <a:solidFill>
                  <a:srgbClr val="161B26"/>
                </a:solidFill>
                <a:latin typeface="Arial"/>
              </a:rPr>
              <a:t>Rely on iconography alone</a:t>
            </a:r>
          </a:p>
        </p:txBody>
      </p:sp>
      <p:sp>
        <p:nvSpPr>
          <p:cNvPr id="15" name="Rectangle 14"/>
          <p:cNvSpPr/>
          <p:nvPr/>
        </p:nvSpPr>
        <p:spPr>
          <a:xfrm>
            <a:off x="7168896" y="2560320"/>
            <a:ext cx="4242816"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33488" y="2560320"/>
            <a:ext cx="3913632" cy="713232"/>
          </a:xfrm>
          <a:prstGeom prst="rect">
            <a:avLst/>
          </a:prstGeom>
          <a:noFill/>
        </p:spPr>
        <p:txBody>
          <a:bodyPr wrap="square" anchor="ctr">
            <a:spAutoFit/>
          </a:bodyPr>
          <a:lstStyle/>
          <a:p>
            <a:pPr algn="l">
              <a:spcAft>
                <a:spcPts val="400"/>
              </a:spcAft>
            </a:pPr>
            <a:r>
              <a:rPr sz="1300" b="0">
                <a:solidFill>
                  <a:srgbClr val="161B26"/>
                </a:solidFill>
                <a:latin typeface="Arial"/>
              </a:rPr>
              <a:t>Use icons with direct labels and explanatory context</a:t>
            </a:r>
          </a:p>
        </p:txBody>
      </p:sp>
      <p:sp>
        <p:nvSpPr>
          <p:cNvPr id="17" name="Rectangle 16"/>
          <p:cNvSpPr/>
          <p:nvPr/>
        </p:nvSpPr>
        <p:spPr>
          <a:xfrm>
            <a:off x="777240" y="3273552"/>
            <a:ext cx="214884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3273552"/>
            <a:ext cx="1874520" cy="713232"/>
          </a:xfrm>
          <a:prstGeom prst="rect">
            <a:avLst/>
          </a:prstGeom>
          <a:noFill/>
        </p:spPr>
        <p:txBody>
          <a:bodyPr wrap="square" anchor="ctr">
            <a:spAutoFit/>
          </a:bodyPr>
          <a:lstStyle/>
          <a:p>
            <a:pPr algn="l">
              <a:spcAft>
                <a:spcPts val="400"/>
              </a:spcAft>
            </a:pPr>
            <a:r>
              <a:rPr sz="1400" b="1">
                <a:solidFill>
                  <a:srgbClr val="161B26"/>
                </a:solidFill>
                <a:latin typeface="Arial"/>
              </a:rPr>
              <a:t>Decoration</a:t>
            </a:r>
          </a:p>
        </p:txBody>
      </p:sp>
      <p:sp>
        <p:nvSpPr>
          <p:cNvPr id="19" name="Rectangle 18"/>
          <p:cNvSpPr/>
          <p:nvPr/>
        </p:nvSpPr>
        <p:spPr>
          <a:xfrm>
            <a:off x="2926080" y="3273552"/>
            <a:ext cx="4242816"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090672" y="3273552"/>
            <a:ext cx="3913632" cy="713232"/>
          </a:xfrm>
          <a:prstGeom prst="rect">
            <a:avLst/>
          </a:prstGeom>
          <a:noFill/>
        </p:spPr>
        <p:txBody>
          <a:bodyPr wrap="square" anchor="ctr">
            <a:spAutoFit/>
          </a:bodyPr>
          <a:lstStyle/>
          <a:p>
            <a:pPr algn="l">
              <a:spcAft>
                <a:spcPts val="400"/>
              </a:spcAft>
            </a:pPr>
            <a:r>
              <a:rPr sz="1300" b="0">
                <a:solidFill>
                  <a:srgbClr val="161B26"/>
                </a:solidFill>
                <a:latin typeface="Arial"/>
              </a:rPr>
              <a:t>Add chart junk, 3-D effects or unnecessary elements</a:t>
            </a:r>
          </a:p>
        </p:txBody>
      </p:sp>
      <p:sp>
        <p:nvSpPr>
          <p:cNvPr id="21" name="Rectangle 20"/>
          <p:cNvSpPr/>
          <p:nvPr/>
        </p:nvSpPr>
        <p:spPr>
          <a:xfrm>
            <a:off x="7168896" y="3273552"/>
            <a:ext cx="4242816"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33488" y="3273552"/>
            <a:ext cx="3913632" cy="713232"/>
          </a:xfrm>
          <a:prstGeom prst="rect">
            <a:avLst/>
          </a:prstGeom>
          <a:noFill/>
        </p:spPr>
        <p:txBody>
          <a:bodyPr wrap="square" anchor="ctr">
            <a:spAutoFit/>
          </a:bodyPr>
          <a:lstStyle/>
          <a:p>
            <a:pPr algn="l">
              <a:spcAft>
                <a:spcPts val="400"/>
              </a:spcAft>
            </a:pPr>
            <a:r>
              <a:rPr sz="1300" b="0">
                <a:solidFill>
                  <a:srgbClr val="161B26"/>
                </a:solidFill>
                <a:latin typeface="Arial"/>
              </a:rPr>
              <a:t>Keep graphical elements simple and purposeful</a:t>
            </a:r>
          </a:p>
        </p:txBody>
      </p:sp>
      <p:sp>
        <p:nvSpPr>
          <p:cNvPr id="23" name="Rectangle 22"/>
          <p:cNvSpPr/>
          <p:nvPr/>
        </p:nvSpPr>
        <p:spPr>
          <a:xfrm>
            <a:off x="777240" y="3986784"/>
            <a:ext cx="214884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3986784"/>
            <a:ext cx="1874520" cy="713232"/>
          </a:xfrm>
          <a:prstGeom prst="rect">
            <a:avLst/>
          </a:prstGeom>
          <a:noFill/>
        </p:spPr>
        <p:txBody>
          <a:bodyPr wrap="square" anchor="ctr">
            <a:spAutoFit/>
          </a:bodyPr>
          <a:lstStyle/>
          <a:p>
            <a:pPr algn="l">
              <a:spcAft>
                <a:spcPts val="400"/>
              </a:spcAft>
            </a:pPr>
            <a:r>
              <a:rPr sz="1400" b="1">
                <a:solidFill>
                  <a:srgbClr val="161B26"/>
                </a:solidFill>
                <a:latin typeface="Arial"/>
              </a:rPr>
              <a:t>Context</a:t>
            </a:r>
          </a:p>
        </p:txBody>
      </p:sp>
      <p:sp>
        <p:nvSpPr>
          <p:cNvPr id="25" name="Rectangle 24"/>
          <p:cNvSpPr/>
          <p:nvPr/>
        </p:nvSpPr>
        <p:spPr>
          <a:xfrm>
            <a:off x="2926080" y="3986784"/>
            <a:ext cx="4242816"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090672" y="3986784"/>
            <a:ext cx="3913632" cy="713232"/>
          </a:xfrm>
          <a:prstGeom prst="rect">
            <a:avLst/>
          </a:prstGeom>
          <a:noFill/>
        </p:spPr>
        <p:txBody>
          <a:bodyPr wrap="square" anchor="ctr">
            <a:spAutoFit/>
          </a:bodyPr>
          <a:lstStyle/>
          <a:p>
            <a:pPr algn="l">
              <a:spcAft>
                <a:spcPts val="400"/>
              </a:spcAft>
            </a:pPr>
            <a:r>
              <a:rPr sz="1300" b="0">
                <a:solidFill>
                  <a:srgbClr val="161B26"/>
                </a:solidFill>
                <a:latin typeface="Arial"/>
              </a:rPr>
              <a:t>Show a number without comparison, unit or source</a:t>
            </a:r>
          </a:p>
        </p:txBody>
      </p:sp>
      <p:sp>
        <p:nvSpPr>
          <p:cNvPr id="27" name="Rectangle 26"/>
          <p:cNvSpPr/>
          <p:nvPr/>
        </p:nvSpPr>
        <p:spPr>
          <a:xfrm>
            <a:off x="7168896" y="3986784"/>
            <a:ext cx="4242816"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33488" y="3986784"/>
            <a:ext cx="3913632" cy="713232"/>
          </a:xfrm>
          <a:prstGeom prst="rect">
            <a:avLst/>
          </a:prstGeom>
          <a:noFill/>
        </p:spPr>
        <p:txBody>
          <a:bodyPr wrap="square" anchor="ctr">
            <a:spAutoFit/>
          </a:bodyPr>
          <a:lstStyle/>
          <a:p>
            <a:pPr algn="l">
              <a:spcAft>
                <a:spcPts val="400"/>
              </a:spcAft>
            </a:pPr>
            <a:r>
              <a:rPr sz="1300" b="0">
                <a:solidFill>
                  <a:srgbClr val="161B26"/>
                </a:solidFill>
                <a:latin typeface="Arial"/>
              </a:rPr>
              <a:t>Provide scale, timeframe, denominator and implication</a:t>
            </a:r>
          </a:p>
        </p:txBody>
      </p:sp>
      <p:sp>
        <p:nvSpPr>
          <p:cNvPr id="29" name="Rectangle 28"/>
          <p:cNvSpPr/>
          <p:nvPr/>
        </p:nvSpPr>
        <p:spPr>
          <a:xfrm>
            <a:off x="777240" y="4700016"/>
            <a:ext cx="214884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14400" y="4700016"/>
            <a:ext cx="1874520" cy="713232"/>
          </a:xfrm>
          <a:prstGeom prst="rect">
            <a:avLst/>
          </a:prstGeom>
          <a:noFill/>
        </p:spPr>
        <p:txBody>
          <a:bodyPr wrap="square" anchor="ctr">
            <a:spAutoFit/>
          </a:bodyPr>
          <a:lstStyle/>
          <a:p>
            <a:pPr algn="l">
              <a:spcAft>
                <a:spcPts val="400"/>
              </a:spcAft>
            </a:pPr>
            <a:r>
              <a:rPr sz="1400" b="1">
                <a:solidFill>
                  <a:srgbClr val="161B26"/>
                </a:solidFill>
                <a:latin typeface="Arial"/>
              </a:rPr>
              <a:t>Story</a:t>
            </a:r>
          </a:p>
        </p:txBody>
      </p:sp>
      <p:sp>
        <p:nvSpPr>
          <p:cNvPr id="31" name="Rectangle 30"/>
          <p:cNvSpPr/>
          <p:nvPr/>
        </p:nvSpPr>
        <p:spPr>
          <a:xfrm>
            <a:off x="2926080" y="4700016"/>
            <a:ext cx="4242816"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090672" y="4700016"/>
            <a:ext cx="3913632" cy="713232"/>
          </a:xfrm>
          <a:prstGeom prst="rect">
            <a:avLst/>
          </a:prstGeom>
          <a:noFill/>
        </p:spPr>
        <p:txBody>
          <a:bodyPr wrap="square" anchor="ctr">
            <a:spAutoFit/>
          </a:bodyPr>
          <a:lstStyle/>
          <a:p>
            <a:pPr algn="l">
              <a:spcAft>
                <a:spcPts val="400"/>
              </a:spcAft>
            </a:pPr>
            <a:r>
              <a:rPr sz="1300" b="0">
                <a:solidFill>
                  <a:srgbClr val="161B26"/>
                </a:solidFill>
                <a:latin typeface="Arial"/>
              </a:rPr>
              <a:t>Present isolated facts in template order</a:t>
            </a:r>
          </a:p>
        </p:txBody>
      </p:sp>
      <p:sp>
        <p:nvSpPr>
          <p:cNvPr id="33" name="Rectangle 32"/>
          <p:cNvSpPr/>
          <p:nvPr/>
        </p:nvSpPr>
        <p:spPr>
          <a:xfrm>
            <a:off x="7168896" y="4700016"/>
            <a:ext cx="4242816"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333488" y="4700016"/>
            <a:ext cx="3913632" cy="713232"/>
          </a:xfrm>
          <a:prstGeom prst="rect">
            <a:avLst/>
          </a:prstGeom>
          <a:noFill/>
        </p:spPr>
        <p:txBody>
          <a:bodyPr wrap="square" anchor="ctr">
            <a:spAutoFit/>
          </a:bodyPr>
          <a:lstStyle/>
          <a:p>
            <a:pPr algn="l">
              <a:spcAft>
                <a:spcPts val="400"/>
              </a:spcAft>
            </a:pPr>
            <a:r>
              <a:rPr sz="1300" b="0">
                <a:solidFill>
                  <a:srgbClr val="161B26"/>
                </a:solidFill>
                <a:latin typeface="Arial"/>
              </a:rPr>
              <a:t>Create a narrative that leads from question to evidence to action</a:t>
            </a:r>
          </a:p>
        </p:txBody>
      </p:sp>
      <p:sp>
        <p:nvSpPr>
          <p:cNvPr id="35" name="Rectangle 34"/>
          <p:cNvSpPr/>
          <p:nvPr/>
        </p:nvSpPr>
        <p:spPr>
          <a:xfrm>
            <a:off x="777240" y="5413248"/>
            <a:ext cx="214884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14400" y="5413248"/>
            <a:ext cx="1874520" cy="713232"/>
          </a:xfrm>
          <a:prstGeom prst="rect">
            <a:avLst/>
          </a:prstGeom>
          <a:noFill/>
        </p:spPr>
        <p:txBody>
          <a:bodyPr wrap="square" anchor="ctr">
            <a:spAutoFit/>
          </a:bodyPr>
          <a:lstStyle/>
          <a:p>
            <a:pPr algn="l">
              <a:spcAft>
                <a:spcPts val="400"/>
              </a:spcAft>
            </a:pPr>
            <a:r>
              <a:rPr sz="1400" b="1">
                <a:solidFill>
                  <a:srgbClr val="161B26"/>
                </a:solidFill>
                <a:latin typeface="Arial"/>
              </a:rPr>
              <a:t>Scope</a:t>
            </a:r>
          </a:p>
        </p:txBody>
      </p:sp>
      <p:sp>
        <p:nvSpPr>
          <p:cNvPr id="37" name="Rectangle 36"/>
          <p:cNvSpPr/>
          <p:nvPr/>
        </p:nvSpPr>
        <p:spPr>
          <a:xfrm>
            <a:off x="2926080" y="5413248"/>
            <a:ext cx="4242816"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090672" y="5413248"/>
            <a:ext cx="3913632" cy="713232"/>
          </a:xfrm>
          <a:prstGeom prst="rect">
            <a:avLst/>
          </a:prstGeom>
          <a:noFill/>
        </p:spPr>
        <p:txBody>
          <a:bodyPr wrap="square" anchor="ctr">
            <a:spAutoFit/>
          </a:bodyPr>
          <a:lstStyle/>
          <a:p>
            <a:pPr algn="l">
              <a:spcAft>
                <a:spcPts val="400"/>
              </a:spcAft>
            </a:pPr>
            <a:r>
              <a:rPr sz="1300" b="0">
                <a:solidFill>
                  <a:srgbClr val="161B26"/>
                </a:solidFill>
                <a:latin typeface="Arial"/>
              </a:rPr>
              <a:t>Include every available piece of information</a:t>
            </a:r>
          </a:p>
        </p:txBody>
      </p:sp>
      <p:sp>
        <p:nvSpPr>
          <p:cNvPr id="39" name="Rectangle 38"/>
          <p:cNvSpPr/>
          <p:nvPr/>
        </p:nvSpPr>
        <p:spPr>
          <a:xfrm>
            <a:off x="7168896" y="5413248"/>
            <a:ext cx="4242816"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33488" y="5413248"/>
            <a:ext cx="3913632" cy="713232"/>
          </a:xfrm>
          <a:prstGeom prst="rect">
            <a:avLst/>
          </a:prstGeom>
          <a:noFill/>
        </p:spPr>
        <p:txBody>
          <a:bodyPr wrap="square" anchor="ctr">
            <a:spAutoFit/>
          </a:bodyPr>
          <a:lstStyle/>
          <a:p>
            <a:pPr algn="l">
              <a:spcAft>
                <a:spcPts val="400"/>
              </a:spcAft>
            </a:pPr>
            <a:r>
              <a:rPr sz="1300" b="0">
                <a:solidFill>
                  <a:srgbClr val="161B26"/>
                </a:solidFill>
                <a:latin typeface="Arial"/>
              </a:rPr>
              <a:t>Curate the minimum evidence needed for the decision</a:t>
            </a:r>
          </a:p>
        </p:txBody>
      </p:sp>
      <p:sp>
        <p:nvSpPr>
          <p:cNvPr id="41" name="TextBox 4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42" name="TextBox 4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3" name="TextBox 4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106</a:t>
            </a:r>
          </a:p>
        </p:txBody>
      </p:sp>
    </p:spTree>
  </p:cSld>
  <p:clrMapOvr>
    <a:masterClrMapping/>
  </p:clrMapOvr>
  <p:transition spd="fast" advClick="1">
    <p:fade/>
  </p:transition>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LU3 · CONTINUOUS IMPROVEMENT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Evidence-Led Improvement Loop</a:t>
            </a:r>
          </a:p>
        </p:txBody>
      </p:sp>
      <p:sp>
        <p:nvSpPr>
          <p:cNvPr id="6" name="Rectangle 5"/>
          <p:cNvSpPr/>
          <p:nvPr/>
        </p:nvSpPr>
        <p:spPr>
          <a:xfrm>
            <a:off x="777240"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240280"/>
            <a:ext cx="1907438"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401775" y="2551176"/>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401775" y="255117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0" name="TextBox 9"/>
          <p:cNvSpPr txBox="1"/>
          <p:nvPr/>
        </p:nvSpPr>
        <p:spPr>
          <a:xfrm>
            <a:off x="923544" y="3566160"/>
            <a:ext cx="1614830" cy="1280160"/>
          </a:xfrm>
          <a:prstGeom prst="rect">
            <a:avLst/>
          </a:prstGeom>
          <a:noFill/>
        </p:spPr>
        <p:txBody>
          <a:bodyPr wrap="square" anchor="t">
            <a:spAutoFit/>
          </a:bodyPr>
          <a:lstStyle/>
          <a:p>
            <a:pPr algn="ctr">
              <a:spcAft>
                <a:spcPts val="400"/>
              </a:spcAft>
            </a:pPr>
            <a:r>
              <a:rPr sz="1300" b="0">
                <a:solidFill>
                  <a:srgbClr val="161B26"/>
                </a:solidFill>
                <a:latin typeface="Arial"/>
              </a:rPr>
              <a:t>Observe audience outcome</a:t>
            </a:r>
          </a:p>
        </p:txBody>
      </p:sp>
      <p:sp>
        <p:nvSpPr>
          <p:cNvPr id="11" name="Chevron 10"/>
          <p:cNvSpPr/>
          <p:nvPr/>
        </p:nvSpPr>
        <p:spPr>
          <a:xfrm>
            <a:off x="2702966" y="3447288"/>
            <a:ext cx="237744" cy="329184"/>
          </a:xfrm>
          <a:prstGeom prst="chevron">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958998"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958998" y="2240280"/>
            <a:ext cx="1907438"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583533" y="2551176"/>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83533" y="255117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6" name="TextBox 15"/>
          <p:cNvSpPr txBox="1"/>
          <p:nvPr/>
        </p:nvSpPr>
        <p:spPr>
          <a:xfrm>
            <a:off x="3105302" y="3566160"/>
            <a:ext cx="1614830" cy="1280160"/>
          </a:xfrm>
          <a:prstGeom prst="rect">
            <a:avLst/>
          </a:prstGeom>
          <a:noFill/>
        </p:spPr>
        <p:txBody>
          <a:bodyPr wrap="square" anchor="t">
            <a:spAutoFit/>
          </a:bodyPr>
          <a:lstStyle/>
          <a:p>
            <a:pPr algn="ctr">
              <a:spcAft>
                <a:spcPts val="400"/>
              </a:spcAft>
            </a:pPr>
            <a:r>
              <a:rPr sz="1300" b="0">
                <a:solidFill>
                  <a:srgbClr val="161B26"/>
                </a:solidFill>
                <a:latin typeface="Arial"/>
              </a:rPr>
              <a:t>Diagnose six dimensions</a:t>
            </a:r>
          </a:p>
        </p:txBody>
      </p:sp>
      <p:sp>
        <p:nvSpPr>
          <p:cNvPr id="17" name="Chevron 16"/>
          <p:cNvSpPr/>
          <p:nvPr/>
        </p:nvSpPr>
        <p:spPr>
          <a:xfrm>
            <a:off x="4884724" y="3447288"/>
            <a:ext cx="237744" cy="329184"/>
          </a:xfrm>
          <a:prstGeom prst="chevron">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40756"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140756" y="2240280"/>
            <a:ext cx="1907438"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5765291" y="2551176"/>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765291" y="255117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2" name="TextBox 21"/>
          <p:cNvSpPr txBox="1"/>
          <p:nvPr/>
        </p:nvSpPr>
        <p:spPr>
          <a:xfrm>
            <a:off x="5287060" y="3566160"/>
            <a:ext cx="1614830" cy="1280160"/>
          </a:xfrm>
          <a:prstGeom prst="rect">
            <a:avLst/>
          </a:prstGeom>
          <a:noFill/>
        </p:spPr>
        <p:txBody>
          <a:bodyPr wrap="square" anchor="t">
            <a:spAutoFit/>
          </a:bodyPr>
          <a:lstStyle/>
          <a:p>
            <a:pPr algn="ctr">
              <a:spcAft>
                <a:spcPts val="400"/>
              </a:spcAft>
            </a:pPr>
            <a:r>
              <a:rPr sz="1300" b="0">
                <a:solidFill>
                  <a:srgbClr val="161B26"/>
                </a:solidFill>
                <a:latin typeface="Arial"/>
              </a:rPr>
              <a:t>Prioritise by impact</a:t>
            </a:r>
          </a:p>
        </p:txBody>
      </p:sp>
      <p:sp>
        <p:nvSpPr>
          <p:cNvPr id="23" name="Chevron 22"/>
          <p:cNvSpPr/>
          <p:nvPr/>
        </p:nvSpPr>
        <p:spPr>
          <a:xfrm>
            <a:off x="7066482" y="3447288"/>
            <a:ext cx="237744" cy="329184"/>
          </a:xfrm>
          <a:prstGeom prst="chevron">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322514"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22514" y="2240280"/>
            <a:ext cx="1907438"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7947049" y="2551176"/>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947049" y="255117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28" name="TextBox 27"/>
          <p:cNvSpPr txBox="1"/>
          <p:nvPr/>
        </p:nvSpPr>
        <p:spPr>
          <a:xfrm>
            <a:off x="7468818" y="3566160"/>
            <a:ext cx="1614830" cy="1280160"/>
          </a:xfrm>
          <a:prstGeom prst="rect">
            <a:avLst/>
          </a:prstGeom>
          <a:noFill/>
        </p:spPr>
        <p:txBody>
          <a:bodyPr wrap="square" anchor="t">
            <a:spAutoFit/>
          </a:bodyPr>
          <a:lstStyle/>
          <a:p>
            <a:pPr algn="ctr">
              <a:spcAft>
                <a:spcPts val="400"/>
              </a:spcAft>
            </a:pPr>
            <a:r>
              <a:rPr sz="1300" b="0">
                <a:solidFill>
                  <a:srgbClr val="161B26"/>
                </a:solidFill>
                <a:latin typeface="Arial"/>
              </a:rPr>
              <a:t>Assign and revise</a:t>
            </a:r>
          </a:p>
        </p:txBody>
      </p:sp>
      <p:sp>
        <p:nvSpPr>
          <p:cNvPr id="29" name="Chevron 28"/>
          <p:cNvSpPr/>
          <p:nvPr/>
        </p:nvSpPr>
        <p:spPr>
          <a:xfrm>
            <a:off x="9248240" y="3447288"/>
            <a:ext cx="237744" cy="329184"/>
          </a:xfrm>
          <a:prstGeom prst="chevron">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504272"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9504272" y="2240280"/>
            <a:ext cx="1907438"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0128807" y="2551176"/>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128807" y="255117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4" name="TextBox 33"/>
          <p:cNvSpPr txBox="1"/>
          <p:nvPr/>
        </p:nvSpPr>
        <p:spPr>
          <a:xfrm>
            <a:off x="9650576" y="3566160"/>
            <a:ext cx="1614830" cy="1280160"/>
          </a:xfrm>
          <a:prstGeom prst="rect">
            <a:avLst/>
          </a:prstGeom>
          <a:noFill/>
        </p:spPr>
        <p:txBody>
          <a:bodyPr wrap="square" anchor="t">
            <a:spAutoFit/>
          </a:bodyPr>
          <a:lstStyle/>
          <a:p>
            <a:pPr algn="ctr">
              <a:spcAft>
                <a:spcPts val="400"/>
              </a:spcAft>
            </a:pPr>
            <a:r>
              <a:rPr sz="1300" b="0">
                <a:solidFill>
                  <a:srgbClr val="161B26"/>
                </a:solidFill>
                <a:latin typeface="Arial"/>
              </a:rPr>
              <a:t>Retest and approve</a:t>
            </a:r>
          </a:p>
        </p:txBody>
      </p:sp>
      <p:sp>
        <p:nvSpPr>
          <p:cNvPr id="35" name="Rectangle 34"/>
          <p:cNvSpPr/>
          <p:nvPr/>
        </p:nvSpPr>
        <p:spPr>
          <a:xfrm>
            <a:off x="777240" y="525780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77240" y="5257800"/>
            <a:ext cx="91440" cy="8229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97280" y="5257800"/>
            <a:ext cx="10058400" cy="822960"/>
          </a:xfrm>
          <a:prstGeom prst="rect">
            <a:avLst/>
          </a:prstGeom>
          <a:noFill/>
        </p:spPr>
        <p:txBody>
          <a:bodyPr wrap="square" anchor="ctr">
            <a:spAutoFit/>
          </a:bodyPr>
          <a:lstStyle/>
          <a:p>
            <a:pPr algn="l">
              <a:spcAft>
                <a:spcPts val="400"/>
              </a:spcAft>
            </a:pPr>
            <a:r>
              <a:rPr sz="1400" b="1">
                <a:solidFill>
                  <a:srgbClr val="161B26"/>
                </a:solidFill>
                <a:latin typeface="Arial"/>
              </a:rPr>
              <a:t>A revision is complete only when the controlled master, evidence and acceptance check are updated together.</a:t>
            </a:r>
          </a:p>
        </p:txBody>
      </p:sp>
      <p:sp>
        <p:nvSpPr>
          <p:cNvPr id="38" name="TextBox 3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39" name="TextBox 3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0" name="TextBox 3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107</a:t>
            </a:r>
          </a:p>
        </p:txBody>
      </p:sp>
    </p:spTree>
  </p:cSld>
  <p:clrMapOvr>
    <a:masterClrMapping/>
  </p:clrMapOvr>
  <p:transition spd="fast" advClick="1">
    <p:fade/>
  </p:transition>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LU3 · RESOURCE DECISION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Tool Investment: Beyond the Licence Fee</a:t>
            </a:r>
          </a:p>
        </p:txBody>
      </p:sp>
      <p:sp>
        <p:nvSpPr>
          <p:cNvPr id="6" name="Rectangle 5"/>
          <p:cNvSpPr/>
          <p:nvPr/>
        </p:nvSpPr>
        <p:spPr>
          <a:xfrm>
            <a:off x="777240" y="2212848"/>
            <a:ext cx="3374136" cy="16413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212848"/>
            <a:ext cx="3374136"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487168"/>
            <a:ext cx="3374136" cy="914400"/>
          </a:xfrm>
          <a:prstGeom prst="rect">
            <a:avLst/>
          </a:prstGeom>
          <a:noFill/>
        </p:spPr>
        <p:txBody>
          <a:bodyPr wrap="square" anchor="t">
            <a:spAutoFit/>
          </a:bodyPr>
          <a:lstStyle/>
          <a:p>
            <a:pPr algn="ctr">
              <a:spcAft>
                <a:spcPts val="400"/>
              </a:spcAft>
            </a:pPr>
            <a:r>
              <a:rPr sz="3000" b="1">
                <a:solidFill>
                  <a:srgbClr val="1F6FEB"/>
                </a:solidFill>
                <a:latin typeface="Arial"/>
              </a:rPr>
              <a:t>LICENCE</a:t>
            </a:r>
          </a:p>
        </p:txBody>
      </p:sp>
      <p:sp>
        <p:nvSpPr>
          <p:cNvPr id="9" name="TextBox 8"/>
          <p:cNvSpPr txBox="1"/>
          <p:nvPr/>
        </p:nvSpPr>
        <p:spPr>
          <a:xfrm>
            <a:off x="923544" y="3419856"/>
            <a:ext cx="3081528" cy="713232"/>
          </a:xfrm>
          <a:prstGeom prst="rect">
            <a:avLst/>
          </a:prstGeom>
          <a:noFill/>
        </p:spPr>
        <p:txBody>
          <a:bodyPr wrap="square" anchor="t">
            <a:spAutoFit/>
          </a:bodyPr>
          <a:lstStyle/>
          <a:p>
            <a:pPr algn="ctr">
              <a:spcAft>
                <a:spcPts val="400"/>
              </a:spcAft>
            </a:pPr>
            <a:r>
              <a:rPr sz="1200" b="0">
                <a:solidFill>
                  <a:srgbClr val="161B26"/>
                </a:solidFill>
                <a:latin typeface="Arial"/>
              </a:rPr>
              <a:t>Subscription, add-ons and user count</a:t>
            </a:r>
          </a:p>
        </p:txBody>
      </p:sp>
      <p:sp>
        <p:nvSpPr>
          <p:cNvPr id="10" name="Rectangle 9"/>
          <p:cNvSpPr/>
          <p:nvPr/>
        </p:nvSpPr>
        <p:spPr>
          <a:xfrm>
            <a:off x="4407408" y="2212848"/>
            <a:ext cx="3374136" cy="16413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407408" y="2212848"/>
            <a:ext cx="337413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07408" y="2487168"/>
            <a:ext cx="3374136" cy="914400"/>
          </a:xfrm>
          <a:prstGeom prst="rect">
            <a:avLst/>
          </a:prstGeom>
          <a:noFill/>
        </p:spPr>
        <p:txBody>
          <a:bodyPr wrap="square" anchor="t">
            <a:spAutoFit/>
          </a:bodyPr>
          <a:lstStyle/>
          <a:p>
            <a:pPr algn="ctr">
              <a:spcAft>
                <a:spcPts val="400"/>
              </a:spcAft>
            </a:pPr>
            <a:r>
              <a:rPr sz="4000" b="1">
                <a:solidFill>
                  <a:srgbClr val="10B981"/>
                </a:solidFill>
                <a:latin typeface="Arial"/>
              </a:rPr>
              <a:t>LEARN</a:t>
            </a:r>
          </a:p>
        </p:txBody>
      </p:sp>
      <p:sp>
        <p:nvSpPr>
          <p:cNvPr id="13" name="TextBox 12"/>
          <p:cNvSpPr txBox="1"/>
          <p:nvPr/>
        </p:nvSpPr>
        <p:spPr>
          <a:xfrm>
            <a:off x="4553712" y="3419856"/>
            <a:ext cx="3081528" cy="713232"/>
          </a:xfrm>
          <a:prstGeom prst="rect">
            <a:avLst/>
          </a:prstGeom>
          <a:noFill/>
        </p:spPr>
        <p:txBody>
          <a:bodyPr wrap="square" anchor="t">
            <a:spAutoFit/>
          </a:bodyPr>
          <a:lstStyle/>
          <a:p>
            <a:pPr algn="ctr">
              <a:spcAft>
                <a:spcPts val="400"/>
              </a:spcAft>
            </a:pPr>
            <a:r>
              <a:rPr sz="1200" b="0">
                <a:solidFill>
                  <a:srgbClr val="161B26"/>
                </a:solidFill>
                <a:latin typeface="Arial"/>
              </a:rPr>
              <a:t>Training, templates and adoption support</a:t>
            </a:r>
          </a:p>
        </p:txBody>
      </p:sp>
      <p:sp>
        <p:nvSpPr>
          <p:cNvPr id="14" name="Rectangle 13"/>
          <p:cNvSpPr/>
          <p:nvPr/>
        </p:nvSpPr>
        <p:spPr>
          <a:xfrm>
            <a:off x="8037576" y="2212848"/>
            <a:ext cx="3374136" cy="16413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37576" y="2212848"/>
            <a:ext cx="337413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37576" y="2487168"/>
            <a:ext cx="3374136" cy="914400"/>
          </a:xfrm>
          <a:prstGeom prst="rect">
            <a:avLst/>
          </a:prstGeom>
          <a:noFill/>
        </p:spPr>
        <p:txBody>
          <a:bodyPr wrap="square" anchor="t">
            <a:spAutoFit/>
          </a:bodyPr>
          <a:lstStyle/>
          <a:p>
            <a:pPr algn="ctr">
              <a:spcAft>
                <a:spcPts val="400"/>
              </a:spcAft>
            </a:pPr>
            <a:r>
              <a:rPr sz="4000" b="1">
                <a:solidFill>
                  <a:srgbClr val="7C3AED"/>
                </a:solidFill>
                <a:latin typeface="Arial"/>
              </a:rPr>
              <a:t>BUILD</a:t>
            </a:r>
          </a:p>
        </p:txBody>
      </p:sp>
      <p:sp>
        <p:nvSpPr>
          <p:cNvPr id="17" name="TextBox 16"/>
          <p:cNvSpPr txBox="1"/>
          <p:nvPr/>
        </p:nvSpPr>
        <p:spPr>
          <a:xfrm>
            <a:off x="8183880" y="3419856"/>
            <a:ext cx="3081528" cy="713232"/>
          </a:xfrm>
          <a:prstGeom prst="rect">
            <a:avLst/>
          </a:prstGeom>
          <a:noFill/>
        </p:spPr>
        <p:txBody>
          <a:bodyPr wrap="square" anchor="t">
            <a:spAutoFit/>
          </a:bodyPr>
          <a:lstStyle/>
          <a:p>
            <a:pPr algn="ctr">
              <a:spcAft>
                <a:spcPts val="400"/>
              </a:spcAft>
            </a:pPr>
            <a:r>
              <a:rPr sz="1200" b="0">
                <a:solidFill>
                  <a:srgbClr val="161B26"/>
                </a:solidFill>
                <a:latin typeface="Arial"/>
              </a:rPr>
              <a:t>Production and collaboration time</a:t>
            </a:r>
          </a:p>
        </p:txBody>
      </p:sp>
      <p:sp>
        <p:nvSpPr>
          <p:cNvPr id="18" name="Rectangle 17"/>
          <p:cNvSpPr/>
          <p:nvPr/>
        </p:nvSpPr>
        <p:spPr>
          <a:xfrm>
            <a:off x="777240" y="4091940"/>
            <a:ext cx="3374136" cy="16413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4091940"/>
            <a:ext cx="3374136"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4366260"/>
            <a:ext cx="3374136" cy="914400"/>
          </a:xfrm>
          <a:prstGeom prst="rect">
            <a:avLst/>
          </a:prstGeom>
          <a:noFill/>
        </p:spPr>
        <p:txBody>
          <a:bodyPr wrap="square" anchor="t">
            <a:spAutoFit/>
          </a:bodyPr>
          <a:lstStyle/>
          <a:p>
            <a:pPr algn="ctr">
              <a:spcAft>
                <a:spcPts val="400"/>
              </a:spcAft>
            </a:pPr>
            <a:r>
              <a:rPr sz="3000" b="1">
                <a:solidFill>
                  <a:srgbClr val="F59E0B"/>
                </a:solidFill>
                <a:latin typeface="Arial"/>
              </a:rPr>
              <a:t>REVIEW</a:t>
            </a:r>
          </a:p>
        </p:txBody>
      </p:sp>
      <p:sp>
        <p:nvSpPr>
          <p:cNvPr id="21" name="TextBox 20"/>
          <p:cNvSpPr txBox="1"/>
          <p:nvPr/>
        </p:nvSpPr>
        <p:spPr>
          <a:xfrm>
            <a:off x="923544" y="5298948"/>
            <a:ext cx="3081528" cy="713232"/>
          </a:xfrm>
          <a:prstGeom prst="rect">
            <a:avLst/>
          </a:prstGeom>
          <a:noFill/>
        </p:spPr>
        <p:txBody>
          <a:bodyPr wrap="square" anchor="t">
            <a:spAutoFit/>
          </a:bodyPr>
          <a:lstStyle/>
          <a:p>
            <a:pPr algn="ctr">
              <a:spcAft>
                <a:spcPts val="400"/>
              </a:spcAft>
            </a:pPr>
            <a:r>
              <a:rPr sz="1200" b="0">
                <a:solidFill>
                  <a:srgbClr val="161B26"/>
                </a:solidFill>
                <a:latin typeface="Arial"/>
              </a:rPr>
              <a:t>Data, brand, accessibility and legal checks</a:t>
            </a:r>
          </a:p>
        </p:txBody>
      </p:sp>
      <p:sp>
        <p:nvSpPr>
          <p:cNvPr id="22" name="Rectangle 21"/>
          <p:cNvSpPr/>
          <p:nvPr/>
        </p:nvSpPr>
        <p:spPr>
          <a:xfrm>
            <a:off x="4407408" y="4091940"/>
            <a:ext cx="3374136" cy="16413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07408" y="4091940"/>
            <a:ext cx="3374136"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407408" y="4366260"/>
            <a:ext cx="3374136" cy="914400"/>
          </a:xfrm>
          <a:prstGeom prst="rect">
            <a:avLst/>
          </a:prstGeom>
          <a:noFill/>
        </p:spPr>
        <p:txBody>
          <a:bodyPr wrap="square" anchor="t">
            <a:spAutoFit/>
          </a:bodyPr>
          <a:lstStyle/>
          <a:p>
            <a:pPr algn="ctr">
              <a:spcAft>
                <a:spcPts val="400"/>
              </a:spcAft>
            </a:pPr>
            <a:r>
              <a:rPr sz="3000" b="1">
                <a:solidFill>
                  <a:srgbClr val="1F6FEB"/>
                </a:solidFill>
                <a:latin typeface="Arial"/>
              </a:rPr>
              <a:t>MAINTAIN</a:t>
            </a:r>
          </a:p>
        </p:txBody>
      </p:sp>
      <p:sp>
        <p:nvSpPr>
          <p:cNvPr id="25" name="TextBox 24"/>
          <p:cNvSpPr txBox="1"/>
          <p:nvPr/>
        </p:nvSpPr>
        <p:spPr>
          <a:xfrm>
            <a:off x="4553712" y="5298948"/>
            <a:ext cx="3081528" cy="713232"/>
          </a:xfrm>
          <a:prstGeom prst="rect">
            <a:avLst/>
          </a:prstGeom>
          <a:noFill/>
        </p:spPr>
        <p:txBody>
          <a:bodyPr wrap="square" anchor="t">
            <a:spAutoFit/>
          </a:bodyPr>
          <a:lstStyle/>
          <a:p>
            <a:pPr algn="ctr">
              <a:spcAft>
                <a:spcPts val="400"/>
              </a:spcAft>
            </a:pPr>
            <a:r>
              <a:rPr sz="1200" b="0">
                <a:solidFill>
                  <a:srgbClr val="161B26"/>
                </a:solidFill>
                <a:latin typeface="Arial"/>
              </a:rPr>
              <a:t>Updates, asset libraries and controlled masters</a:t>
            </a:r>
          </a:p>
        </p:txBody>
      </p:sp>
      <p:sp>
        <p:nvSpPr>
          <p:cNvPr id="26" name="Rectangle 25"/>
          <p:cNvSpPr/>
          <p:nvPr/>
        </p:nvSpPr>
        <p:spPr>
          <a:xfrm>
            <a:off x="8037576" y="4091940"/>
            <a:ext cx="3374136" cy="16413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37576" y="4091940"/>
            <a:ext cx="337413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37576" y="4366260"/>
            <a:ext cx="3374136" cy="914400"/>
          </a:xfrm>
          <a:prstGeom prst="rect">
            <a:avLst/>
          </a:prstGeom>
          <a:noFill/>
        </p:spPr>
        <p:txBody>
          <a:bodyPr wrap="square" anchor="t">
            <a:spAutoFit/>
          </a:bodyPr>
          <a:lstStyle/>
          <a:p>
            <a:pPr algn="ctr">
              <a:spcAft>
                <a:spcPts val="400"/>
              </a:spcAft>
            </a:pPr>
            <a:r>
              <a:rPr sz="3000" b="1">
                <a:solidFill>
                  <a:srgbClr val="10B981"/>
                </a:solidFill>
                <a:latin typeface="Arial"/>
              </a:rPr>
              <a:t>REWORK</a:t>
            </a:r>
          </a:p>
        </p:txBody>
      </p:sp>
      <p:sp>
        <p:nvSpPr>
          <p:cNvPr id="29" name="TextBox 28"/>
          <p:cNvSpPr txBox="1"/>
          <p:nvPr/>
        </p:nvSpPr>
        <p:spPr>
          <a:xfrm>
            <a:off x="8183880" y="5298948"/>
            <a:ext cx="3081528" cy="713232"/>
          </a:xfrm>
          <a:prstGeom prst="rect">
            <a:avLst/>
          </a:prstGeom>
          <a:noFill/>
        </p:spPr>
        <p:txBody>
          <a:bodyPr wrap="square" anchor="t">
            <a:spAutoFit/>
          </a:bodyPr>
          <a:lstStyle/>
          <a:p>
            <a:pPr algn="ctr">
              <a:spcAft>
                <a:spcPts val="400"/>
              </a:spcAft>
            </a:pPr>
            <a:r>
              <a:rPr sz="1200" b="0">
                <a:solidFill>
                  <a:srgbClr val="161B26"/>
                </a:solidFill>
                <a:latin typeface="Arial"/>
              </a:rPr>
              <a:t>Errors, lock-in, export failures and continuity risk</a:t>
            </a:r>
          </a:p>
        </p:txBody>
      </p:sp>
      <p:sp>
        <p:nvSpPr>
          <p:cNvPr id="30" name="Rectangle 29"/>
          <p:cNvSpPr/>
          <p:nvPr/>
        </p:nvSpPr>
        <p:spPr>
          <a:xfrm>
            <a:off x="777240" y="5897880"/>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77240" y="5897880"/>
            <a:ext cx="9144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97280" y="5897880"/>
            <a:ext cx="10058400" cy="530352"/>
          </a:xfrm>
          <a:prstGeom prst="rect">
            <a:avLst/>
          </a:prstGeom>
          <a:noFill/>
        </p:spPr>
        <p:txBody>
          <a:bodyPr wrap="square" anchor="ctr">
            <a:spAutoFit/>
          </a:bodyPr>
          <a:lstStyle/>
          <a:p>
            <a:pPr algn="l">
              <a:spcAft>
                <a:spcPts val="400"/>
              </a:spcAft>
            </a:pPr>
            <a:r>
              <a:rPr sz="1200" b="1">
                <a:solidFill>
                  <a:srgbClr val="161B26"/>
                </a:solidFill>
                <a:latin typeface="Arial"/>
              </a:rPr>
              <a:t>The lowest monthly price may create the highest total resource cost.</a:t>
            </a:r>
          </a:p>
        </p:txBody>
      </p:sp>
      <p:sp>
        <p:nvSpPr>
          <p:cNvPr id="33" name="TextBox 3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34" name="TextBox 3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5" name="TextBox 3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108</a:t>
            </a:r>
          </a:p>
        </p:txBody>
      </p:sp>
    </p:spTree>
  </p:cSld>
  <p:clrMapOvr>
    <a:masterClrMapping/>
  </p:clrMapOvr>
  <p:transition spd="fast" advClick="1">
    <p:fade/>
  </p:transition>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600" b="1">
                <a:solidFill>
                  <a:srgbClr val="10B981"/>
                </a:solidFill>
                <a:latin typeface="Arial"/>
              </a:rPr>
              <a:t>LO3 · LU3 · T1</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2600" b="1">
                <a:solidFill>
                  <a:srgbClr val="161B26"/>
                </a:solidFill>
                <a:latin typeface="Arial"/>
              </a:rPr>
              <a:t>a mind map reveals stakeholder relationships before coaching improves the story</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T1</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109</a:t>
            </a:r>
          </a:p>
        </p:txBody>
      </p:sp>
    </p:spTree>
  </p:cSld>
  <p:clrMapOvr>
    <a:masterClrMapping/>
  </p:clrMapOvr>
  <p:transition spd="fast" advClick="1">
    <p:push dir="u"/>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350"/>
                                        <p:tgtEl>
                                          <p:spTgt spid="4"/>
                                        </p:tgtEl>
                                      </p:cBhvr>
                                    </p:animEffect>
                                    <p:anim calcmode="lin" valueType="num">
                                      <p:cBhvr additive="base">
                                        <p:cTn id="15" dur="350" fill="hold"/>
                                        <p:tgtEl>
                                          <p:spTgt spid="4"/>
                                        </p:tgtEl>
                                        <p:attrNameLst>
                                          <p:attrName>ppt_y</p:attrName>
                                        </p:attrNameLst>
                                      </p:cBhvr>
                                      <p:tavLst>
                                        <p:tav tm="0">
                                          <p:val>
                                            <p:strVal val="#ppt_y+0.0350"/>
                                          </p:val>
                                        </p:tav>
                                        <p:tav tm="100000">
                                          <p:val>
                                            <p:strVal val="#ppt_y"/>
                                          </p:val>
                                        </p:tav>
                                      </p:tavLst>
                                    </p:anim>
                                  </p:childTnLst>
                                </p:cTn>
                              </p:par>
                            </p:childTnLst>
                          </p:cTn>
                        </p:par>
                      </p:childTnLst>
                    </p:cTn>
                  </p:par>
                  <p:par>
                    <p:cTn id="20" fill="hold">
                      <p:stCondLst>
                        <p:cond delay="0"/>
                      </p:stCondLst>
                      <p:childTnLst>
                        <p:par>
                          <p:cTn id="21" fill="hold">
                            <p:stCondLst>
                              <p:cond delay="0"/>
                            </p:stCondLst>
                            <p:childTnLst>
                              <p:par>
                                <p:cTn id="22" presetID="10" presetClass="entr" presetSubtype="0" fill="hold" grpId="0" nodeType="afterEffect">
                                  <p:stCondLst>
                                    <p:cond delay="0"/>
                                  </p:stCondLst>
                                  <p:childTnLst>
                                    <p:set>
                                      <p:cBhvr>
                                        <p:cTn id="23" dur="1" fill="hold">
                                          <p:stCondLst>
                                            <p:cond delay="0"/>
                                          </p:stCondLst>
                                        </p:cTn>
                                        <p:tgtEl>
                                          <p:spTgt spid="5"/>
                                        </p:tgtEl>
                                        <p:attrNameLst>
                                          <p:attrName>style.visibility</p:attrName>
                                        </p:attrNameLst>
                                      </p:cBhvr>
                                      <p:to>
                                        <p:strVal val="visible"/>
                                      </p:to>
                                    </p:set>
                                    <p:animEffect transition="in" filter="fade">
                                      <p:cBhvr>
                                        <p:cTn id="24" dur="350"/>
                                        <p:tgtEl>
                                          <p:spTgt spid="5"/>
                                        </p:tgtEl>
                                      </p:cBhvr>
                                    </p:animEffect>
                                    <p:anim calcmode="lin" valueType="num">
                                      <p:cBhvr additive="base">
                                        <p:cTn id="25" dur="350" fill="hold"/>
                                        <p:tgtEl>
                                          <p:spTgt spid="5"/>
                                        </p:tgtEl>
                                        <p:attrNameLst>
                                          <p:attrName>ppt_y</p:attrName>
                                        </p:attrNameLst>
                                      </p:cBhvr>
                                      <p:tavLst>
                                        <p:tav tm="0">
                                          <p:val>
                                            <p:strVal val="#ppt_y+0.0350"/>
                                          </p:val>
                                        </p:tav>
                                        <p:tav tm="100000">
                                          <p:val>
                                            <p:strVal val="#ppt_y"/>
                                          </p:val>
                                        </p:tav>
                                      </p:tavLst>
                                    </p:anim>
                                  </p:childTnLst>
                                </p:cTn>
                              </p:par>
                            </p:childTnLst>
                          </p:cTn>
                        </p:par>
                      </p:childTnLst>
                    </p:cTn>
                  </p:par>
                  <p:par>
                    <p:cTn id="30" fill="hold">
                      <p:stCondLst>
                        <p:cond delay="0"/>
                      </p:stCondLst>
                      <p:childTnLst>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6"/>
                                        </p:tgtEl>
                                        <p:attrNameLst>
                                          <p:attrName>style.visibility</p:attrName>
                                        </p:attrNameLst>
                                      </p:cBhvr>
                                      <p:to>
                                        <p:strVal val="visible"/>
                                      </p:to>
                                    </p:set>
                                    <p:animEffect transition="in" filter="fade">
                                      <p:cBhvr>
                                        <p:cTn id="34" dur="350"/>
                                        <p:tgtEl>
                                          <p:spTgt spid="6"/>
                                        </p:tgtEl>
                                      </p:cBhvr>
                                    </p:animEffect>
                                    <p:anim calcmode="lin" valueType="num">
                                      <p:cBhvr additive="base">
                                        <p:cTn id="35" dur="350" fill="hold"/>
                                        <p:tgtEl>
                                          <p:spTgt spid="6"/>
                                        </p:tgtEl>
                                        <p:attrNameLst>
                                          <p:attrName>ppt_y</p:attrName>
                                        </p:attrNameLst>
                                      </p:cBhvr>
                                      <p:tavLst>
                                        <p:tav tm="0">
                                          <p:val>
                                            <p:strVal val="#ppt_y+0.0350"/>
                                          </p:val>
                                        </p:tav>
                                        <p:tav tm="100000">
                                          <p:val>
                                            <p:strVal val="#ppt_y"/>
                                          </p:val>
                                        </p:tav>
                                      </p:tavLst>
                                    </p:anim>
                                  </p:childTnLst>
                                </p:cTn>
                              </p:par>
                            </p:childTnLst>
                          </p:cTn>
                        </p:par>
                      </p:childTnLst>
                    </p:cTn>
                  </p:par>
                </p:childTnLst>
                <p:prevCondLst>
                  <p:cond evt="onPrev" delay="0">
                    <p:tgtEl>
                      <p:sldTgt/>
                    </p:tgtEl>
                  </p:cond>
                </p:prevCondLst>
                <p:nextCondLst>
                  <p:cond evt="onNext" delay="0">
                    <p:tgtEl>
                      <p:sldTgt/>
                    </p:tgtEl>
                  </p:cond>
                </p:nextCondLst>
              </p:cTn>
            </p:seq>
          </p:childTnLst>
        </p:cTn>
      </p:par>
    </p:tnLst>
  </p:timing>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LO3 · LU3 · T1</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1800" b="1">
                <a:solidFill>
                  <a:srgbClr val="161B26"/>
                </a:solidFill>
                <a:latin typeface="Arial"/>
              </a:rPr>
              <a:t>What is a mind map reveals stakeholder relationships before coaching improves the story?</a:t>
            </a:r>
          </a:p>
        </p:txBody>
      </p:sp>
      <p:sp>
        <p:nvSpPr>
          <p:cNvPr id="6" name="Rectangle 5"/>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0" name="TextBox 9"/>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Observe</a:t>
            </a:r>
          </a:p>
          <a:p>
            <a:pPr algn="l">
              <a:spcAft>
                <a:spcPts val="300"/>
              </a:spcAft>
            </a:pPr>
            <a:r>
              <a:rPr sz="1200" b="0">
                <a:solidFill>
                  <a:srgbClr val="5B6372"/>
                </a:solidFill>
                <a:latin typeface="Arial"/>
              </a:rPr>
              <a:t>Describe what the reader sees or experiences without judging intent.</a:t>
            </a:r>
          </a:p>
        </p:txBody>
      </p:sp>
      <p:sp>
        <p:nvSpPr>
          <p:cNvPr id="11" name="Rectangle 10"/>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5" name="TextBox 14"/>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Question</a:t>
            </a:r>
          </a:p>
          <a:p>
            <a:pPr algn="l">
              <a:spcAft>
                <a:spcPts val="300"/>
              </a:spcAft>
            </a:pPr>
            <a:r>
              <a:rPr sz="1200" b="0">
                <a:solidFill>
                  <a:srgbClr val="5B6372"/>
                </a:solidFill>
                <a:latin typeface="Arial"/>
              </a:rPr>
              <a:t>Ask which audience, message, decision or constraint drove the choice.</a:t>
            </a:r>
          </a:p>
        </p:txBody>
      </p:sp>
      <p:sp>
        <p:nvSpPr>
          <p:cNvPr id="16" name="Rectangle 15"/>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0" name="TextBox 19"/>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Explain</a:t>
            </a:r>
          </a:p>
          <a:p>
            <a:pPr algn="l">
              <a:spcAft>
                <a:spcPts val="300"/>
              </a:spcAft>
            </a:pPr>
            <a:r>
              <a:rPr sz="1200" b="0">
                <a:solidFill>
                  <a:srgbClr val="5B6372"/>
                </a:solidFill>
                <a:latin typeface="Arial"/>
              </a:rPr>
              <a:t>Connect the issue to a principle or observed outcome.</a:t>
            </a:r>
          </a:p>
        </p:txBody>
      </p:sp>
      <p:sp>
        <p:nvSpPr>
          <p:cNvPr id="21" name="Rectangle 20"/>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5" name="TextBox 24"/>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Suggest</a:t>
            </a:r>
          </a:p>
          <a:p>
            <a:pPr algn="l">
              <a:spcAft>
                <a:spcPts val="300"/>
              </a:spcAft>
            </a:pPr>
            <a:r>
              <a:rPr sz="1200" b="0">
                <a:solidFill>
                  <a:srgbClr val="5B6372"/>
                </a:solidFill>
                <a:latin typeface="Arial"/>
              </a:rPr>
              <a:t>Recommend one testable change and define what better looks like.</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110</a:t>
            </a:r>
          </a:p>
        </p:txBody>
      </p:sp>
      <p:sp>
        <p:nvSpPr>
          <p:cNvPr id="29" name="TextBox 28"/>
          <p:cNvSpPr txBox="1"/>
          <p:nvPr/>
        </p:nvSpPr>
        <p:spPr>
          <a:xfrm>
            <a:off x="777240" y="6163056"/>
            <a:ext cx="10607040" cy="201168"/>
          </a:xfrm>
          <a:prstGeom prst="rect">
            <a:avLst/>
          </a:prstGeom>
          <a:noFill/>
        </p:spPr>
        <p:txBody>
          <a:bodyPr wrap="square" anchor="t">
            <a:spAutoFit/>
          </a:bodyPr>
          <a:lstStyle/>
          <a:p>
            <a:pPr algn="l">
              <a:spcAft>
                <a:spcPts val="400"/>
              </a:spcAft>
            </a:pPr>
            <a:r>
              <a:rPr sz="850" b="0">
                <a:solidFill>
                  <a:srgbClr val="5B6372"/>
                </a:solidFill>
                <a:latin typeface="Arial"/>
              </a:rPr>
              <a:t>Source: course synthesis</a:t>
            </a:r>
          </a:p>
        </p:txBody>
      </p:sp>
    </p:spTree>
  </p:cSld>
  <p:clrMapOvr>
    <a:masterClrMapping/>
  </p:clrMapOvr>
  <p:transition spd="fast" advClick="1">
    <p:fade/>
  </p:transition>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LO3 · LU3 · T1 · HOW IT WORKS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Observe, Ask, Explain, Suggest, Confirm</a:t>
            </a:r>
          </a:p>
        </p:txBody>
      </p:sp>
      <p:sp>
        <p:nvSpPr>
          <p:cNvPr id="6" name="Rectangle 5"/>
          <p:cNvSpPr/>
          <p:nvPr/>
        </p:nvSpPr>
        <p:spPr>
          <a:xfrm>
            <a:off x="777240" y="2331720"/>
            <a:ext cx="1907438"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401775" y="2642616"/>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401775" y="264261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0" name="TextBox 9"/>
          <p:cNvSpPr txBox="1"/>
          <p:nvPr/>
        </p:nvSpPr>
        <p:spPr>
          <a:xfrm>
            <a:off x="905256" y="3429000"/>
            <a:ext cx="1651406" cy="365760"/>
          </a:xfrm>
          <a:prstGeom prst="rect">
            <a:avLst/>
          </a:prstGeom>
          <a:noFill/>
        </p:spPr>
        <p:txBody>
          <a:bodyPr wrap="square" anchor="t">
            <a:spAutoFit/>
          </a:bodyPr>
          <a:lstStyle/>
          <a:p>
            <a:pPr algn="ctr">
              <a:spcAft>
                <a:spcPts val="400"/>
              </a:spcAft>
            </a:pPr>
            <a:r>
              <a:rPr sz="1400" b="1">
                <a:solidFill>
                  <a:srgbClr val="161B26"/>
                </a:solidFill>
                <a:latin typeface="Arial"/>
              </a:rPr>
              <a:t>Observe</a:t>
            </a:r>
          </a:p>
        </p:txBody>
      </p:sp>
      <p:sp>
        <p:nvSpPr>
          <p:cNvPr id="11" name="TextBox 10"/>
          <p:cNvSpPr txBox="1"/>
          <p:nvPr/>
        </p:nvSpPr>
        <p:spPr>
          <a:xfrm>
            <a:off x="905256" y="3813048"/>
            <a:ext cx="1651406" cy="1280160"/>
          </a:xfrm>
          <a:prstGeom prst="rect">
            <a:avLst/>
          </a:prstGeom>
          <a:noFill/>
        </p:spPr>
        <p:txBody>
          <a:bodyPr wrap="square" anchor="t">
            <a:spAutoFit/>
          </a:bodyPr>
          <a:lstStyle/>
          <a:p>
            <a:pPr algn="ctr">
              <a:spcAft>
                <a:spcPts val="400"/>
              </a:spcAft>
            </a:pPr>
            <a:r>
              <a:rPr sz="1250" b="0">
                <a:solidFill>
                  <a:srgbClr val="5B6372"/>
                </a:solidFill>
                <a:latin typeface="Arial"/>
              </a:rPr>
              <a:t>Name the visible issue specifically.</a:t>
            </a:r>
          </a:p>
        </p:txBody>
      </p:sp>
      <p:sp>
        <p:nvSpPr>
          <p:cNvPr id="12" name="Chevron 11"/>
          <p:cNvSpPr/>
          <p:nvPr/>
        </p:nvSpPr>
        <p:spPr>
          <a:xfrm>
            <a:off x="2702966" y="3607308"/>
            <a:ext cx="237744" cy="329184"/>
          </a:xfrm>
          <a:prstGeom prst="chevron">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958998" y="2331720"/>
            <a:ext cx="1907438"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58998" y="233172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83533" y="2642616"/>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83533" y="264261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7" name="TextBox 16"/>
          <p:cNvSpPr txBox="1"/>
          <p:nvPr/>
        </p:nvSpPr>
        <p:spPr>
          <a:xfrm>
            <a:off x="3087014" y="3429000"/>
            <a:ext cx="1651406" cy="365760"/>
          </a:xfrm>
          <a:prstGeom prst="rect">
            <a:avLst/>
          </a:prstGeom>
          <a:noFill/>
        </p:spPr>
        <p:txBody>
          <a:bodyPr wrap="square" anchor="t">
            <a:spAutoFit/>
          </a:bodyPr>
          <a:lstStyle/>
          <a:p>
            <a:pPr algn="ctr">
              <a:spcAft>
                <a:spcPts val="400"/>
              </a:spcAft>
            </a:pPr>
            <a:r>
              <a:rPr sz="1400" b="1">
                <a:solidFill>
                  <a:srgbClr val="161B26"/>
                </a:solidFill>
                <a:latin typeface="Arial"/>
              </a:rPr>
              <a:t>Ask</a:t>
            </a:r>
          </a:p>
        </p:txBody>
      </p:sp>
      <p:sp>
        <p:nvSpPr>
          <p:cNvPr id="18" name="TextBox 17"/>
          <p:cNvSpPr txBox="1"/>
          <p:nvPr/>
        </p:nvSpPr>
        <p:spPr>
          <a:xfrm>
            <a:off x="3087014" y="3813048"/>
            <a:ext cx="1651406" cy="1280160"/>
          </a:xfrm>
          <a:prstGeom prst="rect">
            <a:avLst/>
          </a:prstGeom>
          <a:noFill/>
        </p:spPr>
        <p:txBody>
          <a:bodyPr wrap="square" anchor="t">
            <a:spAutoFit/>
          </a:bodyPr>
          <a:lstStyle/>
          <a:p>
            <a:pPr algn="ctr">
              <a:spcAft>
                <a:spcPts val="400"/>
              </a:spcAft>
            </a:pPr>
            <a:r>
              <a:rPr sz="1250" b="0">
                <a:solidFill>
                  <a:srgbClr val="5B6372"/>
                </a:solidFill>
                <a:latin typeface="Arial"/>
              </a:rPr>
              <a:t>Clarify the designer's goal and constraints.</a:t>
            </a:r>
          </a:p>
        </p:txBody>
      </p:sp>
      <p:sp>
        <p:nvSpPr>
          <p:cNvPr id="19" name="Chevron 18"/>
          <p:cNvSpPr/>
          <p:nvPr/>
        </p:nvSpPr>
        <p:spPr>
          <a:xfrm>
            <a:off x="4884724" y="3607308"/>
            <a:ext cx="237744" cy="329184"/>
          </a:xfrm>
          <a:prstGeom prst="chevron">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40756" y="2331720"/>
            <a:ext cx="1907438"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140756" y="233172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765291" y="2642616"/>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765291" y="264261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4" name="TextBox 23"/>
          <p:cNvSpPr txBox="1"/>
          <p:nvPr/>
        </p:nvSpPr>
        <p:spPr>
          <a:xfrm>
            <a:off x="5268772" y="3429000"/>
            <a:ext cx="1651406" cy="365760"/>
          </a:xfrm>
          <a:prstGeom prst="rect">
            <a:avLst/>
          </a:prstGeom>
          <a:noFill/>
        </p:spPr>
        <p:txBody>
          <a:bodyPr wrap="square" anchor="t">
            <a:spAutoFit/>
          </a:bodyPr>
          <a:lstStyle/>
          <a:p>
            <a:pPr algn="ctr">
              <a:spcAft>
                <a:spcPts val="400"/>
              </a:spcAft>
            </a:pPr>
            <a:r>
              <a:rPr sz="1400" b="1">
                <a:solidFill>
                  <a:srgbClr val="161B26"/>
                </a:solidFill>
                <a:latin typeface="Arial"/>
              </a:rPr>
              <a:t>Explain</a:t>
            </a:r>
          </a:p>
        </p:txBody>
      </p:sp>
      <p:sp>
        <p:nvSpPr>
          <p:cNvPr id="25" name="TextBox 24"/>
          <p:cNvSpPr txBox="1"/>
          <p:nvPr/>
        </p:nvSpPr>
        <p:spPr>
          <a:xfrm>
            <a:off x="5268772" y="3813048"/>
            <a:ext cx="1651406" cy="1280160"/>
          </a:xfrm>
          <a:prstGeom prst="rect">
            <a:avLst/>
          </a:prstGeom>
          <a:noFill/>
        </p:spPr>
        <p:txBody>
          <a:bodyPr wrap="square" anchor="t">
            <a:spAutoFit/>
          </a:bodyPr>
          <a:lstStyle/>
          <a:p>
            <a:pPr algn="ctr">
              <a:spcAft>
                <a:spcPts val="400"/>
              </a:spcAft>
            </a:pPr>
            <a:r>
              <a:rPr sz="1250" b="0">
                <a:solidFill>
                  <a:srgbClr val="5B6372"/>
                </a:solidFill>
                <a:latin typeface="Arial"/>
              </a:rPr>
              <a:t>Link to hierarchy, integrity, access or audience fit.</a:t>
            </a:r>
          </a:p>
        </p:txBody>
      </p:sp>
      <p:sp>
        <p:nvSpPr>
          <p:cNvPr id="26" name="Chevron 25"/>
          <p:cNvSpPr/>
          <p:nvPr/>
        </p:nvSpPr>
        <p:spPr>
          <a:xfrm>
            <a:off x="7066482" y="3607308"/>
            <a:ext cx="237744" cy="329184"/>
          </a:xfrm>
          <a:prstGeom prst="chevron">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322514" y="2331720"/>
            <a:ext cx="1907438"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22514" y="233172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947049" y="2642616"/>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947049" y="264261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1" name="TextBox 30"/>
          <p:cNvSpPr txBox="1"/>
          <p:nvPr/>
        </p:nvSpPr>
        <p:spPr>
          <a:xfrm>
            <a:off x="7450530" y="3429000"/>
            <a:ext cx="1651406" cy="365760"/>
          </a:xfrm>
          <a:prstGeom prst="rect">
            <a:avLst/>
          </a:prstGeom>
          <a:noFill/>
        </p:spPr>
        <p:txBody>
          <a:bodyPr wrap="square" anchor="t">
            <a:spAutoFit/>
          </a:bodyPr>
          <a:lstStyle/>
          <a:p>
            <a:pPr algn="ctr">
              <a:spcAft>
                <a:spcPts val="400"/>
              </a:spcAft>
            </a:pPr>
            <a:r>
              <a:rPr sz="1400" b="1">
                <a:solidFill>
                  <a:srgbClr val="161B26"/>
                </a:solidFill>
                <a:latin typeface="Arial"/>
              </a:rPr>
              <a:t>Suggest</a:t>
            </a:r>
          </a:p>
        </p:txBody>
      </p:sp>
      <p:sp>
        <p:nvSpPr>
          <p:cNvPr id="32" name="TextBox 31"/>
          <p:cNvSpPr txBox="1"/>
          <p:nvPr/>
        </p:nvSpPr>
        <p:spPr>
          <a:xfrm>
            <a:off x="7450530" y="3813048"/>
            <a:ext cx="1651406" cy="1280160"/>
          </a:xfrm>
          <a:prstGeom prst="rect">
            <a:avLst/>
          </a:prstGeom>
          <a:noFill/>
        </p:spPr>
        <p:txBody>
          <a:bodyPr wrap="square" anchor="t">
            <a:spAutoFit/>
          </a:bodyPr>
          <a:lstStyle/>
          <a:p>
            <a:pPr algn="ctr">
              <a:spcAft>
                <a:spcPts val="400"/>
              </a:spcAft>
            </a:pPr>
            <a:r>
              <a:rPr sz="1250" b="0">
                <a:solidFill>
                  <a:srgbClr val="5B6372"/>
                </a:solidFill>
                <a:latin typeface="Arial"/>
              </a:rPr>
              <a:t>Propose one prioritised change.</a:t>
            </a:r>
          </a:p>
        </p:txBody>
      </p:sp>
      <p:sp>
        <p:nvSpPr>
          <p:cNvPr id="33" name="Chevron 32"/>
          <p:cNvSpPr/>
          <p:nvPr/>
        </p:nvSpPr>
        <p:spPr>
          <a:xfrm>
            <a:off x="9248240" y="3607308"/>
            <a:ext cx="237744" cy="329184"/>
          </a:xfrm>
          <a:prstGeom prst="chevron">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504272" y="2331720"/>
            <a:ext cx="1907438"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504272" y="233172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0128807" y="2642616"/>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128807" y="264261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8" name="TextBox 37"/>
          <p:cNvSpPr txBox="1"/>
          <p:nvPr/>
        </p:nvSpPr>
        <p:spPr>
          <a:xfrm>
            <a:off x="9632288" y="3429000"/>
            <a:ext cx="1651406" cy="365760"/>
          </a:xfrm>
          <a:prstGeom prst="rect">
            <a:avLst/>
          </a:prstGeom>
          <a:noFill/>
        </p:spPr>
        <p:txBody>
          <a:bodyPr wrap="square" anchor="t">
            <a:spAutoFit/>
          </a:bodyPr>
          <a:lstStyle/>
          <a:p>
            <a:pPr algn="ctr">
              <a:spcAft>
                <a:spcPts val="400"/>
              </a:spcAft>
            </a:pPr>
            <a:r>
              <a:rPr sz="1400" b="1">
                <a:solidFill>
                  <a:srgbClr val="161B26"/>
                </a:solidFill>
                <a:latin typeface="Arial"/>
              </a:rPr>
              <a:t>Confirm</a:t>
            </a:r>
          </a:p>
        </p:txBody>
      </p:sp>
      <p:sp>
        <p:nvSpPr>
          <p:cNvPr id="39" name="TextBox 38"/>
          <p:cNvSpPr txBox="1"/>
          <p:nvPr/>
        </p:nvSpPr>
        <p:spPr>
          <a:xfrm>
            <a:off x="9632288" y="3813048"/>
            <a:ext cx="1651406" cy="1280160"/>
          </a:xfrm>
          <a:prstGeom prst="rect">
            <a:avLst/>
          </a:prstGeom>
          <a:noFill/>
        </p:spPr>
        <p:txBody>
          <a:bodyPr wrap="square" anchor="t">
            <a:spAutoFit/>
          </a:bodyPr>
          <a:lstStyle/>
          <a:p>
            <a:pPr algn="ctr">
              <a:spcAft>
                <a:spcPts val="400"/>
              </a:spcAft>
            </a:pPr>
            <a:r>
              <a:rPr sz="1250" b="0">
                <a:solidFill>
                  <a:srgbClr val="5B6372"/>
                </a:solidFill>
                <a:latin typeface="Arial"/>
              </a:rPr>
              <a:t>Agree the revision and acceptance check.</a:t>
            </a:r>
          </a:p>
        </p:txBody>
      </p:sp>
      <p:sp>
        <p:nvSpPr>
          <p:cNvPr id="40" name="TextBox 3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41" name="TextBox 4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2" name="TextBox 4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111</a:t>
            </a:r>
          </a:p>
        </p:txBody>
      </p:sp>
    </p:spTree>
  </p:cSld>
  <p:clrMapOvr>
    <a:masterClrMapping/>
  </p:clrMapOvr>
  <p:transition spd="fast" advClick="1">
    <p:fade/>
  </p:transition>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LO3 · LU3 · T1 · COMPARE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Taste Comment vs Coaching Feedback</a:t>
            </a:r>
          </a:p>
        </p:txBody>
      </p:sp>
      <p:sp>
        <p:nvSpPr>
          <p:cNvPr id="6" name="Rectangle 5"/>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Taste</a:t>
            </a:r>
          </a:p>
        </p:txBody>
      </p:sp>
      <p:sp>
        <p:nvSpPr>
          <p:cNvPr id="9" name="TextBox 8"/>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Criteria-based</a:t>
            </a:r>
          </a:p>
        </p:txBody>
      </p:sp>
      <p:sp>
        <p:nvSpPr>
          <p:cNvPr id="10" name="TextBox 9"/>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Make it pop</a:t>
            </a:r>
          </a:p>
          <a:p>
            <a:pPr>
              <a:spcAft>
                <a:spcPts val="1000"/>
              </a:spcAft>
            </a:pPr>
            <a:r>
              <a:rPr sz="1600" b="0">
                <a:solidFill>
                  <a:srgbClr val="161B26"/>
                </a:solidFill>
                <a:latin typeface="Arial"/>
              </a:rPr>
              <a:t>•  I don't like the colours</a:t>
            </a:r>
          </a:p>
          <a:p>
            <a:pPr>
              <a:spcAft>
                <a:spcPts val="1000"/>
              </a:spcAft>
            </a:pPr>
            <a:r>
              <a:rPr sz="1600" b="0">
                <a:solidFill>
                  <a:srgbClr val="161B26"/>
                </a:solidFill>
                <a:latin typeface="Arial"/>
              </a:rPr>
              <a:t>•  Add more icons</a:t>
            </a:r>
          </a:p>
          <a:p>
            <a:pPr>
              <a:spcAft>
                <a:spcPts val="1000"/>
              </a:spcAft>
            </a:pPr>
            <a:r>
              <a:rPr sz="1600" b="0">
                <a:solidFill>
                  <a:srgbClr val="161B26"/>
                </a:solidFill>
                <a:latin typeface="Arial"/>
              </a:rPr>
              <a:t>•  It feels boring</a:t>
            </a:r>
          </a:p>
        </p:txBody>
      </p:sp>
      <p:sp>
        <p:nvSpPr>
          <p:cNvPr id="11" name="TextBox 10"/>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161B26"/>
                </a:solidFill>
                <a:latin typeface="Arial"/>
              </a:rPr>
              <a:t>•  The title labels a topic but does not state the insight</a:t>
            </a:r>
          </a:p>
          <a:p>
            <a:pPr>
              <a:spcAft>
                <a:spcPts val="1000"/>
              </a:spcAft>
            </a:pPr>
            <a:r>
              <a:rPr sz="1600" b="0">
                <a:solidFill>
                  <a:srgbClr val="161B26"/>
                </a:solidFill>
                <a:latin typeface="Arial"/>
              </a:rPr>
              <a:t>•  Body text falls below the agreed size</a:t>
            </a:r>
          </a:p>
          <a:p>
            <a:pPr>
              <a:spcAft>
                <a:spcPts val="1000"/>
              </a:spcAft>
            </a:pPr>
            <a:r>
              <a:rPr sz="1600" b="0">
                <a:solidFill>
                  <a:srgbClr val="161B26"/>
                </a:solidFill>
                <a:latin typeface="Arial"/>
              </a:rPr>
              <a:t>•  Three icon styles disrupt the visual grammar</a:t>
            </a:r>
          </a:p>
          <a:p>
            <a:pPr>
              <a:spcAft>
                <a:spcPts val="1000"/>
              </a:spcAft>
            </a:pPr>
            <a:r>
              <a:rPr sz="1600" b="0">
                <a:solidFill>
                  <a:srgbClr val="161B26"/>
                </a:solidFill>
                <a:latin typeface="Arial"/>
              </a:rPr>
              <a:t>•  The accent does not guide attention to the decision</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112</a:t>
            </a:r>
          </a:p>
        </p:txBody>
      </p:sp>
      <p:sp>
        <p:nvSpPr>
          <p:cNvPr id="15" name="TextBox 14"/>
          <p:cNvSpPr txBox="1"/>
          <p:nvPr/>
        </p:nvSpPr>
        <p:spPr>
          <a:xfrm>
            <a:off x="777240" y="6163056"/>
            <a:ext cx="10607040" cy="201168"/>
          </a:xfrm>
          <a:prstGeom prst="rect">
            <a:avLst/>
          </a:prstGeom>
          <a:noFill/>
        </p:spPr>
        <p:txBody>
          <a:bodyPr wrap="square" anchor="t">
            <a:spAutoFit/>
          </a:bodyPr>
          <a:lstStyle/>
          <a:p>
            <a:pPr algn="l">
              <a:spcAft>
                <a:spcPts val="400"/>
              </a:spcAft>
            </a:pPr>
            <a:r>
              <a:rPr sz="850" b="0">
                <a:solidFill>
                  <a:srgbClr val="5B6372"/>
                </a:solidFill>
                <a:latin typeface="Arial"/>
              </a:rPr>
              <a:t>Source: course synthesis</a:t>
            </a:r>
          </a:p>
        </p:txBody>
      </p:sp>
    </p:spTree>
  </p:cSld>
  <p:clrMapOvr>
    <a:masterClrMapping/>
  </p:clrMapOvr>
  <p:transition spd="fast" advClick="1">
    <p:fade/>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350"/>
                                        <p:tgtEl>
                                          <p:spTgt spid="10"/>
                                        </p:tgtEl>
                                      </p:cBhvr>
                                    </p:animEffect>
                                    <p:anim calcmode="lin" valueType="num">
                                      <p:cBhvr additive="base">
                                        <p:cTn id="15" dur="350" fill="hold"/>
                                        <p:tgtEl>
                                          <p:spTgt spid="10"/>
                                        </p:tgtEl>
                                        <p:attrNameLst>
                                          <p:attrName>ppt_y</p:attrName>
                                        </p:attrNameLst>
                                      </p:cBhvr>
                                      <p:tavLst>
                                        <p:tav tm="0">
                                          <p:val>
                                            <p:strVal val="#ppt_y+0.0350"/>
                                          </p:val>
                                        </p:tav>
                                        <p:tav tm="100000">
                                          <p:val>
                                            <p:strVal val="#ppt_y"/>
                                          </p:val>
                                        </p:tav>
                                      </p:tavLst>
                                    </p:anim>
                                  </p:childTnLst>
                                </p:cTn>
                              </p:par>
                            </p:childTnLst>
                          </p:cTn>
                        </p:par>
                      </p:childTnLst>
                    </p:cTn>
                  </p:par>
                  <p:par>
                    <p:cTn id="20" fill="hold">
                      <p:stCondLst>
                        <p:cond delay="0"/>
                      </p:stCondLst>
                      <p:childTnLst>
                        <p:par>
                          <p:cTn id="21" fill="hold">
                            <p:stCondLst>
                              <p:cond delay="0"/>
                            </p:stCondLst>
                            <p:childTnLst>
                              <p:par>
                                <p:cTn id="22" presetID="10" presetClass="entr" presetSubtype="0" fill="hold" grpId="0" nodeType="afterEffect">
                                  <p:stCondLst>
                                    <p:cond delay="0"/>
                                  </p:stCondLst>
                                  <p:childTnLst>
                                    <p:set>
                                      <p:cBhvr>
                                        <p:cTn id="23" dur="1" fill="hold">
                                          <p:stCondLst>
                                            <p:cond delay="0"/>
                                          </p:stCondLst>
                                        </p:cTn>
                                        <p:tgtEl>
                                          <p:spTgt spid="11"/>
                                        </p:tgtEl>
                                        <p:attrNameLst>
                                          <p:attrName>style.visibility</p:attrName>
                                        </p:attrNameLst>
                                      </p:cBhvr>
                                      <p:to>
                                        <p:strVal val="visible"/>
                                      </p:to>
                                    </p:set>
                                    <p:animEffect transition="in" filter="fade">
                                      <p:cBhvr>
                                        <p:cTn id="24" dur="350"/>
                                        <p:tgtEl>
                                          <p:spTgt spid="11"/>
                                        </p:tgtEl>
                                      </p:cBhvr>
                                    </p:animEffect>
                                    <p:anim calcmode="lin" valueType="num">
                                      <p:cBhvr additive="base">
                                        <p:cTn id="25" dur="350" fill="hold"/>
                                        <p:tgtEl>
                                          <p:spTgt spid="11"/>
                                        </p:tgtEl>
                                        <p:attrNameLst>
                                          <p:attrName>ppt_y</p:attrName>
                                        </p:attrNameLst>
                                      </p:cBhvr>
                                      <p:tavLst>
                                        <p:tav tm="0">
                                          <p:val>
                                            <p:strVal val="#ppt_y+0.0350"/>
                                          </p:val>
                                        </p:tav>
                                        <p:tav tm="100000">
                                          <p:val>
                                            <p:strVal val="#ppt_y"/>
                                          </p:val>
                                        </p:tav>
                                      </p:tavLst>
                                    </p:anim>
                                  </p:childTnLst>
                                </p:cTn>
                              </p:par>
                            </p:childTnLst>
                          </p:cTn>
                        </p:par>
                      </p:childTnLst>
                    </p:cTn>
                  </p:par>
                </p:childTnLst>
                <p:prevCondLst>
                  <p:cond evt="onPrev" delay="0">
                    <p:tgtEl>
                      <p:sldTgt/>
                    </p:tgtEl>
                  </p:cond>
                </p:prevCondLst>
                <p:nextCondLst>
                  <p:cond evt="onNext" delay="0">
                    <p:tgtEl>
                      <p:sldTgt/>
                    </p:tgtEl>
                  </p:cond>
                </p:nextCondLst>
              </p:cTn>
            </p:seq>
          </p:childTnLst>
        </p:cTn>
      </p:par>
    </p:tnLst>
  </p:timing>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LO3 · LU3 · T1 · SUPPORTING DATA</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Review Lens</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0" name="TextBox 9"/>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Message</a:t>
            </a:r>
          </a:p>
          <a:p>
            <a:pPr algn="l">
              <a:spcAft>
                <a:spcPts val="300"/>
              </a:spcAft>
            </a:pPr>
            <a:r>
              <a:rPr sz="1200" b="0">
                <a:solidFill>
                  <a:srgbClr val="5B6372"/>
                </a:solidFill>
                <a:latin typeface="Arial"/>
              </a:rPr>
              <a:t>Can the audience state the takeaway?</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5" name="TextBox 14"/>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Data</a:t>
            </a:r>
          </a:p>
          <a:p>
            <a:pPr algn="l">
              <a:spcAft>
                <a:spcPts val="300"/>
              </a:spcAft>
            </a:pPr>
            <a:r>
              <a:rPr sz="1200" b="0">
                <a:solidFill>
                  <a:srgbClr val="5B6372"/>
                </a:solidFill>
                <a:latin typeface="Arial"/>
              </a:rPr>
              <a:t>Are claims accurate, contextualised and sourced?</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0" name="TextBox 19"/>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Hierarchy</a:t>
            </a:r>
          </a:p>
          <a:p>
            <a:pPr algn="l">
              <a:spcAft>
                <a:spcPts val="300"/>
              </a:spcAft>
            </a:pPr>
            <a:r>
              <a:rPr sz="1200" b="0">
                <a:solidFill>
                  <a:srgbClr val="5B6372"/>
                </a:solidFill>
                <a:latin typeface="Arial"/>
              </a:rPr>
              <a:t>Is the reading order obvious?</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5" name="TextBox 24"/>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Access</a:t>
            </a:r>
          </a:p>
          <a:p>
            <a:pPr algn="l">
              <a:spcAft>
                <a:spcPts val="300"/>
              </a:spcAft>
            </a:pPr>
            <a:r>
              <a:rPr sz="1200" b="0">
                <a:solidFill>
                  <a:srgbClr val="5B6372"/>
                </a:solidFill>
                <a:latin typeface="Arial"/>
              </a:rPr>
              <a:t>Are contrast, labels, text size and alt text adequate?</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0" name="TextBox 29"/>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Story</a:t>
            </a:r>
          </a:p>
          <a:p>
            <a:pPr algn="l">
              <a:spcAft>
                <a:spcPts val="300"/>
              </a:spcAft>
            </a:pPr>
            <a:r>
              <a:rPr sz="1200" b="0">
                <a:solidFill>
                  <a:srgbClr val="5B6372"/>
                </a:solidFill>
                <a:latin typeface="Arial"/>
              </a:rPr>
              <a:t>Do evidence and action connect logically?</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5" name="TextBox 34"/>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Fit</a:t>
            </a:r>
          </a:p>
          <a:p>
            <a:pPr algn="l">
              <a:spcAft>
                <a:spcPts val="300"/>
              </a:spcAft>
            </a:pPr>
            <a:r>
              <a:rPr sz="1200" b="0">
                <a:solidFill>
                  <a:srgbClr val="5B6372"/>
                </a:solidFill>
                <a:latin typeface="Arial"/>
              </a:rPr>
              <a:t>Does the output match the audience and channel?</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113</a:t>
            </a:r>
          </a:p>
        </p:txBody>
      </p:sp>
      <p:sp>
        <p:nvSpPr>
          <p:cNvPr id="39" name="TextBox 38"/>
          <p:cNvSpPr txBox="1"/>
          <p:nvPr/>
        </p:nvSpPr>
        <p:spPr>
          <a:xfrm>
            <a:off x="777240" y="6163056"/>
            <a:ext cx="10607040" cy="201168"/>
          </a:xfrm>
          <a:prstGeom prst="rect">
            <a:avLst/>
          </a:prstGeom>
          <a:noFill/>
        </p:spPr>
        <p:txBody>
          <a:bodyPr wrap="square" anchor="t">
            <a:spAutoFit/>
          </a:bodyPr>
          <a:lstStyle/>
          <a:p>
            <a:pPr algn="l">
              <a:spcAft>
                <a:spcPts val="400"/>
              </a:spcAft>
            </a:pPr>
            <a:r>
              <a:rPr sz="850" b="0">
                <a:solidFill>
                  <a:srgbClr val="5B6372"/>
                </a:solidFill>
                <a:latin typeface="Arial"/>
              </a:rPr>
              <a:t>Source: illustrative synthetic data</a:t>
            </a:r>
          </a:p>
        </p:txBody>
      </p:sp>
    </p:spTree>
  </p:cSld>
  <p:clrMapOvr>
    <a:masterClrMapping/>
  </p:clrMapOvr>
  <p:transition spd="fast" advClick="1">
    <p:fade/>
  </p:transition>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LO3 · LU3 · T1 · ACTIVITY 7</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Create and Review a Stakeholder Mind Map Infographic</a:t>
            </a:r>
          </a:p>
        </p:txBody>
      </p:sp>
      <p:sp>
        <p:nvSpPr>
          <p:cNvPr id="6" name="Rectangle 5"/>
          <p:cNvSpPr/>
          <p:nvPr/>
        </p:nvSpPr>
        <p:spPr>
          <a:xfrm>
            <a:off x="777240" y="1691640"/>
            <a:ext cx="169164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28216"/>
            <a:ext cx="1691640" cy="365760"/>
          </a:xfrm>
          <a:prstGeom prst="rect">
            <a:avLst/>
          </a:prstGeom>
          <a:noFill/>
        </p:spPr>
        <p:txBody>
          <a:bodyPr wrap="square" anchor="t">
            <a:spAutoFit/>
          </a:bodyPr>
          <a:lstStyle/>
          <a:p>
            <a:pPr algn="ctr">
              <a:spcAft>
                <a:spcPts val="400"/>
              </a:spcAft>
            </a:pPr>
            <a:r>
              <a:rPr sz="1300" b="1">
                <a:solidFill>
                  <a:srgbClr val="FFFFFF"/>
                </a:solidFill>
                <a:latin typeface="Arial"/>
              </a:rPr>
              <a:t>ROLE PLAY</a:t>
            </a:r>
          </a:p>
        </p:txBody>
      </p:sp>
      <p:sp>
        <p:nvSpPr>
          <p:cNvPr id="8" name="Rectangle 7"/>
          <p:cNvSpPr/>
          <p:nvPr/>
        </p:nvSpPr>
        <p:spPr>
          <a:xfrm>
            <a:off x="777240" y="2286000"/>
            <a:ext cx="1063447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286000"/>
            <a:ext cx="91440" cy="28803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2487168"/>
            <a:ext cx="9966960" cy="320040"/>
          </a:xfrm>
          <a:prstGeom prst="rect">
            <a:avLst/>
          </a:prstGeom>
          <a:noFill/>
        </p:spPr>
        <p:txBody>
          <a:bodyPr wrap="square" anchor="t">
            <a:spAutoFit/>
          </a:bodyPr>
          <a:lstStyle/>
          <a:p>
            <a:pPr algn="l">
              <a:spcAft>
                <a:spcPts val="400"/>
              </a:spcAft>
            </a:pPr>
            <a:r>
              <a:rPr sz="1200" b="1">
                <a:solidFill>
                  <a:srgbClr val="10B981"/>
                </a:solidFill>
                <a:latin typeface="Arial"/>
              </a:rPr>
              <a:t>THE SITUATION</a:t>
            </a:r>
          </a:p>
        </p:txBody>
      </p:sp>
      <p:sp>
        <p:nvSpPr>
          <p:cNvPr id="11" name="TextBox 10"/>
          <p:cNvSpPr txBox="1"/>
          <p:nvPr/>
        </p:nvSpPr>
        <p:spPr>
          <a:xfrm>
            <a:off x="1097280" y="2834640"/>
            <a:ext cx="10058400" cy="2240280"/>
          </a:xfrm>
          <a:prstGeom prst="rect">
            <a:avLst/>
          </a:prstGeom>
          <a:noFill/>
        </p:spPr>
        <p:txBody>
          <a:bodyPr wrap="square" anchor="t">
            <a:spAutoFit/>
          </a:bodyPr>
          <a:lstStyle/>
          <a:p>
            <a:pPr algn="l">
              <a:spcAft>
                <a:spcPts val="800"/>
              </a:spcAft>
            </a:pPr>
            <a:r>
              <a:rPr sz="1450" b="0">
                <a:solidFill>
                  <a:srgbClr val="161B26"/>
                </a:solidFill>
                <a:latin typeface="Arial"/>
              </a:rPr>
              <a:t>Each learner uses Microsoft 365 Copilot to draft a stakeholder mind map linking executives, managers, analysts, staff and customers to one common decision story.</a:t>
            </a:r>
          </a:p>
          <a:p>
            <a:pPr algn="l">
              <a:spcAft>
                <a:spcPts val="800"/>
              </a:spcAft>
            </a:pPr>
            <a:r>
              <a:rPr sz="1450" b="0">
                <a:solidFill>
                  <a:srgbClr val="161B26"/>
                </a:solidFill>
                <a:latin typeface="Arial"/>
              </a:rPr>
              <a:t>Present the editable PowerPoint mind map to two peers. Capture two observations, two strengths, two improvements and one agreed revision, then retest the reading path.</a:t>
            </a:r>
          </a:p>
        </p:txBody>
      </p:sp>
      <p:sp>
        <p:nvSpPr>
          <p:cNvPr id="12" name="Rectangle 11"/>
          <p:cNvSpPr/>
          <p:nvPr/>
        </p:nvSpPr>
        <p:spPr>
          <a:xfrm>
            <a:off x="777240" y="5349240"/>
            <a:ext cx="10634472" cy="68580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5349240"/>
            <a:ext cx="7315200" cy="685800"/>
          </a:xfrm>
          <a:prstGeom prst="rect">
            <a:avLst/>
          </a:prstGeom>
          <a:noFill/>
        </p:spPr>
        <p:txBody>
          <a:bodyPr wrap="square" anchor="ctr">
            <a:spAutoFit/>
          </a:bodyPr>
          <a:lstStyle/>
          <a:p>
            <a:pPr algn="l">
              <a:spcAft>
                <a:spcPts val="400"/>
              </a:spcAft>
            </a:pPr>
            <a:r>
              <a:rPr sz="1300" b="1">
                <a:solidFill>
                  <a:srgbClr val="1F6FEB"/>
                </a:solidFill>
                <a:latin typeface="Arial"/>
              </a:rPr>
              <a:t>You'll produce:  </a:t>
            </a:r>
            <a:r>
              <a:rPr sz="1300" b="0">
                <a:solidFill>
                  <a:srgbClr val="161B26"/>
                </a:solidFill>
                <a:latin typeface="Arial"/>
              </a:rPr>
              <a:t>A stakeholder mind map infographic, completed peer-review log, revised PowerPoint and short reflection</a:t>
            </a:r>
          </a:p>
        </p:txBody>
      </p:sp>
      <p:sp>
        <p:nvSpPr>
          <p:cNvPr id="14" name="TextBox 13"/>
          <p:cNvSpPr txBox="1"/>
          <p:nvPr/>
        </p:nvSpPr>
        <p:spPr>
          <a:xfrm>
            <a:off x="8778240" y="5349240"/>
            <a:ext cx="2606040" cy="685800"/>
          </a:xfrm>
          <a:prstGeom prst="rect">
            <a:avLst/>
          </a:prstGeom>
          <a:noFill/>
        </p:spPr>
        <p:txBody>
          <a:bodyPr wrap="square" anchor="ctr">
            <a:spAutoFit/>
          </a:bodyPr>
          <a:lstStyle/>
          <a:p>
            <a:pPr algn="r">
              <a:spcAft>
                <a:spcPts val="400"/>
              </a:spcAft>
            </a:pPr>
            <a:r>
              <a:rPr sz="1300" b="1">
                <a:solidFill>
                  <a:srgbClr val="5B6372"/>
                </a:solidFill>
                <a:latin typeface="Arial"/>
              </a:rPr>
              <a:t>Duration: </a:t>
            </a:r>
            <a:r>
              <a:rPr sz="1300" b="0">
                <a:solidFill>
                  <a:srgbClr val="5B6372"/>
                </a:solidFill>
                <a:latin typeface="Arial"/>
              </a:rPr>
              <a:t>30 minutes</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114</a:t>
            </a:r>
          </a:p>
        </p:txBody>
      </p:sp>
    </p:spTree>
  </p:cSld>
  <p:clrMapOvr>
    <a:masterClrMapping/>
  </p:clrMapOvr>
  <p:transition spd="fast" advClick="1">
    <p:wipe dir="l"/>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8"/>
                                        </p:tgtEl>
                                        <p:attrNameLst>
                                          <p:attrName>style.visibility</p:attrName>
                                        </p:attrNameLst>
                                      </p:cBhvr>
                                      <p:to>
                                        <p:strVal val="visible"/>
                                      </p:to>
                                    </p:set>
                                    <p:animEffect transition="in" filter="fade">
                                      <p:cBhvr>
                                        <p:cTn id="14" dur="350"/>
                                        <p:tgtEl>
                                          <p:spTgt spid="8"/>
                                        </p:tgtEl>
                                      </p:cBhvr>
                                    </p:animEffect>
                                    <p:anim calcmode="lin" valueType="num">
                                      <p:cBhvr additive="base">
                                        <p:cTn id="15" dur="350" fill="hold"/>
                                        <p:tgtEl>
                                          <p:spTgt spid="8"/>
                                        </p:tgtEl>
                                        <p:attrNameLst>
                                          <p:attrName>ppt_y</p:attrName>
                                        </p:attrNameLst>
                                      </p:cBhvr>
                                      <p:tavLst>
                                        <p:tav tm="0">
                                          <p:val>
                                            <p:strVal val="#ppt_y+0.0350"/>
                                          </p:val>
                                        </p:tav>
                                        <p:tav tm="100000">
                                          <p:val>
                                            <p:strVal val="#ppt_y"/>
                                          </p:val>
                                        </p:tav>
                                      </p:tavLst>
                                    </p:anim>
                                  </p:childTnLst>
                                </p:cTn>
                              </p:par>
                            </p:childTnLst>
                          </p:cTn>
                        </p:par>
                      </p:childTnLst>
                    </p:cTn>
                  </p:par>
                  <p:par>
                    <p:cTn id="20" fill="hold">
                      <p:stCondLst>
                        <p:cond delay="0"/>
                      </p:stCondLst>
                      <p:childTnLst>
                        <p:par>
                          <p:cTn id="21" fill="hold">
                            <p:stCondLst>
                              <p:cond delay="0"/>
                            </p:stCondLst>
                            <p:childTnLst>
                              <p:par>
                                <p:cTn id="22" presetID="10" presetClass="entr" presetSubtype="0" fill="hold" grpId="0" nodeType="after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350"/>
                                        <p:tgtEl>
                                          <p:spTgt spid="9"/>
                                        </p:tgtEl>
                                      </p:cBhvr>
                                    </p:animEffect>
                                    <p:anim calcmode="lin" valueType="num">
                                      <p:cBhvr additive="base">
                                        <p:cTn id="25" dur="350" fill="hold"/>
                                        <p:tgtEl>
                                          <p:spTgt spid="9"/>
                                        </p:tgtEl>
                                        <p:attrNameLst>
                                          <p:attrName>ppt_y</p:attrName>
                                        </p:attrNameLst>
                                      </p:cBhvr>
                                      <p:tavLst>
                                        <p:tav tm="0">
                                          <p:val>
                                            <p:strVal val="#ppt_y+0.0350"/>
                                          </p:val>
                                        </p:tav>
                                        <p:tav tm="100000">
                                          <p:val>
                                            <p:strVal val="#ppt_y"/>
                                          </p:val>
                                        </p:tav>
                                      </p:tavLst>
                                    </p:anim>
                                  </p:childTnLst>
                                </p:cTn>
                              </p:par>
                            </p:childTnLst>
                          </p:cTn>
                        </p:par>
                      </p:childTnLst>
                    </p:cTn>
                  </p:par>
                  <p:par>
                    <p:cTn id="30" fill="hold">
                      <p:stCondLst>
                        <p:cond delay="0"/>
                      </p:stCondLst>
                      <p:childTnLst>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350"/>
                                        <p:tgtEl>
                                          <p:spTgt spid="11"/>
                                        </p:tgtEl>
                                      </p:cBhvr>
                                    </p:animEffect>
                                    <p:anim calcmode="lin" valueType="num">
                                      <p:cBhvr additive="base">
                                        <p:cTn id="35" dur="350" fill="hold"/>
                                        <p:tgtEl>
                                          <p:spTgt spid="11"/>
                                        </p:tgtEl>
                                        <p:attrNameLst>
                                          <p:attrName>ppt_y</p:attrName>
                                        </p:attrNameLst>
                                      </p:cBhvr>
                                      <p:tavLst>
                                        <p:tav tm="0">
                                          <p:val>
                                            <p:strVal val="#ppt_y+0.0350"/>
                                          </p:val>
                                        </p:tav>
                                        <p:tav tm="100000">
                                          <p:val>
                                            <p:strVal val="#ppt_y"/>
                                          </p:val>
                                        </p:tav>
                                      </p:tavLst>
                                    </p:anim>
                                  </p:childTnLst>
                                </p:cTn>
                              </p:par>
                            </p:childTnLst>
                          </p:cTn>
                        </p:par>
                      </p:childTnLst>
                    </p:cTn>
                  </p:par>
                  <p:par>
                    <p:cTn id="40" fill="hold">
                      <p:stCondLst>
                        <p:cond delay="0"/>
                      </p:stCondLst>
                      <p:childTnLst>
                        <p:par>
                          <p:cTn id="41" fill="hold">
                            <p:stCondLst>
                              <p:cond delay="0"/>
                            </p:stCondLst>
                            <p:childTnLst>
                              <p:par>
                                <p:cTn id="42" presetID="10" presetClass="entr" presetSubtype="0" fill="hold" grpId="0" nodeType="afterEffect">
                                  <p:stCondLst>
                                    <p:cond delay="0"/>
                                  </p:stCondLst>
                                  <p:childTnLst>
                                    <p:set>
                                      <p:cBhvr>
                                        <p:cTn id="43" dur="1" fill="hold">
                                          <p:stCondLst>
                                            <p:cond delay="0"/>
                                          </p:stCondLst>
                                        </p:cTn>
                                        <p:tgtEl>
                                          <p:spTgt spid="12"/>
                                        </p:tgtEl>
                                        <p:attrNameLst>
                                          <p:attrName>style.visibility</p:attrName>
                                        </p:attrNameLst>
                                      </p:cBhvr>
                                      <p:to>
                                        <p:strVal val="visible"/>
                                      </p:to>
                                    </p:set>
                                    <p:animEffect transition="in" filter="fade">
                                      <p:cBhvr>
                                        <p:cTn id="44" dur="350"/>
                                        <p:tgtEl>
                                          <p:spTgt spid="12"/>
                                        </p:tgtEl>
                                      </p:cBhvr>
                                    </p:animEffect>
                                    <p:anim calcmode="lin" valueType="num">
                                      <p:cBhvr additive="base">
                                        <p:cTn id="45" dur="350" fill="hold"/>
                                        <p:tgtEl>
                                          <p:spTgt spid="12"/>
                                        </p:tgtEl>
                                        <p:attrNameLst>
                                          <p:attrName>ppt_y</p:attrName>
                                        </p:attrNameLst>
                                      </p:cBhvr>
                                      <p:tavLst>
                                        <p:tav tm="0">
                                          <p:val>
                                            <p:strVal val="#ppt_y+0.0350"/>
                                          </p:val>
                                        </p:tav>
                                        <p:tav tm="100000">
                                          <p:val>
                                            <p:strVal val="#ppt_y"/>
                                          </p:val>
                                        </p:tav>
                                      </p:tavLst>
                                    </p:anim>
                                  </p:childTnLst>
                                </p:cTn>
                              </p:par>
                            </p:childTnLst>
                          </p:cTn>
                        </p:par>
                      </p:childTnLst>
                    </p:cTn>
                  </p:par>
                  <p:par>
                    <p:cTn id="50" fill="hold">
                      <p:stCondLst>
                        <p:cond delay="0"/>
                      </p:stCondLst>
                      <p:childTnLst>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3"/>
                                        </p:tgtEl>
                                        <p:attrNameLst>
                                          <p:attrName>style.visibility</p:attrName>
                                        </p:attrNameLst>
                                      </p:cBhvr>
                                      <p:to>
                                        <p:strVal val="visible"/>
                                      </p:to>
                                    </p:set>
                                    <p:animEffect transition="in" filter="fade">
                                      <p:cBhvr>
                                        <p:cTn id="54" dur="350"/>
                                        <p:tgtEl>
                                          <p:spTgt spid="13"/>
                                        </p:tgtEl>
                                      </p:cBhvr>
                                    </p:animEffect>
                                    <p:anim calcmode="lin" valueType="num">
                                      <p:cBhvr additive="base">
                                        <p:cTn id="55" dur="350" fill="hold"/>
                                        <p:tgtEl>
                                          <p:spTgt spid="13"/>
                                        </p:tgtEl>
                                        <p:attrNameLst>
                                          <p:attrName>ppt_y</p:attrName>
                                        </p:attrNameLst>
                                      </p:cBhvr>
                                      <p:tavLst>
                                        <p:tav tm="0">
                                          <p:val>
                                            <p:strVal val="#ppt_y+0.0350"/>
                                          </p:val>
                                        </p:tav>
                                        <p:tav tm="100000">
                                          <p:val>
                                            <p:strVal val="#ppt_y"/>
                                          </p:val>
                                        </p:tav>
                                      </p:tavLst>
                                    </p:anim>
                                  </p:childTnLst>
                                </p:cTn>
                              </p:par>
                            </p:childTnLst>
                          </p:cTn>
                        </p:par>
                      </p:childTnLst>
                    </p:cTn>
                  </p:par>
                  <p:par>
                    <p:cTn id="60" fill="hold">
                      <p:stCondLst>
                        <p:cond delay="0"/>
                      </p:stCondLst>
                      <p:childTnLst>
                        <p:par>
                          <p:cTn id="61" fill="hold">
                            <p:stCondLst>
                              <p:cond delay="0"/>
                            </p:stCondLst>
                            <p:childTnLst>
                              <p:par>
                                <p:cTn id="62" presetID="10" presetClass="entr" presetSubtype="0" fill="hold" grpId="0" nodeType="afterEffect">
                                  <p:stCondLst>
                                    <p:cond delay="0"/>
                                  </p:stCondLst>
                                  <p:childTnLst>
                                    <p:set>
                                      <p:cBhvr>
                                        <p:cTn id="63" dur="1" fill="hold">
                                          <p:stCondLst>
                                            <p:cond delay="0"/>
                                          </p:stCondLst>
                                        </p:cTn>
                                        <p:tgtEl>
                                          <p:spTgt spid="14"/>
                                        </p:tgtEl>
                                        <p:attrNameLst>
                                          <p:attrName>style.visibility</p:attrName>
                                        </p:attrNameLst>
                                      </p:cBhvr>
                                      <p:to>
                                        <p:strVal val="visible"/>
                                      </p:to>
                                    </p:set>
                                    <p:animEffect transition="in" filter="fade">
                                      <p:cBhvr>
                                        <p:cTn id="64" dur="350"/>
                                        <p:tgtEl>
                                          <p:spTgt spid="14"/>
                                        </p:tgtEl>
                                      </p:cBhvr>
                                    </p:animEffect>
                                    <p:anim calcmode="lin" valueType="num">
                                      <p:cBhvr additive="base">
                                        <p:cTn id="65" dur="350" fill="hold"/>
                                        <p:tgtEl>
                                          <p:spTgt spid="14"/>
                                        </p:tgtEl>
                                        <p:attrNameLst>
                                          <p:attrName>ppt_y</p:attrName>
                                        </p:attrNameLst>
                                      </p:cBhvr>
                                      <p:tavLst>
                                        <p:tav tm="0">
                                          <p:val>
                                            <p:strVal val="#ppt_y+0.0350"/>
                                          </p:val>
                                        </p:tav>
                                        <p:tav tm="100000">
                                          <p:val>
                                            <p:strVal val="#ppt_y"/>
                                          </p:val>
                                        </p:tav>
                                      </p:tavLst>
                                    </p:anim>
                                  </p:childTnLst>
                                </p:cTn>
                              </p:par>
                            </p:childTnLst>
                          </p:cTn>
                        </p:par>
                      </p:childTnLst>
                    </p:cTn>
                  </p:par>
                </p:childTnLst>
                <p:prevCondLst>
                  <p:cond evt="onPrev" delay="0">
                    <p:tgtEl>
                      <p:sldTgt/>
                    </p:tgtEl>
                  </p:cond>
                </p:prevCondLst>
                <p:nextCondLst>
                  <p:cond evt="onNext" delay="0">
                    <p:tgtEl>
                      <p:sldTgt/>
                    </p:tgtEl>
                  </p:cond>
                </p:nextCondLst>
              </p:cTn>
            </p:seq>
          </p:childTnLst>
        </p:cTn>
      </p:par>
    </p:tnLst>
  </p:timing>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LO3 · LU3 · T1 · ACTIVITY 7</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Create and Review a Stakeholder Mind Map Infographic</a:t>
            </a:r>
          </a:p>
        </p:txBody>
      </p:sp>
      <p:sp>
        <p:nvSpPr>
          <p:cNvPr id="6" name="TextBox 5"/>
          <p:cNvSpPr txBox="1"/>
          <p:nvPr/>
        </p:nvSpPr>
        <p:spPr>
          <a:xfrm>
            <a:off x="777240" y="1719072"/>
            <a:ext cx="8229600" cy="365760"/>
          </a:xfrm>
          <a:prstGeom prst="rect">
            <a:avLst/>
          </a:prstGeom>
          <a:noFill/>
        </p:spPr>
        <p:txBody>
          <a:bodyPr wrap="square" anchor="t">
            <a:spAutoFit/>
          </a:bodyPr>
          <a:lstStyle/>
          <a:p>
            <a:pPr algn="l">
              <a:spcAft>
                <a:spcPts val="400"/>
              </a:spcAft>
            </a:pPr>
            <a:r>
              <a:rPr sz="1300" b="1">
                <a:solidFill>
                  <a:srgbClr val="5B6372"/>
                </a:solidFill>
                <a:latin typeface="Arial"/>
              </a:rPr>
              <a:t>ASSIGN THE ROLES</a:t>
            </a:r>
          </a:p>
        </p:txBody>
      </p:sp>
      <p:sp>
        <p:nvSpPr>
          <p:cNvPr id="7" name="Rectangle 6"/>
          <p:cNvSpPr/>
          <p:nvPr/>
        </p:nvSpPr>
        <p:spPr>
          <a:xfrm>
            <a:off x="777240" y="2194560"/>
            <a:ext cx="3361944" cy="3886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94560"/>
            <a:ext cx="3361944" cy="4572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194560"/>
            <a:ext cx="3361944" cy="457200"/>
          </a:xfrm>
          <a:prstGeom prst="rect">
            <a:avLst/>
          </a:prstGeom>
          <a:noFill/>
        </p:spPr>
        <p:txBody>
          <a:bodyPr wrap="square" anchor="ctr">
            <a:spAutoFit/>
          </a:bodyPr>
          <a:lstStyle/>
          <a:p>
            <a:pPr algn="ctr">
              <a:spcAft>
                <a:spcPts val="400"/>
              </a:spcAft>
            </a:pPr>
            <a:r>
              <a:rPr sz="1500" b="1">
                <a:solidFill>
                  <a:srgbClr val="FFFFFF"/>
                </a:solidFill>
                <a:latin typeface="Arial"/>
              </a:rPr>
              <a:t>Designer</a:t>
            </a:r>
          </a:p>
        </p:txBody>
      </p:sp>
      <p:sp>
        <p:nvSpPr>
          <p:cNvPr id="10" name="TextBox 9"/>
          <p:cNvSpPr txBox="1"/>
          <p:nvPr/>
        </p:nvSpPr>
        <p:spPr>
          <a:xfrm>
            <a:off x="978408" y="2816352"/>
            <a:ext cx="2959608" cy="548640"/>
          </a:xfrm>
          <a:prstGeom prst="rect">
            <a:avLst/>
          </a:prstGeom>
          <a:noFill/>
        </p:spPr>
        <p:txBody>
          <a:bodyPr wrap="square" anchor="t">
            <a:spAutoFit/>
          </a:bodyPr>
          <a:lstStyle/>
          <a:p>
            <a:pPr algn="l">
              <a:spcAft>
                <a:spcPts val="400"/>
              </a:spcAft>
            </a:pPr>
            <a:r>
              <a:rPr sz="1100" b="1">
                <a:solidFill>
                  <a:srgbClr val="1F6FEB"/>
                </a:solidFill>
                <a:latin typeface="Arial"/>
              </a:rPr>
              <a:t>GOAL</a:t>
            </a:r>
          </a:p>
        </p:txBody>
      </p:sp>
      <p:sp>
        <p:nvSpPr>
          <p:cNvPr id="11" name="TextBox 10"/>
          <p:cNvSpPr txBox="1"/>
          <p:nvPr/>
        </p:nvSpPr>
        <p:spPr>
          <a:xfrm>
            <a:off x="978408" y="3090672"/>
            <a:ext cx="2959608" cy="822960"/>
          </a:xfrm>
          <a:prstGeom prst="rect">
            <a:avLst/>
          </a:prstGeom>
          <a:noFill/>
        </p:spPr>
        <p:txBody>
          <a:bodyPr wrap="square" anchor="t">
            <a:spAutoFit/>
          </a:bodyPr>
          <a:lstStyle/>
          <a:p>
            <a:pPr algn="l">
              <a:spcAft>
                <a:spcPts val="400"/>
              </a:spcAft>
            </a:pPr>
            <a:r>
              <a:rPr sz="1250" b="1">
                <a:solidFill>
                  <a:srgbClr val="161B26"/>
                </a:solidFill>
                <a:latin typeface="Arial"/>
              </a:rPr>
              <a:t>explain the intended audience and message</a:t>
            </a:r>
          </a:p>
        </p:txBody>
      </p:sp>
      <p:sp>
        <p:nvSpPr>
          <p:cNvPr id="12" name="TextBox 11"/>
          <p:cNvSpPr txBox="1"/>
          <p:nvPr/>
        </p:nvSpPr>
        <p:spPr>
          <a:xfrm>
            <a:off x="978408" y="3977640"/>
            <a:ext cx="2959608" cy="2011680"/>
          </a:xfrm>
          <a:prstGeom prst="rect">
            <a:avLst/>
          </a:prstGeom>
          <a:noFill/>
        </p:spPr>
        <p:txBody>
          <a:bodyPr wrap="square" anchor="t">
            <a:spAutoFit/>
          </a:bodyPr>
          <a:lstStyle/>
          <a:p>
            <a:pPr algn="l">
              <a:spcAft>
                <a:spcPts val="400"/>
              </a:spcAft>
            </a:pPr>
            <a:r>
              <a:rPr sz="1200" b="0">
                <a:solidFill>
                  <a:srgbClr val="5B6372"/>
                </a:solidFill>
                <a:latin typeface="Arial"/>
              </a:rPr>
              <a:t>Listen without defending every choice; ask for evidence.</a:t>
            </a:r>
          </a:p>
        </p:txBody>
      </p:sp>
      <p:sp>
        <p:nvSpPr>
          <p:cNvPr id="13" name="Rectangle 12"/>
          <p:cNvSpPr/>
          <p:nvPr/>
        </p:nvSpPr>
        <p:spPr>
          <a:xfrm>
            <a:off x="4413504" y="2194560"/>
            <a:ext cx="3361944" cy="3886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13504" y="2194560"/>
            <a:ext cx="3361944"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13504" y="2194560"/>
            <a:ext cx="3361944" cy="457200"/>
          </a:xfrm>
          <a:prstGeom prst="rect">
            <a:avLst/>
          </a:prstGeom>
          <a:noFill/>
        </p:spPr>
        <p:txBody>
          <a:bodyPr wrap="square" anchor="ctr">
            <a:spAutoFit/>
          </a:bodyPr>
          <a:lstStyle/>
          <a:p>
            <a:pPr algn="ctr">
              <a:spcAft>
                <a:spcPts val="400"/>
              </a:spcAft>
            </a:pPr>
            <a:r>
              <a:rPr sz="1500" b="1">
                <a:solidFill>
                  <a:srgbClr val="FFFFFF"/>
                </a:solidFill>
                <a:latin typeface="Arial"/>
              </a:rPr>
              <a:t>Reviewer</a:t>
            </a:r>
          </a:p>
        </p:txBody>
      </p:sp>
      <p:sp>
        <p:nvSpPr>
          <p:cNvPr id="16" name="TextBox 15"/>
          <p:cNvSpPr txBox="1"/>
          <p:nvPr/>
        </p:nvSpPr>
        <p:spPr>
          <a:xfrm>
            <a:off x="4614672" y="2816352"/>
            <a:ext cx="2959608" cy="548640"/>
          </a:xfrm>
          <a:prstGeom prst="rect">
            <a:avLst/>
          </a:prstGeom>
          <a:noFill/>
        </p:spPr>
        <p:txBody>
          <a:bodyPr wrap="square" anchor="t">
            <a:spAutoFit/>
          </a:bodyPr>
          <a:lstStyle/>
          <a:p>
            <a:pPr algn="l">
              <a:spcAft>
                <a:spcPts val="400"/>
              </a:spcAft>
            </a:pPr>
            <a:r>
              <a:rPr sz="1100" b="1">
                <a:solidFill>
                  <a:srgbClr val="10B981"/>
                </a:solidFill>
                <a:latin typeface="Arial"/>
              </a:rPr>
              <a:t>GOAL</a:t>
            </a:r>
          </a:p>
        </p:txBody>
      </p:sp>
      <p:sp>
        <p:nvSpPr>
          <p:cNvPr id="17" name="TextBox 16"/>
          <p:cNvSpPr txBox="1"/>
          <p:nvPr/>
        </p:nvSpPr>
        <p:spPr>
          <a:xfrm>
            <a:off x="4614672" y="3090672"/>
            <a:ext cx="2959608" cy="822960"/>
          </a:xfrm>
          <a:prstGeom prst="rect">
            <a:avLst/>
          </a:prstGeom>
          <a:noFill/>
        </p:spPr>
        <p:txBody>
          <a:bodyPr wrap="square" anchor="t">
            <a:spAutoFit/>
          </a:bodyPr>
          <a:lstStyle/>
          <a:p>
            <a:pPr algn="l">
              <a:spcAft>
                <a:spcPts val="400"/>
              </a:spcAft>
            </a:pPr>
            <a:r>
              <a:rPr sz="1250" b="1">
                <a:solidFill>
                  <a:srgbClr val="161B26"/>
                </a:solidFill>
                <a:latin typeface="Arial"/>
              </a:rPr>
              <a:t>give criteria-based feedback</a:t>
            </a:r>
          </a:p>
        </p:txBody>
      </p:sp>
      <p:sp>
        <p:nvSpPr>
          <p:cNvPr id="18" name="TextBox 17"/>
          <p:cNvSpPr txBox="1"/>
          <p:nvPr/>
        </p:nvSpPr>
        <p:spPr>
          <a:xfrm>
            <a:off x="4614672" y="3977640"/>
            <a:ext cx="2959608" cy="2011680"/>
          </a:xfrm>
          <a:prstGeom prst="rect">
            <a:avLst/>
          </a:prstGeom>
          <a:noFill/>
        </p:spPr>
        <p:txBody>
          <a:bodyPr wrap="square" anchor="t">
            <a:spAutoFit/>
          </a:bodyPr>
          <a:lstStyle/>
          <a:p>
            <a:pPr algn="l">
              <a:spcAft>
                <a:spcPts val="400"/>
              </a:spcAft>
            </a:pPr>
            <a:r>
              <a:rPr sz="1200" b="0">
                <a:solidFill>
                  <a:srgbClr val="5B6372"/>
                </a:solidFill>
                <a:latin typeface="Arial"/>
              </a:rPr>
              <a:t>Use observations, questions and one prioritised suggestion.</a:t>
            </a:r>
          </a:p>
        </p:txBody>
      </p:sp>
      <p:sp>
        <p:nvSpPr>
          <p:cNvPr id="19" name="Rectangle 18"/>
          <p:cNvSpPr/>
          <p:nvPr/>
        </p:nvSpPr>
        <p:spPr>
          <a:xfrm>
            <a:off x="8049768" y="2194560"/>
            <a:ext cx="3361944" cy="3886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49768" y="2194560"/>
            <a:ext cx="3361944" cy="4572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49768" y="2194560"/>
            <a:ext cx="3361944" cy="457200"/>
          </a:xfrm>
          <a:prstGeom prst="rect">
            <a:avLst/>
          </a:prstGeom>
          <a:noFill/>
        </p:spPr>
        <p:txBody>
          <a:bodyPr wrap="square" anchor="ctr">
            <a:spAutoFit/>
          </a:bodyPr>
          <a:lstStyle/>
          <a:p>
            <a:pPr algn="ctr">
              <a:spcAft>
                <a:spcPts val="400"/>
              </a:spcAft>
            </a:pPr>
            <a:r>
              <a:rPr sz="1500" b="1">
                <a:solidFill>
                  <a:srgbClr val="FFFFFF"/>
                </a:solidFill>
                <a:latin typeface="Arial"/>
              </a:rPr>
              <a:t>Audience representative</a:t>
            </a:r>
          </a:p>
        </p:txBody>
      </p:sp>
      <p:sp>
        <p:nvSpPr>
          <p:cNvPr id="22" name="TextBox 21"/>
          <p:cNvSpPr txBox="1"/>
          <p:nvPr/>
        </p:nvSpPr>
        <p:spPr>
          <a:xfrm>
            <a:off x="8250936" y="2816352"/>
            <a:ext cx="2959608" cy="548640"/>
          </a:xfrm>
          <a:prstGeom prst="rect">
            <a:avLst/>
          </a:prstGeom>
          <a:noFill/>
        </p:spPr>
        <p:txBody>
          <a:bodyPr wrap="square" anchor="t">
            <a:spAutoFit/>
          </a:bodyPr>
          <a:lstStyle/>
          <a:p>
            <a:pPr algn="l">
              <a:spcAft>
                <a:spcPts val="400"/>
              </a:spcAft>
            </a:pPr>
            <a:r>
              <a:rPr sz="1100" b="1">
                <a:solidFill>
                  <a:srgbClr val="7C3AED"/>
                </a:solidFill>
                <a:latin typeface="Arial"/>
              </a:rPr>
              <a:t>GOAL</a:t>
            </a:r>
          </a:p>
        </p:txBody>
      </p:sp>
      <p:sp>
        <p:nvSpPr>
          <p:cNvPr id="23" name="TextBox 22"/>
          <p:cNvSpPr txBox="1"/>
          <p:nvPr/>
        </p:nvSpPr>
        <p:spPr>
          <a:xfrm>
            <a:off x="8250936" y="3090672"/>
            <a:ext cx="2959608" cy="822960"/>
          </a:xfrm>
          <a:prstGeom prst="rect">
            <a:avLst/>
          </a:prstGeom>
          <a:noFill/>
        </p:spPr>
        <p:txBody>
          <a:bodyPr wrap="square" anchor="t">
            <a:spAutoFit/>
          </a:bodyPr>
          <a:lstStyle/>
          <a:p>
            <a:pPr algn="l">
              <a:spcAft>
                <a:spcPts val="400"/>
              </a:spcAft>
            </a:pPr>
            <a:r>
              <a:rPr sz="1250" b="1">
                <a:solidFill>
                  <a:srgbClr val="161B26"/>
                </a:solidFill>
                <a:latin typeface="Arial"/>
              </a:rPr>
              <a:t>test comprehension</a:t>
            </a:r>
          </a:p>
        </p:txBody>
      </p:sp>
      <p:sp>
        <p:nvSpPr>
          <p:cNvPr id="24" name="TextBox 23"/>
          <p:cNvSpPr txBox="1"/>
          <p:nvPr/>
        </p:nvSpPr>
        <p:spPr>
          <a:xfrm>
            <a:off x="8250936" y="3977640"/>
            <a:ext cx="2959608" cy="2011680"/>
          </a:xfrm>
          <a:prstGeom prst="rect">
            <a:avLst/>
          </a:prstGeom>
          <a:noFill/>
        </p:spPr>
        <p:txBody>
          <a:bodyPr wrap="square" anchor="t">
            <a:spAutoFit/>
          </a:bodyPr>
          <a:lstStyle/>
          <a:p>
            <a:pPr algn="l">
              <a:spcAft>
                <a:spcPts val="400"/>
              </a:spcAft>
            </a:pPr>
            <a:r>
              <a:rPr sz="1200" b="0">
                <a:solidFill>
                  <a:srgbClr val="5B6372"/>
                </a:solidFill>
                <a:latin typeface="Arial"/>
              </a:rPr>
              <a:t>State what you understood, what confused you and what action you would take.</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115</a:t>
            </a:r>
          </a:p>
        </p:txBody>
      </p:sp>
    </p:spTree>
  </p:cSld>
  <p:clrMapOvr>
    <a:masterClrMapping/>
  </p:clrMapOvr>
  <p:transition spd="fast" advClick="1">
    <p:wipe dir="l"/>
  </p:transition>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LO3 · LU3 · T1 · ACTIVITY 7</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Create and Review a Stakeholder Mind Map Infographic</a:t>
            </a:r>
          </a:p>
        </p:txBody>
      </p:sp>
      <p:sp>
        <p:nvSpPr>
          <p:cNvPr id="6" name="TextBox 5"/>
          <p:cNvSpPr txBox="1"/>
          <p:nvPr/>
        </p:nvSpPr>
        <p:spPr>
          <a:xfrm>
            <a:off x="777240" y="1719072"/>
            <a:ext cx="8229600" cy="365760"/>
          </a:xfrm>
          <a:prstGeom prst="rect">
            <a:avLst/>
          </a:prstGeom>
          <a:noFill/>
        </p:spPr>
        <p:txBody>
          <a:bodyPr wrap="square" anchor="t">
            <a:spAutoFit/>
          </a:bodyPr>
          <a:lstStyle/>
          <a:p>
            <a:pPr algn="l">
              <a:spcAft>
                <a:spcPts val="400"/>
              </a:spcAft>
            </a:pPr>
            <a:r>
              <a:rPr sz="1300" b="1">
                <a:solidFill>
                  <a:srgbClr val="5B6372"/>
                </a:solidFill>
                <a:latin typeface="Arial"/>
              </a:rPr>
              <a:t>DISCUSSION &amp; DECISION PROMPTS</a:t>
            </a:r>
          </a:p>
        </p:txBody>
      </p:sp>
      <p:sp>
        <p:nvSpPr>
          <p:cNvPr id="7" name="Rectangle 6"/>
          <p:cNvSpPr/>
          <p:nvPr/>
        </p:nvSpPr>
        <p:spPr>
          <a:xfrm>
            <a:off x="777240" y="2148840"/>
            <a:ext cx="10634472" cy="8732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73152" cy="8732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78408" y="2334006"/>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78408" y="2334006"/>
            <a:ext cx="502920" cy="50292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737360" y="2148840"/>
            <a:ext cx="9308592" cy="873252"/>
          </a:xfrm>
          <a:prstGeom prst="rect">
            <a:avLst/>
          </a:prstGeom>
          <a:noFill/>
        </p:spPr>
        <p:txBody>
          <a:bodyPr wrap="square" anchor="ctr">
            <a:spAutoFit/>
          </a:bodyPr>
          <a:lstStyle/>
          <a:p>
            <a:pPr algn="l">
              <a:spcAft>
                <a:spcPts val="400"/>
              </a:spcAft>
            </a:pPr>
            <a:r>
              <a:rPr sz="1450" b="0">
                <a:solidFill>
                  <a:srgbClr val="161B26"/>
                </a:solidFill>
                <a:latin typeface="Arial"/>
              </a:rPr>
              <a:t>What did the audience understand first?</a:t>
            </a:r>
          </a:p>
        </p:txBody>
      </p:sp>
      <p:sp>
        <p:nvSpPr>
          <p:cNvPr id="12" name="Rectangle 11"/>
          <p:cNvSpPr/>
          <p:nvPr/>
        </p:nvSpPr>
        <p:spPr>
          <a:xfrm>
            <a:off x="777240" y="3168396"/>
            <a:ext cx="10634472" cy="8732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168396"/>
            <a:ext cx="73152" cy="8732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78408" y="3353562"/>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78408" y="3353562"/>
            <a:ext cx="502920" cy="50292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6" name="TextBox 15"/>
          <p:cNvSpPr txBox="1"/>
          <p:nvPr/>
        </p:nvSpPr>
        <p:spPr>
          <a:xfrm>
            <a:off x="1737360" y="3168396"/>
            <a:ext cx="9308592" cy="873252"/>
          </a:xfrm>
          <a:prstGeom prst="rect">
            <a:avLst/>
          </a:prstGeom>
          <a:noFill/>
        </p:spPr>
        <p:txBody>
          <a:bodyPr wrap="square" anchor="ctr">
            <a:spAutoFit/>
          </a:bodyPr>
          <a:lstStyle/>
          <a:p>
            <a:pPr algn="l">
              <a:spcAft>
                <a:spcPts val="400"/>
              </a:spcAft>
            </a:pPr>
            <a:r>
              <a:rPr sz="1450" b="0">
                <a:solidFill>
                  <a:srgbClr val="161B26"/>
                </a:solidFill>
                <a:latin typeface="Arial"/>
              </a:rPr>
              <a:t>Which issue has the greatest decision impact?</a:t>
            </a:r>
          </a:p>
        </p:txBody>
      </p:sp>
      <p:sp>
        <p:nvSpPr>
          <p:cNvPr id="17" name="Rectangle 16"/>
          <p:cNvSpPr/>
          <p:nvPr/>
        </p:nvSpPr>
        <p:spPr>
          <a:xfrm>
            <a:off x="777240" y="4187952"/>
            <a:ext cx="10634472" cy="8732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187952"/>
            <a:ext cx="73152" cy="8732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78408" y="4373118"/>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8408" y="4373118"/>
            <a:ext cx="502920" cy="50292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1" name="TextBox 20"/>
          <p:cNvSpPr txBox="1"/>
          <p:nvPr/>
        </p:nvSpPr>
        <p:spPr>
          <a:xfrm>
            <a:off x="1737360" y="4187952"/>
            <a:ext cx="9308592" cy="873252"/>
          </a:xfrm>
          <a:prstGeom prst="rect">
            <a:avLst/>
          </a:prstGeom>
          <a:noFill/>
        </p:spPr>
        <p:txBody>
          <a:bodyPr wrap="square" anchor="ctr">
            <a:spAutoFit/>
          </a:bodyPr>
          <a:lstStyle/>
          <a:p>
            <a:pPr algn="l">
              <a:spcAft>
                <a:spcPts val="400"/>
              </a:spcAft>
            </a:pPr>
            <a:r>
              <a:rPr sz="1450" b="0">
                <a:solidFill>
                  <a:srgbClr val="161B26"/>
                </a:solidFill>
                <a:latin typeface="Arial"/>
              </a:rPr>
              <a:t>Which feedback is evidence-based rather than taste?</a:t>
            </a:r>
          </a:p>
        </p:txBody>
      </p:sp>
      <p:sp>
        <p:nvSpPr>
          <p:cNvPr id="22" name="Rectangle 21"/>
          <p:cNvSpPr/>
          <p:nvPr/>
        </p:nvSpPr>
        <p:spPr>
          <a:xfrm>
            <a:off x="777240" y="5207508"/>
            <a:ext cx="10634472" cy="8732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207508"/>
            <a:ext cx="73152" cy="8732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78408" y="5392674"/>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78408" y="5392674"/>
            <a:ext cx="502920" cy="50292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6" name="TextBox 25"/>
          <p:cNvSpPr txBox="1"/>
          <p:nvPr/>
        </p:nvSpPr>
        <p:spPr>
          <a:xfrm>
            <a:off x="1737360" y="5207508"/>
            <a:ext cx="9308592" cy="873252"/>
          </a:xfrm>
          <a:prstGeom prst="rect">
            <a:avLst/>
          </a:prstGeom>
          <a:noFill/>
        </p:spPr>
        <p:txBody>
          <a:bodyPr wrap="square" anchor="ctr">
            <a:spAutoFit/>
          </a:bodyPr>
          <a:lstStyle/>
          <a:p>
            <a:pPr algn="l">
              <a:spcAft>
                <a:spcPts val="400"/>
              </a:spcAft>
            </a:pPr>
            <a:r>
              <a:rPr sz="1450" b="0">
                <a:solidFill>
                  <a:srgbClr val="161B26"/>
                </a:solidFill>
                <a:latin typeface="Arial"/>
              </a:rPr>
              <a:t>How will the change be tested?</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116</a:t>
            </a:r>
          </a:p>
        </p:txBody>
      </p:sp>
    </p:spTree>
  </p:cSld>
  <p:clrMapOvr>
    <a:masterClrMapping/>
  </p:clrMapOvr>
  <p:transition spd="fast" advClick="1">
    <p:wipe dir="l"/>
  </p:transition>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LO3 · LU3 · T1 · ACTIVITY 7</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Create and Review a Stakeholder Mind Map Infographic</a:t>
            </a:r>
          </a:p>
        </p:txBody>
      </p:sp>
      <p:sp>
        <p:nvSpPr>
          <p:cNvPr id="6" name="Rectangle 5"/>
          <p:cNvSpPr/>
          <p:nvPr/>
        </p:nvSpPr>
        <p:spPr>
          <a:xfrm>
            <a:off x="777240" y="1783080"/>
            <a:ext cx="10634472" cy="26517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91440" cy="26517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1965960"/>
            <a:ext cx="10058400" cy="365760"/>
          </a:xfrm>
          <a:prstGeom prst="rect">
            <a:avLst/>
          </a:prstGeom>
          <a:noFill/>
        </p:spPr>
        <p:txBody>
          <a:bodyPr wrap="square" anchor="t">
            <a:spAutoFit/>
          </a:bodyPr>
          <a:lstStyle/>
          <a:p>
            <a:pPr algn="l">
              <a:spcAft>
                <a:spcPts val="400"/>
              </a:spcAft>
            </a:pPr>
            <a:r>
              <a:rPr sz="1300" b="1">
                <a:solidFill>
                  <a:srgbClr val="7C3AED"/>
                </a:solidFill>
                <a:latin typeface="Arial"/>
              </a:rPr>
              <a:t>REFLECT &amp; DISCUSS</a:t>
            </a:r>
          </a:p>
        </p:txBody>
      </p:sp>
      <p:sp>
        <p:nvSpPr>
          <p:cNvPr id="9" name="TextBox 8"/>
          <p:cNvSpPr txBox="1"/>
          <p:nvPr/>
        </p:nvSpPr>
        <p:spPr>
          <a:xfrm>
            <a:off x="1051560" y="2377440"/>
            <a:ext cx="10058400" cy="1920240"/>
          </a:xfrm>
          <a:prstGeom prst="rect">
            <a:avLst/>
          </a:prstGeom>
          <a:noFill/>
        </p:spPr>
        <p:txBody>
          <a:bodyPr wrap="square">
            <a:spAutoFit/>
          </a:bodyPr>
          <a:lstStyle/>
          <a:p>
            <a:pPr>
              <a:spcAft>
                <a:spcPts val="900"/>
              </a:spcAft>
            </a:pPr>
            <a:r>
              <a:rPr sz="1450" b="0">
                <a:solidFill>
                  <a:srgbClr val="161B26"/>
                </a:solidFill>
                <a:latin typeface="Arial"/>
              </a:rPr>
              <a:t>•  Was the feedback specific and respectful?</a:t>
            </a:r>
          </a:p>
          <a:p>
            <a:pPr>
              <a:spcAft>
                <a:spcPts val="900"/>
              </a:spcAft>
            </a:pPr>
            <a:r>
              <a:rPr sz="1450" b="0">
                <a:solidFill>
                  <a:srgbClr val="161B26"/>
                </a:solidFill>
                <a:latin typeface="Arial"/>
              </a:rPr>
              <a:t>•  Did the revision improve the intended outcome rather than merely change the style?</a:t>
            </a:r>
          </a:p>
        </p:txBody>
      </p:sp>
      <p:sp>
        <p:nvSpPr>
          <p:cNvPr id="10" name="Rectangle 9"/>
          <p:cNvSpPr/>
          <p:nvPr/>
        </p:nvSpPr>
        <p:spPr>
          <a:xfrm>
            <a:off x="777240" y="4663440"/>
            <a:ext cx="10634472" cy="137160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1560" y="4864608"/>
            <a:ext cx="10058400" cy="365760"/>
          </a:xfrm>
          <a:prstGeom prst="rect">
            <a:avLst/>
          </a:prstGeom>
          <a:noFill/>
        </p:spPr>
        <p:txBody>
          <a:bodyPr wrap="square" anchor="t">
            <a:spAutoFit/>
          </a:bodyPr>
          <a:lstStyle/>
          <a:p>
            <a:pPr algn="l">
              <a:spcAft>
                <a:spcPts val="400"/>
              </a:spcAft>
            </a:pPr>
            <a:r>
              <a:rPr sz="1500" b="1">
                <a:solidFill>
                  <a:srgbClr val="127A3E"/>
                </a:solidFill>
                <a:latin typeface="Arial"/>
              </a:rPr>
              <a:t>✓  Facilitator debrief check</a:t>
            </a:r>
          </a:p>
        </p:txBody>
      </p:sp>
      <p:sp>
        <p:nvSpPr>
          <p:cNvPr id="12" name="TextBox 11"/>
          <p:cNvSpPr txBox="1"/>
          <p:nvPr/>
        </p:nvSpPr>
        <p:spPr>
          <a:xfrm>
            <a:off x="1051560" y="5257800"/>
            <a:ext cx="10058400" cy="731520"/>
          </a:xfrm>
          <a:prstGeom prst="rect">
            <a:avLst/>
          </a:prstGeom>
          <a:noFill/>
        </p:spPr>
        <p:txBody>
          <a:bodyPr wrap="square" anchor="t">
            <a:spAutoFit/>
          </a:bodyPr>
          <a:lstStyle/>
          <a:p>
            <a:pPr algn="l">
              <a:spcAft>
                <a:spcPts val="400"/>
              </a:spcAft>
            </a:pPr>
            <a:r>
              <a:rPr sz="1300" b="0">
                <a:solidFill>
                  <a:srgbClr val="161B26"/>
                </a:solidFill>
                <a:latin typeface="Arial"/>
              </a:rPr>
              <a:t>The review log contains observed evidence, a principle-based diagnosis, one prioritised change, a named owner and an acceptance check.</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117</a:t>
            </a:r>
          </a:p>
        </p:txBody>
      </p:sp>
    </p:spTree>
  </p:cSld>
  <p:clrMapOvr>
    <a:masterClrMapping/>
  </p:clrMapOvr>
  <p:transition spd="fast" advClick="1">
    <p:wipe dir="l"/>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350"/>
                                        <p:tgtEl>
                                          <p:spTgt spid="9"/>
                                        </p:tgtEl>
                                      </p:cBhvr>
                                    </p:animEffect>
                                    <p:anim calcmode="lin" valueType="num">
                                      <p:cBhvr additive="base">
                                        <p:cTn id="15" dur="350" fill="hold"/>
                                        <p:tgtEl>
                                          <p:spTgt spid="9"/>
                                        </p:tgtEl>
                                        <p:attrNameLst>
                                          <p:attrName>ppt_y</p:attrName>
                                        </p:attrNameLst>
                                      </p:cBhvr>
                                      <p:tavLst>
                                        <p:tav tm="0">
                                          <p:val>
                                            <p:strVal val="#ppt_y+0.0350"/>
                                          </p:val>
                                        </p:tav>
                                        <p:tav tm="100000">
                                          <p:val>
                                            <p:strVal val="#ppt_y"/>
                                          </p:val>
                                        </p:tav>
                                      </p:tavLst>
                                    </p:anim>
                                  </p:childTnLst>
                                </p:cTn>
                              </p:par>
                            </p:childTnLst>
                          </p:cTn>
                        </p:par>
                      </p:childTnLst>
                    </p:cTn>
                  </p:par>
                  <p:par>
                    <p:cTn id="20" fill="hold">
                      <p:stCondLst>
                        <p:cond delay="0"/>
                      </p:stCondLst>
                      <p:childTnLst>
                        <p:par>
                          <p:cTn id="21" fill="hold">
                            <p:stCondLst>
                              <p:cond delay="0"/>
                            </p:stCondLst>
                            <p:childTnLst>
                              <p:par>
                                <p:cTn id="22" presetID="10" presetClass="entr" presetSubtype="0" fill="hold" grpId="0" nodeType="after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350"/>
                                        <p:tgtEl>
                                          <p:spTgt spid="10"/>
                                        </p:tgtEl>
                                      </p:cBhvr>
                                    </p:animEffect>
                                    <p:anim calcmode="lin" valueType="num">
                                      <p:cBhvr additive="base">
                                        <p:cTn id="25" dur="350" fill="hold"/>
                                        <p:tgtEl>
                                          <p:spTgt spid="10"/>
                                        </p:tgtEl>
                                        <p:attrNameLst>
                                          <p:attrName>ppt_y</p:attrName>
                                        </p:attrNameLst>
                                      </p:cBhvr>
                                      <p:tavLst>
                                        <p:tav tm="0">
                                          <p:val>
                                            <p:strVal val="#ppt_y+0.0350"/>
                                          </p:val>
                                        </p:tav>
                                        <p:tav tm="100000">
                                          <p:val>
                                            <p:strVal val="#ppt_y"/>
                                          </p:val>
                                        </p:tav>
                                      </p:tavLst>
                                    </p:anim>
                                  </p:childTnLst>
                                </p:cTn>
                              </p:par>
                            </p:childTnLst>
                          </p:cTn>
                        </p:par>
                      </p:childTnLst>
                    </p:cTn>
                  </p:par>
                  <p:par>
                    <p:cTn id="30" fill="hold">
                      <p:stCondLst>
                        <p:cond delay="0"/>
                      </p:stCondLst>
                      <p:childTnLst>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350"/>
                                        <p:tgtEl>
                                          <p:spTgt spid="12"/>
                                        </p:tgtEl>
                                      </p:cBhvr>
                                    </p:animEffect>
                                    <p:anim calcmode="lin" valueType="num">
                                      <p:cBhvr additive="base">
                                        <p:cTn id="35" dur="350" fill="hold"/>
                                        <p:tgtEl>
                                          <p:spTgt spid="12"/>
                                        </p:tgtEl>
                                        <p:attrNameLst>
                                          <p:attrName>ppt_y</p:attrName>
                                        </p:attrNameLst>
                                      </p:cBhvr>
                                      <p:tavLst>
                                        <p:tav tm="0">
                                          <p:val>
                                            <p:strVal val="#ppt_y+0.0350"/>
                                          </p:val>
                                        </p:tav>
                                        <p:tav tm="100000">
                                          <p:val>
                                            <p:strVal val="#ppt_y"/>
                                          </p:val>
                                        </p:tav>
                                      </p:tavLst>
                                    </p:anim>
                                  </p:childTnLst>
                                </p:cTn>
                              </p:par>
                            </p:childTnLst>
                          </p:cTn>
                        </p:par>
                      </p:childTnLst>
                    </p:cTn>
                  </p:par>
                </p:childTnLst>
                <p:prevCondLst>
                  <p:cond evt="onPrev" delay="0">
                    <p:tgtEl>
                      <p:sldTgt/>
                    </p:tgtEl>
                  </p:cond>
                </p:prevCondLst>
                <p:nextCondLst>
                  <p:cond evt="onNext" delay="0">
                    <p:tgtEl>
                      <p:sldTgt/>
                    </p:tgtEl>
                  </p:cond>
                </p:nextCondLst>
              </p:cTn>
            </p:seq>
          </p:childTnLst>
        </p:cTn>
      </p:par>
    </p:tnLst>
  </p:timing>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600" b="1">
                <a:solidFill>
                  <a:srgbClr val="10B981"/>
                </a:solidFill>
                <a:latin typeface="Arial"/>
              </a:rPr>
              <a:t>LO3 · LU3 · T2</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2600" b="1">
                <a:solidFill>
                  <a:srgbClr val="161B26"/>
                </a:solidFill>
                <a:latin typeface="Arial"/>
              </a:rPr>
              <a:t>a tool and resource decision tied to business outcomes</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T2</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118</a:t>
            </a:r>
          </a:p>
        </p:txBody>
      </p:sp>
    </p:spTree>
  </p:cSld>
  <p:clrMapOvr>
    <a:masterClrMapping/>
  </p:clrMapOvr>
  <p:transition spd="fast" advClick="1">
    <p:push dir="u"/>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350"/>
                                        <p:tgtEl>
                                          <p:spTgt spid="4"/>
                                        </p:tgtEl>
                                      </p:cBhvr>
                                    </p:animEffect>
                                    <p:anim calcmode="lin" valueType="num">
                                      <p:cBhvr additive="base">
                                        <p:cTn id="15" dur="350" fill="hold"/>
                                        <p:tgtEl>
                                          <p:spTgt spid="4"/>
                                        </p:tgtEl>
                                        <p:attrNameLst>
                                          <p:attrName>ppt_y</p:attrName>
                                        </p:attrNameLst>
                                      </p:cBhvr>
                                      <p:tavLst>
                                        <p:tav tm="0">
                                          <p:val>
                                            <p:strVal val="#ppt_y+0.0350"/>
                                          </p:val>
                                        </p:tav>
                                        <p:tav tm="100000">
                                          <p:val>
                                            <p:strVal val="#ppt_y"/>
                                          </p:val>
                                        </p:tav>
                                      </p:tavLst>
                                    </p:anim>
                                  </p:childTnLst>
                                </p:cTn>
                              </p:par>
                            </p:childTnLst>
                          </p:cTn>
                        </p:par>
                      </p:childTnLst>
                    </p:cTn>
                  </p:par>
                  <p:par>
                    <p:cTn id="20" fill="hold">
                      <p:stCondLst>
                        <p:cond delay="0"/>
                      </p:stCondLst>
                      <p:childTnLst>
                        <p:par>
                          <p:cTn id="21" fill="hold">
                            <p:stCondLst>
                              <p:cond delay="0"/>
                            </p:stCondLst>
                            <p:childTnLst>
                              <p:par>
                                <p:cTn id="22" presetID="10" presetClass="entr" presetSubtype="0" fill="hold" grpId="0" nodeType="afterEffect">
                                  <p:stCondLst>
                                    <p:cond delay="0"/>
                                  </p:stCondLst>
                                  <p:childTnLst>
                                    <p:set>
                                      <p:cBhvr>
                                        <p:cTn id="23" dur="1" fill="hold">
                                          <p:stCondLst>
                                            <p:cond delay="0"/>
                                          </p:stCondLst>
                                        </p:cTn>
                                        <p:tgtEl>
                                          <p:spTgt spid="5"/>
                                        </p:tgtEl>
                                        <p:attrNameLst>
                                          <p:attrName>style.visibility</p:attrName>
                                        </p:attrNameLst>
                                      </p:cBhvr>
                                      <p:to>
                                        <p:strVal val="visible"/>
                                      </p:to>
                                    </p:set>
                                    <p:animEffect transition="in" filter="fade">
                                      <p:cBhvr>
                                        <p:cTn id="24" dur="350"/>
                                        <p:tgtEl>
                                          <p:spTgt spid="5"/>
                                        </p:tgtEl>
                                      </p:cBhvr>
                                    </p:animEffect>
                                    <p:anim calcmode="lin" valueType="num">
                                      <p:cBhvr additive="base">
                                        <p:cTn id="25" dur="350" fill="hold"/>
                                        <p:tgtEl>
                                          <p:spTgt spid="5"/>
                                        </p:tgtEl>
                                        <p:attrNameLst>
                                          <p:attrName>ppt_y</p:attrName>
                                        </p:attrNameLst>
                                      </p:cBhvr>
                                      <p:tavLst>
                                        <p:tav tm="0">
                                          <p:val>
                                            <p:strVal val="#ppt_y+0.0350"/>
                                          </p:val>
                                        </p:tav>
                                        <p:tav tm="100000">
                                          <p:val>
                                            <p:strVal val="#ppt_y"/>
                                          </p:val>
                                        </p:tav>
                                      </p:tavLst>
                                    </p:anim>
                                  </p:childTnLst>
                                </p:cTn>
                              </p:par>
                            </p:childTnLst>
                          </p:cTn>
                        </p:par>
                      </p:childTnLst>
                    </p:cTn>
                  </p:par>
                  <p:par>
                    <p:cTn id="30" fill="hold">
                      <p:stCondLst>
                        <p:cond delay="0"/>
                      </p:stCondLst>
                      <p:childTnLst>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6"/>
                                        </p:tgtEl>
                                        <p:attrNameLst>
                                          <p:attrName>style.visibility</p:attrName>
                                        </p:attrNameLst>
                                      </p:cBhvr>
                                      <p:to>
                                        <p:strVal val="visible"/>
                                      </p:to>
                                    </p:set>
                                    <p:animEffect transition="in" filter="fade">
                                      <p:cBhvr>
                                        <p:cTn id="34" dur="350"/>
                                        <p:tgtEl>
                                          <p:spTgt spid="6"/>
                                        </p:tgtEl>
                                      </p:cBhvr>
                                    </p:animEffect>
                                    <p:anim calcmode="lin" valueType="num">
                                      <p:cBhvr additive="base">
                                        <p:cTn id="35" dur="350" fill="hold"/>
                                        <p:tgtEl>
                                          <p:spTgt spid="6"/>
                                        </p:tgtEl>
                                        <p:attrNameLst>
                                          <p:attrName>ppt_y</p:attrName>
                                        </p:attrNameLst>
                                      </p:cBhvr>
                                      <p:tavLst>
                                        <p:tav tm="0">
                                          <p:val>
                                            <p:strVal val="#ppt_y+0.0350"/>
                                          </p:val>
                                        </p:tav>
                                        <p:tav tm="100000">
                                          <p:val>
                                            <p:strVal val="#ppt_y"/>
                                          </p:val>
                                        </p:tav>
                                      </p:tavLst>
                                    </p:anim>
                                  </p:childTnLst>
                                </p:cTn>
                              </p:par>
                            </p:childTnLst>
                          </p:cTn>
                        </p:par>
                      </p:childTnLst>
                    </p:cTn>
                  </p:par>
                </p:childTnLst>
                <p:prevCondLst>
                  <p:cond evt="onPrev" delay="0">
                    <p:tgtEl>
                      <p:sldTgt/>
                    </p:tgtEl>
                  </p:cond>
                </p:prevCondLst>
                <p:nextCondLst>
                  <p:cond evt="onNext" delay="0">
                    <p:tgtEl>
                      <p:sldTgt/>
                    </p:tgtEl>
                  </p:cond>
                </p:nextCondLst>
              </p:cTn>
            </p:seq>
          </p:childTnLst>
        </p:cTn>
      </p:par>
    </p:tnLst>
  </p:timing>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LO3 · LU3 · T2</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100" b="1">
                <a:solidFill>
                  <a:srgbClr val="161B26"/>
                </a:solidFill>
                <a:latin typeface="Arial"/>
              </a:rPr>
              <a:t>What is a tool and resource decision tied to business outcomes?</a:t>
            </a:r>
          </a:p>
        </p:txBody>
      </p:sp>
      <p:sp>
        <p:nvSpPr>
          <p:cNvPr id="6" name="Rectangle 5"/>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0" name="TextBox 9"/>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Capability</a:t>
            </a:r>
          </a:p>
          <a:p>
            <a:pPr algn="l">
              <a:spcAft>
                <a:spcPts val="300"/>
              </a:spcAft>
            </a:pPr>
            <a:r>
              <a:rPr sz="1200" b="0">
                <a:solidFill>
                  <a:srgbClr val="5B6372"/>
                </a:solidFill>
                <a:latin typeface="Arial"/>
              </a:rPr>
              <a:t>Templates, native charts, AI generation, brand control, collaboration and export.</a:t>
            </a:r>
          </a:p>
        </p:txBody>
      </p:sp>
      <p:sp>
        <p:nvSpPr>
          <p:cNvPr id="11" name="Rectangle 10"/>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5" name="TextBox 14"/>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Total cost</a:t>
            </a:r>
          </a:p>
          <a:p>
            <a:pPr algn="l">
              <a:spcAft>
                <a:spcPts val="300"/>
              </a:spcAft>
            </a:pPr>
            <a:r>
              <a:rPr sz="1200" b="0">
                <a:solidFill>
                  <a:srgbClr val="5B6372"/>
                </a:solidFill>
                <a:latin typeface="Arial"/>
              </a:rPr>
              <a:t>Licence, learning, production time, governance, maintenance and rework.</a:t>
            </a:r>
          </a:p>
        </p:txBody>
      </p:sp>
      <p:sp>
        <p:nvSpPr>
          <p:cNvPr id="16" name="Rectangle 15"/>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0" name="TextBox 19"/>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Effectiveness</a:t>
            </a:r>
          </a:p>
          <a:p>
            <a:pPr algn="l">
              <a:spcAft>
                <a:spcPts val="300"/>
              </a:spcAft>
            </a:pPr>
            <a:r>
              <a:rPr sz="1200" b="0">
                <a:solidFill>
                  <a:srgbClr val="5B6372"/>
                </a:solidFill>
                <a:latin typeface="Arial"/>
              </a:rPr>
              <a:t>Clarity, comprehension, engagement, action, accuracy and accessibility.</a:t>
            </a:r>
          </a:p>
        </p:txBody>
      </p:sp>
      <p:sp>
        <p:nvSpPr>
          <p:cNvPr id="21" name="Rectangle 20"/>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5" name="TextBox 24"/>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Risk</a:t>
            </a:r>
          </a:p>
          <a:p>
            <a:pPr algn="l">
              <a:spcAft>
                <a:spcPts val="300"/>
              </a:spcAft>
            </a:pPr>
            <a:r>
              <a:rPr sz="1200" b="0">
                <a:solidFill>
                  <a:srgbClr val="5B6372"/>
                </a:solidFill>
                <a:latin typeface="Arial"/>
              </a:rPr>
              <a:t>Data handling, rights, lock-in, editability, continuity and auditability.</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119</a:t>
            </a:r>
          </a:p>
        </p:txBody>
      </p:sp>
      <p:sp>
        <p:nvSpPr>
          <p:cNvPr id="29" name="TextBox 28"/>
          <p:cNvSpPr txBox="1"/>
          <p:nvPr/>
        </p:nvSpPr>
        <p:spPr>
          <a:xfrm>
            <a:off x="777240" y="6163056"/>
            <a:ext cx="10607040" cy="201168"/>
          </a:xfrm>
          <a:prstGeom prst="rect">
            <a:avLst/>
          </a:prstGeom>
          <a:noFill/>
        </p:spPr>
        <p:txBody>
          <a:bodyPr wrap="square" anchor="t">
            <a:spAutoFit/>
          </a:bodyPr>
          <a:lstStyle/>
          <a:p>
            <a:pPr algn="l">
              <a:spcAft>
                <a:spcPts val="400"/>
              </a:spcAft>
            </a:pPr>
            <a:r>
              <a:rPr sz="850" b="0">
                <a:solidFill>
                  <a:srgbClr val="5B6372"/>
                </a:solidFill>
                <a:latin typeface="Arial"/>
              </a:rPr>
              <a:t>Source: course synthesis</a:t>
            </a:r>
          </a:p>
        </p:txBody>
      </p:sp>
    </p:spTree>
  </p:cSld>
  <p:clrMapOvr>
    <a:masterClrMapping/>
  </p:clrMapOvr>
  <p:transition spd="fast" advClick="1">
    <p:fade/>
  </p:transition>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LO3 · LU3 · T2 · HOW IT WORKS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Investment Decision Loop</a:t>
            </a:r>
          </a:p>
        </p:txBody>
      </p:sp>
      <p:sp>
        <p:nvSpPr>
          <p:cNvPr id="6" name="Rectangle 5"/>
          <p:cNvSpPr/>
          <p:nvPr/>
        </p:nvSpPr>
        <p:spPr>
          <a:xfrm>
            <a:off x="777240" y="2331720"/>
            <a:ext cx="1907438"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401775" y="2642616"/>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401775" y="264261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0" name="TextBox 9"/>
          <p:cNvSpPr txBox="1"/>
          <p:nvPr/>
        </p:nvSpPr>
        <p:spPr>
          <a:xfrm>
            <a:off x="905256" y="3429000"/>
            <a:ext cx="1651406" cy="365760"/>
          </a:xfrm>
          <a:prstGeom prst="rect">
            <a:avLst/>
          </a:prstGeom>
          <a:noFill/>
        </p:spPr>
        <p:txBody>
          <a:bodyPr wrap="square" anchor="t">
            <a:spAutoFit/>
          </a:bodyPr>
          <a:lstStyle/>
          <a:p>
            <a:pPr algn="ctr">
              <a:spcAft>
                <a:spcPts val="400"/>
              </a:spcAft>
            </a:pPr>
            <a:r>
              <a:rPr sz="1400" b="1">
                <a:solidFill>
                  <a:srgbClr val="161B26"/>
                </a:solidFill>
                <a:latin typeface="Arial"/>
              </a:rPr>
              <a:t>Need</a:t>
            </a:r>
          </a:p>
        </p:txBody>
      </p:sp>
      <p:sp>
        <p:nvSpPr>
          <p:cNvPr id="11" name="TextBox 10"/>
          <p:cNvSpPr txBox="1"/>
          <p:nvPr/>
        </p:nvSpPr>
        <p:spPr>
          <a:xfrm>
            <a:off x="905256" y="3813048"/>
            <a:ext cx="1651406" cy="1280160"/>
          </a:xfrm>
          <a:prstGeom prst="rect">
            <a:avLst/>
          </a:prstGeom>
          <a:noFill/>
        </p:spPr>
        <p:txBody>
          <a:bodyPr wrap="square" anchor="t">
            <a:spAutoFit/>
          </a:bodyPr>
          <a:lstStyle/>
          <a:p>
            <a:pPr algn="ctr">
              <a:spcAft>
                <a:spcPts val="400"/>
              </a:spcAft>
            </a:pPr>
            <a:r>
              <a:rPr sz="1250" b="0">
                <a:solidFill>
                  <a:srgbClr val="5B6372"/>
                </a:solidFill>
                <a:latin typeface="Arial"/>
              </a:rPr>
              <a:t>Define outputs, volume, users and business outcomes.</a:t>
            </a:r>
          </a:p>
        </p:txBody>
      </p:sp>
      <p:sp>
        <p:nvSpPr>
          <p:cNvPr id="12" name="Chevron 11"/>
          <p:cNvSpPr/>
          <p:nvPr/>
        </p:nvSpPr>
        <p:spPr>
          <a:xfrm>
            <a:off x="2702966" y="3607308"/>
            <a:ext cx="237744" cy="329184"/>
          </a:xfrm>
          <a:prstGeom prst="chevron">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958998" y="2331720"/>
            <a:ext cx="1907438"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58998" y="233172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83533" y="2642616"/>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83533" y="264261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7" name="TextBox 16"/>
          <p:cNvSpPr txBox="1"/>
          <p:nvPr/>
        </p:nvSpPr>
        <p:spPr>
          <a:xfrm>
            <a:off x="3087014" y="3429000"/>
            <a:ext cx="1651406" cy="365760"/>
          </a:xfrm>
          <a:prstGeom prst="rect">
            <a:avLst/>
          </a:prstGeom>
          <a:noFill/>
        </p:spPr>
        <p:txBody>
          <a:bodyPr wrap="square" anchor="t">
            <a:spAutoFit/>
          </a:bodyPr>
          <a:lstStyle/>
          <a:p>
            <a:pPr algn="ctr">
              <a:spcAft>
                <a:spcPts val="400"/>
              </a:spcAft>
            </a:pPr>
            <a:r>
              <a:rPr sz="1400" b="1">
                <a:solidFill>
                  <a:srgbClr val="161B26"/>
                </a:solidFill>
                <a:latin typeface="Arial"/>
              </a:rPr>
              <a:t>Compare</a:t>
            </a:r>
          </a:p>
        </p:txBody>
      </p:sp>
      <p:sp>
        <p:nvSpPr>
          <p:cNvPr id="18" name="TextBox 17"/>
          <p:cNvSpPr txBox="1"/>
          <p:nvPr/>
        </p:nvSpPr>
        <p:spPr>
          <a:xfrm>
            <a:off x="3087014" y="3813048"/>
            <a:ext cx="1651406" cy="1280160"/>
          </a:xfrm>
          <a:prstGeom prst="rect">
            <a:avLst/>
          </a:prstGeom>
          <a:noFill/>
        </p:spPr>
        <p:txBody>
          <a:bodyPr wrap="square" anchor="t">
            <a:spAutoFit/>
          </a:bodyPr>
          <a:lstStyle/>
          <a:p>
            <a:pPr algn="ctr">
              <a:spcAft>
                <a:spcPts val="400"/>
              </a:spcAft>
            </a:pPr>
            <a:r>
              <a:rPr sz="1250" b="0">
                <a:solidFill>
                  <a:srgbClr val="5B6372"/>
                </a:solidFill>
                <a:latin typeface="Arial"/>
              </a:rPr>
              <a:t>Score capability, cost, workflow and risk.</a:t>
            </a:r>
          </a:p>
        </p:txBody>
      </p:sp>
      <p:sp>
        <p:nvSpPr>
          <p:cNvPr id="19" name="Chevron 18"/>
          <p:cNvSpPr/>
          <p:nvPr/>
        </p:nvSpPr>
        <p:spPr>
          <a:xfrm>
            <a:off x="4884724" y="3607308"/>
            <a:ext cx="237744" cy="329184"/>
          </a:xfrm>
          <a:prstGeom prst="chevron">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40756" y="2331720"/>
            <a:ext cx="1907438"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140756" y="233172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765291" y="2642616"/>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765291" y="264261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4" name="TextBox 23"/>
          <p:cNvSpPr txBox="1"/>
          <p:nvPr/>
        </p:nvSpPr>
        <p:spPr>
          <a:xfrm>
            <a:off x="5268772" y="3429000"/>
            <a:ext cx="1651406" cy="365760"/>
          </a:xfrm>
          <a:prstGeom prst="rect">
            <a:avLst/>
          </a:prstGeom>
          <a:noFill/>
        </p:spPr>
        <p:txBody>
          <a:bodyPr wrap="square" anchor="t">
            <a:spAutoFit/>
          </a:bodyPr>
          <a:lstStyle/>
          <a:p>
            <a:pPr algn="ctr">
              <a:spcAft>
                <a:spcPts val="400"/>
              </a:spcAft>
            </a:pPr>
            <a:r>
              <a:rPr sz="1400" b="1">
                <a:solidFill>
                  <a:srgbClr val="161B26"/>
                </a:solidFill>
                <a:latin typeface="Arial"/>
              </a:rPr>
              <a:t>Pilot</a:t>
            </a:r>
          </a:p>
        </p:txBody>
      </p:sp>
      <p:sp>
        <p:nvSpPr>
          <p:cNvPr id="25" name="TextBox 24"/>
          <p:cNvSpPr txBox="1"/>
          <p:nvPr/>
        </p:nvSpPr>
        <p:spPr>
          <a:xfrm>
            <a:off x="5268772" y="3813048"/>
            <a:ext cx="1651406" cy="1280160"/>
          </a:xfrm>
          <a:prstGeom prst="rect">
            <a:avLst/>
          </a:prstGeom>
          <a:noFill/>
        </p:spPr>
        <p:txBody>
          <a:bodyPr wrap="square" anchor="t">
            <a:spAutoFit/>
          </a:bodyPr>
          <a:lstStyle/>
          <a:p>
            <a:pPr algn="ctr">
              <a:spcAft>
                <a:spcPts val="400"/>
              </a:spcAft>
            </a:pPr>
            <a:r>
              <a:rPr sz="1250" b="0">
                <a:solidFill>
                  <a:srgbClr val="5B6372"/>
                </a:solidFill>
                <a:latin typeface="Arial"/>
              </a:rPr>
              <a:t>Test the same brief in shortlisted workflows.</a:t>
            </a:r>
          </a:p>
        </p:txBody>
      </p:sp>
      <p:sp>
        <p:nvSpPr>
          <p:cNvPr id="26" name="Chevron 25"/>
          <p:cNvSpPr/>
          <p:nvPr/>
        </p:nvSpPr>
        <p:spPr>
          <a:xfrm>
            <a:off x="7066482" y="3607308"/>
            <a:ext cx="237744" cy="329184"/>
          </a:xfrm>
          <a:prstGeom prst="chevron">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322514" y="2331720"/>
            <a:ext cx="1907438"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22514" y="233172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947049" y="2642616"/>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947049" y="264261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1" name="TextBox 30"/>
          <p:cNvSpPr txBox="1"/>
          <p:nvPr/>
        </p:nvSpPr>
        <p:spPr>
          <a:xfrm>
            <a:off x="7450530" y="3429000"/>
            <a:ext cx="1651406" cy="365760"/>
          </a:xfrm>
          <a:prstGeom prst="rect">
            <a:avLst/>
          </a:prstGeom>
          <a:noFill/>
        </p:spPr>
        <p:txBody>
          <a:bodyPr wrap="square" anchor="t">
            <a:spAutoFit/>
          </a:bodyPr>
          <a:lstStyle/>
          <a:p>
            <a:pPr algn="ctr">
              <a:spcAft>
                <a:spcPts val="400"/>
              </a:spcAft>
            </a:pPr>
            <a:r>
              <a:rPr sz="1400" b="1">
                <a:solidFill>
                  <a:srgbClr val="161B26"/>
                </a:solidFill>
                <a:latin typeface="Arial"/>
              </a:rPr>
              <a:t>Measure</a:t>
            </a:r>
          </a:p>
        </p:txBody>
      </p:sp>
      <p:sp>
        <p:nvSpPr>
          <p:cNvPr id="32" name="TextBox 31"/>
          <p:cNvSpPr txBox="1"/>
          <p:nvPr/>
        </p:nvSpPr>
        <p:spPr>
          <a:xfrm>
            <a:off x="7450530" y="3813048"/>
            <a:ext cx="1651406" cy="1280160"/>
          </a:xfrm>
          <a:prstGeom prst="rect">
            <a:avLst/>
          </a:prstGeom>
          <a:noFill/>
        </p:spPr>
        <p:txBody>
          <a:bodyPr wrap="square" anchor="t">
            <a:spAutoFit/>
          </a:bodyPr>
          <a:lstStyle/>
          <a:p>
            <a:pPr algn="ctr">
              <a:spcAft>
                <a:spcPts val="400"/>
              </a:spcAft>
            </a:pPr>
            <a:r>
              <a:rPr sz="1250" b="0">
                <a:solidFill>
                  <a:srgbClr val="5B6372"/>
                </a:solidFill>
                <a:latin typeface="Arial"/>
              </a:rPr>
              <a:t>Collect quality, time, adoption and outcome evidence.</a:t>
            </a:r>
          </a:p>
        </p:txBody>
      </p:sp>
      <p:sp>
        <p:nvSpPr>
          <p:cNvPr id="33" name="Chevron 32"/>
          <p:cNvSpPr/>
          <p:nvPr/>
        </p:nvSpPr>
        <p:spPr>
          <a:xfrm>
            <a:off x="9248240" y="3607308"/>
            <a:ext cx="237744" cy="329184"/>
          </a:xfrm>
          <a:prstGeom prst="chevron">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504272" y="2331720"/>
            <a:ext cx="1907438"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504272" y="233172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0128807" y="2642616"/>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128807" y="264261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8" name="TextBox 37"/>
          <p:cNvSpPr txBox="1"/>
          <p:nvPr/>
        </p:nvSpPr>
        <p:spPr>
          <a:xfrm>
            <a:off x="9632288" y="3429000"/>
            <a:ext cx="1651406" cy="365760"/>
          </a:xfrm>
          <a:prstGeom prst="rect">
            <a:avLst/>
          </a:prstGeom>
          <a:noFill/>
        </p:spPr>
        <p:txBody>
          <a:bodyPr wrap="square" anchor="t">
            <a:spAutoFit/>
          </a:bodyPr>
          <a:lstStyle/>
          <a:p>
            <a:pPr algn="ctr">
              <a:spcAft>
                <a:spcPts val="400"/>
              </a:spcAft>
            </a:pPr>
            <a:r>
              <a:rPr sz="1400" b="1">
                <a:solidFill>
                  <a:srgbClr val="161B26"/>
                </a:solidFill>
                <a:latin typeface="Arial"/>
              </a:rPr>
              <a:t>Decide</a:t>
            </a:r>
          </a:p>
        </p:txBody>
      </p:sp>
      <p:sp>
        <p:nvSpPr>
          <p:cNvPr id="39" name="TextBox 38"/>
          <p:cNvSpPr txBox="1"/>
          <p:nvPr/>
        </p:nvSpPr>
        <p:spPr>
          <a:xfrm>
            <a:off x="9632288" y="3813048"/>
            <a:ext cx="1651406" cy="1280160"/>
          </a:xfrm>
          <a:prstGeom prst="rect">
            <a:avLst/>
          </a:prstGeom>
          <a:noFill/>
        </p:spPr>
        <p:txBody>
          <a:bodyPr wrap="square" anchor="t">
            <a:spAutoFit/>
          </a:bodyPr>
          <a:lstStyle/>
          <a:p>
            <a:pPr algn="ctr">
              <a:spcAft>
                <a:spcPts val="400"/>
              </a:spcAft>
            </a:pPr>
            <a:r>
              <a:rPr sz="1250" b="0">
                <a:solidFill>
                  <a:srgbClr val="5B6372"/>
                </a:solidFill>
                <a:latin typeface="Arial"/>
              </a:rPr>
              <a:t>Recommend tools, budget, controls and review date.</a:t>
            </a:r>
          </a:p>
        </p:txBody>
      </p:sp>
      <p:sp>
        <p:nvSpPr>
          <p:cNvPr id="40" name="TextBox 3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41" name="TextBox 4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2" name="TextBox 4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120</a:t>
            </a:r>
          </a:p>
        </p:txBody>
      </p:sp>
    </p:spTree>
  </p:cSld>
  <p:clrMapOvr>
    <a:masterClrMapping/>
  </p:clrMapOvr>
  <p:transition spd="fast" advClick="1">
    <p:fade/>
  </p:transition>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LO3 · LU3 · T2 · COMPARE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Low Price vs Low Total Cost</a:t>
            </a:r>
          </a:p>
        </p:txBody>
      </p:sp>
      <p:sp>
        <p:nvSpPr>
          <p:cNvPr id="6" name="Rectangle 5"/>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Licence-only view</a:t>
            </a:r>
          </a:p>
        </p:txBody>
      </p:sp>
      <p:sp>
        <p:nvSpPr>
          <p:cNvPr id="9" name="TextBox 8"/>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Total-resource view</a:t>
            </a:r>
          </a:p>
        </p:txBody>
      </p:sp>
      <p:sp>
        <p:nvSpPr>
          <p:cNvPr id="10" name="TextBox 9"/>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Monthly fee</a:t>
            </a:r>
          </a:p>
          <a:p>
            <a:pPr>
              <a:spcAft>
                <a:spcPts val="1000"/>
              </a:spcAft>
            </a:pPr>
            <a:r>
              <a:rPr sz="1600" b="0">
                <a:solidFill>
                  <a:srgbClr val="161B26"/>
                </a:solidFill>
                <a:latin typeface="Arial"/>
              </a:rPr>
              <a:t>•  Template count</a:t>
            </a:r>
          </a:p>
          <a:p>
            <a:pPr>
              <a:spcAft>
                <a:spcPts val="1000"/>
              </a:spcAft>
            </a:pPr>
            <a:r>
              <a:rPr sz="1600" b="0">
                <a:solidFill>
                  <a:srgbClr val="161B26"/>
                </a:solidFill>
                <a:latin typeface="Arial"/>
              </a:rPr>
              <a:t>•  AI generation speed</a:t>
            </a:r>
          </a:p>
          <a:p>
            <a:pPr>
              <a:spcAft>
                <a:spcPts val="1000"/>
              </a:spcAft>
            </a:pPr>
            <a:r>
              <a:rPr sz="1600" b="0">
                <a:solidFill>
                  <a:srgbClr val="161B26"/>
                </a:solidFill>
                <a:latin typeface="Arial"/>
              </a:rPr>
              <a:t>•  Headline export feature</a:t>
            </a:r>
          </a:p>
        </p:txBody>
      </p:sp>
      <p:sp>
        <p:nvSpPr>
          <p:cNvPr id="11" name="TextBox 10"/>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161B26"/>
                </a:solidFill>
                <a:latin typeface="Arial"/>
              </a:rPr>
              <a:t>•  Licence + learning + review + maintenance</a:t>
            </a:r>
          </a:p>
          <a:p>
            <a:pPr>
              <a:spcAft>
                <a:spcPts val="1000"/>
              </a:spcAft>
            </a:pPr>
            <a:r>
              <a:rPr sz="1600" b="0">
                <a:solidFill>
                  <a:srgbClr val="161B26"/>
                </a:solidFill>
                <a:latin typeface="Arial"/>
              </a:rPr>
              <a:t>•  Brand and accessibility control</a:t>
            </a:r>
          </a:p>
          <a:p>
            <a:pPr>
              <a:spcAft>
                <a:spcPts val="1000"/>
              </a:spcAft>
            </a:pPr>
            <a:r>
              <a:rPr sz="1600" b="0">
                <a:solidFill>
                  <a:srgbClr val="161B26"/>
                </a:solidFill>
                <a:latin typeface="Arial"/>
              </a:rPr>
              <a:t>•  Editability and collaboration</a:t>
            </a:r>
          </a:p>
          <a:p>
            <a:pPr>
              <a:spcAft>
                <a:spcPts val="1000"/>
              </a:spcAft>
            </a:pPr>
            <a:r>
              <a:rPr sz="1600" b="0">
                <a:solidFill>
                  <a:srgbClr val="161B26"/>
                </a:solidFill>
                <a:latin typeface="Arial"/>
              </a:rPr>
              <a:t>•  Governance, continuity and rework risk</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121</a:t>
            </a:r>
          </a:p>
        </p:txBody>
      </p:sp>
      <p:sp>
        <p:nvSpPr>
          <p:cNvPr id="15" name="TextBox 14"/>
          <p:cNvSpPr txBox="1"/>
          <p:nvPr/>
        </p:nvSpPr>
        <p:spPr>
          <a:xfrm>
            <a:off x="777240" y="6163056"/>
            <a:ext cx="10607040" cy="201168"/>
          </a:xfrm>
          <a:prstGeom prst="rect">
            <a:avLst/>
          </a:prstGeom>
          <a:noFill/>
        </p:spPr>
        <p:txBody>
          <a:bodyPr wrap="square" anchor="t">
            <a:spAutoFit/>
          </a:bodyPr>
          <a:lstStyle/>
          <a:p>
            <a:pPr algn="l">
              <a:spcAft>
                <a:spcPts val="400"/>
              </a:spcAft>
            </a:pPr>
            <a:r>
              <a:rPr sz="850" b="0">
                <a:solidFill>
                  <a:srgbClr val="5B6372"/>
                </a:solidFill>
                <a:latin typeface="Arial"/>
              </a:rPr>
              <a:t>Source: course synthesis</a:t>
            </a:r>
          </a:p>
        </p:txBody>
      </p:sp>
    </p:spTree>
  </p:cSld>
  <p:clrMapOvr>
    <a:masterClrMapping/>
  </p:clrMapOvr>
  <p:transition spd="fast" advClick="1">
    <p:fade/>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350"/>
                                        <p:tgtEl>
                                          <p:spTgt spid="10"/>
                                        </p:tgtEl>
                                      </p:cBhvr>
                                    </p:animEffect>
                                    <p:anim calcmode="lin" valueType="num">
                                      <p:cBhvr additive="base">
                                        <p:cTn id="15" dur="350" fill="hold"/>
                                        <p:tgtEl>
                                          <p:spTgt spid="10"/>
                                        </p:tgtEl>
                                        <p:attrNameLst>
                                          <p:attrName>ppt_y</p:attrName>
                                        </p:attrNameLst>
                                      </p:cBhvr>
                                      <p:tavLst>
                                        <p:tav tm="0">
                                          <p:val>
                                            <p:strVal val="#ppt_y+0.0350"/>
                                          </p:val>
                                        </p:tav>
                                        <p:tav tm="100000">
                                          <p:val>
                                            <p:strVal val="#ppt_y"/>
                                          </p:val>
                                        </p:tav>
                                      </p:tavLst>
                                    </p:anim>
                                  </p:childTnLst>
                                </p:cTn>
                              </p:par>
                            </p:childTnLst>
                          </p:cTn>
                        </p:par>
                      </p:childTnLst>
                    </p:cTn>
                  </p:par>
                  <p:par>
                    <p:cTn id="20" fill="hold">
                      <p:stCondLst>
                        <p:cond delay="0"/>
                      </p:stCondLst>
                      <p:childTnLst>
                        <p:par>
                          <p:cTn id="21" fill="hold">
                            <p:stCondLst>
                              <p:cond delay="0"/>
                            </p:stCondLst>
                            <p:childTnLst>
                              <p:par>
                                <p:cTn id="22" presetID="10" presetClass="entr" presetSubtype="0" fill="hold" grpId="0" nodeType="afterEffect">
                                  <p:stCondLst>
                                    <p:cond delay="0"/>
                                  </p:stCondLst>
                                  <p:childTnLst>
                                    <p:set>
                                      <p:cBhvr>
                                        <p:cTn id="23" dur="1" fill="hold">
                                          <p:stCondLst>
                                            <p:cond delay="0"/>
                                          </p:stCondLst>
                                        </p:cTn>
                                        <p:tgtEl>
                                          <p:spTgt spid="11"/>
                                        </p:tgtEl>
                                        <p:attrNameLst>
                                          <p:attrName>style.visibility</p:attrName>
                                        </p:attrNameLst>
                                      </p:cBhvr>
                                      <p:to>
                                        <p:strVal val="visible"/>
                                      </p:to>
                                    </p:set>
                                    <p:animEffect transition="in" filter="fade">
                                      <p:cBhvr>
                                        <p:cTn id="24" dur="350"/>
                                        <p:tgtEl>
                                          <p:spTgt spid="11"/>
                                        </p:tgtEl>
                                      </p:cBhvr>
                                    </p:animEffect>
                                    <p:anim calcmode="lin" valueType="num">
                                      <p:cBhvr additive="base">
                                        <p:cTn id="25" dur="350" fill="hold"/>
                                        <p:tgtEl>
                                          <p:spTgt spid="11"/>
                                        </p:tgtEl>
                                        <p:attrNameLst>
                                          <p:attrName>ppt_y</p:attrName>
                                        </p:attrNameLst>
                                      </p:cBhvr>
                                      <p:tavLst>
                                        <p:tav tm="0">
                                          <p:val>
                                            <p:strVal val="#ppt_y+0.0350"/>
                                          </p:val>
                                        </p:tav>
                                        <p:tav tm="100000">
                                          <p:val>
                                            <p:strVal val="#ppt_y"/>
                                          </p:val>
                                        </p:tav>
                                      </p:tavLst>
                                    </p:anim>
                                  </p:childTnLst>
                                </p:cTn>
                              </p:par>
                            </p:childTnLst>
                          </p:cTn>
                        </p:par>
                      </p:childTnLst>
                    </p:cTn>
                  </p:par>
                </p:childTnLst>
                <p:prevCondLst>
                  <p:cond evt="onPrev" delay="0">
                    <p:tgtEl>
                      <p:sldTgt/>
                    </p:tgtEl>
                  </p:cond>
                </p:prevCondLst>
                <p:nextCondLst>
                  <p:cond evt="onNext" delay="0">
                    <p:tgtEl>
                      <p:sldTgt/>
                    </p:tgtEl>
                  </p:cond>
                </p:nextCondLst>
              </p:cTn>
            </p:seq>
          </p:childTnLst>
        </p:cTn>
      </p:par>
    </p:tnLst>
  </p:timing>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LO3 · LU3 · T2 · SUPPORTING DATA</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Tool Investment Scorecard</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0" name="TextBox 9"/>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35%</a:t>
            </a:r>
          </a:p>
          <a:p>
            <a:pPr algn="l">
              <a:spcAft>
                <a:spcPts val="300"/>
              </a:spcAft>
            </a:pPr>
            <a:r>
              <a:rPr sz="1200" b="0">
                <a:solidFill>
                  <a:srgbClr val="5B6372"/>
                </a:solidFill>
                <a:latin typeface="Arial"/>
              </a:rPr>
              <a:t>Message and data effectiveness</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5" name="TextBox 14"/>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20%</a:t>
            </a:r>
          </a:p>
          <a:p>
            <a:pPr algn="l">
              <a:spcAft>
                <a:spcPts val="300"/>
              </a:spcAft>
            </a:pPr>
            <a:r>
              <a:rPr sz="1200" b="0">
                <a:solidFill>
                  <a:srgbClr val="5B6372"/>
                </a:solidFill>
                <a:latin typeface="Arial"/>
              </a:rPr>
              <a:t>Editability and workflow fit</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0" name="TextBox 19"/>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15%</a:t>
            </a:r>
          </a:p>
          <a:p>
            <a:pPr algn="l">
              <a:spcAft>
                <a:spcPts val="300"/>
              </a:spcAft>
            </a:pPr>
            <a:r>
              <a:rPr sz="1200" b="0">
                <a:solidFill>
                  <a:srgbClr val="5B6372"/>
                </a:solidFill>
                <a:latin typeface="Arial"/>
              </a:rPr>
              <a:t>Brand and accessibility control</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5" name="TextBox 24"/>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15%</a:t>
            </a:r>
          </a:p>
          <a:p>
            <a:pPr algn="l">
              <a:spcAft>
                <a:spcPts val="300"/>
              </a:spcAft>
            </a:pPr>
            <a:r>
              <a:rPr sz="1200" b="0">
                <a:solidFill>
                  <a:srgbClr val="5B6372"/>
                </a:solidFill>
                <a:latin typeface="Arial"/>
              </a:rPr>
              <a:t>Privacy, rights and governance</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0" name="TextBox 29"/>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15%</a:t>
            </a:r>
          </a:p>
          <a:p>
            <a:pPr algn="l">
              <a:spcAft>
                <a:spcPts val="300"/>
              </a:spcAft>
            </a:pPr>
            <a:r>
              <a:rPr sz="1200" b="0">
                <a:solidFill>
                  <a:srgbClr val="5B6372"/>
                </a:solidFill>
                <a:latin typeface="Arial"/>
              </a:rPr>
              <a:t>Total resource cost</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5" name="TextBox 34"/>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Gate</a:t>
            </a:r>
          </a:p>
          <a:p>
            <a:pPr algn="l">
              <a:spcAft>
                <a:spcPts val="300"/>
              </a:spcAft>
            </a:pPr>
            <a:r>
              <a:rPr sz="1200" b="0">
                <a:solidFill>
                  <a:srgbClr val="5B6372"/>
                </a:solidFill>
                <a:latin typeface="Arial"/>
              </a:rPr>
              <a:t>No option passes with unverified data or public answer-key risk</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122</a:t>
            </a:r>
          </a:p>
        </p:txBody>
      </p:sp>
      <p:sp>
        <p:nvSpPr>
          <p:cNvPr id="39" name="TextBox 38"/>
          <p:cNvSpPr txBox="1"/>
          <p:nvPr/>
        </p:nvSpPr>
        <p:spPr>
          <a:xfrm>
            <a:off x="777240" y="6163056"/>
            <a:ext cx="10607040" cy="201168"/>
          </a:xfrm>
          <a:prstGeom prst="rect">
            <a:avLst/>
          </a:prstGeom>
          <a:noFill/>
        </p:spPr>
        <p:txBody>
          <a:bodyPr wrap="square" anchor="t">
            <a:spAutoFit/>
          </a:bodyPr>
          <a:lstStyle/>
          <a:p>
            <a:pPr algn="l">
              <a:spcAft>
                <a:spcPts val="400"/>
              </a:spcAft>
            </a:pPr>
            <a:r>
              <a:rPr sz="850" b="0">
                <a:solidFill>
                  <a:srgbClr val="5B6372"/>
                </a:solidFill>
                <a:latin typeface="Arial"/>
              </a:rPr>
              <a:t>Source: illustrative synthetic data</a:t>
            </a:r>
          </a:p>
        </p:txBody>
      </p:sp>
    </p:spTree>
  </p:cSld>
  <p:clrMapOvr>
    <a:masterClrMapping/>
  </p:clrMapOvr>
  <p:transition spd="fast" advClick="1">
    <p:fade/>
  </p:transition>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LO3 · LU3 · T2 · ACTIVITY 8</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Create a Resource Scorecard Infographic</a:t>
            </a:r>
          </a:p>
        </p:txBody>
      </p:sp>
      <p:sp>
        <p:nvSpPr>
          <p:cNvPr id="6" name="Rectangle 5"/>
          <p:cNvSpPr/>
          <p:nvPr/>
        </p:nvSpPr>
        <p:spPr>
          <a:xfrm>
            <a:off x="777240" y="1691640"/>
            <a:ext cx="169164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28216"/>
            <a:ext cx="1691640" cy="365760"/>
          </a:xfrm>
          <a:prstGeom prst="rect">
            <a:avLst/>
          </a:prstGeom>
          <a:noFill/>
        </p:spPr>
        <p:txBody>
          <a:bodyPr wrap="square" anchor="t">
            <a:spAutoFit/>
          </a:bodyPr>
          <a:lstStyle/>
          <a:p>
            <a:pPr algn="ctr">
              <a:spcAft>
                <a:spcPts val="400"/>
              </a:spcAft>
            </a:pPr>
            <a:r>
              <a:rPr sz="1300" b="1">
                <a:solidFill>
                  <a:srgbClr val="FFFFFF"/>
                </a:solidFill>
                <a:latin typeface="Arial"/>
              </a:rPr>
              <a:t>CASE STUDY</a:t>
            </a:r>
          </a:p>
        </p:txBody>
      </p:sp>
      <p:sp>
        <p:nvSpPr>
          <p:cNvPr id="8" name="Rectangle 7"/>
          <p:cNvSpPr/>
          <p:nvPr/>
        </p:nvSpPr>
        <p:spPr>
          <a:xfrm>
            <a:off x="777240" y="2286000"/>
            <a:ext cx="1063447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286000"/>
            <a:ext cx="91440" cy="28803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2487168"/>
            <a:ext cx="9966960" cy="320040"/>
          </a:xfrm>
          <a:prstGeom prst="rect">
            <a:avLst/>
          </a:prstGeom>
          <a:noFill/>
        </p:spPr>
        <p:txBody>
          <a:bodyPr wrap="square" anchor="t">
            <a:spAutoFit/>
          </a:bodyPr>
          <a:lstStyle/>
          <a:p>
            <a:pPr algn="l">
              <a:spcAft>
                <a:spcPts val="400"/>
              </a:spcAft>
            </a:pPr>
            <a:r>
              <a:rPr sz="1200" b="1">
                <a:solidFill>
                  <a:srgbClr val="10B981"/>
                </a:solidFill>
                <a:latin typeface="Arial"/>
              </a:rPr>
              <a:t>THE SITUATION</a:t>
            </a:r>
          </a:p>
        </p:txBody>
      </p:sp>
      <p:sp>
        <p:nvSpPr>
          <p:cNvPr id="11" name="TextBox 10"/>
          <p:cNvSpPr txBox="1"/>
          <p:nvPr/>
        </p:nvSpPr>
        <p:spPr>
          <a:xfrm>
            <a:off x="1097280" y="2834640"/>
            <a:ext cx="10058400" cy="2240280"/>
          </a:xfrm>
          <a:prstGeom prst="rect">
            <a:avLst/>
          </a:prstGeom>
          <a:noFill/>
        </p:spPr>
        <p:txBody>
          <a:bodyPr wrap="square" anchor="t">
            <a:spAutoFit/>
          </a:bodyPr>
          <a:lstStyle/>
          <a:p>
            <a:pPr algn="l">
              <a:spcAft>
                <a:spcPts val="800"/>
              </a:spcAft>
            </a:pPr>
            <a:r>
              <a:rPr sz="1450" b="0">
                <a:solidFill>
                  <a:srgbClr val="161B26"/>
                </a:solidFill>
                <a:latin typeface="Arial"/>
              </a:rPr>
              <a:t>Northstar can fund one standard workflow for 12 staff. Options include PowerPoint templates only, PowerPoint with Microsoft 365 Copilot, a Copilot-first governed workflow, or a mixed approved workflow with PowerPoint as the controlled final-production layer.</a:t>
            </a:r>
          </a:p>
          <a:p>
            <a:pPr algn="l">
              <a:spcAft>
                <a:spcPts val="800"/>
              </a:spcAft>
            </a:pPr>
            <a:r>
              <a:rPr sz="1450" b="0">
                <a:solidFill>
                  <a:srgbClr val="161B26"/>
                </a:solidFill>
                <a:latin typeface="Arial"/>
              </a:rPr>
              <a:t>Use the supplied budget workbook and effectiveness evidence to recommend a 12-month tool, training and governance plan aligned with business outcomes.</a:t>
            </a:r>
          </a:p>
        </p:txBody>
      </p:sp>
      <p:sp>
        <p:nvSpPr>
          <p:cNvPr id="12" name="Rectangle 11"/>
          <p:cNvSpPr/>
          <p:nvPr/>
        </p:nvSpPr>
        <p:spPr>
          <a:xfrm>
            <a:off x="777240" y="5349240"/>
            <a:ext cx="10634472" cy="68580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5349240"/>
            <a:ext cx="7315200" cy="685800"/>
          </a:xfrm>
          <a:prstGeom prst="rect">
            <a:avLst/>
          </a:prstGeom>
          <a:noFill/>
        </p:spPr>
        <p:txBody>
          <a:bodyPr wrap="square" anchor="ctr">
            <a:spAutoFit/>
          </a:bodyPr>
          <a:lstStyle/>
          <a:p>
            <a:pPr algn="l">
              <a:spcAft>
                <a:spcPts val="400"/>
              </a:spcAft>
            </a:pPr>
            <a:r>
              <a:rPr sz="1300" b="1">
                <a:solidFill>
                  <a:srgbClr val="1F6FEB"/>
                </a:solidFill>
                <a:latin typeface="Arial"/>
              </a:rPr>
              <a:t>You'll produce:  </a:t>
            </a:r>
            <a:r>
              <a:rPr sz="1300" b="0">
                <a:solidFill>
                  <a:srgbClr val="161B26"/>
                </a:solidFill>
                <a:latin typeface="Arial"/>
              </a:rPr>
              <a:t>A weighted resource-scorecard infographic and one-page workflow recommendation</a:t>
            </a:r>
          </a:p>
        </p:txBody>
      </p:sp>
      <p:sp>
        <p:nvSpPr>
          <p:cNvPr id="14" name="TextBox 13"/>
          <p:cNvSpPr txBox="1"/>
          <p:nvPr/>
        </p:nvSpPr>
        <p:spPr>
          <a:xfrm>
            <a:off x="8778240" y="5349240"/>
            <a:ext cx="2606040" cy="685800"/>
          </a:xfrm>
          <a:prstGeom prst="rect">
            <a:avLst/>
          </a:prstGeom>
          <a:noFill/>
        </p:spPr>
        <p:txBody>
          <a:bodyPr wrap="square" anchor="ctr">
            <a:spAutoFit/>
          </a:bodyPr>
          <a:lstStyle/>
          <a:p>
            <a:pPr algn="r">
              <a:spcAft>
                <a:spcPts val="400"/>
              </a:spcAft>
            </a:pPr>
            <a:r>
              <a:rPr sz="1300" b="1">
                <a:solidFill>
                  <a:srgbClr val="5B6372"/>
                </a:solidFill>
                <a:latin typeface="Arial"/>
              </a:rPr>
              <a:t>Duration: </a:t>
            </a:r>
            <a:r>
              <a:rPr sz="1300" b="0">
                <a:solidFill>
                  <a:srgbClr val="5B6372"/>
                </a:solidFill>
                <a:latin typeface="Arial"/>
              </a:rPr>
              <a:t>30 minutes</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123</a:t>
            </a:r>
          </a:p>
        </p:txBody>
      </p:sp>
    </p:spTree>
  </p:cSld>
  <p:clrMapOvr>
    <a:masterClrMapping/>
  </p:clrMapOvr>
  <p:transition spd="fast" advClick="1">
    <p:wipe dir="l"/>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8"/>
                                        </p:tgtEl>
                                        <p:attrNameLst>
                                          <p:attrName>style.visibility</p:attrName>
                                        </p:attrNameLst>
                                      </p:cBhvr>
                                      <p:to>
                                        <p:strVal val="visible"/>
                                      </p:to>
                                    </p:set>
                                    <p:animEffect transition="in" filter="fade">
                                      <p:cBhvr>
                                        <p:cTn id="14" dur="350"/>
                                        <p:tgtEl>
                                          <p:spTgt spid="8"/>
                                        </p:tgtEl>
                                      </p:cBhvr>
                                    </p:animEffect>
                                    <p:anim calcmode="lin" valueType="num">
                                      <p:cBhvr additive="base">
                                        <p:cTn id="15" dur="350" fill="hold"/>
                                        <p:tgtEl>
                                          <p:spTgt spid="8"/>
                                        </p:tgtEl>
                                        <p:attrNameLst>
                                          <p:attrName>ppt_y</p:attrName>
                                        </p:attrNameLst>
                                      </p:cBhvr>
                                      <p:tavLst>
                                        <p:tav tm="0">
                                          <p:val>
                                            <p:strVal val="#ppt_y+0.0350"/>
                                          </p:val>
                                        </p:tav>
                                        <p:tav tm="100000">
                                          <p:val>
                                            <p:strVal val="#ppt_y"/>
                                          </p:val>
                                        </p:tav>
                                      </p:tavLst>
                                    </p:anim>
                                  </p:childTnLst>
                                </p:cTn>
                              </p:par>
                            </p:childTnLst>
                          </p:cTn>
                        </p:par>
                      </p:childTnLst>
                    </p:cTn>
                  </p:par>
                  <p:par>
                    <p:cTn id="20" fill="hold">
                      <p:stCondLst>
                        <p:cond delay="0"/>
                      </p:stCondLst>
                      <p:childTnLst>
                        <p:par>
                          <p:cTn id="21" fill="hold">
                            <p:stCondLst>
                              <p:cond delay="0"/>
                            </p:stCondLst>
                            <p:childTnLst>
                              <p:par>
                                <p:cTn id="22" presetID="10" presetClass="entr" presetSubtype="0" fill="hold" grpId="0" nodeType="after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350"/>
                                        <p:tgtEl>
                                          <p:spTgt spid="9"/>
                                        </p:tgtEl>
                                      </p:cBhvr>
                                    </p:animEffect>
                                    <p:anim calcmode="lin" valueType="num">
                                      <p:cBhvr additive="base">
                                        <p:cTn id="25" dur="350" fill="hold"/>
                                        <p:tgtEl>
                                          <p:spTgt spid="9"/>
                                        </p:tgtEl>
                                        <p:attrNameLst>
                                          <p:attrName>ppt_y</p:attrName>
                                        </p:attrNameLst>
                                      </p:cBhvr>
                                      <p:tavLst>
                                        <p:tav tm="0">
                                          <p:val>
                                            <p:strVal val="#ppt_y+0.0350"/>
                                          </p:val>
                                        </p:tav>
                                        <p:tav tm="100000">
                                          <p:val>
                                            <p:strVal val="#ppt_y"/>
                                          </p:val>
                                        </p:tav>
                                      </p:tavLst>
                                    </p:anim>
                                  </p:childTnLst>
                                </p:cTn>
                              </p:par>
                            </p:childTnLst>
                          </p:cTn>
                        </p:par>
                      </p:childTnLst>
                    </p:cTn>
                  </p:par>
                  <p:par>
                    <p:cTn id="30" fill="hold">
                      <p:stCondLst>
                        <p:cond delay="0"/>
                      </p:stCondLst>
                      <p:childTnLst>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350"/>
                                        <p:tgtEl>
                                          <p:spTgt spid="11"/>
                                        </p:tgtEl>
                                      </p:cBhvr>
                                    </p:animEffect>
                                    <p:anim calcmode="lin" valueType="num">
                                      <p:cBhvr additive="base">
                                        <p:cTn id="35" dur="350" fill="hold"/>
                                        <p:tgtEl>
                                          <p:spTgt spid="11"/>
                                        </p:tgtEl>
                                        <p:attrNameLst>
                                          <p:attrName>ppt_y</p:attrName>
                                        </p:attrNameLst>
                                      </p:cBhvr>
                                      <p:tavLst>
                                        <p:tav tm="0">
                                          <p:val>
                                            <p:strVal val="#ppt_y+0.0350"/>
                                          </p:val>
                                        </p:tav>
                                        <p:tav tm="100000">
                                          <p:val>
                                            <p:strVal val="#ppt_y"/>
                                          </p:val>
                                        </p:tav>
                                      </p:tavLst>
                                    </p:anim>
                                  </p:childTnLst>
                                </p:cTn>
                              </p:par>
                            </p:childTnLst>
                          </p:cTn>
                        </p:par>
                      </p:childTnLst>
                    </p:cTn>
                  </p:par>
                  <p:par>
                    <p:cTn id="40" fill="hold">
                      <p:stCondLst>
                        <p:cond delay="0"/>
                      </p:stCondLst>
                      <p:childTnLst>
                        <p:par>
                          <p:cTn id="41" fill="hold">
                            <p:stCondLst>
                              <p:cond delay="0"/>
                            </p:stCondLst>
                            <p:childTnLst>
                              <p:par>
                                <p:cTn id="42" presetID="10" presetClass="entr" presetSubtype="0" fill="hold" grpId="0" nodeType="afterEffect">
                                  <p:stCondLst>
                                    <p:cond delay="0"/>
                                  </p:stCondLst>
                                  <p:childTnLst>
                                    <p:set>
                                      <p:cBhvr>
                                        <p:cTn id="43" dur="1" fill="hold">
                                          <p:stCondLst>
                                            <p:cond delay="0"/>
                                          </p:stCondLst>
                                        </p:cTn>
                                        <p:tgtEl>
                                          <p:spTgt spid="12"/>
                                        </p:tgtEl>
                                        <p:attrNameLst>
                                          <p:attrName>style.visibility</p:attrName>
                                        </p:attrNameLst>
                                      </p:cBhvr>
                                      <p:to>
                                        <p:strVal val="visible"/>
                                      </p:to>
                                    </p:set>
                                    <p:animEffect transition="in" filter="fade">
                                      <p:cBhvr>
                                        <p:cTn id="44" dur="350"/>
                                        <p:tgtEl>
                                          <p:spTgt spid="12"/>
                                        </p:tgtEl>
                                      </p:cBhvr>
                                    </p:animEffect>
                                    <p:anim calcmode="lin" valueType="num">
                                      <p:cBhvr additive="base">
                                        <p:cTn id="45" dur="350" fill="hold"/>
                                        <p:tgtEl>
                                          <p:spTgt spid="12"/>
                                        </p:tgtEl>
                                        <p:attrNameLst>
                                          <p:attrName>ppt_y</p:attrName>
                                        </p:attrNameLst>
                                      </p:cBhvr>
                                      <p:tavLst>
                                        <p:tav tm="0">
                                          <p:val>
                                            <p:strVal val="#ppt_y+0.0350"/>
                                          </p:val>
                                        </p:tav>
                                        <p:tav tm="100000">
                                          <p:val>
                                            <p:strVal val="#ppt_y"/>
                                          </p:val>
                                        </p:tav>
                                      </p:tavLst>
                                    </p:anim>
                                  </p:childTnLst>
                                </p:cTn>
                              </p:par>
                            </p:childTnLst>
                          </p:cTn>
                        </p:par>
                      </p:childTnLst>
                    </p:cTn>
                  </p:par>
                  <p:par>
                    <p:cTn id="50" fill="hold">
                      <p:stCondLst>
                        <p:cond delay="0"/>
                      </p:stCondLst>
                      <p:childTnLst>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3"/>
                                        </p:tgtEl>
                                        <p:attrNameLst>
                                          <p:attrName>style.visibility</p:attrName>
                                        </p:attrNameLst>
                                      </p:cBhvr>
                                      <p:to>
                                        <p:strVal val="visible"/>
                                      </p:to>
                                    </p:set>
                                    <p:animEffect transition="in" filter="fade">
                                      <p:cBhvr>
                                        <p:cTn id="54" dur="350"/>
                                        <p:tgtEl>
                                          <p:spTgt spid="13"/>
                                        </p:tgtEl>
                                      </p:cBhvr>
                                    </p:animEffect>
                                    <p:anim calcmode="lin" valueType="num">
                                      <p:cBhvr additive="base">
                                        <p:cTn id="55" dur="350" fill="hold"/>
                                        <p:tgtEl>
                                          <p:spTgt spid="13"/>
                                        </p:tgtEl>
                                        <p:attrNameLst>
                                          <p:attrName>ppt_y</p:attrName>
                                        </p:attrNameLst>
                                      </p:cBhvr>
                                      <p:tavLst>
                                        <p:tav tm="0">
                                          <p:val>
                                            <p:strVal val="#ppt_y+0.0350"/>
                                          </p:val>
                                        </p:tav>
                                        <p:tav tm="100000">
                                          <p:val>
                                            <p:strVal val="#ppt_y"/>
                                          </p:val>
                                        </p:tav>
                                      </p:tavLst>
                                    </p:anim>
                                  </p:childTnLst>
                                </p:cTn>
                              </p:par>
                            </p:childTnLst>
                          </p:cTn>
                        </p:par>
                      </p:childTnLst>
                    </p:cTn>
                  </p:par>
                  <p:par>
                    <p:cTn id="60" fill="hold">
                      <p:stCondLst>
                        <p:cond delay="0"/>
                      </p:stCondLst>
                      <p:childTnLst>
                        <p:par>
                          <p:cTn id="61" fill="hold">
                            <p:stCondLst>
                              <p:cond delay="0"/>
                            </p:stCondLst>
                            <p:childTnLst>
                              <p:par>
                                <p:cTn id="62" presetID="10" presetClass="entr" presetSubtype="0" fill="hold" grpId="0" nodeType="afterEffect">
                                  <p:stCondLst>
                                    <p:cond delay="0"/>
                                  </p:stCondLst>
                                  <p:childTnLst>
                                    <p:set>
                                      <p:cBhvr>
                                        <p:cTn id="63" dur="1" fill="hold">
                                          <p:stCondLst>
                                            <p:cond delay="0"/>
                                          </p:stCondLst>
                                        </p:cTn>
                                        <p:tgtEl>
                                          <p:spTgt spid="14"/>
                                        </p:tgtEl>
                                        <p:attrNameLst>
                                          <p:attrName>style.visibility</p:attrName>
                                        </p:attrNameLst>
                                      </p:cBhvr>
                                      <p:to>
                                        <p:strVal val="visible"/>
                                      </p:to>
                                    </p:set>
                                    <p:animEffect transition="in" filter="fade">
                                      <p:cBhvr>
                                        <p:cTn id="64" dur="350"/>
                                        <p:tgtEl>
                                          <p:spTgt spid="14"/>
                                        </p:tgtEl>
                                      </p:cBhvr>
                                    </p:animEffect>
                                    <p:anim calcmode="lin" valueType="num">
                                      <p:cBhvr additive="base">
                                        <p:cTn id="65" dur="350" fill="hold"/>
                                        <p:tgtEl>
                                          <p:spTgt spid="14"/>
                                        </p:tgtEl>
                                        <p:attrNameLst>
                                          <p:attrName>ppt_y</p:attrName>
                                        </p:attrNameLst>
                                      </p:cBhvr>
                                      <p:tavLst>
                                        <p:tav tm="0">
                                          <p:val>
                                            <p:strVal val="#ppt_y+0.0350"/>
                                          </p:val>
                                        </p:tav>
                                        <p:tav tm="100000">
                                          <p:val>
                                            <p:strVal val="#ppt_y"/>
                                          </p:val>
                                        </p:tav>
                                      </p:tavLst>
                                    </p:anim>
                                  </p:childTnLst>
                                </p:cTn>
                              </p:par>
                            </p:childTnLst>
                          </p:cTn>
                        </p:par>
                      </p:childTnLst>
                    </p:cTn>
                  </p:par>
                </p:childTnLst>
                <p:prevCondLst>
                  <p:cond evt="onPrev" delay="0">
                    <p:tgtEl>
                      <p:sldTgt/>
                    </p:tgtEl>
                  </p:cond>
                </p:prevCondLst>
                <p:nextCondLst>
                  <p:cond evt="onNext" delay="0">
                    <p:tgtEl>
                      <p:sldTgt/>
                    </p:tgtEl>
                  </p:cond>
                </p:nextCondLst>
              </p:cTn>
            </p:seq>
          </p:childTnLst>
        </p:cTn>
      </p:par>
    </p:tnLst>
  </p:timing>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LO3 · LU3 · T2 · ACTIVITY 8</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Create a Resource Scorecard Infographic</a:t>
            </a:r>
          </a:p>
        </p:txBody>
      </p:sp>
      <p:sp>
        <p:nvSpPr>
          <p:cNvPr id="6" name="TextBox 5"/>
          <p:cNvSpPr txBox="1"/>
          <p:nvPr/>
        </p:nvSpPr>
        <p:spPr>
          <a:xfrm>
            <a:off x="777240" y="1719072"/>
            <a:ext cx="8229600" cy="365760"/>
          </a:xfrm>
          <a:prstGeom prst="rect">
            <a:avLst/>
          </a:prstGeom>
          <a:noFill/>
        </p:spPr>
        <p:txBody>
          <a:bodyPr wrap="square" anchor="t">
            <a:spAutoFit/>
          </a:bodyPr>
          <a:lstStyle/>
          <a:p>
            <a:pPr algn="l">
              <a:spcAft>
                <a:spcPts val="400"/>
              </a:spcAft>
            </a:pPr>
            <a:r>
              <a:rPr sz="1300" b="1">
                <a:solidFill>
                  <a:srgbClr val="5B6372"/>
                </a:solidFill>
                <a:latin typeface="Arial"/>
              </a:rPr>
              <a:t>DISCUSSION &amp; DECISION PROMPTS</a:t>
            </a:r>
          </a:p>
        </p:txBody>
      </p:sp>
      <p:sp>
        <p:nvSpPr>
          <p:cNvPr id="7" name="Rectangle 6"/>
          <p:cNvSpPr/>
          <p:nvPr/>
        </p:nvSpPr>
        <p:spPr>
          <a:xfrm>
            <a:off x="777240" y="2148840"/>
            <a:ext cx="10634472" cy="8732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73152" cy="8732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78408" y="2334006"/>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78408" y="2334006"/>
            <a:ext cx="502920" cy="50292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737360" y="2148840"/>
            <a:ext cx="9308592" cy="873252"/>
          </a:xfrm>
          <a:prstGeom prst="rect">
            <a:avLst/>
          </a:prstGeom>
          <a:noFill/>
        </p:spPr>
        <p:txBody>
          <a:bodyPr wrap="square" anchor="ctr">
            <a:spAutoFit/>
          </a:bodyPr>
          <a:lstStyle/>
          <a:p>
            <a:pPr algn="l">
              <a:spcAft>
                <a:spcPts val="400"/>
              </a:spcAft>
            </a:pPr>
            <a:r>
              <a:rPr sz="1450" b="0">
                <a:solidFill>
                  <a:srgbClr val="161B26"/>
                </a:solidFill>
                <a:latin typeface="Arial"/>
              </a:rPr>
              <a:t>Which business outcomes define effectiveness?</a:t>
            </a:r>
          </a:p>
        </p:txBody>
      </p:sp>
      <p:sp>
        <p:nvSpPr>
          <p:cNvPr id="12" name="Rectangle 11"/>
          <p:cNvSpPr/>
          <p:nvPr/>
        </p:nvSpPr>
        <p:spPr>
          <a:xfrm>
            <a:off x="777240" y="3168396"/>
            <a:ext cx="10634472" cy="8732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168396"/>
            <a:ext cx="73152" cy="8732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78408" y="3353562"/>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78408" y="3353562"/>
            <a:ext cx="502920" cy="50292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6" name="TextBox 15"/>
          <p:cNvSpPr txBox="1"/>
          <p:nvPr/>
        </p:nvSpPr>
        <p:spPr>
          <a:xfrm>
            <a:off x="1737360" y="3168396"/>
            <a:ext cx="9308592" cy="873252"/>
          </a:xfrm>
          <a:prstGeom prst="rect">
            <a:avLst/>
          </a:prstGeom>
          <a:noFill/>
        </p:spPr>
        <p:txBody>
          <a:bodyPr wrap="square" anchor="ctr">
            <a:spAutoFit/>
          </a:bodyPr>
          <a:lstStyle/>
          <a:p>
            <a:pPr algn="l">
              <a:spcAft>
                <a:spcPts val="400"/>
              </a:spcAft>
            </a:pPr>
            <a:r>
              <a:rPr sz="1450" b="0">
                <a:solidFill>
                  <a:srgbClr val="161B26"/>
                </a:solidFill>
                <a:latin typeface="Arial"/>
              </a:rPr>
              <a:t>What hidden resource costs could reverse the decision?</a:t>
            </a:r>
          </a:p>
        </p:txBody>
      </p:sp>
      <p:sp>
        <p:nvSpPr>
          <p:cNvPr id="17" name="Rectangle 16"/>
          <p:cNvSpPr/>
          <p:nvPr/>
        </p:nvSpPr>
        <p:spPr>
          <a:xfrm>
            <a:off x="777240" y="4187952"/>
            <a:ext cx="10634472" cy="8732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187952"/>
            <a:ext cx="73152" cy="8732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78408" y="4373118"/>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8408" y="4373118"/>
            <a:ext cx="502920" cy="50292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1" name="TextBox 20"/>
          <p:cNvSpPr txBox="1"/>
          <p:nvPr/>
        </p:nvSpPr>
        <p:spPr>
          <a:xfrm>
            <a:off x="1737360" y="4187952"/>
            <a:ext cx="9308592" cy="873252"/>
          </a:xfrm>
          <a:prstGeom prst="rect">
            <a:avLst/>
          </a:prstGeom>
          <a:noFill/>
        </p:spPr>
        <p:txBody>
          <a:bodyPr wrap="square" anchor="ctr">
            <a:spAutoFit/>
          </a:bodyPr>
          <a:lstStyle/>
          <a:p>
            <a:pPr algn="l">
              <a:spcAft>
                <a:spcPts val="400"/>
              </a:spcAft>
            </a:pPr>
            <a:r>
              <a:rPr sz="1450" b="0">
                <a:solidFill>
                  <a:srgbClr val="161B26"/>
                </a:solidFill>
                <a:latin typeface="Arial"/>
              </a:rPr>
              <a:t>Which risks are hard gates rather than weighted preferences?</a:t>
            </a:r>
          </a:p>
        </p:txBody>
      </p:sp>
      <p:sp>
        <p:nvSpPr>
          <p:cNvPr id="22" name="Rectangle 21"/>
          <p:cNvSpPr/>
          <p:nvPr/>
        </p:nvSpPr>
        <p:spPr>
          <a:xfrm>
            <a:off x="777240" y="5207508"/>
            <a:ext cx="10634472" cy="8732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207508"/>
            <a:ext cx="73152" cy="8732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78408" y="5392674"/>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78408" y="5392674"/>
            <a:ext cx="502920" cy="50292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6" name="TextBox 25"/>
          <p:cNvSpPr txBox="1"/>
          <p:nvPr/>
        </p:nvSpPr>
        <p:spPr>
          <a:xfrm>
            <a:off x="1737360" y="5207508"/>
            <a:ext cx="9308592" cy="873252"/>
          </a:xfrm>
          <a:prstGeom prst="rect">
            <a:avLst/>
          </a:prstGeom>
          <a:noFill/>
        </p:spPr>
        <p:txBody>
          <a:bodyPr wrap="square" anchor="ctr">
            <a:spAutoFit/>
          </a:bodyPr>
          <a:lstStyle/>
          <a:p>
            <a:pPr algn="l">
              <a:spcAft>
                <a:spcPts val="400"/>
              </a:spcAft>
            </a:pPr>
            <a:r>
              <a:rPr sz="1450" b="0">
                <a:solidFill>
                  <a:srgbClr val="161B26"/>
                </a:solidFill>
                <a:latin typeface="Arial"/>
              </a:rPr>
              <a:t>When should the investment be reviewed?</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124</a:t>
            </a:r>
          </a:p>
        </p:txBody>
      </p:sp>
    </p:spTree>
  </p:cSld>
  <p:clrMapOvr>
    <a:masterClrMapping/>
  </p:clrMapOvr>
  <p:transition spd="fast" advClick="1">
    <p:wipe dir="l"/>
  </p:transition>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LO3 · LU3 · T2 · ACTIVITY 8</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Create a Resource Scorecard Infographic</a:t>
            </a:r>
          </a:p>
        </p:txBody>
      </p:sp>
      <p:sp>
        <p:nvSpPr>
          <p:cNvPr id="6" name="Rectangle 5"/>
          <p:cNvSpPr/>
          <p:nvPr/>
        </p:nvSpPr>
        <p:spPr>
          <a:xfrm>
            <a:off x="777240" y="1783080"/>
            <a:ext cx="10634472" cy="26517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91440" cy="26517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1965960"/>
            <a:ext cx="10058400" cy="365760"/>
          </a:xfrm>
          <a:prstGeom prst="rect">
            <a:avLst/>
          </a:prstGeom>
          <a:noFill/>
        </p:spPr>
        <p:txBody>
          <a:bodyPr wrap="square" anchor="t">
            <a:spAutoFit/>
          </a:bodyPr>
          <a:lstStyle/>
          <a:p>
            <a:pPr algn="l">
              <a:spcAft>
                <a:spcPts val="400"/>
              </a:spcAft>
            </a:pPr>
            <a:r>
              <a:rPr sz="1300" b="1">
                <a:solidFill>
                  <a:srgbClr val="7C3AED"/>
                </a:solidFill>
                <a:latin typeface="Arial"/>
              </a:rPr>
              <a:t>REFLECT &amp; DISCUSS</a:t>
            </a:r>
          </a:p>
        </p:txBody>
      </p:sp>
      <p:sp>
        <p:nvSpPr>
          <p:cNvPr id="9" name="TextBox 8"/>
          <p:cNvSpPr txBox="1"/>
          <p:nvPr/>
        </p:nvSpPr>
        <p:spPr>
          <a:xfrm>
            <a:off x="1051560" y="2377440"/>
            <a:ext cx="10058400" cy="1920240"/>
          </a:xfrm>
          <a:prstGeom prst="rect">
            <a:avLst/>
          </a:prstGeom>
          <a:noFill/>
        </p:spPr>
        <p:txBody>
          <a:bodyPr wrap="square">
            <a:spAutoFit/>
          </a:bodyPr>
          <a:lstStyle/>
          <a:p>
            <a:pPr>
              <a:spcAft>
                <a:spcPts val="900"/>
              </a:spcAft>
            </a:pPr>
            <a:r>
              <a:rPr sz="1450" b="0">
                <a:solidFill>
                  <a:srgbClr val="161B26"/>
                </a:solidFill>
                <a:latin typeface="Arial"/>
              </a:rPr>
              <a:t>•  Does the recommendation distinguish price from total cost?</a:t>
            </a:r>
          </a:p>
          <a:p>
            <a:pPr>
              <a:spcAft>
                <a:spcPts val="900"/>
              </a:spcAft>
            </a:pPr>
            <a:r>
              <a:rPr sz="1450" b="0">
                <a:solidFill>
                  <a:srgbClr val="161B26"/>
                </a:solidFill>
                <a:latin typeface="Arial"/>
              </a:rPr>
              <a:t>•  Are effectiveness criteria linked to observed business outcomes?</a:t>
            </a:r>
          </a:p>
        </p:txBody>
      </p:sp>
      <p:sp>
        <p:nvSpPr>
          <p:cNvPr id="10" name="Rectangle 9"/>
          <p:cNvSpPr/>
          <p:nvPr/>
        </p:nvSpPr>
        <p:spPr>
          <a:xfrm>
            <a:off x="777240" y="4663440"/>
            <a:ext cx="10634472" cy="137160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1560" y="4864608"/>
            <a:ext cx="10058400" cy="365760"/>
          </a:xfrm>
          <a:prstGeom prst="rect">
            <a:avLst/>
          </a:prstGeom>
          <a:noFill/>
        </p:spPr>
        <p:txBody>
          <a:bodyPr wrap="square" anchor="t">
            <a:spAutoFit/>
          </a:bodyPr>
          <a:lstStyle/>
          <a:p>
            <a:pPr algn="l">
              <a:spcAft>
                <a:spcPts val="400"/>
              </a:spcAft>
            </a:pPr>
            <a:r>
              <a:rPr sz="1500" b="1">
                <a:solidFill>
                  <a:srgbClr val="127A3E"/>
                </a:solidFill>
                <a:latin typeface="Arial"/>
              </a:rPr>
              <a:t>✓  Facilitator debrief check</a:t>
            </a:r>
          </a:p>
        </p:txBody>
      </p:sp>
      <p:sp>
        <p:nvSpPr>
          <p:cNvPr id="12" name="TextBox 11"/>
          <p:cNvSpPr txBox="1"/>
          <p:nvPr/>
        </p:nvSpPr>
        <p:spPr>
          <a:xfrm>
            <a:off x="1051560" y="5257800"/>
            <a:ext cx="10058400" cy="731520"/>
          </a:xfrm>
          <a:prstGeom prst="rect">
            <a:avLst/>
          </a:prstGeom>
          <a:noFill/>
        </p:spPr>
        <p:txBody>
          <a:bodyPr wrap="square" anchor="t">
            <a:spAutoFit/>
          </a:bodyPr>
          <a:lstStyle/>
          <a:p>
            <a:pPr algn="l">
              <a:spcAft>
                <a:spcPts val="400"/>
              </a:spcAft>
            </a:pPr>
            <a:r>
              <a:rPr sz="1300" b="0">
                <a:solidFill>
                  <a:srgbClr val="161B26"/>
                </a:solidFill>
                <a:latin typeface="Arial"/>
              </a:rPr>
              <a:t>The recommendation names the preferred workflow, budget, ownership, governance controls, success metrics and review date.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125</a:t>
            </a:r>
          </a:p>
        </p:txBody>
      </p:sp>
    </p:spTree>
  </p:cSld>
  <p:clrMapOvr>
    <a:masterClrMapping/>
  </p:clrMapOvr>
  <p:transition spd="fast" advClick="1">
    <p:wipe dir="l"/>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350"/>
                                        <p:tgtEl>
                                          <p:spTgt spid="9"/>
                                        </p:tgtEl>
                                      </p:cBhvr>
                                    </p:animEffect>
                                    <p:anim calcmode="lin" valueType="num">
                                      <p:cBhvr additive="base">
                                        <p:cTn id="15" dur="350" fill="hold"/>
                                        <p:tgtEl>
                                          <p:spTgt spid="9"/>
                                        </p:tgtEl>
                                        <p:attrNameLst>
                                          <p:attrName>ppt_y</p:attrName>
                                        </p:attrNameLst>
                                      </p:cBhvr>
                                      <p:tavLst>
                                        <p:tav tm="0">
                                          <p:val>
                                            <p:strVal val="#ppt_y+0.0350"/>
                                          </p:val>
                                        </p:tav>
                                        <p:tav tm="100000">
                                          <p:val>
                                            <p:strVal val="#ppt_y"/>
                                          </p:val>
                                        </p:tav>
                                      </p:tavLst>
                                    </p:anim>
                                  </p:childTnLst>
                                </p:cTn>
                              </p:par>
                            </p:childTnLst>
                          </p:cTn>
                        </p:par>
                      </p:childTnLst>
                    </p:cTn>
                  </p:par>
                  <p:par>
                    <p:cTn id="20" fill="hold">
                      <p:stCondLst>
                        <p:cond delay="0"/>
                      </p:stCondLst>
                      <p:childTnLst>
                        <p:par>
                          <p:cTn id="21" fill="hold">
                            <p:stCondLst>
                              <p:cond delay="0"/>
                            </p:stCondLst>
                            <p:childTnLst>
                              <p:par>
                                <p:cTn id="22" presetID="10" presetClass="entr" presetSubtype="0" fill="hold" grpId="0" nodeType="after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350"/>
                                        <p:tgtEl>
                                          <p:spTgt spid="10"/>
                                        </p:tgtEl>
                                      </p:cBhvr>
                                    </p:animEffect>
                                    <p:anim calcmode="lin" valueType="num">
                                      <p:cBhvr additive="base">
                                        <p:cTn id="25" dur="350" fill="hold"/>
                                        <p:tgtEl>
                                          <p:spTgt spid="10"/>
                                        </p:tgtEl>
                                        <p:attrNameLst>
                                          <p:attrName>ppt_y</p:attrName>
                                        </p:attrNameLst>
                                      </p:cBhvr>
                                      <p:tavLst>
                                        <p:tav tm="0">
                                          <p:val>
                                            <p:strVal val="#ppt_y+0.0350"/>
                                          </p:val>
                                        </p:tav>
                                        <p:tav tm="100000">
                                          <p:val>
                                            <p:strVal val="#ppt_y"/>
                                          </p:val>
                                        </p:tav>
                                      </p:tavLst>
                                    </p:anim>
                                  </p:childTnLst>
                                </p:cTn>
                              </p:par>
                            </p:childTnLst>
                          </p:cTn>
                        </p:par>
                      </p:childTnLst>
                    </p:cTn>
                  </p:par>
                  <p:par>
                    <p:cTn id="30" fill="hold">
                      <p:stCondLst>
                        <p:cond delay="0"/>
                      </p:stCondLst>
                      <p:childTnLst>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350"/>
                                        <p:tgtEl>
                                          <p:spTgt spid="12"/>
                                        </p:tgtEl>
                                      </p:cBhvr>
                                    </p:animEffect>
                                    <p:anim calcmode="lin" valueType="num">
                                      <p:cBhvr additive="base">
                                        <p:cTn id="35" dur="350" fill="hold"/>
                                        <p:tgtEl>
                                          <p:spTgt spid="12"/>
                                        </p:tgtEl>
                                        <p:attrNameLst>
                                          <p:attrName>ppt_y</p:attrName>
                                        </p:attrNameLst>
                                      </p:cBhvr>
                                      <p:tavLst>
                                        <p:tav tm="0">
                                          <p:val>
                                            <p:strVal val="#ppt_y+0.0350"/>
                                          </p:val>
                                        </p:tav>
                                        <p:tav tm="100000">
                                          <p:val>
                                            <p:strVal val="#ppt_y"/>
                                          </p:val>
                                        </p:tav>
                                      </p:tavLst>
                                    </p:anim>
                                  </p:childTnLst>
                                </p:cTn>
                              </p:par>
                            </p:childTnLst>
                          </p:cTn>
                        </p:par>
                      </p:childTnLst>
                    </p:cTn>
                  </p:par>
                </p:childTnLst>
                <p:prevCondLst>
                  <p:cond evt="onPrev" delay="0">
                    <p:tgtEl>
                      <p:sldTgt/>
                    </p:tgtEl>
                  </p:cond>
                </p:prevCondLst>
                <p:nextCondLst>
                  <p:cond evt="onNext" delay="0">
                    <p:tgtEl>
                      <p:sldTgt/>
                    </p:tgtEl>
                  </p:cond>
                </p:nextCondLst>
              </p:cTn>
            </p:seq>
          </p:childTnLst>
        </p:cTn>
      </p:par>
    </p:tnLst>
  </p:timing>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LU3 RECAP</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100" b="1">
                <a:solidFill>
                  <a:srgbClr val="161B26"/>
                </a:solidFill>
                <a:latin typeface="Arial"/>
              </a:rPr>
              <a:t>Recap — Evaluating and Presenting Infographics for Business Impact</a:t>
            </a:r>
          </a:p>
        </p:txBody>
      </p:sp>
      <p:sp>
        <p:nvSpPr>
          <p:cNvPr id="6" name="Rectangle 5"/>
          <p:cNvSpPr/>
          <p:nvPr/>
        </p:nvSpPr>
        <p:spPr>
          <a:xfrm>
            <a:off x="777240" y="1783080"/>
            <a:ext cx="5180076" cy="4370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91440" cy="4370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33272" y="3694176"/>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0" name="TextBox 9"/>
          <p:cNvSpPr txBox="1"/>
          <p:nvPr/>
        </p:nvSpPr>
        <p:spPr>
          <a:xfrm>
            <a:off x="1764792" y="1911096"/>
            <a:ext cx="3973068" cy="4187952"/>
          </a:xfrm>
          <a:prstGeom prst="rect">
            <a:avLst/>
          </a:prstGeom>
          <a:noFill/>
        </p:spPr>
        <p:txBody>
          <a:bodyPr wrap="square" anchor="ctr">
            <a:spAutoFit/>
          </a:bodyPr>
          <a:lstStyle/>
          <a:p>
            <a:pPr algn="l">
              <a:spcAft>
                <a:spcPts val="300"/>
              </a:spcAft>
            </a:pPr>
            <a:r>
              <a:rPr sz="1600" b="1">
                <a:solidFill>
                  <a:srgbClr val="161B26"/>
                </a:solidFill>
                <a:latin typeface="Arial"/>
              </a:rPr>
              <a:t>Create and Review a Stakeholder Mind Map Infographic</a:t>
            </a:r>
          </a:p>
          <a:p>
            <a:pPr algn="l">
              <a:spcAft>
                <a:spcPts val="300"/>
              </a:spcAft>
            </a:pPr>
            <a:r>
              <a:rPr sz="1200" b="0">
                <a:solidFill>
                  <a:srgbClr val="5B6372"/>
                </a:solidFill>
                <a:latin typeface="Arial"/>
              </a:rPr>
              <a:t>You can now: create a stakeholder mind map, give criteria-based feedback and revise it to improve clarity, story and accessibility.</a:t>
            </a:r>
          </a:p>
        </p:txBody>
      </p:sp>
      <p:sp>
        <p:nvSpPr>
          <p:cNvPr id="11" name="Rectangle 10"/>
          <p:cNvSpPr/>
          <p:nvPr/>
        </p:nvSpPr>
        <p:spPr>
          <a:xfrm>
            <a:off x="6231636" y="1783080"/>
            <a:ext cx="5180076" cy="4370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1636" y="1783080"/>
            <a:ext cx="91440" cy="43708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87668" y="3694176"/>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5" name="TextBox 14"/>
          <p:cNvSpPr txBox="1"/>
          <p:nvPr/>
        </p:nvSpPr>
        <p:spPr>
          <a:xfrm>
            <a:off x="7219188" y="1911096"/>
            <a:ext cx="3973068" cy="4187952"/>
          </a:xfrm>
          <a:prstGeom prst="rect">
            <a:avLst/>
          </a:prstGeom>
          <a:noFill/>
        </p:spPr>
        <p:txBody>
          <a:bodyPr wrap="square" anchor="ctr">
            <a:spAutoFit/>
          </a:bodyPr>
          <a:lstStyle/>
          <a:p>
            <a:pPr algn="l">
              <a:spcAft>
                <a:spcPts val="300"/>
              </a:spcAft>
            </a:pPr>
            <a:r>
              <a:rPr sz="1600" b="1">
                <a:solidFill>
                  <a:srgbClr val="161B26"/>
                </a:solidFill>
                <a:latin typeface="Arial"/>
              </a:rPr>
              <a:t>Create a Resource Scorecard Infographic</a:t>
            </a:r>
          </a:p>
          <a:p>
            <a:pPr algn="l">
              <a:spcAft>
                <a:spcPts val="300"/>
              </a:spcAft>
            </a:pPr>
            <a:r>
              <a:rPr sz="1200" b="0">
                <a:solidFill>
                  <a:srgbClr val="5B6372"/>
                </a:solidFill>
                <a:latin typeface="Arial"/>
              </a:rPr>
              <a:t>You can now: compare infographic-tool investment options and recommend a resource plan using effectiveness and governance criteria.</a:t>
            </a:r>
          </a:p>
        </p:txBody>
      </p:sp>
      <p:sp>
        <p:nvSpPr>
          <p:cNvPr id="16" name="TextBox 1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17" name="TextBox 1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8" name="TextBox 1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126</a:t>
            </a:r>
          </a:p>
        </p:txBody>
      </p:sp>
    </p:spTree>
  </p:cSld>
  <p:clrMapOvr>
    <a:masterClrMapping/>
  </p:clrMapOvr>
  <p:transition spd="fast" advClick="1">
    <p:fade/>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8"/>
                                        </p:tgtEl>
                                        <p:attrNameLst>
                                          <p:attrName>style.visibility</p:attrName>
                                        </p:attrNameLst>
                                      </p:cBhvr>
                                      <p:to>
                                        <p:strVal val="visible"/>
                                      </p:to>
                                    </p:set>
                                    <p:animEffect transition="in" filter="fade">
                                      <p:cBhvr>
                                        <p:cTn id="14" dur="350"/>
                                        <p:tgtEl>
                                          <p:spTgt spid="8"/>
                                        </p:tgtEl>
                                      </p:cBhvr>
                                    </p:animEffect>
                                    <p:anim calcmode="lin" valueType="num">
                                      <p:cBhvr additive="base">
                                        <p:cTn id="15" dur="350" fill="hold"/>
                                        <p:tgtEl>
                                          <p:spTgt spid="8"/>
                                        </p:tgtEl>
                                        <p:attrNameLst>
                                          <p:attrName>ppt_y</p:attrName>
                                        </p:attrNameLst>
                                      </p:cBhvr>
                                      <p:tavLst>
                                        <p:tav tm="0">
                                          <p:val>
                                            <p:strVal val="#ppt_y+0.0350"/>
                                          </p:val>
                                        </p:tav>
                                        <p:tav tm="100000">
                                          <p:val>
                                            <p:strVal val="#ppt_y"/>
                                          </p:val>
                                        </p:tav>
                                      </p:tavLst>
                                    </p:anim>
                                  </p:childTnLst>
                                </p:cTn>
                              </p:par>
                            </p:childTnLst>
                          </p:cTn>
                        </p:par>
                      </p:childTnLst>
                    </p:cTn>
                  </p:par>
                  <p:par>
                    <p:cTn id="20" fill="hold">
                      <p:stCondLst>
                        <p:cond delay="0"/>
                      </p:stCondLst>
                      <p:childTnLst>
                        <p:par>
                          <p:cTn id="21" fill="hold">
                            <p:stCondLst>
                              <p:cond delay="0"/>
                            </p:stCondLst>
                            <p:childTnLst>
                              <p:par>
                                <p:cTn id="22" presetID="10" presetClass="entr" presetSubtype="0" fill="hold" grpId="0" nodeType="after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350"/>
                                        <p:tgtEl>
                                          <p:spTgt spid="9"/>
                                        </p:tgtEl>
                                      </p:cBhvr>
                                    </p:animEffect>
                                    <p:anim calcmode="lin" valueType="num">
                                      <p:cBhvr additive="base">
                                        <p:cTn id="25" dur="350" fill="hold"/>
                                        <p:tgtEl>
                                          <p:spTgt spid="9"/>
                                        </p:tgtEl>
                                        <p:attrNameLst>
                                          <p:attrName>ppt_y</p:attrName>
                                        </p:attrNameLst>
                                      </p:cBhvr>
                                      <p:tavLst>
                                        <p:tav tm="0">
                                          <p:val>
                                            <p:strVal val="#ppt_y+0.0350"/>
                                          </p:val>
                                        </p:tav>
                                        <p:tav tm="100000">
                                          <p:val>
                                            <p:strVal val="#ppt_y"/>
                                          </p:val>
                                        </p:tav>
                                      </p:tavLst>
                                    </p:anim>
                                  </p:childTnLst>
                                </p:cTn>
                              </p:par>
                            </p:childTnLst>
                          </p:cTn>
                        </p:par>
                      </p:childTnLst>
                    </p:cTn>
                  </p:par>
                  <p:par>
                    <p:cTn id="30" fill="hold">
                      <p:stCondLst>
                        <p:cond delay="0"/>
                      </p:stCondLst>
                      <p:childTnLst>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350"/>
                                        <p:tgtEl>
                                          <p:spTgt spid="13"/>
                                        </p:tgtEl>
                                      </p:cBhvr>
                                    </p:animEffect>
                                    <p:anim calcmode="lin" valueType="num">
                                      <p:cBhvr additive="base">
                                        <p:cTn id="35" dur="350" fill="hold"/>
                                        <p:tgtEl>
                                          <p:spTgt spid="13"/>
                                        </p:tgtEl>
                                        <p:attrNameLst>
                                          <p:attrName>ppt_y</p:attrName>
                                        </p:attrNameLst>
                                      </p:cBhvr>
                                      <p:tavLst>
                                        <p:tav tm="0">
                                          <p:val>
                                            <p:strVal val="#ppt_y+0.0350"/>
                                          </p:val>
                                        </p:tav>
                                        <p:tav tm="100000">
                                          <p:val>
                                            <p:strVal val="#ppt_y"/>
                                          </p:val>
                                        </p:tav>
                                      </p:tavLst>
                                    </p:anim>
                                  </p:childTnLst>
                                </p:cTn>
                              </p:par>
                            </p:childTnLst>
                          </p:cTn>
                        </p:par>
                      </p:childTnLst>
                    </p:cTn>
                  </p:par>
                  <p:par>
                    <p:cTn id="40" fill="hold">
                      <p:stCondLst>
                        <p:cond delay="0"/>
                      </p:stCondLst>
                      <p:childTnLst>
                        <p:par>
                          <p:cTn id="41" fill="hold">
                            <p:stCondLst>
                              <p:cond delay="0"/>
                            </p:stCondLst>
                            <p:childTnLst>
                              <p:par>
                                <p:cTn id="42" presetID="10" presetClass="entr" presetSubtype="0" fill="hold" grpId="0" nodeType="afterEffect">
                                  <p:stCondLst>
                                    <p:cond delay="0"/>
                                  </p:stCondLst>
                                  <p:childTnLst>
                                    <p:set>
                                      <p:cBhvr>
                                        <p:cTn id="43" dur="1" fill="hold">
                                          <p:stCondLst>
                                            <p:cond delay="0"/>
                                          </p:stCondLst>
                                        </p:cTn>
                                        <p:tgtEl>
                                          <p:spTgt spid="14"/>
                                        </p:tgtEl>
                                        <p:attrNameLst>
                                          <p:attrName>style.visibility</p:attrName>
                                        </p:attrNameLst>
                                      </p:cBhvr>
                                      <p:to>
                                        <p:strVal val="visible"/>
                                      </p:to>
                                    </p:set>
                                    <p:animEffect transition="in" filter="fade">
                                      <p:cBhvr>
                                        <p:cTn id="44" dur="350"/>
                                        <p:tgtEl>
                                          <p:spTgt spid="14"/>
                                        </p:tgtEl>
                                      </p:cBhvr>
                                    </p:animEffect>
                                    <p:anim calcmode="lin" valueType="num">
                                      <p:cBhvr additive="base">
                                        <p:cTn id="45" dur="350" fill="hold"/>
                                        <p:tgtEl>
                                          <p:spTgt spid="14"/>
                                        </p:tgtEl>
                                        <p:attrNameLst>
                                          <p:attrName>ppt_y</p:attrName>
                                        </p:attrNameLst>
                                      </p:cBhvr>
                                      <p:tavLst>
                                        <p:tav tm="0">
                                          <p:val>
                                            <p:strVal val="#ppt_y+0.0350"/>
                                          </p:val>
                                        </p:tav>
                                        <p:tav tm="100000">
                                          <p:val>
                                            <p:strVal val="#ppt_y"/>
                                          </p:val>
                                        </p:tav>
                                      </p:tavLst>
                                    </p:anim>
                                  </p:childTnLst>
                                </p:cTn>
                              </p:par>
                            </p:childTnLst>
                          </p:cTn>
                        </p:par>
                      </p:childTnLst>
                    </p:cTn>
                  </p:par>
                </p:childTnLst>
                <p:prevCondLst>
                  <p:cond evt="onPrev" delay="0">
                    <p:tgtEl>
                      <p:sldTgt/>
                    </p:tgtEl>
                  </p:cond>
                </p:prevCondLst>
                <p:nextCondLst>
                  <p:cond evt="onNext" delay="0">
                    <p:tgtEl>
                      <p:sldTgt/>
                    </p:tgtEl>
                  </p:cond>
                </p:nextCondLst>
              </p:cTn>
            </p:seq>
          </p:childTnLst>
        </p:cTn>
      </p:par>
    </p:tnLst>
  </p:timing>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7C3AED"/>
                </a:solidFill>
                <a:latin typeface="Arial"/>
              </a:rPr>
              <a:t>LU3 · WHY IT MATTERS</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A beautiful visual can still fail the business question.</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Review clarity, accuracy, accessibility, engagement, resource fit and the action the audience can take.</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127</a:t>
            </a:r>
          </a:p>
        </p:txBody>
      </p:sp>
    </p:spTree>
  </p:cSld>
  <p:clrMapOvr>
    <a:masterClrMapping/>
  </p:clrMapOvr>
  <p:transition spd="fast" advClick="1">
    <p:zoom/>
  </p:transition>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SOURCE-ALIGNED COURSEWARE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Sources &amp; Further Reading — 1</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0" name="TextBox 9"/>
          <p:cNvSpPr txBox="1"/>
          <p:nvPr/>
        </p:nvSpPr>
        <p:spPr>
          <a:xfrm>
            <a:off x="1764792" y="1911096"/>
            <a:ext cx="3973068" cy="1115568"/>
          </a:xfrm>
          <a:prstGeom prst="rect">
            <a:avLst/>
          </a:prstGeom>
          <a:noFill/>
        </p:spPr>
        <p:txBody>
          <a:bodyPr wrap="square" anchor="ctr">
            <a:spAutoFit/>
          </a:bodyPr>
          <a:lstStyle/>
          <a:p>
            <a:pPr algn="l">
              <a:spcAft>
                <a:spcPts val="300"/>
              </a:spcAft>
            </a:pPr>
            <a:r>
              <a:rPr sz="1400" b="1">
                <a:solidFill>
                  <a:srgbClr val="161B26"/>
                </a:solidFill>
                <a:latin typeface="Arial"/>
              </a:rPr>
              <a:t>Microsoft Support: Create an infographic with the Microsoft 365 Copilot app</a:t>
            </a:r>
          </a:p>
          <a:p>
            <a:pPr algn="l">
              <a:spcAft>
                <a:spcPts val="300"/>
              </a:spcAft>
            </a:pPr>
            <a:r>
              <a:rPr sz="1000" b="0">
                <a:solidFill>
                  <a:srgbClr val="5B6372"/>
                </a:solidFill>
                <a:latin typeface="Arial"/>
              </a:rPr>
              <a:t>support.microsoft.com</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5" name="TextBox 14"/>
          <p:cNvSpPr txBox="1"/>
          <p:nvPr/>
        </p:nvSpPr>
        <p:spPr>
          <a:xfrm>
            <a:off x="7219188" y="1911096"/>
            <a:ext cx="3973068" cy="1115568"/>
          </a:xfrm>
          <a:prstGeom prst="rect">
            <a:avLst/>
          </a:prstGeom>
          <a:noFill/>
        </p:spPr>
        <p:txBody>
          <a:bodyPr wrap="square" anchor="ctr">
            <a:spAutoFit/>
          </a:bodyPr>
          <a:lstStyle/>
          <a:p>
            <a:pPr algn="l">
              <a:spcAft>
                <a:spcPts val="300"/>
              </a:spcAft>
            </a:pPr>
            <a:r>
              <a:rPr sz="1400" b="1">
                <a:solidFill>
                  <a:srgbClr val="161B26"/>
                </a:solidFill>
                <a:latin typeface="Arial"/>
              </a:rPr>
              <a:t>User-provided Microsoft 365 Copilot shared prompt example</a:t>
            </a:r>
          </a:p>
          <a:p>
            <a:pPr algn="l">
              <a:spcAft>
                <a:spcPts val="300"/>
              </a:spcAft>
            </a:pPr>
            <a:r>
              <a:rPr sz="1000" b="0">
                <a:solidFill>
                  <a:srgbClr val="5B6372"/>
                </a:solidFill>
                <a:latin typeface="Arial"/>
              </a:rPr>
              <a:t>m365.cloud.microsoft</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0" name="TextBox 19"/>
          <p:cNvSpPr txBox="1"/>
          <p:nvPr/>
        </p:nvSpPr>
        <p:spPr>
          <a:xfrm>
            <a:off x="1764792" y="3447288"/>
            <a:ext cx="3973068" cy="1115568"/>
          </a:xfrm>
          <a:prstGeom prst="rect">
            <a:avLst/>
          </a:prstGeom>
          <a:noFill/>
        </p:spPr>
        <p:txBody>
          <a:bodyPr wrap="square" anchor="ctr">
            <a:spAutoFit/>
          </a:bodyPr>
          <a:lstStyle/>
          <a:p>
            <a:pPr algn="l">
              <a:spcAft>
                <a:spcPts val="300"/>
              </a:spcAft>
            </a:pPr>
            <a:r>
              <a:rPr sz="1400" b="1">
                <a:solidFill>
                  <a:srgbClr val="161B26"/>
                </a:solidFill>
                <a:latin typeface="Arial"/>
              </a:rPr>
              <a:t>Microsoft Support: Edit with Copilot in PowerPoint</a:t>
            </a:r>
          </a:p>
          <a:p>
            <a:pPr algn="l">
              <a:spcAft>
                <a:spcPts val="300"/>
              </a:spcAft>
            </a:pPr>
            <a:r>
              <a:rPr sz="1000" b="0">
                <a:solidFill>
                  <a:srgbClr val="5B6372"/>
                </a:solidFill>
                <a:latin typeface="Arial"/>
              </a:rPr>
              <a:t>support.microsoft.com</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5" name="TextBox 24"/>
          <p:cNvSpPr txBox="1"/>
          <p:nvPr/>
        </p:nvSpPr>
        <p:spPr>
          <a:xfrm>
            <a:off x="7219188" y="3447288"/>
            <a:ext cx="3973068" cy="1115568"/>
          </a:xfrm>
          <a:prstGeom prst="rect">
            <a:avLst/>
          </a:prstGeom>
          <a:noFill/>
        </p:spPr>
        <p:txBody>
          <a:bodyPr wrap="square" anchor="ctr">
            <a:spAutoFit/>
          </a:bodyPr>
          <a:lstStyle/>
          <a:p>
            <a:pPr algn="l">
              <a:spcAft>
                <a:spcPts val="300"/>
              </a:spcAft>
            </a:pPr>
            <a:r>
              <a:rPr sz="1400" b="1">
                <a:solidFill>
                  <a:srgbClr val="161B26"/>
                </a:solidFill>
                <a:latin typeface="Arial"/>
              </a:rPr>
              <a:t>Microsoft Support: Add a slide from a file with Copilot in PowerPoint</a:t>
            </a:r>
          </a:p>
          <a:p>
            <a:pPr algn="l">
              <a:spcAft>
                <a:spcPts val="300"/>
              </a:spcAft>
            </a:pPr>
            <a:r>
              <a:rPr sz="1000" b="0">
                <a:solidFill>
                  <a:srgbClr val="5B6372"/>
                </a:solidFill>
                <a:latin typeface="Arial"/>
              </a:rPr>
              <a:t>support.microsoft.com</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0" name="TextBox 29"/>
          <p:cNvSpPr txBox="1"/>
          <p:nvPr/>
        </p:nvSpPr>
        <p:spPr>
          <a:xfrm>
            <a:off x="1764792" y="4983480"/>
            <a:ext cx="3973068" cy="1115568"/>
          </a:xfrm>
          <a:prstGeom prst="rect">
            <a:avLst/>
          </a:prstGeom>
          <a:noFill/>
        </p:spPr>
        <p:txBody>
          <a:bodyPr wrap="square" anchor="ctr">
            <a:spAutoFit/>
          </a:bodyPr>
          <a:lstStyle/>
          <a:p>
            <a:pPr algn="l">
              <a:spcAft>
                <a:spcPts val="300"/>
              </a:spcAft>
            </a:pPr>
            <a:r>
              <a:rPr sz="1400" b="1">
                <a:solidFill>
                  <a:srgbClr val="161B26"/>
                </a:solidFill>
                <a:latin typeface="Arial"/>
              </a:rPr>
              <a:t>Microsoft Support: Create a new presentation with Copilot in PowerPoint</a:t>
            </a:r>
          </a:p>
          <a:p>
            <a:pPr algn="l">
              <a:spcAft>
                <a:spcPts val="300"/>
              </a:spcAft>
            </a:pPr>
            <a:r>
              <a:rPr sz="1000" b="0">
                <a:solidFill>
                  <a:srgbClr val="5B6372"/>
                </a:solidFill>
                <a:latin typeface="Arial"/>
              </a:rPr>
              <a:t>support.microsoft.com</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128</a:t>
            </a:r>
          </a:p>
        </p:txBody>
      </p:sp>
    </p:spTree>
  </p:cSld>
  <p:clrMapOvr>
    <a:masterClrMapping/>
  </p:clrMapOvr>
  <p:transition spd="fast" advClick="1">
    <p:fade/>
  </p:transition>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SOURCE-ALIGNED COURSEWARE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Sources &amp; Further Reading — 2</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0" name="TextBox 9"/>
          <p:cNvSpPr txBox="1"/>
          <p:nvPr/>
        </p:nvSpPr>
        <p:spPr>
          <a:xfrm>
            <a:off x="1764792" y="1911096"/>
            <a:ext cx="3973068" cy="1115568"/>
          </a:xfrm>
          <a:prstGeom prst="rect">
            <a:avLst/>
          </a:prstGeom>
          <a:noFill/>
        </p:spPr>
        <p:txBody>
          <a:bodyPr wrap="square" anchor="ctr">
            <a:spAutoFit/>
          </a:bodyPr>
          <a:lstStyle/>
          <a:p>
            <a:pPr algn="l">
              <a:spcAft>
                <a:spcPts val="300"/>
              </a:spcAft>
            </a:pPr>
            <a:r>
              <a:rPr sz="1400" b="1">
                <a:solidFill>
                  <a:srgbClr val="161B26"/>
                </a:solidFill>
                <a:latin typeface="Arial"/>
              </a:rPr>
              <a:t>Microsoft Support: File formats supported by Microsoft 365 Copilot</a:t>
            </a:r>
          </a:p>
          <a:p>
            <a:pPr algn="l">
              <a:spcAft>
                <a:spcPts val="300"/>
              </a:spcAft>
            </a:pPr>
            <a:r>
              <a:rPr sz="1000" b="0">
                <a:solidFill>
                  <a:srgbClr val="5B6372"/>
                </a:solidFill>
                <a:latin typeface="Arial"/>
              </a:rPr>
              <a:t>support.microsoft.com</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5" name="TextBox 14"/>
          <p:cNvSpPr txBox="1"/>
          <p:nvPr/>
        </p:nvSpPr>
        <p:spPr>
          <a:xfrm>
            <a:off x="7219188" y="1911096"/>
            <a:ext cx="3973068" cy="1115568"/>
          </a:xfrm>
          <a:prstGeom prst="rect">
            <a:avLst/>
          </a:prstGeom>
          <a:noFill/>
        </p:spPr>
        <p:txBody>
          <a:bodyPr wrap="square" anchor="ctr">
            <a:spAutoFit/>
          </a:bodyPr>
          <a:lstStyle/>
          <a:p>
            <a:pPr algn="l">
              <a:spcAft>
                <a:spcPts val="300"/>
              </a:spcAft>
            </a:pPr>
            <a:r>
              <a:rPr sz="1400" b="1">
                <a:solidFill>
                  <a:srgbClr val="161B26"/>
                </a:solidFill>
                <a:latin typeface="Arial"/>
              </a:rPr>
              <a:t>Microsoft Support: Add or remove chart titles</a:t>
            </a:r>
          </a:p>
          <a:p>
            <a:pPr algn="l">
              <a:spcAft>
                <a:spcPts val="300"/>
              </a:spcAft>
            </a:pPr>
            <a:r>
              <a:rPr sz="1000" b="0">
                <a:solidFill>
                  <a:srgbClr val="5B6372"/>
                </a:solidFill>
                <a:latin typeface="Arial"/>
              </a:rPr>
              <a:t>support.microsoft.com</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0" name="TextBox 19"/>
          <p:cNvSpPr txBox="1"/>
          <p:nvPr/>
        </p:nvSpPr>
        <p:spPr>
          <a:xfrm>
            <a:off x="1764792" y="3447288"/>
            <a:ext cx="3973068" cy="1115568"/>
          </a:xfrm>
          <a:prstGeom prst="rect">
            <a:avLst/>
          </a:prstGeom>
          <a:noFill/>
        </p:spPr>
        <p:txBody>
          <a:bodyPr wrap="square" anchor="ctr">
            <a:spAutoFit/>
          </a:bodyPr>
          <a:lstStyle/>
          <a:p>
            <a:pPr algn="l">
              <a:spcAft>
                <a:spcPts val="300"/>
              </a:spcAft>
            </a:pPr>
            <a:r>
              <a:rPr sz="1400" b="1">
                <a:solidFill>
                  <a:srgbClr val="161B26"/>
                </a:solidFill>
                <a:latin typeface="Arial"/>
              </a:rPr>
              <a:t>Microsoft Support: Add alternative text</a:t>
            </a:r>
          </a:p>
          <a:p>
            <a:pPr algn="l">
              <a:spcAft>
                <a:spcPts val="300"/>
              </a:spcAft>
            </a:pPr>
            <a:r>
              <a:rPr sz="1000" b="0">
                <a:solidFill>
                  <a:srgbClr val="5B6372"/>
                </a:solidFill>
                <a:latin typeface="Arial"/>
              </a:rPr>
              <a:t>support.microsoft.com</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5" name="TextBox 24"/>
          <p:cNvSpPr txBox="1"/>
          <p:nvPr/>
        </p:nvSpPr>
        <p:spPr>
          <a:xfrm>
            <a:off x="7219188" y="3447288"/>
            <a:ext cx="3973068" cy="1115568"/>
          </a:xfrm>
          <a:prstGeom prst="rect">
            <a:avLst/>
          </a:prstGeom>
          <a:noFill/>
        </p:spPr>
        <p:txBody>
          <a:bodyPr wrap="square" anchor="ctr">
            <a:spAutoFit/>
          </a:bodyPr>
          <a:lstStyle/>
          <a:p>
            <a:pPr algn="l">
              <a:spcAft>
                <a:spcPts val="300"/>
              </a:spcAft>
            </a:pPr>
            <a:r>
              <a:rPr sz="1400" b="1">
                <a:solidFill>
                  <a:srgbClr val="161B26"/>
                </a:solidFill>
                <a:latin typeface="Arial"/>
              </a:rPr>
              <a:t>Microsoft Support: Make presentations accessible</a:t>
            </a:r>
          </a:p>
          <a:p>
            <a:pPr algn="l">
              <a:spcAft>
                <a:spcPts val="300"/>
              </a:spcAft>
            </a:pPr>
            <a:r>
              <a:rPr sz="1000" b="0">
                <a:solidFill>
                  <a:srgbClr val="5B6372"/>
                </a:solidFill>
                <a:latin typeface="Arial"/>
              </a:rPr>
              <a:t>support.microsoft.com</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0" name="TextBox 29"/>
          <p:cNvSpPr txBox="1"/>
          <p:nvPr/>
        </p:nvSpPr>
        <p:spPr>
          <a:xfrm>
            <a:off x="1764792" y="4983480"/>
            <a:ext cx="3973068" cy="1115568"/>
          </a:xfrm>
          <a:prstGeom prst="rect">
            <a:avLst/>
          </a:prstGeom>
          <a:noFill/>
        </p:spPr>
        <p:txBody>
          <a:bodyPr wrap="square" anchor="ctr">
            <a:spAutoFit/>
          </a:bodyPr>
          <a:lstStyle/>
          <a:p>
            <a:pPr algn="l">
              <a:spcAft>
                <a:spcPts val="300"/>
              </a:spcAft>
            </a:pPr>
            <a:r>
              <a:rPr sz="1400" b="1">
                <a:solidFill>
                  <a:srgbClr val="161B26"/>
                </a:solidFill>
                <a:latin typeface="Arial"/>
              </a:rPr>
              <a:t>Microsoft Support: Change slide size</a:t>
            </a:r>
          </a:p>
          <a:p>
            <a:pPr algn="l">
              <a:spcAft>
                <a:spcPts val="300"/>
              </a:spcAft>
            </a:pPr>
            <a:r>
              <a:rPr sz="1000" b="0">
                <a:solidFill>
                  <a:srgbClr val="5B6372"/>
                </a:solidFill>
                <a:latin typeface="Arial"/>
              </a:rPr>
              <a:t>support.microsoft.com</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129</a:t>
            </a:r>
          </a:p>
        </p:txBody>
      </p:sp>
    </p:spTree>
  </p:cSld>
  <p:clrMapOvr>
    <a:masterClrMapping/>
  </p:clrMapOvr>
  <p:transition spd="fast" advClick="1">
    <p:fade/>
  </p:transition>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SOURCE-ALIGNED COURSEWARE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Sources &amp; Further Reading — 3</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0" name="TextBox 9"/>
          <p:cNvSpPr txBox="1"/>
          <p:nvPr/>
        </p:nvSpPr>
        <p:spPr>
          <a:xfrm>
            <a:off x="1764792" y="1911096"/>
            <a:ext cx="3973068" cy="1115568"/>
          </a:xfrm>
          <a:prstGeom prst="rect">
            <a:avLst/>
          </a:prstGeom>
          <a:noFill/>
        </p:spPr>
        <p:txBody>
          <a:bodyPr wrap="square" anchor="ctr">
            <a:spAutoFit/>
          </a:bodyPr>
          <a:lstStyle/>
          <a:p>
            <a:pPr algn="l">
              <a:spcAft>
                <a:spcPts val="300"/>
              </a:spcAft>
            </a:pPr>
            <a:r>
              <a:rPr sz="1400" b="1">
                <a:solidFill>
                  <a:srgbClr val="161B26"/>
                </a:solidFill>
                <a:latin typeface="Arial"/>
              </a:rPr>
              <a:t>Microsoft Support: Align or arrange objects</a:t>
            </a:r>
          </a:p>
          <a:p>
            <a:pPr algn="l">
              <a:spcAft>
                <a:spcPts val="300"/>
              </a:spcAft>
            </a:pPr>
            <a:r>
              <a:rPr sz="1000" b="0">
                <a:solidFill>
                  <a:srgbClr val="5B6372"/>
                </a:solidFill>
                <a:latin typeface="Arial"/>
              </a:rPr>
              <a:t>support.microsoft.com</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5" name="TextBox 14"/>
          <p:cNvSpPr txBox="1"/>
          <p:nvPr/>
        </p:nvSpPr>
        <p:spPr>
          <a:xfrm>
            <a:off x="7219188" y="1911096"/>
            <a:ext cx="3973068" cy="1115568"/>
          </a:xfrm>
          <a:prstGeom prst="rect">
            <a:avLst/>
          </a:prstGeom>
          <a:noFill/>
        </p:spPr>
        <p:txBody>
          <a:bodyPr wrap="square" anchor="ctr">
            <a:spAutoFit/>
          </a:bodyPr>
          <a:lstStyle/>
          <a:p>
            <a:pPr algn="l">
              <a:spcAft>
                <a:spcPts val="300"/>
              </a:spcAft>
            </a:pPr>
            <a:r>
              <a:rPr sz="1400" b="1">
                <a:solidFill>
                  <a:srgbClr val="161B26"/>
                </a:solidFill>
                <a:latin typeface="Arial"/>
              </a:rPr>
              <a:t>Microsoft Support: Insert icons</a:t>
            </a:r>
          </a:p>
          <a:p>
            <a:pPr algn="l">
              <a:spcAft>
                <a:spcPts val="300"/>
              </a:spcAft>
            </a:pPr>
            <a:r>
              <a:rPr sz="1000" b="0">
                <a:solidFill>
                  <a:srgbClr val="5B6372"/>
                </a:solidFill>
                <a:latin typeface="Arial"/>
              </a:rPr>
              <a:t>support.microsoft.com</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0" name="TextBox 19"/>
          <p:cNvSpPr txBox="1"/>
          <p:nvPr/>
        </p:nvSpPr>
        <p:spPr>
          <a:xfrm>
            <a:off x="1764792" y="3447288"/>
            <a:ext cx="3973068" cy="1115568"/>
          </a:xfrm>
          <a:prstGeom prst="rect">
            <a:avLst/>
          </a:prstGeom>
          <a:noFill/>
        </p:spPr>
        <p:txBody>
          <a:bodyPr wrap="square" anchor="ctr">
            <a:spAutoFit/>
          </a:bodyPr>
          <a:lstStyle/>
          <a:p>
            <a:pPr algn="l">
              <a:spcAft>
                <a:spcPts val="300"/>
              </a:spcAft>
            </a:pPr>
            <a:r>
              <a:rPr sz="1400" b="1">
                <a:solidFill>
                  <a:srgbClr val="161B26"/>
                </a:solidFill>
                <a:latin typeface="Arial"/>
              </a:rPr>
              <a:t>Microsoft Support: Use charts and graphs</a:t>
            </a:r>
          </a:p>
          <a:p>
            <a:pPr algn="l">
              <a:spcAft>
                <a:spcPts val="300"/>
              </a:spcAft>
            </a:pPr>
            <a:r>
              <a:rPr sz="1000" b="0">
                <a:solidFill>
                  <a:srgbClr val="5B6372"/>
                </a:solidFill>
                <a:latin typeface="Arial"/>
              </a:rPr>
              <a:t>support.microsoft.com</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5" name="TextBox 24"/>
          <p:cNvSpPr txBox="1"/>
          <p:nvPr/>
        </p:nvSpPr>
        <p:spPr>
          <a:xfrm>
            <a:off x="7219188" y="3447288"/>
            <a:ext cx="3973068" cy="1115568"/>
          </a:xfrm>
          <a:prstGeom prst="rect">
            <a:avLst/>
          </a:prstGeom>
          <a:noFill/>
        </p:spPr>
        <p:txBody>
          <a:bodyPr wrap="square" anchor="ctr">
            <a:spAutoFit/>
          </a:bodyPr>
          <a:lstStyle/>
          <a:p>
            <a:pPr algn="l">
              <a:spcAft>
                <a:spcPts val="300"/>
              </a:spcAft>
            </a:pPr>
            <a:r>
              <a:rPr sz="1400" b="1">
                <a:solidFill>
                  <a:srgbClr val="161B26"/>
                </a:solidFill>
                <a:latin typeface="Arial"/>
              </a:rPr>
              <a:t>Microsoft Support: SmartArt graphics</a:t>
            </a:r>
          </a:p>
          <a:p>
            <a:pPr algn="l">
              <a:spcAft>
                <a:spcPts val="300"/>
              </a:spcAft>
            </a:pPr>
            <a:r>
              <a:rPr sz="1000" b="0">
                <a:solidFill>
                  <a:srgbClr val="5B6372"/>
                </a:solidFill>
                <a:latin typeface="Arial"/>
              </a:rPr>
              <a:t>support.microsoft.com</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0" name="TextBox 29"/>
          <p:cNvSpPr txBox="1"/>
          <p:nvPr/>
        </p:nvSpPr>
        <p:spPr>
          <a:xfrm>
            <a:off x="1764792" y="4983480"/>
            <a:ext cx="3973068" cy="1115568"/>
          </a:xfrm>
          <a:prstGeom prst="rect">
            <a:avLst/>
          </a:prstGeom>
          <a:noFill/>
        </p:spPr>
        <p:txBody>
          <a:bodyPr wrap="square" anchor="ctr">
            <a:spAutoFit/>
          </a:bodyPr>
          <a:lstStyle/>
          <a:p>
            <a:pPr algn="l">
              <a:spcAft>
                <a:spcPts val="300"/>
              </a:spcAft>
            </a:pPr>
            <a:r>
              <a:rPr sz="1400" b="1">
                <a:solidFill>
                  <a:srgbClr val="161B26"/>
                </a:solidFill>
                <a:latin typeface="Arial"/>
              </a:rPr>
              <a:t>W3C: Understanding Success Criterion 1.4.3 Contrast</a:t>
            </a:r>
          </a:p>
          <a:p>
            <a:pPr algn="l">
              <a:spcAft>
                <a:spcPts val="300"/>
              </a:spcAft>
            </a:pPr>
            <a:r>
              <a:rPr sz="1000" b="0">
                <a:solidFill>
                  <a:srgbClr val="5B6372"/>
                </a:solidFill>
                <a:latin typeface="Arial"/>
              </a:rPr>
              <a:t>w3.org</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130</a:t>
            </a:r>
          </a:p>
        </p:txBody>
      </p:sp>
    </p:spTree>
  </p:cSld>
  <p:clrMapOvr>
    <a:masterClrMapping/>
  </p:clrMapOvr>
  <p:transition spd="fast" advClick="1">
    <p:fade/>
  </p:transition>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SOURCE-ALIGNED COURSEWARE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Sources &amp; Further Reading — 4</a:t>
            </a:r>
          </a:p>
        </p:txBody>
      </p:sp>
      <p:sp>
        <p:nvSpPr>
          <p:cNvPr id="6" name="Rectangle 5"/>
          <p:cNvSpPr/>
          <p:nvPr/>
        </p:nvSpPr>
        <p:spPr>
          <a:xfrm>
            <a:off x="777240" y="1783080"/>
            <a:ext cx="10634472" cy="4370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91440" cy="4370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33272" y="3694176"/>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0" name="TextBox 9"/>
          <p:cNvSpPr txBox="1"/>
          <p:nvPr/>
        </p:nvSpPr>
        <p:spPr>
          <a:xfrm>
            <a:off x="1764792" y="1911096"/>
            <a:ext cx="9427464" cy="4187952"/>
          </a:xfrm>
          <a:prstGeom prst="rect">
            <a:avLst/>
          </a:prstGeom>
          <a:noFill/>
        </p:spPr>
        <p:txBody>
          <a:bodyPr wrap="square" anchor="ctr">
            <a:spAutoFit/>
          </a:bodyPr>
          <a:lstStyle/>
          <a:p>
            <a:pPr algn="l">
              <a:spcAft>
                <a:spcPts val="300"/>
              </a:spcAft>
            </a:pPr>
            <a:r>
              <a:rPr sz="1400" b="1">
                <a:solidFill>
                  <a:srgbClr val="161B26"/>
                </a:solidFill>
                <a:latin typeface="Arial"/>
              </a:rPr>
              <a:t>Datawrapper Academy: What to consider when creating charts</a:t>
            </a:r>
          </a:p>
          <a:p>
            <a:pPr algn="l">
              <a:spcAft>
                <a:spcPts val="300"/>
              </a:spcAft>
            </a:pPr>
            <a:r>
              <a:rPr sz="1000" b="0">
                <a:solidFill>
                  <a:srgbClr val="5B6372"/>
                </a:solidFill>
                <a:latin typeface="Arial"/>
              </a:rPr>
              <a:t>academy.datawrapper.de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131</a:t>
            </a:r>
          </a:p>
        </p:txBody>
      </p:sp>
    </p:spTree>
  </p:cSld>
  <p:clrMapOvr>
    <a:masterClrMapping/>
  </p:clrMapOvr>
  <p:transition spd="fast" advClick="1">
    <p:fade/>
  </p:transition>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COURSE WRAP-UP</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The CLEAR Infographic Workflow</a:t>
            </a:r>
          </a:p>
        </p:txBody>
      </p:sp>
      <p:sp>
        <p:nvSpPr>
          <p:cNvPr id="6" name="TextBox 5"/>
          <p:cNvSpPr txBox="1"/>
          <p:nvPr/>
        </p:nvSpPr>
        <p:spPr>
          <a:xfrm>
            <a:off x="777240" y="1828800"/>
            <a:ext cx="1878177" cy="822960"/>
          </a:xfrm>
          <a:prstGeom prst="rect">
            <a:avLst/>
          </a:prstGeom>
          <a:noFill/>
        </p:spPr>
        <p:txBody>
          <a:bodyPr wrap="square" anchor="t">
            <a:spAutoFit/>
          </a:bodyPr>
          <a:lstStyle/>
          <a:p>
            <a:pPr algn="l">
              <a:spcAft>
                <a:spcPts val="400"/>
              </a:spcAft>
            </a:pPr>
            <a:r>
              <a:rPr sz="4400" b="1">
                <a:solidFill>
                  <a:srgbClr val="A9B8CA"/>
                </a:solidFill>
                <a:latin typeface="Arial"/>
              </a:rPr>
              <a:t>01</a:t>
            </a:r>
          </a:p>
        </p:txBody>
      </p:sp>
      <p:sp>
        <p:nvSpPr>
          <p:cNvPr id="7" name="TextBox 6"/>
          <p:cNvSpPr txBox="1"/>
          <p:nvPr/>
        </p:nvSpPr>
        <p:spPr>
          <a:xfrm>
            <a:off x="777240" y="2697480"/>
            <a:ext cx="1878177" cy="685800"/>
          </a:xfrm>
          <a:prstGeom prst="rect">
            <a:avLst/>
          </a:prstGeom>
          <a:noFill/>
        </p:spPr>
        <p:txBody>
          <a:bodyPr wrap="square" anchor="t">
            <a:spAutoFit/>
          </a:bodyPr>
          <a:lstStyle/>
          <a:p>
            <a:pPr algn="l">
              <a:spcAft>
                <a:spcPts val="400"/>
              </a:spcAft>
            </a:pPr>
            <a:r>
              <a:rPr sz="1600" b="1">
                <a:solidFill>
                  <a:srgbClr val="1F6FEB"/>
                </a:solidFill>
                <a:latin typeface="Arial"/>
              </a:rPr>
              <a:t>Collect</a:t>
            </a:r>
          </a:p>
        </p:txBody>
      </p:sp>
      <p:sp>
        <p:nvSpPr>
          <p:cNvPr id="8" name="TextBox 7"/>
          <p:cNvSpPr txBox="1"/>
          <p:nvPr/>
        </p:nvSpPr>
        <p:spPr>
          <a:xfrm>
            <a:off x="777240" y="3401568"/>
            <a:ext cx="1878177" cy="1737360"/>
          </a:xfrm>
          <a:prstGeom prst="rect">
            <a:avLst/>
          </a:prstGeom>
          <a:noFill/>
        </p:spPr>
        <p:txBody>
          <a:bodyPr wrap="square" anchor="t">
            <a:spAutoFit/>
          </a:bodyPr>
          <a:lstStyle/>
          <a:p>
            <a:pPr algn="l">
              <a:spcAft>
                <a:spcPts val="400"/>
              </a:spcAft>
            </a:pPr>
            <a:r>
              <a:rPr sz="1200" b="0">
                <a:solidFill>
                  <a:srgbClr val="161B26"/>
                </a:solidFill>
                <a:latin typeface="Arial"/>
              </a:rPr>
              <a:t>Gather and organise approved files, notes and datasets for Microsoft 365 Copilot and PowerPoint.</a:t>
            </a:r>
          </a:p>
        </p:txBody>
      </p:sp>
      <p:sp>
        <p:nvSpPr>
          <p:cNvPr id="9" name="TextBox 8"/>
          <p:cNvSpPr txBox="1"/>
          <p:nvPr/>
        </p:nvSpPr>
        <p:spPr>
          <a:xfrm>
            <a:off x="2966313" y="1828800"/>
            <a:ext cx="1878177" cy="822960"/>
          </a:xfrm>
          <a:prstGeom prst="rect">
            <a:avLst/>
          </a:prstGeom>
          <a:noFill/>
        </p:spPr>
        <p:txBody>
          <a:bodyPr wrap="square" anchor="t">
            <a:spAutoFit/>
          </a:bodyPr>
          <a:lstStyle/>
          <a:p>
            <a:pPr algn="l">
              <a:spcAft>
                <a:spcPts val="400"/>
              </a:spcAft>
            </a:pPr>
            <a:r>
              <a:rPr sz="4400" b="1">
                <a:solidFill>
                  <a:srgbClr val="A9B8CA"/>
                </a:solidFill>
                <a:latin typeface="Arial"/>
              </a:rPr>
              <a:t>02</a:t>
            </a:r>
          </a:p>
        </p:txBody>
      </p:sp>
      <p:sp>
        <p:nvSpPr>
          <p:cNvPr id="10" name="TextBox 9"/>
          <p:cNvSpPr txBox="1"/>
          <p:nvPr/>
        </p:nvSpPr>
        <p:spPr>
          <a:xfrm>
            <a:off x="2966313" y="2697480"/>
            <a:ext cx="1878177" cy="685800"/>
          </a:xfrm>
          <a:prstGeom prst="rect">
            <a:avLst/>
          </a:prstGeom>
          <a:noFill/>
        </p:spPr>
        <p:txBody>
          <a:bodyPr wrap="square" anchor="t">
            <a:spAutoFit/>
          </a:bodyPr>
          <a:lstStyle/>
          <a:p>
            <a:pPr algn="l">
              <a:spcAft>
                <a:spcPts val="400"/>
              </a:spcAft>
            </a:pPr>
            <a:r>
              <a:rPr sz="1600" b="1">
                <a:solidFill>
                  <a:srgbClr val="10B981"/>
                </a:solidFill>
                <a:latin typeface="Arial"/>
              </a:rPr>
              <a:t>Analyse</a:t>
            </a:r>
          </a:p>
        </p:txBody>
      </p:sp>
      <p:sp>
        <p:nvSpPr>
          <p:cNvPr id="11" name="TextBox 10"/>
          <p:cNvSpPr txBox="1"/>
          <p:nvPr/>
        </p:nvSpPr>
        <p:spPr>
          <a:xfrm>
            <a:off x="2966313" y="3401568"/>
            <a:ext cx="1878177" cy="1737360"/>
          </a:xfrm>
          <a:prstGeom prst="rect">
            <a:avLst/>
          </a:prstGeom>
          <a:noFill/>
        </p:spPr>
        <p:txBody>
          <a:bodyPr wrap="square" anchor="t">
            <a:spAutoFit/>
          </a:bodyPr>
          <a:lstStyle/>
          <a:p>
            <a:pPr algn="l">
              <a:spcAft>
                <a:spcPts val="400"/>
              </a:spcAft>
            </a:pPr>
            <a:r>
              <a:rPr sz="1200" b="0">
                <a:solidFill>
                  <a:srgbClr val="161B26"/>
                </a:solidFill>
                <a:latin typeface="Arial"/>
              </a:rPr>
              <a:t>Clean the data, reconcile units and periods, test patterns and extract candidate insights with citations.</a:t>
            </a:r>
          </a:p>
        </p:txBody>
      </p:sp>
      <p:sp>
        <p:nvSpPr>
          <p:cNvPr id="12" name="TextBox 11"/>
          <p:cNvSpPr txBox="1"/>
          <p:nvPr/>
        </p:nvSpPr>
        <p:spPr>
          <a:xfrm>
            <a:off x="5155386" y="1828800"/>
            <a:ext cx="1878177" cy="822960"/>
          </a:xfrm>
          <a:prstGeom prst="rect">
            <a:avLst/>
          </a:prstGeom>
          <a:noFill/>
        </p:spPr>
        <p:txBody>
          <a:bodyPr wrap="square" anchor="t">
            <a:spAutoFit/>
          </a:bodyPr>
          <a:lstStyle/>
          <a:p>
            <a:pPr algn="l">
              <a:spcAft>
                <a:spcPts val="400"/>
              </a:spcAft>
            </a:pPr>
            <a:r>
              <a:rPr sz="4400" b="1">
                <a:solidFill>
                  <a:srgbClr val="A9B8CA"/>
                </a:solidFill>
                <a:latin typeface="Arial"/>
              </a:rPr>
              <a:t>03</a:t>
            </a:r>
          </a:p>
        </p:txBody>
      </p:sp>
      <p:sp>
        <p:nvSpPr>
          <p:cNvPr id="13" name="TextBox 12"/>
          <p:cNvSpPr txBox="1"/>
          <p:nvPr/>
        </p:nvSpPr>
        <p:spPr>
          <a:xfrm>
            <a:off x="5155386" y="2697480"/>
            <a:ext cx="1878177" cy="685800"/>
          </a:xfrm>
          <a:prstGeom prst="rect">
            <a:avLst/>
          </a:prstGeom>
          <a:noFill/>
        </p:spPr>
        <p:txBody>
          <a:bodyPr wrap="square" anchor="t">
            <a:spAutoFit/>
          </a:bodyPr>
          <a:lstStyle/>
          <a:p>
            <a:pPr algn="l">
              <a:spcAft>
                <a:spcPts val="400"/>
              </a:spcAft>
            </a:pPr>
            <a:r>
              <a:rPr sz="1600" b="1">
                <a:solidFill>
                  <a:srgbClr val="7C3AED"/>
                </a:solidFill>
                <a:latin typeface="Arial"/>
              </a:rPr>
              <a:t>Generate</a:t>
            </a:r>
          </a:p>
        </p:txBody>
      </p:sp>
      <p:sp>
        <p:nvSpPr>
          <p:cNvPr id="14" name="TextBox 13"/>
          <p:cNvSpPr txBox="1"/>
          <p:nvPr/>
        </p:nvSpPr>
        <p:spPr>
          <a:xfrm>
            <a:off x="5155386" y="3401568"/>
            <a:ext cx="1878177" cy="1737360"/>
          </a:xfrm>
          <a:prstGeom prst="rect">
            <a:avLst/>
          </a:prstGeom>
          <a:noFill/>
        </p:spPr>
        <p:txBody>
          <a:bodyPr wrap="square" anchor="t">
            <a:spAutoFit/>
          </a:bodyPr>
          <a:lstStyle/>
          <a:p>
            <a:pPr algn="l">
              <a:spcAft>
                <a:spcPts val="400"/>
              </a:spcAft>
            </a:pPr>
            <a:r>
              <a:rPr sz="1200" b="0">
                <a:solidFill>
                  <a:srgbClr val="161B26"/>
                </a:solidFill>
                <a:latin typeface="Arial"/>
              </a:rPr>
              <a:t>Prompt Microsoft 365 Copilot for an evidence-led infographic direction and preserve the exact prompt.</a:t>
            </a:r>
          </a:p>
        </p:txBody>
      </p:sp>
      <p:sp>
        <p:nvSpPr>
          <p:cNvPr id="15" name="TextBox 14"/>
          <p:cNvSpPr txBox="1"/>
          <p:nvPr/>
        </p:nvSpPr>
        <p:spPr>
          <a:xfrm>
            <a:off x="7344459" y="1828800"/>
            <a:ext cx="1878177" cy="822960"/>
          </a:xfrm>
          <a:prstGeom prst="rect">
            <a:avLst/>
          </a:prstGeom>
          <a:noFill/>
        </p:spPr>
        <p:txBody>
          <a:bodyPr wrap="square" anchor="t">
            <a:spAutoFit/>
          </a:bodyPr>
          <a:lstStyle/>
          <a:p>
            <a:pPr algn="l">
              <a:spcAft>
                <a:spcPts val="400"/>
              </a:spcAft>
            </a:pPr>
            <a:r>
              <a:rPr sz="4400" b="1">
                <a:solidFill>
                  <a:srgbClr val="A9B8CA"/>
                </a:solidFill>
                <a:latin typeface="Arial"/>
              </a:rPr>
              <a:t>04</a:t>
            </a:r>
          </a:p>
        </p:txBody>
      </p:sp>
      <p:sp>
        <p:nvSpPr>
          <p:cNvPr id="16" name="TextBox 15"/>
          <p:cNvSpPr txBox="1"/>
          <p:nvPr/>
        </p:nvSpPr>
        <p:spPr>
          <a:xfrm>
            <a:off x="7344459" y="2697480"/>
            <a:ext cx="1878177" cy="685800"/>
          </a:xfrm>
          <a:prstGeom prst="rect">
            <a:avLst/>
          </a:prstGeom>
          <a:noFill/>
        </p:spPr>
        <p:txBody>
          <a:bodyPr wrap="square" anchor="t">
            <a:spAutoFit/>
          </a:bodyPr>
          <a:lstStyle/>
          <a:p>
            <a:pPr algn="l">
              <a:spcAft>
                <a:spcPts val="400"/>
              </a:spcAft>
            </a:pPr>
            <a:r>
              <a:rPr sz="1600" b="1">
                <a:solidFill>
                  <a:srgbClr val="F59E0B"/>
                </a:solidFill>
                <a:latin typeface="Arial"/>
              </a:rPr>
              <a:t>Refine</a:t>
            </a:r>
          </a:p>
        </p:txBody>
      </p:sp>
      <p:sp>
        <p:nvSpPr>
          <p:cNvPr id="17" name="TextBox 16"/>
          <p:cNvSpPr txBox="1"/>
          <p:nvPr/>
        </p:nvSpPr>
        <p:spPr>
          <a:xfrm>
            <a:off x="7344459" y="3401568"/>
            <a:ext cx="1878177" cy="1737360"/>
          </a:xfrm>
          <a:prstGeom prst="rect">
            <a:avLst/>
          </a:prstGeom>
          <a:noFill/>
        </p:spPr>
        <p:txBody>
          <a:bodyPr wrap="square" anchor="t">
            <a:spAutoFit/>
          </a:bodyPr>
          <a:lstStyle/>
          <a:p>
            <a:pPr algn="l">
              <a:spcAft>
                <a:spcPts val="400"/>
              </a:spcAft>
            </a:pPr>
            <a:r>
              <a:rPr sz="1200" b="0">
                <a:solidFill>
                  <a:srgbClr val="161B26"/>
                </a:solidFill>
                <a:latin typeface="Arial"/>
              </a:rPr>
              <a:t>Convert or rebuild the selected direction in PowerPoint with editable text, charts, labels and brand controls.</a:t>
            </a:r>
          </a:p>
        </p:txBody>
      </p:sp>
      <p:sp>
        <p:nvSpPr>
          <p:cNvPr id="18" name="TextBox 17"/>
          <p:cNvSpPr txBox="1"/>
          <p:nvPr/>
        </p:nvSpPr>
        <p:spPr>
          <a:xfrm>
            <a:off x="9533532" y="1828800"/>
            <a:ext cx="1878177" cy="822960"/>
          </a:xfrm>
          <a:prstGeom prst="rect">
            <a:avLst/>
          </a:prstGeom>
          <a:noFill/>
        </p:spPr>
        <p:txBody>
          <a:bodyPr wrap="square" anchor="t">
            <a:spAutoFit/>
          </a:bodyPr>
          <a:lstStyle/>
          <a:p>
            <a:pPr algn="l">
              <a:spcAft>
                <a:spcPts val="400"/>
              </a:spcAft>
            </a:pPr>
            <a:r>
              <a:rPr sz="4400" b="1">
                <a:solidFill>
                  <a:srgbClr val="A9B8CA"/>
                </a:solidFill>
                <a:latin typeface="Arial"/>
              </a:rPr>
              <a:t>05</a:t>
            </a:r>
          </a:p>
        </p:txBody>
      </p:sp>
      <p:sp>
        <p:nvSpPr>
          <p:cNvPr id="19" name="TextBox 18"/>
          <p:cNvSpPr txBox="1"/>
          <p:nvPr/>
        </p:nvSpPr>
        <p:spPr>
          <a:xfrm>
            <a:off x="9533532" y="2697480"/>
            <a:ext cx="1878177" cy="685800"/>
          </a:xfrm>
          <a:prstGeom prst="rect">
            <a:avLst/>
          </a:prstGeom>
          <a:noFill/>
        </p:spPr>
        <p:txBody>
          <a:bodyPr wrap="square" anchor="t">
            <a:spAutoFit/>
          </a:bodyPr>
          <a:lstStyle/>
          <a:p>
            <a:pPr algn="l">
              <a:spcAft>
                <a:spcPts val="400"/>
              </a:spcAft>
            </a:pPr>
            <a:r>
              <a:rPr sz="1600" b="1">
                <a:solidFill>
                  <a:srgbClr val="1F6FEB"/>
                </a:solidFill>
                <a:latin typeface="Arial"/>
              </a:rPr>
              <a:t>Verify</a:t>
            </a:r>
          </a:p>
        </p:txBody>
      </p:sp>
      <p:sp>
        <p:nvSpPr>
          <p:cNvPr id="20" name="TextBox 19"/>
          <p:cNvSpPr txBox="1"/>
          <p:nvPr/>
        </p:nvSpPr>
        <p:spPr>
          <a:xfrm>
            <a:off x="9533532" y="3401568"/>
            <a:ext cx="1878177" cy="1737360"/>
          </a:xfrm>
          <a:prstGeom prst="rect">
            <a:avLst/>
          </a:prstGeom>
          <a:noFill/>
        </p:spPr>
        <p:txBody>
          <a:bodyPr wrap="square" anchor="t">
            <a:spAutoFit/>
          </a:bodyPr>
          <a:lstStyle/>
          <a:p>
            <a:pPr algn="l">
              <a:spcAft>
                <a:spcPts val="400"/>
              </a:spcAft>
            </a:pPr>
            <a:r>
              <a:rPr sz="1200" b="0">
                <a:solidFill>
                  <a:srgbClr val="161B26"/>
                </a:solidFill>
                <a:latin typeface="Arial"/>
              </a:rPr>
              <a:t>Audit truth, privacy, rights, accessibility, provenance and export before release.</a:t>
            </a:r>
          </a:p>
        </p:txBody>
      </p:sp>
      <p:sp>
        <p:nvSpPr>
          <p:cNvPr id="21" name="Rectangle 20"/>
          <p:cNvSpPr/>
          <p:nvPr/>
        </p:nvSpPr>
        <p:spPr>
          <a:xfrm>
            <a:off x="777240" y="5440680"/>
            <a:ext cx="10634472" cy="7315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5440680"/>
            <a:ext cx="91440" cy="7315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97280" y="5440680"/>
            <a:ext cx="10058400" cy="731520"/>
          </a:xfrm>
          <a:prstGeom prst="rect">
            <a:avLst/>
          </a:prstGeom>
          <a:noFill/>
        </p:spPr>
        <p:txBody>
          <a:bodyPr wrap="square" anchor="ctr">
            <a:spAutoFit/>
          </a:bodyPr>
          <a:lstStyle/>
          <a:p>
            <a:pPr algn="l">
              <a:spcAft>
                <a:spcPts val="400"/>
              </a:spcAft>
            </a:pPr>
            <a:r>
              <a:rPr sz="1600" b="1">
                <a:solidFill>
                  <a:srgbClr val="161B26"/>
                </a:solidFill>
                <a:latin typeface="Arial"/>
              </a:rPr>
              <a:t>Clarify the question, link the evidence, edit the visual hierarchy, audit the truth and release the right format.</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132</a:t>
            </a:r>
          </a:p>
        </p:txBody>
      </p:sp>
    </p:spTree>
  </p:cSld>
  <p:clrMapOvr>
    <a:masterClrMapping/>
  </p:clrMapOvr>
  <p:transition spd="fast" advClick="1">
    <p:fade/>
  </p:transition>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WRAP-UP</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Course Summary &amp; Next Steps</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133</a:t>
            </a:r>
          </a:p>
        </p:txBody>
      </p:sp>
    </p:spTree>
  </p:cSld>
  <p:clrMapOvr>
    <a:masterClrMapping/>
  </p:clrMapOvr>
  <p:transition spd="fast" advClick="1">
    <p:fade/>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350"/>
                                        <p:tgtEl>
                                          <p:spTgt spid="4"/>
                                        </p:tgtEl>
                                      </p:cBhvr>
                                    </p:animEffect>
                                    <p:anim calcmode="lin" valueType="num">
                                      <p:cBhvr additive="base">
                                        <p:cTn id="15" dur="350" fill="hold"/>
                                        <p:tgtEl>
                                          <p:spTgt spid="4"/>
                                        </p:tgtEl>
                                        <p:attrNameLst>
                                          <p:attrName>ppt_y</p:attrName>
                                        </p:attrNameLst>
                                      </p:cBhvr>
                                      <p:tavLst>
                                        <p:tav tm="0">
                                          <p:val>
                                            <p:strVal val="#ppt_y+0.0350"/>
                                          </p:val>
                                        </p:tav>
                                        <p:tav tm="100000">
                                          <p:val>
                                            <p:strVal val="#ppt_y"/>
                                          </p:val>
                                        </p:tav>
                                      </p:tavLst>
                                    </p:anim>
                                  </p:childTnLst>
                                </p:cTn>
                              </p:par>
                            </p:childTnLst>
                          </p:cTn>
                        </p:par>
                      </p:childTnLst>
                    </p:cTn>
                  </p:par>
                  <p:par>
                    <p:cTn id="20" fill="hold">
                      <p:stCondLst>
                        <p:cond delay="0"/>
                      </p:stCondLst>
                      <p:childTnLst>
                        <p:par>
                          <p:cTn id="21" fill="hold">
                            <p:stCondLst>
                              <p:cond delay="0"/>
                            </p:stCondLst>
                            <p:childTnLst>
                              <p:par>
                                <p:cTn id="22" presetID="10" presetClass="entr" presetSubtype="0" fill="hold" grpId="0" nodeType="afterEffect">
                                  <p:stCondLst>
                                    <p:cond delay="0"/>
                                  </p:stCondLst>
                                  <p:childTnLst>
                                    <p:set>
                                      <p:cBhvr>
                                        <p:cTn id="23" dur="1" fill="hold">
                                          <p:stCondLst>
                                            <p:cond delay="0"/>
                                          </p:stCondLst>
                                        </p:cTn>
                                        <p:tgtEl>
                                          <p:spTgt spid="5"/>
                                        </p:tgtEl>
                                        <p:attrNameLst>
                                          <p:attrName>style.visibility</p:attrName>
                                        </p:attrNameLst>
                                      </p:cBhvr>
                                      <p:to>
                                        <p:strVal val="visible"/>
                                      </p:to>
                                    </p:set>
                                    <p:animEffect transition="in" filter="fade">
                                      <p:cBhvr>
                                        <p:cTn id="24" dur="350"/>
                                        <p:tgtEl>
                                          <p:spTgt spid="5"/>
                                        </p:tgtEl>
                                      </p:cBhvr>
                                    </p:animEffect>
                                    <p:anim calcmode="lin" valueType="num">
                                      <p:cBhvr additive="base">
                                        <p:cTn id="25" dur="350" fill="hold"/>
                                        <p:tgtEl>
                                          <p:spTgt spid="5"/>
                                        </p:tgtEl>
                                        <p:attrNameLst>
                                          <p:attrName>ppt_y</p:attrName>
                                        </p:attrNameLst>
                                      </p:cBhvr>
                                      <p:tavLst>
                                        <p:tav tm="0">
                                          <p:val>
                                            <p:strVal val="#ppt_y+0.0350"/>
                                          </p:val>
                                        </p:tav>
                                        <p:tav tm="100000">
                                          <p:val>
                                            <p:strVal val="#ppt_y"/>
                                          </p:val>
                                        </p:tav>
                                      </p:tavLst>
                                    </p:anim>
                                  </p:childTnLst>
                                </p:cTn>
                              </p:par>
                            </p:childTnLst>
                          </p:cTn>
                        </p:par>
                      </p:childTnLst>
                    </p:cTn>
                  </p:par>
                  <p:par>
                    <p:cTn id="30" fill="hold">
                      <p:stCondLst>
                        <p:cond delay="0"/>
                      </p:stCondLst>
                      <p:childTnLst>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6"/>
                                        </p:tgtEl>
                                        <p:attrNameLst>
                                          <p:attrName>style.visibility</p:attrName>
                                        </p:attrNameLst>
                                      </p:cBhvr>
                                      <p:to>
                                        <p:strVal val="visible"/>
                                      </p:to>
                                    </p:set>
                                    <p:animEffect transition="in" filter="fade">
                                      <p:cBhvr>
                                        <p:cTn id="34" dur="350"/>
                                        <p:tgtEl>
                                          <p:spTgt spid="6"/>
                                        </p:tgtEl>
                                      </p:cBhvr>
                                    </p:animEffect>
                                    <p:anim calcmode="lin" valueType="num">
                                      <p:cBhvr additive="base">
                                        <p:cTn id="35" dur="350" fill="hold"/>
                                        <p:tgtEl>
                                          <p:spTgt spid="6"/>
                                        </p:tgtEl>
                                        <p:attrNameLst>
                                          <p:attrName>ppt_y</p:attrName>
                                        </p:attrNameLst>
                                      </p:cBhvr>
                                      <p:tavLst>
                                        <p:tav tm="0">
                                          <p:val>
                                            <p:strVal val="#ppt_y+0.0350"/>
                                          </p:val>
                                        </p:tav>
                                        <p:tav tm="100000">
                                          <p:val>
                                            <p:strVal val="#ppt_y"/>
                                          </p:val>
                                        </p:tav>
                                      </p:tavLst>
                                    </p:anim>
                                  </p:childTnLst>
                                </p:cTn>
                              </p:par>
                            </p:childTnLst>
                          </p:cTn>
                        </p:par>
                      </p:childTnLst>
                    </p:cTn>
                  </p:par>
                </p:childTnLst>
                <p:prevCondLst>
                  <p:cond evt="onPrev" delay="0">
                    <p:tgtEl>
                      <p:sldTgt/>
                    </p:tgtEl>
                  </p:cond>
                </p:prevCondLst>
                <p:nextCondLst>
                  <p:cond evt="onNext" delay="0">
                    <p:tgtEl>
                      <p:sldTgt/>
                    </p:tgtEl>
                  </p:cond>
                </p:nextCondLst>
              </p:cTn>
            </p:seq>
          </p:childTnLst>
        </p:cTn>
      </p:par>
    </p:tnLst>
  </p:timing>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LEARNING OUTCOMES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What You Achieved</a:t>
            </a:r>
          </a:p>
        </p:txBody>
      </p:sp>
      <p:sp>
        <p:nvSpPr>
          <p:cNvPr id="6" name="Rectangle 5"/>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0" name="TextBox 9"/>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Draw Insights</a:t>
            </a:r>
          </a:p>
          <a:p>
            <a:pPr algn="l">
              <a:spcAft>
                <a:spcPts val="300"/>
              </a:spcAft>
            </a:pPr>
            <a:r>
              <a:rPr sz="1300" b="0">
                <a:solidFill>
                  <a:srgbClr val="5B6372"/>
                </a:solidFill>
                <a:latin typeface="Arial"/>
              </a:rPr>
              <a:t>Converted visual patterns into contextualised, defensible recommendations.</a:t>
            </a:r>
          </a:p>
        </p:txBody>
      </p:sp>
      <p:sp>
        <p:nvSpPr>
          <p:cNvPr id="11" name="Rectangle 10"/>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5" name="TextBox 14"/>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Create in PowerPoint</a:t>
            </a:r>
          </a:p>
          <a:p>
            <a:pPr algn="l">
              <a:spcAft>
                <a:spcPts val="300"/>
              </a:spcAft>
            </a:pPr>
            <a:r>
              <a:rPr sz="1300" b="0">
                <a:solidFill>
                  <a:srgbClr val="5B6372"/>
                </a:solidFill>
                <a:latin typeface="Arial"/>
              </a:rPr>
              <a:t>Generated varied infographic directions with Microsoft 365 Copilot, then refined editable charts, labels and decisions.</a:t>
            </a:r>
          </a:p>
        </p:txBody>
      </p:sp>
      <p:sp>
        <p:nvSpPr>
          <p:cNvPr id="16" name="Rectangle 15"/>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0" name="TextBox 19"/>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Assess Effectiveness</a:t>
            </a:r>
          </a:p>
          <a:p>
            <a:pPr algn="l">
              <a:spcAft>
                <a:spcPts val="300"/>
              </a:spcAft>
            </a:pPr>
            <a:r>
              <a:rPr sz="1300" b="0">
                <a:solidFill>
                  <a:srgbClr val="5B6372"/>
                </a:solidFill>
                <a:latin typeface="Arial"/>
              </a:rPr>
              <a:t>Used peer evidence, resource criteria and governance to improve and invest.</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134</a:t>
            </a:r>
          </a:p>
        </p:txBody>
      </p:sp>
    </p:spTree>
  </p:cSld>
  <p:clrMapOvr>
    <a:masterClrMapping/>
  </p:clrMapOvr>
  <p:transition spd="fast" advClick="1">
    <p:fade/>
  </p:transition>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WRAP-UP</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Assessment</a:t>
            </a:r>
          </a:p>
        </p:txBody>
      </p:sp>
      <p:sp>
        <p:nvSpPr>
          <p:cNvPr id="6" name="Rectangle 5"/>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0" name="TextBox 9"/>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Written Assessment (WA-SAQ)</a:t>
            </a:r>
          </a:p>
          <a:p>
            <a:pPr algn="l">
              <a:spcAft>
                <a:spcPts val="300"/>
              </a:spcAft>
            </a:pPr>
            <a:r>
              <a:rPr sz="1200" b="0">
                <a:solidFill>
                  <a:srgbClr val="5B6372"/>
                </a:solidFill>
                <a:latin typeface="Arial"/>
              </a:rPr>
              <a:t>Nine open-ended questions — 30 minutes, open book.</a:t>
            </a:r>
          </a:p>
        </p:txBody>
      </p:sp>
      <p:sp>
        <p:nvSpPr>
          <p:cNvPr id="11" name="Rectangle 10"/>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5" name="TextBox 14"/>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Practical Performance (PP)</a:t>
            </a:r>
          </a:p>
          <a:p>
            <a:pPr algn="l">
              <a:spcAft>
                <a:spcPts val="300"/>
              </a:spcAft>
            </a:pPr>
            <a:r>
              <a:rPr sz="1200" b="0">
                <a:solidFill>
                  <a:srgbClr val="5B6372"/>
                </a:solidFill>
                <a:latin typeface="Arial"/>
              </a:rPr>
              <a:t>Three progressive tasks — 30 minutes, open book.</a:t>
            </a:r>
          </a:p>
        </p:txBody>
      </p:sp>
      <p:sp>
        <p:nvSpPr>
          <p:cNvPr id="16" name="Rectangle 15"/>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0" name="TextBox 19"/>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Open Book</a:t>
            </a:r>
          </a:p>
          <a:p>
            <a:pPr algn="l">
              <a:spcAft>
                <a:spcPts val="300"/>
              </a:spcAft>
            </a:pPr>
            <a:r>
              <a:rPr sz="1200" b="0">
                <a:solidFill>
                  <a:srgbClr val="5B6372"/>
                </a:solidFill>
                <a:latin typeface="Arial"/>
              </a:rPr>
              <a:t>Slides, Learner Guide and approved materials only.</a:t>
            </a:r>
          </a:p>
        </p:txBody>
      </p:sp>
      <p:sp>
        <p:nvSpPr>
          <p:cNvPr id="21" name="Rectangle 20"/>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5" name="TextBox 24"/>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Submit</a:t>
            </a:r>
          </a:p>
          <a:p>
            <a:pPr algn="l">
              <a:spcAft>
                <a:spcPts val="300"/>
              </a:spcAft>
            </a:pPr>
            <a:r>
              <a:rPr sz="1200" b="0">
                <a:solidFill>
                  <a:srgbClr val="5B6372"/>
                </a:solidFill>
                <a:latin typeface="Arial"/>
              </a:rPr>
              <a:t>On the LMS — lms-tms.tertiaryinfotech.com</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135</a:t>
            </a:r>
          </a:p>
        </p:txBody>
      </p:sp>
    </p:spTree>
  </p:cSld>
  <p:clrMapOvr>
    <a:masterClrMapping/>
  </p:clrMapOvr>
  <p:transition spd="fast" advClick="1">
    <p:fade/>
  </p:transition>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ON ASSESSMENT DAY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Assessment Flow</a:t>
            </a:r>
          </a:p>
        </p:txBody>
      </p:sp>
      <p:sp>
        <p:nvSpPr>
          <p:cNvPr id="6" name="Rectangle 5"/>
          <p:cNvSpPr/>
          <p:nvPr/>
        </p:nvSpPr>
        <p:spPr>
          <a:xfrm>
            <a:off x="777240" y="2331720"/>
            <a:ext cx="1907438"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907438"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401775" y="2642616"/>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401775" y="264261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0" name="TextBox 9"/>
          <p:cNvSpPr txBox="1"/>
          <p:nvPr/>
        </p:nvSpPr>
        <p:spPr>
          <a:xfrm>
            <a:off x="923544" y="3657600"/>
            <a:ext cx="1614830" cy="1417320"/>
          </a:xfrm>
          <a:prstGeom prst="rect">
            <a:avLst/>
          </a:prstGeom>
          <a:noFill/>
        </p:spPr>
        <p:txBody>
          <a:bodyPr wrap="square" anchor="t">
            <a:spAutoFit/>
          </a:bodyPr>
          <a:lstStyle/>
          <a:p>
            <a:pPr algn="ctr">
              <a:spcAft>
                <a:spcPts val="400"/>
              </a:spcAft>
            </a:pPr>
            <a:r>
              <a:rPr sz="1300" b="0">
                <a:solidFill>
                  <a:srgbClr val="161B26"/>
                </a:solidFill>
                <a:latin typeface="Arial"/>
              </a:rPr>
              <a:t>TRAQOM survey — scan the QR code on the LMS</a:t>
            </a:r>
          </a:p>
        </p:txBody>
      </p:sp>
      <p:sp>
        <p:nvSpPr>
          <p:cNvPr id="11" name="Chevron 10"/>
          <p:cNvSpPr/>
          <p:nvPr/>
        </p:nvSpPr>
        <p:spPr>
          <a:xfrm>
            <a:off x="2702966" y="3607308"/>
            <a:ext cx="237744" cy="329184"/>
          </a:xfrm>
          <a:prstGeom prst="chevron">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958998" y="2331720"/>
            <a:ext cx="1907438"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958998" y="2331720"/>
            <a:ext cx="1907438"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583533" y="2642616"/>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83533" y="264261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6" name="TextBox 15"/>
          <p:cNvSpPr txBox="1"/>
          <p:nvPr/>
        </p:nvSpPr>
        <p:spPr>
          <a:xfrm>
            <a:off x="3105302" y="3657600"/>
            <a:ext cx="1614830" cy="1417320"/>
          </a:xfrm>
          <a:prstGeom prst="rect">
            <a:avLst/>
          </a:prstGeom>
          <a:noFill/>
        </p:spPr>
        <p:txBody>
          <a:bodyPr wrap="square" anchor="t">
            <a:spAutoFit/>
          </a:bodyPr>
          <a:lstStyle/>
          <a:p>
            <a:pPr algn="ctr">
              <a:spcAft>
                <a:spcPts val="400"/>
              </a:spcAft>
            </a:pPr>
            <a:r>
              <a:rPr sz="1300" b="0">
                <a:solidFill>
                  <a:srgbClr val="161B26"/>
                </a:solidFill>
                <a:latin typeface="Arial"/>
              </a:rPr>
              <a:t>Assessment digital attendance — scan the SSG QR</a:t>
            </a:r>
          </a:p>
        </p:txBody>
      </p:sp>
      <p:sp>
        <p:nvSpPr>
          <p:cNvPr id="17" name="Chevron 16"/>
          <p:cNvSpPr/>
          <p:nvPr/>
        </p:nvSpPr>
        <p:spPr>
          <a:xfrm>
            <a:off x="4884724" y="3607308"/>
            <a:ext cx="237744" cy="329184"/>
          </a:xfrm>
          <a:prstGeom prst="chevron">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40756" y="2331720"/>
            <a:ext cx="1907438"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140756" y="2331720"/>
            <a:ext cx="1907438"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5765291" y="2642616"/>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765291" y="264261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2" name="TextBox 21"/>
          <p:cNvSpPr txBox="1"/>
          <p:nvPr/>
        </p:nvSpPr>
        <p:spPr>
          <a:xfrm>
            <a:off x="5287060" y="3657600"/>
            <a:ext cx="1614830" cy="1417320"/>
          </a:xfrm>
          <a:prstGeom prst="rect">
            <a:avLst/>
          </a:prstGeom>
          <a:noFill/>
        </p:spPr>
        <p:txBody>
          <a:bodyPr wrap="square" anchor="t">
            <a:spAutoFit/>
          </a:bodyPr>
          <a:lstStyle/>
          <a:p>
            <a:pPr algn="ctr">
              <a:spcAft>
                <a:spcPts val="400"/>
              </a:spcAft>
            </a:pPr>
            <a:r>
              <a:rPr sz="1300" b="0">
                <a:solidFill>
                  <a:srgbClr val="161B26"/>
                </a:solidFill>
                <a:latin typeface="Arial"/>
              </a:rPr>
              <a:t>Sit WA-SAQ then Practical Performance — open book</a:t>
            </a:r>
          </a:p>
        </p:txBody>
      </p:sp>
      <p:sp>
        <p:nvSpPr>
          <p:cNvPr id="23" name="Chevron 22"/>
          <p:cNvSpPr/>
          <p:nvPr/>
        </p:nvSpPr>
        <p:spPr>
          <a:xfrm>
            <a:off x="7066482" y="3607308"/>
            <a:ext cx="237744" cy="329184"/>
          </a:xfrm>
          <a:prstGeom prst="chevron">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322514" y="2331720"/>
            <a:ext cx="1907438"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22514" y="2331720"/>
            <a:ext cx="1907438"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7947049" y="2642616"/>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947049" y="264261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28" name="TextBox 27"/>
          <p:cNvSpPr txBox="1"/>
          <p:nvPr/>
        </p:nvSpPr>
        <p:spPr>
          <a:xfrm>
            <a:off x="7468818" y="3657600"/>
            <a:ext cx="1614830" cy="1417320"/>
          </a:xfrm>
          <a:prstGeom prst="rect">
            <a:avLst/>
          </a:prstGeom>
          <a:noFill/>
        </p:spPr>
        <p:txBody>
          <a:bodyPr wrap="square" anchor="t">
            <a:spAutoFit/>
          </a:bodyPr>
          <a:lstStyle/>
          <a:p>
            <a:pPr algn="ctr">
              <a:spcAft>
                <a:spcPts val="400"/>
              </a:spcAft>
            </a:pPr>
            <a:r>
              <a:rPr sz="1300" b="0">
                <a:solidFill>
                  <a:srgbClr val="161B26"/>
                </a:solidFill>
                <a:latin typeface="Arial"/>
              </a:rPr>
              <a:t>Submit your answers on the LMS</a:t>
            </a:r>
          </a:p>
        </p:txBody>
      </p:sp>
      <p:sp>
        <p:nvSpPr>
          <p:cNvPr id="29" name="Chevron 28"/>
          <p:cNvSpPr/>
          <p:nvPr/>
        </p:nvSpPr>
        <p:spPr>
          <a:xfrm>
            <a:off x="9248240" y="3607308"/>
            <a:ext cx="237744" cy="329184"/>
          </a:xfrm>
          <a:prstGeom prst="chevron">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504272" y="2331720"/>
            <a:ext cx="1907438"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9504272" y="2331720"/>
            <a:ext cx="1907438"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0128807" y="2642616"/>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128807" y="264261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4" name="TextBox 33"/>
          <p:cNvSpPr txBox="1"/>
          <p:nvPr/>
        </p:nvSpPr>
        <p:spPr>
          <a:xfrm>
            <a:off x="9650576" y="3657600"/>
            <a:ext cx="1614830" cy="1417320"/>
          </a:xfrm>
          <a:prstGeom prst="rect">
            <a:avLst/>
          </a:prstGeom>
          <a:noFill/>
        </p:spPr>
        <p:txBody>
          <a:bodyPr wrap="square" anchor="t">
            <a:spAutoFit/>
          </a:bodyPr>
          <a:lstStyle/>
          <a:p>
            <a:pPr algn="ctr">
              <a:spcAft>
                <a:spcPts val="400"/>
              </a:spcAft>
            </a:pPr>
            <a:r>
              <a:rPr sz="1300" b="0">
                <a:solidFill>
                  <a:srgbClr val="161B26"/>
                </a:solidFill>
                <a:latin typeface="Arial"/>
              </a:rPr>
              <a:t>Sign the Assessment Summary Record</a:t>
            </a:r>
          </a:p>
        </p:txBody>
      </p:sp>
      <p:sp>
        <p:nvSpPr>
          <p:cNvPr id="35" name="TextBox 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36" name="TextBox 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136</a:t>
            </a:r>
          </a:p>
        </p:txBody>
      </p:sp>
    </p:spTree>
  </p:cSld>
  <p:clrMapOvr>
    <a:masterClrMapping/>
  </p:clrMapOvr>
  <p:transition spd="fast" advClick="1">
    <p:fade/>
  </p:transition>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SSG DIGITAL ATTENDANCE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Digital Attendance (Mandatory)</a:t>
            </a:r>
          </a:p>
        </p:txBody>
      </p:sp>
      <p:sp>
        <p:nvSpPr>
          <p:cNvPr id="6" name="Rectangle 5"/>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0" name="TextBox 9"/>
          <p:cNvSpPr txBox="1"/>
          <p:nvPr/>
        </p:nvSpPr>
        <p:spPr>
          <a:xfrm>
            <a:off x="1764792" y="1874520"/>
            <a:ext cx="9427464" cy="768096"/>
          </a:xfrm>
          <a:prstGeom prst="rect">
            <a:avLst/>
          </a:prstGeom>
          <a:noFill/>
        </p:spPr>
        <p:txBody>
          <a:bodyPr wrap="square" anchor="ctr">
            <a:spAutoFit/>
          </a:bodyPr>
          <a:lstStyle/>
          <a:p>
            <a:pPr algn="l">
              <a:spcAft>
                <a:spcPts val="400"/>
              </a:spcAft>
            </a:pPr>
            <a:r>
              <a:rPr sz="1500" b="0">
                <a:solidFill>
                  <a:srgbClr val="161B26"/>
                </a:solidFill>
                <a:latin typeface="Arial"/>
              </a:rPr>
              <a:t>It is mandatory to take the AM, PM and Assessment digital attendance for WSQ-funded courses.</a:t>
            </a:r>
          </a:p>
        </p:txBody>
      </p:sp>
      <p:sp>
        <p:nvSpPr>
          <p:cNvPr id="11" name="Rectangle 10"/>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33272" y="31181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5" name="TextBox 14"/>
          <p:cNvSpPr txBox="1"/>
          <p:nvPr/>
        </p:nvSpPr>
        <p:spPr>
          <a:xfrm>
            <a:off x="1764792" y="3026664"/>
            <a:ext cx="9427464" cy="768096"/>
          </a:xfrm>
          <a:prstGeom prst="rect">
            <a:avLst/>
          </a:prstGeom>
          <a:noFill/>
        </p:spPr>
        <p:txBody>
          <a:bodyPr wrap="square" anchor="ctr">
            <a:spAutoFit/>
          </a:bodyPr>
          <a:lstStyle/>
          <a:p>
            <a:pPr algn="l">
              <a:spcAft>
                <a:spcPts val="400"/>
              </a:spcAft>
            </a:pPr>
            <a:r>
              <a:rPr sz="1500" b="0">
                <a:solidFill>
                  <a:srgbClr val="161B26"/>
                </a:solidFill>
                <a:latin typeface="Arial"/>
              </a:rPr>
              <a:t>The trainer/administrator displays the digital attendance QR code from the SSG portal.</a:t>
            </a:r>
          </a:p>
        </p:txBody>
      </p:sp>
      <p:sp>
        <p:nvSpPr>
          <p:cNvPr id="16" name="Rectangle 15"/>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33272" y="42702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0" name="TextBox 19"/>
          <p:cNvSpPr txBox="1"/>
          <p:nvPr/>
        </p:nvSpPr>
        <p:spPr>
          <a:xfrm>
            <a:off x="1764792" y="4178808"/>
            <a:ext cx="9427464" cy="768096"/>
          </a:xfrm>
          <a:prstGeom prst="rect">
            <a:avLst/>
          </a:prstGeom>
          <a:noFill/>
        </p:spPr>
        <p:txBody>
          <a:bodyPr wrap="square" anchor="ctr">
            <a:spAutoFit/>
          </a:bodyPr>
          <a:lstStyle/>
          <a:p>
            <a:pPr algn="l">
              <a:spcAft>
                <a:spcPts val="400"/>
              </a:spcAft>
            </a:pPr>
            <a:r>
              <a:rPr sz="1500" b="0">
                <a:solidFill>
                  <a:srgbClr val="161B26"/>
                </a:solidFill>
                <a:latin typeface="Arial"/>
              </a:rPr>
              <a:t>Scan the QR code with your mobile phone camera and submit your attendance.</a:t>
            </a:r>
          </a:p>
        </p:txBody>
      </p:sp>
      <p:sp>
        <p:nvSpPr>
          <p:cNvPr id="21" name="Rectangle 20"/>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033272"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5" name="TextBox 24"/>
          <p:cNvSpPr txBox="1"/>
          <p:nvPr/>
        </p:nvSpPr>
        <p:spPr>
          <a:xfrm>
            <a:off x="1764792" y="5330952"/>
            <a:ext cx="9427464" cy="768096"/>
          </a:xfrm>
          <a:prstGeom prst="rect">
            <a:avLst/>
          </a:prstGeom>
          <a:noFill/>
        </p:spPr>
        <p:txBody>
          <a:bodyPr wrap="square" anchor="ctr">
            <a:spAutoFit/>
          </a:bodyPr>
          <a:lstStyle/>
          <a:p>
            <a:pPr algn="l">
              <a:spcAft>
                <a:spcPts val="400"/>
              </a:spcAft>
            </a:pPr>
            <a:r>
              <a:rPr sz="1500" b="0">
                <a:solidFill>
                  <a:srgbClr val="161B26"/>
                </a:solidFill>
                <a:latin typeface="Arial"/>
              </a:rPr>
              <a:t>A minimum of 75% attendance is required to be eligible for assessment and funding.</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137</a:t>
            </a:r>
          </a:p>
        </p:txBody>
      </p:sp>
    </p:spTree>
  </p:cSld>
  <p:clrMapOvr>
    <a:masterClrMapping/>
  </p:clrMapOvr>
  <p:transition spd="fast" advClick="1">
    <p:fade/>
  </p:transition>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SEE YOU AT THE NEXT ONE</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Thank You!</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You can now move from approved sources to AI-assisted insights and infographic options, then deliver an accurate, editable and accountable PowerPoint master.</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138</a:t>
            </a:r>
          </a:p>
        </p:txBody>
      </p:sp>
    </p:spTree>
  </p:cSld>
  <p:clrMapOvr>
    <a:masterClrMapping/>
  </p:clrMapOvr>
  <p:transition spd="fast" advClick="1">
    <p:zoom/>
  </p:transition>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COURSE PORTAL</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Login to LMS and Download Course Material</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Create Powerpoint Infographics with AI  ·  TGS-2026064178</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a:t>
            </a:r>
          </a:p>
        </p:txBody>
      </p:sp>
      <p:pic>
        <p:nvPicPr>
          <p:cNvPr id="40" name="Picture 39" descr="ref_login.png"/>
          <p:cNvPicPr>
            <a:picLocks noChangeAspect="1"/>
          </p:cNvPicPr>
          <p:nvPr/>
        </p:nvPicPr>
        <p:blipFill>
          <a:blip r:embed="rId3"/>
          <a:stretch>
            <a:fillRect/>
          </a:stretch>
        </p:blipFill>
        <p:spPr>
          <a:xfrm>
            <a:off x="2112004" y="1851660"/>
            <a:ext cx="7967686" cy="3963924"/>
          </a:xfrm>
          <a:prstGeom prst="rect">
            <a:avLst/>
          </a:prstGeom>
          <a:ln w="12700">
            <a:solidFill>
              <a:srgbClr val="E2E8F0"/>
            </a:solidFill>
          </a:ln>
        </p:spPr>
      </p:pic>
      <p:sp>
        <p:nvSpPr>
          <p:cNvPr id="41" name="TextBox 40"/>
          <p:cNvSpPr txBox="1"/>
          <p:nvPr/>
        </p:nvSpPr>
        <p:spPr>
          <a:xfrm>
            <a:off x="777240" y="5897880"/>
            <a:ext cx="10637215" cy="459486"/>
          </a:xfrm>
          <a:prstGeom prst="rect">
            <a:avLst/>
          </a:prstGeom>
          <a:noFill/>
        </p:spPr>
        <p:txBody>
          <a:bodyPr wrap="square">
            <a:spAutoFit/>
          </a:bodyPr>
          <a:lstStyle/>
          <a:p>
            <a:pPr algn="ctr"/>
            <a:r>
              <a:rPr sz="1150">
                <a:solidFill>
                  <a:srgbClr val="475569"/>
                </a:solidFill>
                <a:latin typeface="Arial"/>
              </a:rPr>
              <a:t>Log in at lms-tms.tertiaryinfotech.com with your registered email and the OTP sent to your inbox, then open this course to download the slides and Learner Guide.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