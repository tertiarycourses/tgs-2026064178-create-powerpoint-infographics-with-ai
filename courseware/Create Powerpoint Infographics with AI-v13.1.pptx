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2.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tiary-infotech-logo.png"/>
          <p:cNvPicPr>
            <a:picLocks noChangeAspect="1"/>
          </p:cNvPicPr>
          <p:nvPr/>
        </p:nvPicPr>
        <p:blipFill>
          <a:blip r:embed="rId3"/>
          <a:stretch>
            <a:fillRect/>
          </a:stretch>
        </p:blipFill>
        <p:spPr>
          <a:xfrm>
            <a:off x="777240" y="640080"/>
            <a:ext cx="960120" cy="960120"/>
          </a:xfrm>
          <a:prstGeom prst="rect">
            <a:avLst/>
          </a:prstGeom>
        </p:spPr>
      </p:pic>
      <p:sp>
        <p:nvSpPr>
          <p:cNvPr id="7" name="Rectangle 6"/>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9" name="TextBox 8"/>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10" name="TextBox 9"/>
          <p:cNvSpPr txBox="1"/>
          <p:nvPr/>
        </p:nvSpPr>
        <p:spPr>
          <a:xfrm>
            <a:off x="822960" y="1920240"/>
            <a:ext cx="539496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423160"/>
            <a:ext cx="5303520" cy="1828800"/>
          </a:xfrm>
          <a:prstGeom prst="rect">
            <a:avLst/>
          </a:prstGeom>
          <a:noFill/>
        </p:spPr>
        <p:txBody>
          <a:bodyPr wrap="square" anchor="t">
            <a:spAutoFit/>
          </a:bodyPr>
          <a:lstStyle/>
          <a:p>
            <a:pPr algn="l">
              <a:spcAft>
                <a:spcPts val="400"/>
              </a:spcAft>
            </a:pPr>
            <a:r>
              <a:rPr sz="3200" b="1">
                <a:solidFill>
                  <a:srgbClr val="161B26"/>
                </a:solidFill>
                <a:latin typeface="Arial"/>
              </a:rPr>
              <a:t>Create Powerpoint Infographics with AI</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54864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TGS-2026064178</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806440"/>
            <a:ext cx="54864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v13.1  ·  5 September 2026</a:t>
            </a:r>
          </a:p>
        </p:txBody>
      </p:sp>
      <p:sp>
        <p:nvSpPr>
          <p:cNvPr id="15" name="TextBox 14"/>
          <p:cNvSpPr txBox="1"/>
          <p:nvPr/>
        </p:nvSpPr>
        <p:spPr>
          <a:xfrm>
            <a:off x="822960" y="6236208"/>
            <a:ext cx="6400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General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before delivery</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PowerPoint, data visualisation, generative AI and workplace productivity.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PowerPoint, charts or infographics (if any).</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visual communication habit you want to improve during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Infographics and Data Visualisation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TOU-DAT-4004-1.1-1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 for Tourism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3 Learning Units aligned to the 3 approved Learning Outcomes.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3 TOPICS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AI-Assisted Infographic Planning and Data Insights</a:t>
            </a:r>
          </a:p>
          <a:p>
            <a:pPr algn="l">
              <a:spcAft>
                <a:spcPts val="300"/>
              </a:spcAft>
            </a:pPr>
            <a:r>
              <a:rPr sz="1200" b="0">
                <a:solidFill>
                  <a:srgbClr val="5B6372"/>
                </a:solidFill>
                <a:latin typeface="Arial"/>
              </a:rPr>
              <a:t>Purpose · Types · Audience · Metrics · Planning · Insight extraction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Creating PowerPoint Infographics with AI</a:t>
            </a:r>
          </a:p>
          <a:p>
            <a:pPr algn="l">
              <a:spcAft>
                <a:spcPts val="300"/>
              </a:spcAft>
            </a:pPr>
            <a:r>
              <a:rPr sz="1200" b="0">
                <a:solidFill>
                  <a:srgbClr val="5B6372"/>
                </a:solidFill>
                <a:latin typeface="Arial"/>
              </a:rPr>
              <a:t>Slide size · Grid · Shapes · Icons · Type · Colour · SmartArt · Charts · AI</a:t>
            </a:r>
          </a:p>
        </p:txBody>
      </p:sp>
      <p:sp>
        <p:nvSpPr>
          <p:cNvPr id="16" name="Rectangle 15"/>
          <p:cNvSpPr/>
          <p:nvPr/>
        </p:nvSpPr>
        <p:spPr>
          <a:xfrm>
            <a:off x="3504438"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60470"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047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4491990"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Evaluating and Presenting Infographics for Business Impact</a:t>
            </a:r>
          </a:p>
          <a:p>
            <a:pPr algn="l">
              <a:spcAft>
                <a:spcPts val="300"/>
              </a:spcAft>
            </a:pPr>
            <a:r>
              <a:rPr sz="1200" b="0">
                <a:solidFill>
                  <a:srgbClr val="5B6372"/>
                </a:solidFill>
                <a:latin typeface="Arial"/>
              </a:rPr>
              <a:t>Story · Context · Simplicity · Coaching · Budget · Effectiveness · Improvement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1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Plan and interpret</a:t>
            </a:r>
          </a:p>
          <a:p>
            <a:pPr>
              <a:spcAft>
                <a:spcPts val="1000"/>
              </a:spcAft>
            </a:pPr>
            <a:r>
              <a:rPr sz="1400" b="0">
                <a:solidFill>
                  <a:srgbClr val="5B6372"/>
                </a:solidFill>
                <a:latin typeface="Arial"/>
              </a:rPr>
              <a:t>–  9:30am admin, outcomes and assessment briefing</a:t>
            </a:r>
          </a:p>
          <a:p>
            <a:pPr>
              <a:spcAft>
                <a:spcPts val="1000"/>
              </a:spcAft>
            </a:pPr>
            <a:r>
              <a:rPr sz="1400" b="0">
                <a:solidFill>
                  <a:srgbClr val="5B6372"/>
                </a:solidFill>
                <a:latin typeface="Arial"/>
              </a:rPr>
              <a:t>–  LU1: statistical infographic interpretation and comparison prompt briefing (Activities 1–2)</a:t>
            </a:r>
          </a:p>
          <a:p>
            <a:pPr>
              <a:spcAft>
                <a:spcPts val="1000"/>
              </a:spcAft>
            </a:pPr>
            <a:r>
              <a:rPr sz="1400" b="0">
                <a:solidFill>
                  <a:srgbClr val="5B6372"/>
                </a:solidFill>
                <a:latin typeface="Arial"/>
              </a:rPr>
              <a:t>–  LU2 begins: Microsoft 365 Copilot infographic creation and PowerPoint refinement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Create, review and assess</a:t>
            </a:r>
          </a:p>
          <a:p>
            <a:pPr>
              <a:spcAft>
                <a:spcPts val="1000"/>
              </a:spcAft>
            </a:pPr>
            <a:r>
              <a:rPr sz="1400" b="0">
                <a:solidFill>
                  <a:srgbClr val="5B6372"/>
                </a:solidFill>
                <a:latin typeface="Arial"/>
              </a:rPr>
              <a:t>–  LU2: Copilot timeline, process, comparison and hierarchy infographics with PowerPoint refinement (Activities 3–6)</a:t>
            </a:r>
          </a:p>
          <a:p>
            <a:pPr>
              <a:spcAft>
                <a:spcPts val="1000"/>
              </a:spcAft>
            </a:pPr>
            <a:r>
              <a:rPr sz="1400" b="0">
                <a:solidFill>
                  <a:srgbClr val="5B6372"/>
                </a:solidFill>
                <a:latin typeface="Arial"/>
              </a:rPr>
              <a:t>–  LU3: stakeholder mind map, peer coaching and resource scorecard (Activities 7–8)</a:t>
            </a:r>
          </a:p>
          <a:p>
            <a:pPr>
              <a:spcAft>
                <a:spcPts val="1000"/>
              </a:spcAft>
            </a:pPr>
            <a:r>
              <a:rPr sz="1400" b="0">
                <a:solidFill>
                  <a:srgbClr val="5B6372"/>
                </a:solidFill>
                <a:latin typeface="Arial"/>
              </a:rPr>
              <a:t>–  Assessment: WA-SAQ 30 min + PP 30 min, 5:30–6:30pm</a:t>
            </a:r>
          </a:p>
          <a:p>
            <a:pPr>
              <a:spcAft>
                <a:spcPts val="1000"/>
              </a:spcAft>
            </a:pPr>
            <a:r>
              <a:rPr sz="1600" b="0">
                <a:solidFill>
                  <a:srgbClr val="161B26"/>
                </a:solidFill>
                <a:latin typeface="Arial"/>
              </a:rPr>
              <a:t>•  Timing</a:t>
            </a:r>
          </a:p>
          <a:p>
            <a:pPr>
              <a:spcAft>
                <a:spcPts val="1000"/>
              </a:spcAft>
            </a:pPr>
            <a:r>
              <a:rPr sz="1400" b="0">
                <a:solidFill>
                  <a:srgbClr val="5B6372"/>
                </a:solidFill>
                <a:latin typeface="Arial"/>
              </a:rPr>
              <a:t>–  9:30am–6:30pm · 60-minute lunch · 10-minute breaks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a:t>
            </a:r>
          </a:p>
          <a:p>
            <a:pPr algn="l">
              <a:spcAft>
                <a:spcPts val="300"/>
              </a:spcAft>
            </a:pPr>
            <a:r>
              <a:rPr sz="1300" b="0">
                <a:solidFill>
                  <a:srgbClr val="5B6372"/>
                </a:solidFill>
                <a:latin typeface="Arial"/>
              </a:rPr>
              <a:t>Draw insights from infographics to make data-driven decisions.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a:t>
            </a:r>
          </a:p>
          <a:p>
            <a:pPr algn="l">
              <a:spcAft>
                <a:spcPts val="300"/>
              </a:spcAft>
            </a:pPr>
            <a:r>
              <a:rPr sz="1300" b="0">
                <a:solidFill>
                  <a:srgbClr val="5B6372"/>
                </a:solidFill>
                <a:latin typeface="Arial"/>
              </a:rPr>
              <a:t>Leverage PowerPoint infographics for articulating data insights to stakeholders.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a:t>
            </a:r>
          </a:p>
          <a:p>
            <a:pPr algn="l">
              <a:spcAft>
                <a:spcPts val="300"/>
              </a:spcAft>
            </a:pPr>
            <a:r>
              <a:rPr sz="1300" b="0">
                <a:solidFill>
                  <a:srgbClr val="5B6372"/>
                </a:solidFill>
                <a:latin typeface="Arial"/>
              </a:rPr>
              <a:t>Assess the effectiveness of PowerPoint infographics based on allocated resources in accordance with business goals.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(WA-SAQ) — nine open-ended questions, 30 minutes,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Practical Performance (PP) — three progressive tasks, 30 minutes,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is required. Learners must be assessed as Competent and complete the required digital attendance and TRAQOM steps.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Practical Performance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Infographic
Planning and Data Insights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Purpose · Types · Audience · Metrics · Planning · Insight extraction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push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Key Concepts — AI-Assisted Infographic Planning and Data Insights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infographic combines concise text, data, shapes, colour, charts and icons to reveal information and relationships.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Chronology, timeline, process, comparison, statistical, mind map, numerical and hierarchical formats answer different questions.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Copilot-first workflow gathers approved sources, cleans and analyses data, extracts candidate insights, then routes verified evidence into visual generation.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Insight extraction distinguishes what the chart shows, what it means, why it matters and what action is justified.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zoom/>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AI-First Workflow — From Sources to Verified Insights</a:t>
            </a:r>
          </a:p>
        </p:txBody>
      </p:sp>
      <p:sp>
        <p:nvSpPr>
          <p:cNvPr id="6" name="Rectangle 5"/>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Approved files, URLs, transcripts and datasets; record origin and access date.</a:t>
            </a:r>
          </a:p>
        </p:txBody>
      </p:sp>
      <p:sp>
        <p:nvSpPr>
          <p:cNvPr id="12" name="Chevron 11"/>
          <p:cNvSpPr/>
          <p:nvPr/>
        </p:nvSpPr>
        <p:spPr>
          <a:xfrm>
            <a:off x="324840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32454"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632454"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Remove duplicates, standardise units and labels, identify missing values and retain the raw source.</a:t>
            </a:r>
          </a:p>
        </p:txBody>
      </p:sp>
      <p:sp>
        <p:nvSpPr>
          <p:cNvPr id="19" name="Chevron 18"/>
          <p:cNvSpPr/>
          <p:nvPr/>
        </p:nvSpPr>
        <p:spPr>
          <a:xfrm>
            <a:off x="597560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6359652"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6359652"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Ask AI for patterns, exceptions and comparisons, then reproduce critical calculations in Excel.</a:t>
            </a:r>
          </a:p>
        </p:txBody>
      </p:sp>
      <p:sp>
        <p:nvSpPr>
          <p:cNvPr id="26" name="Chevron 25"/>
          <p:cNvSpPr/>
          <p:nvPr/>
        </p:nvSpPr>
        <p:spPr>
          <a:xfrm>
            <a:off x="870280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9086850" y="3337560"/>
            <a:ext cx="219684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2" name="TextBox 31"/>
          <p:cNvSpPr txBox="1"/>
          <p:nvPr/>
        </p:nvSpPr>
        <p:spPr>
          <a:xfrm>
            <a:off x="9086850" y="3721608"/>
            <a:ext cx="2196846" cy="114300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citations, caveats and forbidden claims.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may propose patterns and transformations; keep raw sources and reproduce decision-critical calculations before visual generation.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DEFAULT MODERN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AI-First Workflow — From Generation to Accountable PowerPoint</a:t>
            </a:r>
          </a:p>
        </p:txBody>
      </p:sp>
      <p:sp>
        <p:nvSpPr>
          <p:cNvPr id="6" name="Rectangle 5"/>
          <p:cNvSpPr/>
          <p:nvPr/>
        </p:nvSpPr>
        <p:spPr>
          <a:xfrm>
            <a:off x="777240"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29028"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902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1" name="TextBox 10"/>
          <p:cNvSpPr txBox="1"/>
          <p:nvPr/>
        </p:nvSpPr>
        <p:spPr>
          <a:xfrm>
            <a:off x="905256"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In Microsoft 365 Copilot, choose Create &gt; Design an infographic, describe the output, optionally add approved content, choose brand and orientation, then generate.</a:t>
            </a:r>
          </a:p>
        </p:txBody>
      </p:sp>
      <p:sp>
        <p:nvSpPr>
          <p:cNvPr id="12" name="Chevron 11"/>
          <p:cNvSpPr/>
          <p:nvPr/>
        </p:nvSpPr>
        <p:spPr>
          <a:xfrm>
            <a:off x="415747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65292"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529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4541520"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PowerPoint</a:t>
            </a:r>
          </a:p>
        </p:txBody>
      </p:sp>
      <p:sp>
        <p:nvSpPr>
          <p:cNvPr id="18" name="TextBox 17"/>
          <p:cNvSpPr txBox="1"/>
          <p:nvPr/>
        </p:nvSpPr>
        <p:spPr>
          <a:xfrm>
            <a:off x="4541520"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Download or rebuild in PPTX; restore editability, charts, source labels, brand and accessibility.</a:t>
            </a:r>
          </a:p>
        </p:txBody>
      </p:sp>
      <p:sp>
        <p:nvSpPr>
          <p:cNvPr id="19" name="Chevron 18"/>
          <p:cNvSpPr/>
          <p:nvPr/>
        </p:nvSpPr>
        <p:spPr>
          <a:xfrm>
            <a:off x="779373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240280"/>
            <a:ext cx="3361944"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24028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1556"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155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8177784" y="3337560"/>
            <a:ext cx="3105912"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25" name="TextBox 24"/>
          <p:cNvSpPr txBox="1"/>
          <p:nvPr/>
        </p:nvSpPr>
        <p:spPr>
          <a:xfrm>
            <a:off x="8177784" y="3721608"/>
            <a:ext cx="3105912" cy="1143000"/>
          </a:xfrm>
          <a:prstGeom prst="rect">
            <a:avLst/>
          </a:prstGeom>
          <a:noFill/>
        </p:spPr>
        <p:txBody>
          <a:bodyPr wrap="square" anchor="t">
            <a:spAutoFit/>
          </a:bodyPr>
          <a:lstStyle/>
          <a:p>
            <a:pPr algn="ctr">
              <a:spcAft>
                <a:spcPts val="400"/>
              </a:spcAft>
            </a:pPr>
            <a:r>
              <a:rPr sz="1250" b="0">
                <a:solidFill>
                  <a:srgbClr val="5B6372"/>
                </a:solidFill>
                <a:latin typeface="Arial"/>
              </a:rPr>
              <a:t>Compare every claim to source, record prompts and human changes, approve and export.</a:t>
            </a:r>
          </a:p>
        </p:txBody>
      </p:sp>
      <p:sp>
        <p:nvSpPr>
          <p:cNvPr id="26" name="Rectangle 2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Do not manually draw a full infographic from scratch when approved AI can create the first direction; use PowerPoint for editability, accuracy, brand and release control.</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VISUAL DATA STORYTELLING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Infographics Work</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An effective infographic reduces friction between evidence and understanding.</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Attention</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Visual hierarchy helps the audience locate the important message quickly.</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Compression</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Words, data and relationships are combined into a scannable structure.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Comparison</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Position, length, order and colour make differences and patterns visible.</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Memory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 coherent visual story gives the audience meaningful anchors for recall.</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Action</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final implication connects what is seen to what the audience should do.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FORMAT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Infographic Types Answer Different Questions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Select the form by the relationship the audience must understand.</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Question</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form</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Change</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What happened across time?</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Chronology or timeline</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Process</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does it work?</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Instructional flow, cycle or roadmap</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Comparison</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Which option differs and by how much?</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Bar, dot plot or comparison cards</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Distribution</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Where are values concentrated?</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Histogram, ranked bar or box plot</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Hierarchy</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are parts organised?</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Tree, pyramid or organisation chart</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Relationships</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How do ideas connect?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Mind map, network or matrix</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PLANNING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Plan an Infographic in Six Decisions</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Audience and action</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Business question</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Evidence and metrics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Infographic form</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Wireframe and hierarchy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Review and release</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If the business question is unclear, a template or AI tool will produce a faster version of the wrong story.</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Insight Extraction Prompts</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SHOW</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values, differences or trends are visible?</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MEAN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interpretation is plausible but not overstated?</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MATTER</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Why does the pattern matter to this audience?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ACT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proportionate next step is supported?</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LIMIT</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What sample, denominator or uncertainty qualifies it?</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CHECK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another reader reproduce the claim?</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Separate observation from interpretation before writing the recommendation.</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statistical infographics show the pattern; context determines the decision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statistical infographics show the pattern; context determines the decision?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Observation</a:t>
            </a:r>
          </a:p>
          <a:p>
            <a:pPr algn="l">
              <a:spcAft>
                <a:spcPts val="300"/>
              </a:spcAft>
            </a:pPr>
            <a:r>
              <a:rPr sz="1200" b="0">
                <a:solidFill>
                  <a:srgbClr val="5B6372"/>
                </a:solidFill>
                <a:latin typeface="Arial"/>
              </a:rPr>
              <a:t>What values, differences, trends or outliers are 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relationship is suggested without claiming unsupported causation?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Implication</a:t>
            </a:r>
          </a:p>
          <a:p>
            <a:pPr algn="l">
              <a:spcAft>
                <a:spcPts val="300"/>
              </a:spcAft>
            </a:pPr>
            <a:r>
              <a:rPr sz="1200" b="0">
                <a:solidFill>
                  <a:srgbClr val="5B6372"/>
                </a:solidFill>
                <a:latin typeface="Arial"/>
              </a:rPr>
              <a:t>Why does the finding matter to the stated audience?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What proportionate next step is supported by the evidence?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Collect, Clean, Analyse, Verify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Collect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Register the approved CSV, workbook and research notes.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Clean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Standardise labels, units and missing-value handling without changing raw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Analyse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Prompt AI for patterns, exceptions and competing explanations.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Reproduce critical calculations and trace every claim to a source.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Extract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show–mean–matter–act insights with caveats.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Pattern vs Unsupported Story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Defensible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Overclaim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Repeat customers rate delivery 8 points higher</a:t>
            </a:r>
          </a:p>
          <a:p>
            <a:pPr>
              <a:spcAft>
                <a:spcPts val="1000"/>
              </a:spcAft>
            </a:pPr>
            <a:r>
              <a:rPr sz="1600" b="0">
                <a:solidFill>
                  <a:srgbClr val="161B26"/>
                </a:solidFill>
                <a:latin typeface="Arial"/>
              </a:rPr>
              <a:t>•  The result applies to this sample and period</a:t>
            </a:r>
          </a:p>
          <a:p>
            <a:pPr>
              <a:spcAft>
                <a:spcPts val="1000"/>
              </a:spcAft>
            </a:pPr>
            <a:r>
              <a:rPr sz="1600" b="0">
                <a:solidFill>
                  <a:srgbClr val="161B26"/>
                </a:solidFill>
                <a:latin typeface="Arial"/>
              </a:rPr>
              <a:t>•  Test delivery messaging in the next campaign</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Delivery causes loyalty</a:t>
            </a:r>
          </a:p>
          <a:p>
            <a:pPr>
              <a:spcAft>
                <a:spcPts val="1000"/>
              </a:spcAft>
            </a:pPr>
            <a:r>
              <a:rPr sz="1600" b="0">
                <a:solidFill>
                  <a:srgbClr val="161B26"/>
                </a:solidFill>
                <a:latin typeface="Arial"/>
              </a:rPr>
              <a:t>•  All customers prefer delivery</a:t>
            </a:r>
          </a:p>
          <a:p>
            <a:pPr>
              <a:spcAft>
                <a:spcPts val="1000"/>
              </a:spcAft>
            </a:pPr>
            <a:r>
              <a:rPr sz="1600" b="0">
                <a:solidFill>
                  <a:srgbClr val="161B26"/>
                </a:solidFill>
                <a:latin typeface="Arial"/>
              </a:rPr>
              <a:t>•  Shift the entire budget immediately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Northstar Retail Customer Pulse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78%</a:t>
            </a:r>
          </a:p>
          <a:p>
            <a:pPr algn="l">
              <a:spcAft>
                <a:spcPts val="300"/>
              </a:spcAft>
            </a:pPr>
            <a:r>
              <a:rPr sz="1200" b="0">
                <a:solidFill>
                  <a:srgbClr val="5B6372"/>
                </a:solidFill>
                <a:latin typeface="Arial"/>
              </a:rPr>
              <a:t>Overall satisfaction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86%</a:t>
            </a:r>
          </a:p>
          <a:p>
            <a:pPr algn="l">
              <a:spcAft>
                <a:spcPts val="300"/>
              </a:spcAft>
            </a:pPr>
            <a:r>
              <a:rPr sz="1200" b="0">
                <a:solidFill>
                  <a:srgbClr val="5B6372"/>
                </a:solidFill>
                <a:latin typeface="Arial"/>
              </a:rPr>
              <a:t>Repeat-customer satisfaction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69%</a:t>
            </a:r>
          </a:p>
          <a:p>
            <a:pPr algn="l">
              <a:spcAft>
                <a:spcPts val="300"/>
              </a:spcAft>
            </a:pPr>
            <a:r>
              <a:rPr sz="1200" b="0">
                <a:solidFill>
                  <a:srgbClr val="5B6372"/>
                </a:solidFill>
                <a:latin typeface="Arial"/>
              </a:rPr>
              <a:t>First-time-customer satisfaction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+11 pts</a:t>
            </a:r>
          </a:p>
          <a:p>
            <a:pPr algn="l">
              <a:spcAft>
                <a:spcPts val="300"/>
              </a:spcAft>
            </a:pPr>
            <a:r>
              <a:rPr sz="1200" b="0">
                <a:solidFill>
                  <a:srgbClr val="5B6372"/>
                </a:solidFill>
                <a:latin typeface="Arial"/>
              </a:rPr>
              <a:t>Mobile-app users vs non-users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420</a:t>
            </a:r>
          </a:p>
          <a:p>
            <a:pPr algn="l">
              <a:spcAft>
                <a:spcPts val="300"/>
              </a:spcAft>
            </a:pPr>
            <a:r>
              <a:rPr sz="1200" b="0">
                <a:solidFill>
                  <a:srgbClr val="5B6372"/>
                </a:solidFill>
                <a:latin typeface="Arial"/>
              </a:rPr>
              <a:t>Survey responses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Q2 2026</a:t>
            </a:r>
          </a:p>
          <a:p>
            <a:pPr algn="l">
              <a:spcAft>
                <a:spcPts val="300"/>
              </a:spcAft>
            </a:pPr>
            <a:r>
              <a:rPr sz="1200" b="0">
                <a:solidFill>
                  <a:srgbClr val="5B6372"/>
                </a:solidFill>
                <a:latin typeface="Arial"/>
              </a:rPr>
              <a:t>Synthetic reporting period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A chart answers a question only when context travels with it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Northstar Retail Singapore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The satisfaction gap is useful for targeting a follow-up test, but the survey does not prove that the mobile app caused higher satisfaction.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Retail's marketing lead has a one-page customer survey infographic built from 420 synthetic Q2 responses. Leadership wants to know which customer experience deserves further investigation.</a:t>
            </a:r>
          </a:p>
          <a:p>
            <a:pPr algn="l">
              <a:spcAft>
                <a:spcPts val="800"/>
              </a:spcAft>
            </a:pPr>
            <a:r>
              <a:rPr sz="1450" b="0">
                <a:solidFill>
                  <a:srgbClr val="161B26"/>
                </a:solidFill>
                <a:latin typeface="Arial"/>
              </a:rPr>
              <a:t>Use Microsoft 365 Copilot with the supplied approved data summary to propose candidate insights. Verify every number in Excel before recommending one next step.</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verified statistical KPI infographic, prompt/source log, annotated insight slide and one-sentence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strongest visible pattern?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denominator or segment could change the interpretation?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be said confidently, and what cannot?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business action is proportionate to the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Interpret a Statistical KPI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insight include context and uncertainty?</a:t>
            </a:r>
          </a:p>
          <a:p>
            <a:pPr>
              <a:spcAft>
                <a:spcPts val="900"/>
              </a:spcAft>
            </a:pPr>
            <a:r>
              <a:rPr sz="1450" b="0">
                <a:solidFill>
                  <a:srgbClr val="161B26"/>
                </a:solidFill>
                <a:latin typeface="Arial"/>
              </a:rPr>
              <a:t>•  Could the action be traced directly to the visual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insight clearly separates what the data shows, what it may mean, why it matters and what should happen next.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LU1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strong prompt is an executable design brief</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strong prompt is an executable design brief?</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audience, question, decision and desired action.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Only evidence that earns a place in the visual story.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Timeline, process, comparison, statistical, hierarchy or hybrid.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Wireframe</a:t>
            </a:r>
          </a:p>
          <a:p>
            <a:pPr algn="l">
              <a:spcAft>
                <a:spcPts val="300"/>
              </a:spcAft>
            </a:pPr>
            <a:r>
              <a:rPr sz="1200" b="0">
                <a:solidFill>
                  <a:srgbClr val="5B6372"/>
                </a:solidFill>
                <a:latin typeface="Arial"/>
              </a:rPr>
              <a:t>A low-fidelity map of title, sections, visuals, labels and flow.</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 Before Generation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Define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objective and audience question.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Attach only approved sources and verified insights.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Specify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hierarchy, infographic form, brand and accessibility rules.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Constrain</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Forbid invented facts, unsupported causation and decorative clutter.</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Request two wireframe directions, then select by evidence fit.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Format Choice by Question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Question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Useful form</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happened over time?</a:t>
            </a:r>
          </a:p>
          <a:p>
            <a:pPr>
              <a:spcAft>
                <a:spcPts val="1000"/>
              </a:spcAft>
            </a:pPr>
            <a:r>
              <a:rPr sz="1600" b="0">
                <a:solidFill>
                  <a:srgbClr val="161B26"/>
                </a:solidFill>
                <a:latin typeface="Arial"/>
              </a:rPr>
              <a:t>•  How does the service work?</a:t>
            </a:r>
          </a:p>
          <a:p>
            <a:pPr>
              <a:spcAft>
                <a:spcPts val="1000"/>
              </a:spcAft>
            </a:pPr>
            <a:r>
              <a:rPr sz="1600" b="0">
                <a:solidFill>
                  <a:srgbClr val="161B26"/>
                </a:solidFill>
                <a:latin typeface="Arial"/>
              </a:rPr>
              <a:t>•  Which option performs better?</a:t>
            </a:r>
          </a:p>
          <a:p>
            <a:pPr>
              <a:spcAft>
                <a:spcPts val="1000"/>
              </a:spcAft>
            </a:pPr>
            <a:r>
              <a:rPr sz="1600" b="0">
                <a:solidFill>
                  <a:srgbClr val="161B26"/>
                </a:solidFill>
                <a:latin typeface="Arial"/>
              </a:rPr>
              <a:t>•  How are categories related?</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Timeline / chronology</a:t>
            </a:r>
          </a:p>
          <a:p>
            <a:pPr>
              <a:spcAft>
                <a:spcPts val="1000"/>
              </a:spcAft>
            </a:pPr>
            <a:r>
              <a:rPr sz="1600" b="0">
                <a:solidFill>
                  <a:srgbClr val="161B26"/>
                </a:solidFill>
                <a:latin typeface="Arial"/>
              </a:rPr>
              <a:t>•  Process / instructional</a:t>
            </a:r>
          </a:p>
          <a:p>
            <a:pPr>
              <a:spcAft>
                <a:spcPts val="1000"/>
              </a:spcAft>
            </a:pPr>
            <a:r>
              <a:rPr sz="1600" b="0">
                <a:solidFill>
                  <a:srgbClr val="161B26"/>
                </a:solidFill>
                <a:latin typeface="Arial"/>
              </a:rPr>
              <a:t>•  Comparison / statistical</a:t>
            </a:r>
          </a:p>
          <a:p>
            <a:pPr>
              <a:spcAft>
                <a:spcPts val="1000"/>
              </a:spcAft>
            </a:pPr>
            <a:r>
              <a:rPr sz="1600" b="0">
                <a:solidFill>
                  <a:srgbClr val="161B26"/>
                </a:solidFill>
                <a:latin typeface="Arial"/>
              </a:rPr>
              <a:t>•  Hierarchy / mind map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Wireframe Anatomy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a:t>
            </a:r>
          </a:p>
          <a:p>
            <a:pPr algn="l">
              <a:spcAft>
                <a:spcPts val="300"/>
              </a:spcAft>
            </a:pPr>
            <a:r>
              <a:rPr sz="1200" b="0">
                <a:solidFill>
                  <a:srgbClr val="5B6372"/>
                </a:solidFill>
                <a:latin typeface="Arial"/>
              </a:rPr>
              <a:t>Title states the audience-relevant message.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Source, timeframe, unit and scope.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One primary chart or process carries the proof.</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Guidance</a:t>
            </a:r>
          </a:p>
          <a:p>
            <a:pPr algn="l">
              <a:spcAft>
                <a:spcPts val="300"/>
              </a:spcAft>
            </a:pPr>
            <a:r>
              <a:rPr sz="1200" b="0">
                <a:solidFill>
                  <a:srgbClr val="5B6372"/>
                </a:solidFill>
                <a:latin typeface="Arial"/>
              </a:rPr>
              <a:t>Arrows, order and whitespace control the reading path.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concise implication or next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Footer</a:t>
            </a:r>
          </a:p>
          <a:p>
            <a:pPr algn="l">
              <a:spcAft>
                <a:spcPts val="300"/>
              </a:spcAft>
            </a:pPr>
            <a:r>
              <a:rPr sz="1200" b="0">
                <a:solidFill>
                  <a:srgbClr val="5B6372"/>
                </a:solidFill>
                <a:latin typeface="Arial"/>
              </a:rPr>
              <a:t>Source, owner, date and accessibility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plans a sustainable-delivery campaign. The communication manager needs a portrait infographic showing the customer journey from order to low-emission delivery.</a:t>
            </a:r>
          </a:p>
          <a:p>
            <a:pPr algn="l">
              <a:spcAft>
                <a:spcPts val="800"/>
              </a:spcAft>
            </a:pPr>
            <a:r>
              <a:rPr sz="1450" b="0">
                <a:solidFill>
                  <a:srgbClr val="161B26"/>
                </a:solidFill>
                <a:latin typeface="Arial"/>
              </a:rPr>
              <a:t>Use the supplied structured prompt workbook to ask Microsoft 365 Copilot for two comparison-infographic directions. Select one by evidence fit, then preserve it as the control brief for PowerPoint.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Copilot prompt, two comparison-infographic directions and one approved PowerPoint wireframe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audience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infographic type best reveals the relationship?</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content should be removed?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should the reader's eye land first, second and last?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 a Comparison Infographic Brief</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Could the wireframe be understood without colour?</a:t>
            </a:r>
          </a:p>
          <a:p>
            <a:pPr>
              <a:spcAft>
                <a:spcPts val="900"/>
              </a:spcAft>
            </a:pPr>
            <a:r>
              <a:rPr sz="1450" b="0">
                <a:solidFill>
                  <a:srgbClr val="161B26"/>
                </a:solidFill>
                <a:latin typeface="Arial"/>
              </a:rPr>
              <a:t>•  Does every placeholder have a message role?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wireframe communicates objective, hierarchy, evidence, flow, action and source space before visual styling begins.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Recap — AI-Assisted Infographic Planning and Data Insights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Interpret a Statistical KPI Infographic</a:t>
            </a:r>
          </a:p>
          <a:p>
            <a:pPr algn="l">
              <a:spcAft>
                <a:spcPts val="300"/>
              </a:spcAft>
            </a:pPr>
            <a:r>
              <a:rPr sz="1200" b="0">
                <a:solidFill>
                  <a:srgbClr val="5B6372"/>
                </a:solidFill>
                <a:latin typeface="Arial"/>
              </a:rPr>
              <a:t>You can now: interpret a statistical KPI infographic, verify its denominators and convert visible patterns into defensible business decisions.</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Design a Comparison Infographic Brief</a:t>
            </a:r>
          </a:p>
          <a:p>
            <a:pPr algn="l">
              <a:spcAft>
                <a:spcPts val="300"/>
              </a:spcAft>
            </a:pPr>
            <a:r>
              <a:rPr sz="1200" b="0">
                <a:solidFill>
                  <a:srgbClr val="5B6372"/>
                </a:solidFill>
                <a:latin typeface="Arial"/>
              </a:rPr>
              <a:t>You can now: turn verified insights into a structured Microsoft 365 Copilot brief for a comparison infographic that controls audience, message, evidence and output.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infographic is an argument made visible.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Start with the audience question, the evidence and the intended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zoom/>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PowerPoint Infographics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Slide size · Grid · Shapes · Icons · Type · Colour · SmartArt · Charts ·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push dir="l"/>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Creating PowerPoint Infographics with AI</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Visual hierarchy uses scale, position, contrast, spacing and alignment to guide the reader through one intended path.</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PowerPoint is the editable refinement layer for AI-generated structure, imagery, text, shapes, SmartArt, native charts and Excel-linked data.</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Microsoft 365 Copilot app can generate an infographic from a detailed prompt and, where available, approved uploaded content for grounding.</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Every AI-assisted output needs source verification, privacy review, brand control, accessibility checks and editable hand-off.</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Analyse and Generate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Analyse the evidence</a:t>
            </a:r>
          </a:p>
          <a:p>
            <a:pPr algn="l">
              <a:spcAft>
                <a:spcPts val="300"/>
              </a:spcAft>
            </a:pPr>
            <a:r>
              <a:rPr sz="1100" b="0">
                <a:solidFill>
                  <a:srgbClr val="5B6372"/>
                </a:solidFill>
                <a:latin typeface="Arial"/>
              </a:rPr>
              <a:t>Using only the attached approved source, identify the three strongest patterns, the denominator for each metric, one limitation and one proportionate business action. Cite the source field or row for every number. Do not invent missing values or imply causation.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Create the infographic</a:t>
            </a:r>
          </a:p>
          <a:p>
            <a:pPr algn="l">
              <a:spcAft>
                <a:spcPts val="300"/>
              </a:spcAft>
            </a:pPr>
            <a:r>
              <a:rPr sz="1100" b="0">
                <a:solidFill>
                  <a:srgbClr val="5B6372"/>
                </a:solidFill>
                <a:latin typeface="Arial"/>
              </a:rPr>
              <a:t>Create a one-page [TYPE] infographic about [TOPIC]. Sections: 1. [SECTION ONE] 2. [SECTION TWO] 3. [SECTION THREE] 4. [SECTION FOUR] 5. [SECTION FIVE]. Audience: [AUDIENCE]. Decision: [DECISION]. Style: professional, high contrast, concise, accessible and aligned to [BRAND]. Use only the approved attached content. Include source and period. Do not invent data.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 PATTERNS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Copy-Ready Prompts — Refine and Review</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Refine in PowerPoint</a:t>
            </a:r>
          </a:p>
          <a:p>
            <a:pPr algn="l">
              <a:spcAft>
                <a:spcPts val="300"/>
              </a:spcAft>
            </a:pPr>
            <a:r>
              <a:rPr sz="1100" b="0">
                <a:solidFill>
                  <a:srgbClr val="5B6372"/>
                </a:solidFill>
                <a:latin typeface="Arial"/>
              </a:rPr>
              <a:t>Turn the selected infographic direction into one editable PowerPoint slide. Keep the action title, labels, numbers, chart or process, source footer and accessibility notes editable. Remove decoration that does not support the message. Apply the approved brand colours and preserve one clear reading path.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Quality review</a:t>
            </a:r>
          </a:p>
          <a:p>
            <a:pPr algn="l">
              <a:spcAft>
                <a:spcPts val="300"/>
              </a:spcAft>
            </a:pPr>
            <a:r>
              <a:rPr sz="1100" b="0">
                <a:solidFill>
                  <a:srgbClr val="5B6372"/>
                </a:solidFill>
                <a:latin typeface="Arial"/>
              </a:rPr>
              <a:t>Review this infographic against message clarity, data accuracy, visual hierarchy, audience fit, accessibility, editability and business goal. List each issue with evidence, its impact, the proposed change and a pass/fail acceptance check. Do not rewrite verified facts.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50"/>
                                        <p:tgtEl>
                                          <p:spTgt spid="15"/>
                                        </p:tgtEl>
                                      </p:cBhvr>
                                    </p:animEffect>
                                    <p:anim calcmode="lin" valueType="num">
                                      <p:cBhvr additive="base">
                                        <p:cTn id="55" dur="350" fill="hold"/>
                                        <p:tgtEl>
                                          <p:spTgt spid="1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350"/>
                                        <p:tgtEl>
                                          <p:spTgt spid="13"/>
                                        </p:tgtEl>
                                      </p:cBhvr>
                                    </p:animEffect>
                                    <p:anim calcmode="lin" valueType="num">
                                      <p:cBhvr additive="base">
                                        <p:cTn id="6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350"/>
                                        <p:tgtEl>
                                          <p:spTgt spid="14"/>
                                        </p:tgtEl>
                                      </p:cBhvr>
                                    </p:animEffect>
                                    <p:anim calcmode="lin" valueType="num">
                                      <p:cBhvr additive="base">
                                        <p:cTn id="7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MICROSOFT 365 COPILOT · COPY AND ADAPT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Structured Prompt Example — Cybersecurity Awareness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Specify the infographic type, ordered sections, audience, decision, style and source constraint.</a:t>
            </a:r>
          </a:p>
        </p:txBody>
      </p:sp>
      <p:sp>
        <p:nvSpPr>
          <p:cNvPr id="7" name="Rectangle 6"/>
          <p:cNvSpPr/>
          <p:nvPr/>
        </p:nvSpPr>
        <p:spPr>
          <a:xfrm>
            <a:off x="777240" y="2057400"/>
            <a:ext cx="10634472" cy="3886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2128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a:t>
            </a:r>
          </a:p>
        </p:txBody>
      </p:sp>
      <p:sp>
        <p:nvSpPr>
          <p:cNvPr id="9" name="TextBox 8"/>
          <p:cNvSpPr txBox="1"/>
          <p:nvPr/>
        </p:nvSpPr>
        <p:spPr>
          <a:xfrm>
            <a:off x="1572768" y="22128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Create a one-page process infographic about cybersecurity awareness.</a:t>
            </a:r>
          </a:p>
        </p:txBody>
      </p:sp>
      <p:sp>
        <p:nvSpPr>
          <p:cNvPr id="10" name="TextBox 9"/>
          <p:cNvSpPr txBox="1"/>
          <p:nvPr/>
        </p:nvSpPr>
        <p:spPr>
          <a:xfrm>
            <a:off x="987552" y="253288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2</a:t>
            </a:r>
          </a:p>
        </p:txBody>
      </p:sp>
      <p:sp>
        <p:nvSpPr>
          <p:cNvPr id="11" name="TextBox 10"/>
          <p:cNvSpPr txBox="1"/>
          <p:nvPr/>
        </p:nvSpPr>
        <p:spPr>
          <a:xfrm>
            <a:off x="1572768" y="2532888"/>
            <a:ext cx="9372600" cy="274320"/>
          </a:xfrm>
          <a:prstGeom prst="rect">
            <a:avLst/>
          </a:prstGeom>
          <a:noFill/>
        </p:spPr>
        <p:txBody>
          <a:bodyPr wrap="square" anchor="t">
            <a:spAutoFit/>
          </a:bodyPr>
          <a:lstStyle/>
          <a:p>
            <a:pPr algn="l">
              <a:spcAft>
                <a:spcPts val="400"/>
              </a:spcAft>
            </a:pPr>
            <a:r>
              <a:rPr sz="1250" b="1">
                <a:solidFill>
                  <a:srgbClr val="161B26"/>
                </a:solidFill>
                <a:latin typeface="Arial"/>
              </a:rPr>
              <a:t>Sections:</a:t>
            </a:r>
          </a:p>
        </p:txBody>
      </p:sp>
      <p:sp>
        <p:nvSpPr>
          <p:cNvPr id="12" name="TextBox 11"/>
          <p:cNvSpPr txBox="1"/>
          <p:nvPr/>
        </p:nvSpPr>
        <p:spPr>
          <a:xfrm>
            <a:off x="987552" y="285292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3</a:t>
            </a:r>
          </a:p>
        </p:txBody>
      </p:sp>
      <p:sp>
        <p:nvSpPr>
          <p:cNvPr id="13" name="TextBox 12"/>
          <p:cNvSpPr txBox="1"/>
          <p:nvPr/>
        </p:nvSpPr>
        <p:spPr>
          <a:xfrm>
            <a:off x="1572768" y="285292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1. Common threats</a:t>
            </a:r>
          </a:p>
        </p:txBody>
      </p:sp>
      <p:sp>
        <p:nvSpPr>
          <p:cNvPr id="14" name="TextBox 13"/>
          <p:cNvSpPr txBox="1"/>
          <p:nvPr/>
        </p:nvSpPr>
        <p:spPr>
          <a:xfrm>
            <a:off x="987552" y="31729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4</a:t>
            </a:r>
          </a:p>
        </p:txBody>
      </p:sp>
      <p:sp>
        <p:nvSpPr>
          <p:cNvPr id="15" name="TextBox 14"/>
          <p:cNvSpPr txBox="1"/>
          <p:nvPr/>
        </p:nvSpPr>
        <p:spPr>
          <a:xfrm>
            <a:off x="1572768" y="317296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2. Phishing examples</a:t>
            </a:r>
          </a:p>
        </p:txBody>
      </p:sp>
      <p:sp>
        <p:nvSpPr>
          <p:cNvPr id="16" name="TextBox 15"/>
          <p:cNvSpPr txBox="1"/>
          <p:nvPr/>
        </p:nvSpPr>
        <p:spPr>
          <a:xfrm>
            <a:off x="987552" y="34930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5</a:t>
            </a:r>
          </a:p>
        </p:txBody>
      </p:sp>
      <p:sp>
        <p:nvSpPr>
          <p:cNvPr id="17" name="TextBox 16"/>
          <p:cNvSpPr txBox="1"/>
          <p:nvPr/>
        </p:nvSpPr>
        <p:spPr>
          <a:xfrm>
            <a:off x="1572768" y="349300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3. Safe password practices</a:t>
            </a:r>
          </a:p>
        </p:txBody>
      </p:sp>
      <p:sp>
        <p:nvSpPr>
          <p:cNvPr id="18" name="TextBox 17"/>
          <p:cNvSpPr txBox="1"/>
          <p:nvPr/>
        </p:nvSpPr>
        <p:spPr>
          <a:xfrm>
            <a:off x="987552" y="38130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6</a:t>
            </a:r>
          </a:p>
        </p:txBody>
      </p:sp>
      <p:sp>
        <p:nvSpPr>
          <p:cNvPr id="19" name="TextBox 18"/>
          <p:cNvSpPr txBox="1"/>
          <p:nvPr/>
        </p:nvSpPr>
        <p:spPr>
          <a:xfrm>
            <a:off x="1572768" y="3813048"/>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4. Multi-factor authentication</a:t>
            </a:r>
          </a:p>
        </p:txBody>
      </p:sp>
      <p:sp>
        <p:nvSpPr>
          <p:cNvPr id="20" name="TextBox 19"/>
          <p:cNvSpPr txBox="1"/>
          <p:nvPr/>
        </p:nvSpPr>
        <p:spPr>
          <a:xfrm>
            <a:off x="987552" y="413308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7</a:t>
            </a:r>
          </a:p>
        </p:txBody>
      </p:sp>
      <p:sp>
        <p:nvSpPr>
          <p:cNvPr id="21" name="TextBox 20"/>
          <p:cNvSpPr txBox="1"/>
          <p:nvPr/>
        </p:nvSpPr>
        <p:spPr>
          <a:xfrm>
            <a:off x="1572768" y="4133087"/>
            <a:ext cx="9372600" cy="274320"/>
          </a:xfrm>
          <a:prstGeom prst="rect">
            <a:avLst/>
          </a:prstGeom>
          <a:noFill/>
        </p:spPr>
        <p:txBody>
          <a:bodyPr wrap="square" anchor="t">
            <a:spAutoFit/>
          </a:bodyPr>
          <a:lstStyle/>
          <a:p>
            <a:pPr algn="l">
              <a:spcAft>
                <a:spcPts val="400"/>
              </a:spcAft>
            </a:pPr>
            <a:r>
              <a:rPr sz="1250" b="0">
                <a:solidFill>
                  <a:srgbClr val="161B26"/>
                </a:solidFill>
                <a:latin typeface="Arial"/>
              </a:rPr>
              <a:t>5. Reporting suspicious activity</a:t>
            </a:r>
          </a:p>
        </p:txBody>
      </p:sp>
      <p:sp>
        <p:nvSpPr>
          <p:cNvPr id="22" name="TextBox 21"/>
          <p:cNvSpPr txBox="1"/>
          <p:nvPr/>
        </p:nvSpPr>
        <p:spPr>
          <a:xfrm>
            <a:off x="987552" y="4453127"/>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8</a:t>
            </a:r>
          </a:p>
        </p:txBody>
      </p:sp>
      <p:sp>
        <p:nvSpPr>
          <p:cNvPr id="23" name="TextBox 22"/>
          <p:cNvSpPr txBox="1"/>
          <p:nvPr/>
        </p:nvSpPr>
        <p:spPr>
          <a:xfrm>
            <a:off x="1572768" y="4453127"/>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Audience: office employees</a:t>
            </a:r>
          </a:p>
        </p:txBody>
      </p:sp>
      <p:sp>
        <p:nvSpPr>
          <p:cNvPr id="24" name="TextBox 23"/>
          <p:cNvSpPr txBox="1"/>
          <p:nvPr/>
        </p:nvSpPr>
        <p:spPr>
          <a:xfrm>
            <a:off x="987552" y="477316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9</a:t>
            </a:r>
          </a:p>
        </p:txBody>
      </p:sp>
      <p:sp>
        <p:nvSpPr>
          <p:cNvPr id="25" name="TextBox 24"/>
          <p:cNvSpPr txBox="1"/>
          <p:nvPr/>
        </p:nvSpPr>
        <p:spPr>
          <a:xfrm>
            <a:off x="1572768" y="477316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Decision: recognise, avoid and report suspicious activity</a:t>
            </a:r>
          </a:p>
        </p:txBody>
      </p:sp>
      <p:sp>
        <p:nvSpPr>
          <p:cNvPr id="26" name="TextBox 25"/>
          <p:cNvSpPr txBox="1"/>
          <p:nvPr/>
        </p:nvSpPr>
        <p:spPr>
          <a:xfrm>
            <a:off x="987552" y="509320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10</a:t>
            </a:r>
          </a:p>
        </p:txBody>
      </p:sp>
      <p:sp>
        <p:nvSpPr>
          <p:cNvPr id="27" name="TextBox 26"/>
          <p:cNvSpPr txBox="1"/>
          <p:nvPr/>
        </p:nvSpPr>
        <p:spPr>
          <a:xfrm>
            <a:off x="1572768" y="509320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Style: professional, high contrast and accessible</a:t>
            </a:r>
          </a:p>
        </p:txBody>
      </p:sp>
      <p:sp>
        <p:nvSpPr>
          <p:cNvPr id="28" name="TextBox 27"/>
          <p:cNvSpPr txBox="1"/>
          <p:nvPr/>
        </p:nvSpPr>
        <p:spPr>
          <a:xfrm>
            <a:off x="987552" y="5413248"/>
            <a:ext cx="384048" cy="256032"/>
          </a:xfrm>
          <a:prstGeom prst="rect">
            <a:avLst/>
          </a:prstGeom>
          <a:noFill/>
        </p:spPr>
        <p:txBody>
          <a:bodyPr wrap="square" anchor="t">
            <a:spAutoFit/>
          </a:bodyPr>
          <a:lstStyle/>
          <a:p>
            <a:pPr algn="r">
              <a:spcAft>
                <a:spcPts val="400"/>
              </a:spcAft>
            </a:pPr>
            <a:r>
              <a:rPr sz="1000" b="0">
                <a:solidFill>
                  <a:srgbClr val="5B6372"/>
                </a:solidFill>
                <a:latin typeface="Arial"/>
              </a:rPr>
              <a:t>11</a:t>
            </a:r>
          </a:p>
        </p:txBody>
      </p:sp>
      <p:sp>
        <p:nvSpPr>
          <p:cNvPr id="29" name="TextBox 28"/>
          <p:cNvSpPr txBox="1"/>
          <p:nvPr/>
        </p:nvSpPr>
        <p:spPr>
          <a:xfrm>
            <a:off x="1572768" y="5413248"/>
            <a:ext cx="9372600" cy="274320"/>
          </a:xfrm>
          <a:prstGeom prst="rect">
            <a:avLst/>
          </a:prstGeom>
          <a:noFill/>
        </p:spPr>
        <p:txBody>
          <a:bodyPr wrap="square" anchor="t">
            <a:spAutoFit/>
          </a:bodyPr>
          <a:lstStyle/>
          <a:p>
            <a:pPr algn="l">
              <a:spcAft>
                <a:spcPts val="400"/>
              </a:spcAft>
            </a:pPr>
            <a:r>
              <a:rPr sz="1250" b="0">
                <a:solidFill>
                  <a:srgbClr val="7C3AED"/>
                </a:solidFill>
                <a:latin typeface="Arial"/>
              </a:rPr>
              <a:t>Source rule: use only the attached approved policy; do not invent facts</a:t>
            </a:r>
          </a:p>
        </p:txBody>
      </p:sp>
      <p:sp>
        <p:nvSpPr>
          <p:cNvPr id="30" name="TextBox 2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Pattern adapted from the user-supplied Microsoft 365 Copilot example; factual controls added for training use.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CREATE · DESIGN AN INFOGRAPHIC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365 Copilot — Creation Controls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Describe</a:t>
            </a:r>
          </a:p>
          <a:p>
            <a:pPr algn="l">
              <a:spcAft>
                <a:spcPts val="300"/>
              </a:spcAft>
            </a:pPr>
            <a:r>
              <a:rPr sz="1100" b="0">
                <a:solidFill>
                  <a:srgbClr val="5B6372"/>
                </a:solidFill>
                <a:latin typeface="Arial"/>
              </a:rPr>
              <a:t>State type, topic, sections, audience, decision, style and source constraints.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content</a:t>
            </a:r>
          </a:p>
          <a:p>
            <a:pPr algn="l">
              <a:spcAft>
                <a:spcPts val="300"/>
              </a:spcAft>
            </a:pPr>
            <a:r>
              <a:rPr sz="1100" b="0">
                <a:solidFill>
                  <a:srgbClr val="5B6372"/>
                </a:solidFill>
                <a:latin typeface="Arial"/>
              </a:rPr>
              <a:t>Upload only approved content when the feature and policy allow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Brand and color</a:t>
            </a:r>
          </a:p>
          <a:p>
            <a:pPr algn="l">
              <a:spcAft>
                <a:spcPts val="300"/>
              </a:spcAft>
            </a:pPr>
            <a:r>
              <a:rPr sz="1100" b="0">
                <a:solidFill>
                  <a:srgbClr val="5B6372"/>
                </a:solidFill>
                <a:latin typeface="Arial"/>
              </a:rPr>
              <a:t>Use an approved brand kit or a controlled palette.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Orientation</a:t>
            </a:r>
          </a:p>
          <a:p>
            <a:pPr algn="l">
              <a:spcAft>
                <a:spcPts val="300"/>
              </a:spcAft>
            </a:pPr>
            <a:r>
              <a:rPr sz="1100" b="0">
                <a:solidFill>
                  <a:srgbClr val="5B6372"/>
                </a:solidFill>
                <a:latin typeface="Arial"/>
              </a:rPr>
              <a:t>Choose Portrait for one-page reading or Wide for a presentation slide.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Create</a:t>
            </a:r>
          </a:p>
          <a:p>
            <a:pPr algn="l">
              <a:spcAft>
                <a:spcPts val="300"/>
              </a:spcAft>
            </a:pPr>
            <a:r>
              <a:rPr sz="1100" b="0">
                <a:solidFill>
                  <a:srgbClr val="5B6372"/>
                </a:solidFill>
                <a:latin typeface="Arial"/>
              </a:rPr>
              <a:t>Generate options, inspect the result and keep the strongest direction.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 download</a:t>
            </a:r>
          </a:p>
          <a:p>
            <a:pPr algn="l">
              <a:spcAft>
                <a:spcPts val="300"/>
              </a:spcAft>
            </a:pPr>
            <a:r>
              <a:rPr sz="1100" b="0">
                <a:solidFill>
                  <a:srgbClr val="5B6372"/>
                </a:solidFill>
                <a:latin typeface="Arial"/>
              </a:rPr>
              <a:t>Correct facts, refine hierarchy and bring the accountable master into PowerPoint.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DEMONSTRATION GALLERY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Twelve Workplace Infographic Use Cases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Statistical · comparison · timeline · process · cycle · funnel · hierarchy · mind map · geographic · before/after · scorecard · decision matrix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01 · STATISTICAL DASHBOARD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Customer satisfaction needs a first-time buyer intervention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Retail customer experience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78%</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overall satisfaction</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69%</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first-time buyers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86%</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repeat buyers</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+17 pts</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experience gap</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Test a first-purchase onboarding message before changing the full service model.</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02 · COMPARISON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Ready Meals combines growth with margin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Category promotion decision · synthetic training data, not operational evidence</a:t>
            </a:r>
          </a:p>
        </p:txBody>
      </p:sp>
      <p:sp>
        <p:nvSpPr>
          <p:cNvPr id="7" name="Rectangle 6"/>
          <p:cNvSpPr/>
          <p:nvPr/>
        </p:nvSpPr>
        <p:spPr>
          <a:xfrm>
            <a:off x="868680" y="2057400"/>
            <a:ext cx="4983480" cy="2880360"/>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 y="2057400"/>
            <a:ext cx="498348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Ready Meals</a:t>
            </a:r>
          </a:p>
        </p:txBody>
      </p:sp>
      <p:sp>
        <p:nvSpPr>
          <p:cNvPr id="10" name="TextBox 9"/>
          <p:cNvSpPr txBox="1"/>
          <p:nvPr/>
        </p:nvSpPr>
        <p:spPr>
          <a:xfrm>
            <a:off x="1124712" y="281635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18%</a:t>
            </a:r>
          </a:p>
        </p:txBody>
      </p:sp>
      <p:sp>
        <p:nvSpPr>
          <p:cNvPr id="11" name="TextBox 10"/>
          <p:cNvSpPr txBox="1"/>
          <p:nvPr/>
        </p:nvSpPr>
        <p:spPr>
          <a:xfrm>
            <a:off x="26243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12" name="TextBox 11"/>
          <p:cNvSpPr txBox="1"/>
          <p:nvPr/>
        </p:nvSpPr>
        <p:spPr>
          <a:xfrm>
            <a:off x="1124712" y="345643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32%</a:t>
            </a:r>
          </a:p>
        </p:txBody>
      </p:sp>
      <p:sp>
        <p:nvSpPr>
          <p:cNvPr id="13" name="TextBox 12"/>
          <p:cNvSpPr txBox="1"/>
          <p:nvPr/>
        </p:nvSpPr>
        <p:spPr>
          <a:xfrm>
            <a:off x="26243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14" name="TextBox 13"/>
          <p:cNvSpPr txBox="1"/>
          <p:nvPr/>
        </p:nvSpPr>
        <p:spPr>
          <a:xfrm>
            <a:off x="1124712" y="4096512"/>
            <a:ext cx="1325880" cy="438912"/>
          </a:xfrm>
          <a:prstGeom prst="rect">
            <a:avLst/>
          </a:prstGeom>
          <a:noFill/>
        </p:spPr>
        <p:txBody>
          <a:bodyPr wrap="square" anchor="t">
            <a:spAutoFit/>
          </a:bodyPr>
          <a:lstStyle/>
          <a:p>
            <a:pPr algn="r">
              <a:spcAft>
                <a:spcPts val="400"/>
              </a:spcAft>
            </a:pPr>
            <a:r>
              <a:rPr sz="2000" b="1">
                <a:solidFill>
                  <a:srgbClr val="10B981"/>
                </a:solidFill>
                <a:latin typeface="Arial"/>
              </a:rPr>
              <a:t>4.1%</a:t>
            </a:r>
          </a:p>
        </p:txBody>
      </p:sp>
      <p:sp>
        <p:nvSpPr>
          <p:cNvPr id="15" name="TextBox 14"/>
          <p:cNvSpPr txBox="1"/>
          <p:nvPr/>
        </p:nvSpPr>
        <p:spPr>
          <a:xfrm>
            <a:off x="26243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16" name="Rectangle 15"/>
          <p:cNvSpPr/>
          <p:nvPr/>
        </p:nvSpPr>
        <p:spPr>
          <a:xfrm>
            <a:off x="6355080" y="2057400"/>
            <a:ext cx="4983480" cy="2880360"/>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057400"/>
            <a:ext cx="498348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157984"/>
            <a:ext cx="4983480" cy="320040"/>
          </a:xfrm>
          <a:prstGeom prst="rect">
            <a:avLst/>
          </a:prstGeom>
          <a:noFill/>
        </p:spPr>
        <p:txBody>
          <a:bodyPr wrap="square" anchor="t">
            <a:spAutoFit/>
          </a:bodyPr>
          <a:lstStyle/>
          <a:p>
            <a:pPr algn="ctr">
              <a:spcAft>
                <a:spcPts val="400"/>
              </a:spcAft>
            </a:pPr>
            <a:r>
              <a:rPr sz="1600" b="1">
                <a:solidFill>
                  <a:srgbClr val="FFFFFF"/>
                </a:solidFill>
                <a:latin typeface="Arial"/>
              </a:rPr>
              <a:t>Beverages</a:t>
            </a:r>
          </a:p>
        </p:txBody>
      </p:sp>
      <p:sp>
        <p:nvSpPr>
          <p:cNvPr id="19" name="TextBox 18"/>
          <p:cNvSpPr txBox="1"/>
          <p:nvPr/>
        </p:nvSpPr>
        <p:spPr>
          <a:xfrm>
            <a:off x="6611112" y="281635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9%</a:t>
            </a:r>
          </a:p>
        </p:txBody>
      </p:sp>
      <p:sp>
        <p:nvSpPr>
          <p:cNvPr id="20" name="TextBox 19"/>
          <p:cNvSpPr txBox="1"/>
          <p:nvPr/>
        </p:nvSpPr>
        <p:spPr>
          <a:xfrm>
            <a:off x="8110728" y="286207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Q2 growth</a:t>
            </a:r>
          </a:p>
        </p:txBody>
      </p:sp>
      <p:sp>
        <p:nvSpPr>
          <p:cNvPr id="21" name="TextBox 20"/>
          <p:cNvSpPr txBox="1"/>
          <p:nvPr/>
        </p:nvSpPr>
        <p:spPr>
          <a:xfrm>
            <a:off x="6611112" y="345643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24%</a:t>
            </a:r>
          </a:p>
        </p:txBody>
      </p:sp>
      <p:sp>
        <p:nvSpPr>
          <p:cNvPr id="22" name="TextBox 21"/>
          <p:cNvSpPr txBox="1"/>
          <p:nvPr/>
        </p:nvSpPr>
        <p:spPr>
          <a:xfrm>
            <a:off x="8110728" y="350215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gross margin</a:t>
            </a:r>
          </a:p>
        </p:txBody>
      </p:sp>
      <p:sp>
        <p:nvSpPr>
          <p:cNvPr id="23" name="TextBox 22"/>
          <p:cNvSpPr txBox="1"/>
          <p:nvPr/>
        </p:nvSpPr>
        <p:spPr>
          <a:xfrm>
            <a:off x="6611112" y="4096512"/>
            <a:ext cx="1325880" cy="438912"/>
          </a:xfrm>
          <a:prstGeom prst="rect">
            <a:avLst/>
          </a:prstGeom>
          <a:noFill/>
        </p:spPr>
        <p:txBody>
          <a:bodyPr wrap="square" anchor="t">
            <a:spAutoFit/>
          </a:bodyPr>
          <a:lstStyle/>
          <a:p>
            <a:pPr algn="r">
              <a:spcAft>
                <a:spcPts val="400"/>
              </a:spcAft>
            </a:pPr>
            <a:r>
              <a:rPr sz="2000" b="1">
                <a:solidFill>
                  <a:srgbClr val="1F6FEB"/>
                </a:solidFill>
                <a:latin typeface="Arial"/>
              </a:rPr>
              <a:t>2.8%</a:t>
            </a:r>
          </a:p>
        </p:txBody>
      </p:sp>
      <p:sp>
        <p:nvSpPr>
          <p:cNvPr id="24" name="TextBox 23"/>
          <p:cNvSpPr txBox="1"/>
          <p:nvPr/>
        </p:nvSpPr>
        <p:spPr>
          <a:xfrm>
            <a:off x="8110728" y="4142232"/>
            <a:ext cx="2880360" cy="384048"/>
          </a:xfrm>
          <a:prstGeom prst="rect">
            <a:avLst/>
          </a:prstGeom>
          <a:noFill/>
        </p:spPr>
        <p:txBody>
          <a:bodyPr wrap="square" anchor="t">
            <a:spAutoFit/>
          </a:bodyPr>
          <a:lstStyle/>
          <a:p>
            <a:pPr algn="l">
              <a:spcAft>
                <a:spcPts val="400"/>
              </a:spcAft>
            </a:pPr>
            <a:r>
              <a:rPr sz="1150" b="0">
                <a:solidFill>
                  <a:srgbClr val="161B26"/>
                </a:solidFill>
                <a:latin typeface="Arial"/>
              </a:rPr>
              <a:t>return rate</a:t>
            </a:r>
          </a:p>
        </p:txBody>
      </p:sp>
      <p:sp>
        <p:nvSpPr>
          <p:cNvPr id="25" name="Rectangle 2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Ready Meals as the next campaign test while monitoring returns.</a:t>
            </a:r>
          </a:p>
        </p:txBody>
      </p:sp>
      <p:sp>
        <p:nvSpPr>
          <p:cNvPr id="28" name="TextBox 2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anim calcmode="lin" valueType="num">
                                      <p:cBhvr additive="base">
                                        <p:cTn id="1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anim calcmode="lin" valueType="num">
                                      <p:cBhvr additive="base">
                                        <p:cTn id="2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50"/>
                                        <p:tgtEl>
                                          <p:spTgt spid="16"/>
                                        </p:tgtEl>
                                      </p:cBhvr>
                                    </p:animEffect>
                                    <p:anim calcmode="lin" valueType="num">
                                      <p:cBhvr additive="base">
                                        <p:cTn id="3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50"/>
                                        <p:tgtEl>
                                          <p:spTgt spid="17"/>
                                        </p:tgtEl>
                                      </p:cBhvr>
                                    </p:animEffect>
                                    <p:anim calcmode="lin" valueType="num">
                                      <p:cBhvr additive="base">
                                        <p:cTn id="45" dur="350" fill="hold"/>
                                        <p:tgtEl>
                                          <p:spTgt spid="17"/>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350"/>
                                        <p:tgtEl>
                                          <p:spTgt spid="25"/>
                                        </p:tgtEl>
                                      </p:cBhvr>
                                    </p:animEffect>
                                    <p:anim calcmode="lin" valueType="num">
                                      <p:cBhvr additive="base">
                                        <p:cTn id="55" dur="350" fill="hold"/>
                                        <p:tgtEl>
                                          <p:spTgt spid="25"/>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50"/>
                                        <p:tgtEl>
                                          <p:spTgt spid="26"/>
                                        </p:tgtEl>
                                      </p:cBhvr>
                                    </p:animEffect>
                                    <p:anim calcmode="lin" valueType="num">
                                      <p:cBhvr additive="base">
                                        <p:cTn id="65" dur="350" fill="hold"/>
                                        <p:tgtEl>
                                          <p:spTgt spid="26"/>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50"/>
                                        <p:tgtEl>
                                          <p:spTgt spid="27"/>
                                        </p:tgtEl>
                                      </p:cBhvr>
                                    </p:animEffect>
                                    <p:anim calcmode="lin" valueType="num">
                                      <p:cBhvr additive="base">
                                        <p:cTn id="75" dur="350" fill="hold"/>
                                        <p:tgtEl>
                                          <p:spTgt spid="2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03 · TIMELINE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New-hire readiness improves when ownership starts before Day 1</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Employee onboarding · synthetic training data, not operational evidence</a:t>
            </a:r>
          </a:p>
        </p:txBody>
      </p:sp>
      <p:sp>
        <p:nvSpPr>
          <p:cNvPr id="7" name="Rectangle 6"/>
          <p:cNvSpPr/>
          <p:nvPr/>
        </p:nvSpPr>
        <p:spPr>
          <a:xfrm>
            <a:off x="1097280" y="3657600"/>
            <a:ext cx="9692640" cy="640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T-7</a:t>
            </a:r>
          </a:p>
        </p:txBody>
      </p:sp>
      <p:sp>
        <p:nvSpPr>
          <p:cNvPr id="10" name="TextBox 9"/>
          <p:cNvSpPr txBox="1"/>
          <p:nvPr/>
        </p:nvSpPr>
        <p:spPr>
          <a:xfrm>
            <a:off x="777240"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Account request</a:t>
            </a:r>
          </a:p>
        </p:txBody>
      </p:sp>
      <p:sp>
        <p:nvSpPr>
          <p:cNvPr id="11" name="Oval 10"/>
          <p:cNvSpPr/>
          <p:nvPr/>
        </p:nvSpPr>
        <p:spPr>
          <a:xfrm>
            <a:off x="3447288"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T-3</a:t>
            </a:r>
          </a:p>
        </p:txBody>
      </p:sp>
      <p:sp>
        <p:nvSpPr>
          <p:cNvPr id="13" name="TextBox 12"/>
          <p:cNvSpPr txBox="1"/>
          <p:nvPr/>
        </p:nvSpPr>
        <p:spPr>
          <a:xfrm>
            <a:off x="3172968"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Manager plan</a:t>
            </a:r>
          </a:p>
        </p:txBody>
      </p:sp>
      <p:sp>
        <p:nvSpPr>
          <p:cNvPr id="14" name="Oval 13"/>
          <p:cNvSpPr/>
          <p:nvPr/>
        </p:nvSpPr>
        <p:spPr>
          <a:xfrm>
            <a:off x="5843016"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3016"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1</a:t>
            </a:r>
          </a:p>
        </p:txBody>
      </p:sp>
      <p:sp>
        <p:nvSpPr>
          <p:cNvPr id="16" name="TextBox 15"/>
          <p:cNvSpPr txBox="1"/>
          <p:nvPr/>
        </p:nvSpPr>
        <p:spPr>
          <a:xfrm>
            <a:off x="5568696"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Orientation</a:t>
            </a:r>
          </a:p>
        </p:txBody>
      </p:sp>
      <p:sp>
        <p:nvSpPr>
          <p:cNvPr id="17" name="Oval 16"/>
          <p:cNvSpPr/>
          <p:nvPr/>
        </p:nvSpPr>
        <p:spPr>
          <a:xfrm>
            <a:off x="8238744"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7</a:t>
            </a:r>
          </a:p>
        </p:txBody>
      </p:sp>
      <p:sp>
        <p:nvSpPr>
          <p:cNvPr id="19" name="TextBox 18"/>
          <p:cNvSpPr txBox="1"/>
          <p:nvPr/>
        </p:nvSpPr>
        <p:spPr>
          <a:xfrm>
            <a:off x="7964424"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Skills check</a:t>
            </a:r>
          </a:p>
        </p:txBody>
      </p:sp>
      <p:sp>
        <p:nvSpPr>
          <p:cNvPr id="20" name="Oval 19"/>
          <p:cNvSpPr/>
          <p:nvPr/>
        </p:nvSpPr>
        <p:spPr>
          <a:xfrm>
            <a:off x="10634472" y="331927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34472" y="3319272"/>
            <a:ext cx="731520" cy="731520"/>
          </a:xfrm>
          <a:prstGeom prst="rect">
            <a:avLst/>
          </a:prstGeom>
          <a:noFill/>
        </p:spPr>
        <p:txBody>
          <a:bodyPr wrap="square" anchor="ctr">
            <a:spAutoFit/>
          </a:bodyPr>
          <a:lstStyle/>
          <a:p>
            <a:pPr algn="ctr">
              <a:spcAft>
                <a:spcPts val="400"/>
              </a:spcAft>
            </a:pPr>
            <a:r>
              <a:rPr sz="1100" b="1">
                <a:solidFill>
                  <a:srgbClr val="FFFFFF"/>
                </a:solidFill>
                <a:latin typeface="Arial"/>
              </a:rPr>
              <a:t>Day 30</a:t>
            </a:r>
          </a:p>
        </p:txBody>
      </p:sp>
      <p:sp>
        <p:nvSpPr>
          <p:cNvPr id="22" name="TextBox 21"/>
          <p:cNvSpPr txBox="1"/>
          <p:nvPr/>
        </p:nvSpPr>
        <p:spPr>
          <a:xfrm>
            <a:off x="10360152" y="4160520"/>
            <a:ext cx="1280160" cy="685800"/>
          </a:xfrm>
          <a:prstGeom prst="rect">
            <a:avLst/>
          </a:prstGeom>
          <a:noFill/>
        </p:spPr>
        <p:txBody>
          <a:bodyPr wrap="square" anchor="t">
            <a:spAutoFit/>
          </a:bodyPr>
          <a:lstStyle/>
          <a:p>
            <a:pPr algn="ctr">
              <a:spcAft>
                <a:spcPts val="400"/>
              </a:spcAft>
            </a:pPr>
            <a:r>
              <a:rPr sz="1100" b="1">
                <a:solidFill>
                  <a:srgbClr val="161B26"/>
                </a:solidFill>
                <a:latin typeface="Arial"/>
              </a:rPr>
              <a:t>Outcome review</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Move account provisioning to the pre-boarding week.</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04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 controls reduce phishing exposure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Cybersecurity awareness · synthetic training data, not operational evidence</a:t>
            </a:r>
          </a:p>
        </p:txBody>
      </p:sp>
      <p:sp>
        <p:nvSpPr>
          <p:cNvPr id="7" name="Rectangle 6"/>
          <p:cNvSpPr/>
          <p:nvPr/>
        </p:nvSpPr>
        <p:spPr>
          <a:xfrm>
            <a:off x="713232"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0" name="TextBox 9"/>
          <p:cNvSpPr txBox="1"/>
          <p:nvPr/>
        </p:nvSpPr>
        <p:spPr>
          <a:xfrm>
            <a:off x="859536"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Detect</a:t>
            </a:r>
          </a:p>
          <a:p>
            <a:pPr algn="ctr">
              <a:spcAft>
                <a:spcPts val="200"/>
              </a:spcAft>
            </a:pPr>
            <a:r>
              <a:rPr sz="1050" b="0">
                <a:solidFill>
                  <a:srgbClr val="161B26"/>
                </a:solidFill>
                <a:latin typeface="Arial"/>
              </a:rPr>
              <a:t>Inspect sender and request</a:t>
            </a:r>
          </a:p>
        </p:txBody>
      </p:sp>
      <p:sp>
        <p:nvSpPr>
          <p:cNvPr id="11" name="Right Arrow 10"/>
          <p:cNvSpPr/>
          <p:nvPr/>
        </p:nvSpPr>
        <p:spPr>
          <a:xfrm>
            <a:off x="2615184"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80944" y="2359152"/>
            <a:ext cx="1874519" cy="2487168"/>
          </a:xfrm>
          <a:prstGeom prst="rect">
            <a:avLst/>
          </a:prstGeom>
          <a:solidFill>
            <a:srgbClr val="F5F8FC"/>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39312" y="2542032"/>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5" name="TextBox 14"/>
          <p:cNvSpPr txBox="1"/>
          <p:nvPr/>
        </p:nvSpPr>
        <p:spPr>
          <a:xfrm>
            <a:off x="3127248" y="3273552"/>
            <a:ext cx="1581912" cy="1078992"/>
          </a:xfrm>
          <a:prstGeom prst="rect">
            <a:avLst/>
          </a:prstGeom>
          <a:noFill/>
        </p:spPr>
        <p:txBody>
          <a:bodyPr wrap="square" anchor="ctr">
            <a:spAutoFit/>
          </a:bodyPr>
          <a:lstStyle/>
          <a:p>
            <a:pPr algn="ctr">
              <a:spcAft>
                <a:spcPts val="200"/>
              </a:spcAft>
            </a:pPr>
            <a:r>
              <a:rPr sz="1500" b="1">
                <a:solidFill>
                  <a:srgbClr val="10B981"/>
                </a:solidFill>
                <a:latin typeface="Arial"/>
              </a:rPr>
              <a:t>Pause</a:t>
            </a:r>
          </a:p>
          <a:p>
            <a:pPr algn="ctr">
              <a:spcAft>
                <a:spcPts val="200"/>
              </a:spcAft>
            </a:pPr>
            <a:r>
              <a:rPr sz="1050" b="0">
                <a:solidFill>
                  <a:srgbClr val="161B26"/>
                </a:solidFill>
                <a:latin typeface="Arial"/>
              </a:rPr>
              <a:t>Do not click or reply</a:t>
            </a:r>
          </a:p>
        </p:txBody>
      </p:sp>
      <p:sp>
        <p:nvSpPr>
          <p:cNvPr id="16" name="Right Arrow 15"/>
          <p:cNvSpPr/>
          <p:nvPr/>
        </p:nvSpPr>
        <p:spPr>
          <a:xfrm>
            <a:off x="4882896"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48656" y="2359152"/>
            <a:ext cx="1874519" cy="2487168"/>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07024" y="2542032"/>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07024"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0" name="TextBox 19"/>
          <p:cNvSpPr txBox="1"/>
          <p:nvPr/>
        </p:nvSpPr>
        <p:spPr>
          <a:xfrm>
            <a:off x="5394960" y="3273552"/>
            <a:ext cx="1581912" cy="1078992"/>
          </a:xfrm>
          <a:prstGeom prst="rect">
            <a:avLst/>
          </a:prstGeom>
          <a:noFill/>
        </p:spPr>
        <p:txBody>
          <a:bodyPr wrap="square" anchor="ctr">
            <a:spAutoFit/>
          </a:bodyPr>
          <a:lstStyle/>
          <a:p>
            <a:pPr algn="ctr">
              <a:spcAft>
                <a:spcPts val="200"/>
              </a:spcAft>
            </a:pPr>
            <a:r>
              <a:rPr sz="1500" b="1">
                <a:solidFill>
                  <a:srgbClr val="7C3AED"/>
                </a:solidFill>
                <a:latin typeface="Arial"/>
              </a:rPr>
              <a:t>Verify</a:t>
            </a:r>
          </a:p>
          <a:p>
            <a:pPr algn="ctr">
              <a:spcAft>
                <a:spcPts val="200"/>
              </a:spcAft>
            </a:pPr>
            <a:r>
              <a:rPr sz="1050" b="0">
                <a:solidFill>
                  <a:srgbClr val="161B26"/>
                </a:solidFill>
                <a:latin typeface="Arial"/>
              </a:rPr>
              <a:t>Use a trusted channel</a:t>
            </a:r>
          </a:p>
        </p:txBody>
      </p:sp>
      <p:sp>
        <p:nvSpPr>
          <p:cNvPr id="21" name="Right Arrow 20"/>
          <p:cNvSpPr/>
          <p:nvPr/>
        </p:nvSpPr>
        <p:spPr>
          <a:xfrm>
            <a:off x="7150608"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16368" y="2359152"/>
            <a:ext cx="1874519" cy="2487168"/>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74736" y="2542032"/>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4736"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25" name="TextBox 24"/>
          <p:cNvSpPr txBox="1"/>
          <p:nvPr/>
        </p:nvSpPr>
        <p:spPr>
          <a:xfrm>
            <a:off x="7662672" y="3273552"/>
            <a:ext cx="1581912" cy="1078992"/>
          </a:xfrm>
          <a:prstGeom prst="rect">
            <a:avLst/>
          </a:prstGeom>
          <a:noFill/>
        </p:spPr>
        <p:txBody>
          <a:bodyPr wrap="square" anchor="ctr">
            <a:spAutoFit/>
          </a:bodyPr>
          <a:lstStyle/>
          <a:p>
            <a:pPr algn="ctr">
              <a:spcAft>
                <a:spcPts val="200"/>
              </a:spcAft>
            </a:pPr>
            <a:r>
              <a:rPr sz="1500" b="1">
                <a:solidFill>
                  <a:srgbClr val="F59E0B"/>
                </a:solidFill>
                <a:latin typeface="Arial"/>
              </a:rPr>
              <a:t>Report</a:t>
            </a:r>
          </a:p>
          <a:p>
            <a:pPr algn="ctr">
              <a:spcAft>
                <a:spcPts val="200"/>
              </a:spcAft>
            </a:pPr>
            <a:r>
              <a:rPr sz="1050" b="0">
                <a:solidFill>
                  <a:srgbClr val="161B26"/>
                </a:solidFill>
                <a:latin typeface="Arial"/>
              </a:rPr>
              <a:t>Forward to security</a:t>
            </a:r>
          </a:p>
        </p:txBody>
      </p:sp>
      <p:sp>
        <p:nvSpPr>
          <p:cNvPr id="26" name="Right Arrow 25"/>
          <p:cNvSpPr/>
          <p:nvPr/>
        </p:nvSpPr>
        <p:spPr>
          <a:xfrm>
            <a:off x="9418320" y="3310128"/>
            <a:ext cx="310896" cy="310896"/>
          </a:xfrm>
          <a:prstGeom prst="rightArrow">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0" y="2359152"/>
            <a:ext cx="1874519" cy="2487168"/>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442448" y="254203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42448" y="2542032"/>
            <a:ext cx="566928" cy="566928"/>
          </a:xfrm>
          <a:prstGeom prst="rect">
            <a:avLst/>
          </a:prstGeom>
          <a:noFill/>
        </p:spPr>
        <p:txBody>
          <a:bodyPr wrap="square" anchor="ctr">
            <a:spAutoFit/>
          </a:bodyPr>
          <a:lstStyle/>
          <a:p>
            <a:pPr algn="ctr">
              <a:spcAft>
                <a:spcPts val="400"/>
              </a:spcAft>
            </a:pPr>
            <a:r>
              <a:rPr sz="1200" b="1">
                <a:solidFill>
                  <a:srgbClr val="FFFFFF"/>
                </a:solidFill>
                <a:latin typeface="Arial"/>
              </a:rPr>
              <a:t>5</a:t>
            </a:r>
          </a:p>
        </p:txBody>
      </p:sp>
      <p:sp>
        <p:nvSpPr>
          <p:cNvPr id="30" name="TextBox 29"/>
          <p:cNvSpPr txBox="1"/>
          <p:nvPr/>
        </p:nvSpPr>
        <p:spPr>
          <a:xfrm>
            <a:off x="9930384" y="3273552"/>
            <a:ext cx="1581912" cy="1078992"/>
          </a:xfrm>
          <a:prstGeom prst="rect">
            <a:avLst/>
          </a:prstGeom>
          <a:noFill/>
        </p:spPr>
        <p:txBody>
          <a:bodyPr wrap="square" anchor="ctr">
            <a:spAutoFit/>
          </a:bodyPr>
          <a:lstStyle/>
          <a:p>
            <a:pPr algn="ctr">
              <a:spcAft>
                <a:spcPts val="200"/>
              </a:spcAft>
            </a:pPr>
            <a:r>
              <a:rPr sz="1500" b="1">
                <a:solidFill>
                  <a:srgbClr val="1F6FEB"/>
                </a:solidFill>
                <a:latin typeface="Arial"/>
              </a:rPr>
              <a:t>Learn</a:t>
            </a:r>
          </a:p>
          <a:p>
            <a:pPr algn="ctr">
              <a:spcAft>
                <a:spcPts val="200"/>
              </a:spcAft>
            </a:pPr>
            <a:r>
              <a:rPr sz="1050" b="0">
                <a:solidFill>
                  <a:srgbClr val="161B26"/>
                </a:solidFill>
                <a:latin typeface="Arial"/>
              </a:rPr>
              <a:t>Apply the feedback</a:t>
            </a:r>
          </a:p>
        </p:txBody>
      </p:sp>
      <p:sp>
        <p:nvSpPr>
          <p:cNvPr id="31" name="Rectangle 30"/>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Make the reporting step visible beside every email client shortcut.</a:t>
            </a:r>
          </a:p>
        </p:txBody>
      </p:sp>
      <p:sp>
        <p:nvSpPr>
          <p:cNvPr id="34" name="TextBox 33"/>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05 · 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feedback becomes a monthly improvement loop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Service improvement · synthetic training data, not operational evidence</a:t>
            </a:r>
          </a:p>
        </p:txBody>
      </p:sp>
      <p:cxnSp>
        <p:nvCxnSpPr>
          <p:cNvPr id="7" name="Connector 6"/>
          <p:cNvCxnSpPr/>
          <p:nvPr/>
        </p:nvCxnSpPr>
        <p:spPr>
          <a:xfrm>
            <a:off x="6080760" y="2286000"/>
            <a:ext cx="3565547"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8" name="Isosceles Triangle 7"/>
          <p:cNvSpPr/>
          <p:nvPr/>
        </p:nvSpPr>
        <p:spPr>
          <a:xfrm rot="6207233">
            <a:off x="7914715" y="2655167"/>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H="1">
            <a:off x="8284389"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Isosceles Triangle 9"/>
          <p:cNvSpPr/>
          <p:nvPr/>
        </p:nvSpPr>
        <p:spPr>
          <a:xfrm rot="13477149">
            <a:off x="8819431" y="3792815"/>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3877130" y="4519122"/>
            <a:ext cx="4407259" cy="0"/>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16200000">
            <a:off x="5813029" y="4427682"/>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flipV="1">
            <a:off x="2515212" y="3138977"/>
            <a:ext cx="1361918" cy="1380145"/>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18922851">
            <a:off x="3050254" y="3682403"/>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2515212" y="2286000"/>
            <a:ext cx="3565548" cy="852977"/>
          </a:xfrm>
          <a:prstGeom prst="line">
            <a:avLst/>
          </a:prstGeom>
          <a:ln w="31750">
            <a:solidFill>
              <a:srgbClr val="1F6FEB"/>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4592768">
            <a:off x="4349167" y="2586929"/>
            <a:ext cx="182880" cy="182880"/>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57800" y="2971800"/>
            <a:ext cx="1645920" cy="10972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IMPROVE</a:t>
            </a:r>
          </a:p>
        </p:txBody>
      </p:sp>
      <p:sp>
        <p:nvSpPr>
          <p:cNvPr id="19" name="Rectangle 18"/>
          <p:cNvSpPr/>
          <p:nvPr/>
        </p:nvSpPr>
        <p:spPr>
          <a:xfrm>
            <a:off x="5257800" y="1901952"/>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Listen</a:t>
            </a:r>
          </a:p>
          <a:p>
            <a:pPr algn="ctr">
              <a:spcAft>
                <a:spcPts val="0"/>
              </a:spcAft>
            </a:pPr>
            <a:r>
              <a:rPr sz="850" b="0">
                <a:solidFill>
                  <a:srgbClr val="5B6372"/>
                </a:solidFill>
                <a:latin typeface="Arial"/>
              </a:rPr>
              <a:t>Collect feedback</a:t>
            </a:r>
          </a:p>
        </p:txBody>
      </p:sp>
      <p:sp>
        <p:nvSpPr>
          <p:cNvPr id="21" name="Rectangle 20"/>
          <p:cNvSpPr/>
          <p:nvPr/>
        </p:nvSpPr>
        <p:spPr>
          <a:xfrm>
            <a:off x="8823347"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Diagnose</a:t>
            </a:r>
          </a:p>
          <a:p>
            <a:pPr algn="ctr">
              <a:spcAft>
                <a:spcPts val="0"/>
              </a:spcAft>
            </a:pPr>
            <a:r>
              <a:rPr sz="850" b="0">
                <a:solidFill>
                  <a:srgbClr val="5B6372"/>
                </a:solidFill>
                <a:latin typeface="Arial"/>
              </a:rPr>
              <a:t>Group causes</a:t>
            </a:r>
          </a:p>
        </p:txBody>
      </p:sp>
      <p:sp>
        <p:nvSpPr>
          <p:cNvPr id="23" name="Rectangle 22"/>
          <p:cNvSpPr/>
          <p:nvPr/>
        </p:nvSpPr>
        <p:spPr>
          <a:xfrm>
            <a:off x="7461429"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Prioritise</a:t>
            </a:r>
          </a:p>
          <a:p>
            <a:pPr algn="ctr">
              <a:spcAft>
                <a:spcPts val="0"/>
              </a:spcAft>
            </a:pPr>
            <a:r>
              <a:rPr sz="850" b="0">
                <a:solidFill>
                  <a:srgbClr val="5B6372"/>
                </a:solidFill>
                <a:latin typeface="Arial"/>
              </a:rPr>
              <a:t>Choose one issue</a:t>
            </a:r>
          </a:p>
        </p:txBody>
      </p:sp>
      <p:sp>
        <p:nvSpPr>
          <p:cNvPr id="25" name="Rectangle 24"/>
          <p:cNvSpPr/>
          <p:nvPr/>
        </p:nvSpPr>
        <p:spPr>
          <a:xfrm>
            <a:off x="3054170" y="4135074"/>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Improve</a:t>
            </a:r>
          </a:p>
          <a:p>
            <a:pPr algn="ctr">
              <a:spcAft>
                <a:spcPts val="0"/>
              </a:spcAft>
            </a:pPr>
            <a:r>
              <a:rPr sz="850" b="0">
                <a:solidFill>
                  <a:srgbClr val="5B6372"/>
                </a:solidFill>
                <a:latin typeface="Arial"/>
              </a:rPr>
              <a:t>Test the change</a:t>
            </a:r>
          </a:p>
        </p:txBody>
      </p:sp>
      <p:sp>
        <p:nvSpPr>
          <p:cNvPr id="27" name="Rectangle 26"/>
          <p:cNvSpPr/>
          <p:nvPr/>
        </p:nvSpPr>
        <p:spPr>
          <a:xfrm>
            <a:off x="1692252" y="2754929"/>
            <a:ext cx="1645920" cy="768096"/>
          </a:xfrm>
          <a:prstGeom prst="rect">
            <a:avLst/>
          </a:prstGeom>
          <a:solidFill>
            <a:srgbClr val="F5F8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1F6FEB"/>
                </a:solidFill>
                <a:latin typeface="Arial"/>
              </a:rPr>
              <a:t>Measure</a:t>
            </a:r>
          </a:p>
          <a:p>
            <a:pPr algn="ctr">
              <a:spcAft>
                <a:spcPts val="0"/>
              </a:spcAft>
            </a:pPr>
            <a:r>
              <a:rPr sz="850" b="0">
                <a:solidFill>
                  <a:srgbClr val="5B6372"/>
                </a:solidFill>
                <a:latin typeface="Arial"/>
              </a:rPr>
              <a:t>Compare outcome</a:t>
            </a:r>
          </a:p>
        </p:txBody>
      </p:sp>
      <p:sp>
        <p:nvSpPr>
          <p:cNvPr id="29" name="Rectangle 28"/>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Close each monthly cycle with one owned experiment.</a:t>
            </a:r>
          </a:p>
        </p:txBody>
      </p:sp>
      <p:sp>
        <p:nvSpPr>
          <p:cNvPr id="32" name="TextBox 31"/>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06 · FUNNEL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Trial activation is the largest conversion loss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SaaS adoption · synthetic training data, not operational evidence</a:t>
            </a:r>
          </a:p>
        </p:txBody>
      </p:sp>
      <p:sp>
        <p:nvSpPr>
          <p:cNvPr id="7" name="Rectangle 6"/>
          <p:cNvSpPr/>
          <p:nvPr/>
        </p:nvSpPr>
        <p:spPr>
          <a:xfrm>
            <a:off x="1706727" y="2057400"/>
            <a:ext cx="87782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06727" y="2057400"/>
            <a:ext cx="8778240" cy="512064"/>
          </a:xfrm>
          <a:prstGeom prst="rect">
            <a:avLst/>
          </a:prstGeom>
          <a:noFill/>
        </p:spPr>
        <p:txBody>
          <a:bodyPr wrap="square" anchor="ctr">
            <a:spAutoFit/>
          </a:bodyPr>
          <a:lstStyle/>
          <a:p>
            <a:pPr algn="ctr">
              <a:spcAft>
                <a:spcPts val="400"/>
              </a:spcAft>
            </a:pPr>
            <a:r>
              <a:rPr sz="1300" b="1">
                <a:solidFill>
                  <a:srgbClr val="FFFFFF"/>
                </a:solidFill>
                <a:latin typeface="Arial"/>
              </a:rPr>
              <a:t>10,000  </a:t>
            </a:r>
            <a:r>
              <a:rPr sz="1200" b="0">
                <a:solidFill>
                  <a:srgbClr val="FFFFFF"/>
                </a:solidFill>
                <a:latin typeface="Arial"/>
              </a:rPr>
              <a:t>visitors</a:t>
            </a:r>
          </a:p>
        </p:txBody>
      </p:sp>
      <p:sp>
        <p:nvSpPr>
          <p:cNvPr id="9" name="Rectangle 8"/>
          <p:cNvSpPr/>
          <p:nvPr/>
        </p:nvSpPr>
        <p:spPr>
          <a:xfrm>
            <a:off x="2323947" y="2715768"/>
            <a:ext cx="754380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23947" y="2715768"/>
            <a:ext cx="7543800" cy="512064"/>
          </a:xfrm>
          <a:prstGeom prst="rect">
            <a:avLst/>
          </a:prstGeom>
          <a:noFill/>
        </p:spPr>
        <p:txBody>
          <a:bodyPr wrap="square" anchor="ctr">
            <a:spAutoFit/>
          </a:bodyPr>
          <a:lstStyle/>
          <a:p>
            <a:pPr algn="ctr">
              <a:spcAft>
                <a:spcPts val="400"/>
              </a:spcAft>
            </a:pPr>
            <a:r>
              <a:rPr sz="1300" b="1">
                <a:solidFill>
                  <a:srgbClr val="FFFFFF"/>
                </a:solidFill>
                <a:latin typeface="Arial"/>
              </a:rPr>
              <a:t>4,200  </a:t>
            </a:r>
            <a:r>
              <a:rPr sz="1200" b="0">
                <a:solidFill>
                  <a:srgbClr val="FFFFFF"/>
                </a:solidFill>
                <a:latin typeface="Arial"/>
              </a:rPr>
              <a:t>sign-ups</a:t>
            </a:r>
          </a:p>
        </p:txBody>
      </p:sp>
      <p:sp>
        <p:nvSpPr>
          <p:cNvPr id="11" name="Rectangle 10"/>
          <p:cNvSpPr/>
          <p:nvPr/>
        </p:nvSpPr>
        <p:spPr>
          <a:xfrm>
            <a:off x="2941167" y="3374136"/>
            <a:ext cx="6309360"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1167" y="3374136"/>
            <a:ext cx="6309360" cy="512064"/>
          </a:xfrm>
          <a:prstGeom prst="rect">
            <a:avLst/>
          </a:prstGeom>
          <a:noFill/>
        </p:spPr>
        <p:txBody>
          <a:bodyPr wrap="square" anchor="ctr">
            <a:spAutoFit/>
          </a:bodyPr>
          <a:lstStyle/>
          <a:p>
            <a:pPr algn="ctr">
              <a:spcAft>
                <a:spcPts val="400"/>
              </a:spcAft>
            </a:pPr>
            <a:r>
              <a:rPr sz="1300" b="1">
                <a:solidFill>
                  <a:srgbClr val="FFFFFF"/>
                </a:solidFill>
                <a:latin typeface="Arial"/>
              </a:rPr>
              <a:t>2,100  </a:t>
            </a:r>
            <a:r>
              <a:rPr sz="1200" b="0">
                <a:solidFill>
                  <a:srgbClr val="FFFFFF"/>
                </a:solidFill>
                <a:latin typeface="Arial"/>
              </a:rPr>
              <a:t>activated</a:t>
            </a:r>
          </a:p>
        </p:txBody>
      </p:sp>
      <p:sp>
        <p:nvSpPr>
          <p:cNvPr id="13" name="Rectangle 12"/>
          <p:cNvSpPr/>
          <p:nvPr/>
        </p:nvSpPr>
        <p:spPr>
          <a:xfrm>
            <a:off x="3558387" y="4032504"/>
            <a:ext cx="507492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8387" y="4032504"/>
            <a:ext cx="5074920" cy="512064"/>
          </a:xfrm>
          <a:prstGeom prst="rect">
            <a:avLst/>
          </a:prstGeom>
          <a:noFill/>
        </p:spPr>
        <p:txBody>
          <a:bodyPr wrap="square" anchor="ctr">
            <a:spAutoFit/>
          </a:bodyPr>
          <a:lstStyle/>
          <a:p>
            <a:pPr algn="ctr">
              <a:spcAft>
                <a:spcPts val="400"/>
              </a:spcAft>
            </a:pPr>
            <a:r>
              <a:rPr sz="1300" b="1">
                <a:solidFill>
                  <a:srgbClr val="FFFFFF"/>
                </a:solidFill>
                <a:latin typeface="Arial"/>
              </a:rPr>
              <a:t>1,260  </a:t>
            </a:r>
            <a:r>
              <a:rPr sz="1200" b="0">
                <a:solidFill>
                  <a:srgbClr val="FFFFFF"/>
                </a:solidFill>
                <a:latin typeface="Arial"/>
              </a:rPr>
              <a:t>weekly users</a:t>
            </a:r>
          </a:p>
        </p:txBody>
      </p:sp>
      <p:sp>
        <p:nvSpPr>
          <p:cNvPr id="15" name="Rectangle 14"/>
          <p:cNvSpPr/>
          <p:nvPr/>
        </p:nvSpPr>
        <p:spPr>
          <a:xfrm>
            <a:off x="4175607" y="4690872"/>
            <a:ext cx="384048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75607" y="4690872"/>
            <a:ext cx="3840480" cy="512064"/>
          </a:xfrm>
          <a:prstGeom prst="rect">
            <a:avLst/>
          </a:prstGeom>
          <a:noFill/>
        </p:spPr>
        <p:txBody>
          <a:bodyPr wrap="square" anchor="ctr">
            <a:spAutoFit/>
          </a:bodyPr>
          <a:lstStyle/>
          <a:p>
            <a:pPr algn="ctr">
              <a:spcAft>
                <a:spcPts val="400"/>
              </a:spcAft>
            </a:pPr>
            <a:r>
              <a:rPr sz="1300" b="1">
                <a:solidFill>
                  <a:srgbClr val="FFFFFF"/>
                </a:solidFill>
                <a:latin typeface="Arial"/>
              </a:rPr>
              <a:t>630  </a:t>
            </a:r>
            <a:r>
              <a:rPr sz="1200" b="0">
                <a:solidFill>
                  <a:srgbClr val="FFFFFF"/>
                </a:solidFill>
                <a:latin typeface="Arial"/>
              </a:rPr>
              <a:t>paid</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Reduce the steps between sign-up and first successful task.</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07 · HIERARCHY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Business goals translate into owned infographic measures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Strategy communication · synthetic training data, not operational evidence</a:t>
            </a:r>
          </a:p>
        </p:txBody>
      </p:sp>
      <p:sp>
        <p:nvSpPr>
          <p:cNvPr id="7" name="Rectangle 6"/>
          <p:cNvSpPr/>
          <p:nvPr/>
        </p:nvSpPr>
        <p:spPr>
          <a:xfrm>
            <a:off x="3764127" y="2148840"/>
            <a:ext cx="466344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47007" y="2148840"/>
            <a:ext cx="4297680" cy="530352"/>
          </a:xfrm>
          <a:prstGeom prst="rect">
            <a:avLst/>
          </a:prstGeom>
          <a:noFill/>
        </p:spPr>
        <p:txBody>
          <a:bodyPr wrap="square" anchor="ctr">
            <a:spAutoFit/>
          </a:bodyPr>
          <a:lstStyle/>
          <a:p>
            <a:pPr algn="ctr">
              <a:spcAft>
                <a:spcPts val="400"/>
              </a:spcAft>
            </a:pPr>
            <a:r>
              <a:rPr sz="1150" b="1">
                <a:solidFill>
                  <a:srgbClr val="7C3AED"/>
                </a:solidFill>
                <a:latin typeface="Arial"/>
              </a:rPr>
              <a:t>Goal — </a:t>
            </a:r>
            <a:r>
              <a:rPr sz="1150" b="0">
                <a:solidFill>
                  <a:srgbClr val="161B26"/>
                </a:solidFill>
                <a:latin typeface="Arial"/>
              </a:rPr>
              <a:t>Improve service trust</a:t>
            </a:r>
          </a:p>
        </p:txBody>
      </p:sp>
      <p:sp>
        <p:nvSpPr>
          <p:cNvPr id="9" name="Rectangle 8"/>
          <p:cNvSpPr/>
          <p:nvPr/>
        </p:nvSpPr>
        <p:spPr>
          <a:xfrm>
            <a:off x="3329787" y="2807208"/>
            <a:ext cx="553212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2667" y="2807208"/>
            <a:ext cx="5166360" cy="530352"/>
          </a:xfrm>
          <a:prstGeom prst="rect">
            <a:avLst/>
          </a:prstGeom>
          <a:noFill/>
        </p:spPr>
        <p:txBody>
          <a:bodyPr wrap="square" anchor="ctr">
            <a:spAutoFit/>
          </a:bodyPr>
          <a:lstStyle/>
          <a:p>
            <a:pPr algn="ctr">
              <a:spcAft>
                <a:spcPts val="400"/>
              </a:spcAft>
            </a:pPr>
            <a:r>
              <a:rPr sz="1150" b="1">
                <a:solidFill>
                  <a:srgbClr val="7C3AED"/>
                </a:solidFill>
                <a:latin typeface="Arial"/>
              </a:rPr>
              <a:t>Outcome — </a:t>
            </a:r>
            <a:r>
              <a:rPr sz="1150" b="0">
                <a:solidFill>
                  <a:srgbClr val="161B26"/>
                </a:solidFill>
                <a:latin typeface="Arial"/>
              </a:rPr>
              <a:t>Faster issue recovery</a:t>
            </a:r>
          </a:p>
        </p:txBody>
      </p:sp>
      <p:sp>
        <p:nvSpPr>
          <p:cNvPr id="11" name="Rectangle 10"/>
          <p:cNvSpPr/>
          <p:nvPr/>
        </p:nvSpPr>
        <p:spPr>
          <a:xfrm>
            <a:off x="2895447" y="3465576"/>
            <a:ext cx="640080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8327" y="3465576"/>
            <a:ext cx="6035040" cy="530352"/>
          </a:xfrm>
          <a:prstGeom prst="rect">
            <a:avLst/>
          </a:prstGeom>
          <a:noFill/>
        </p:spPr>
        <p:txBody>
          <a:bodyPr wrap="square" anchor="ctr">
            <a:spAutoFit/>
          </a:bodyPr>
          <a:lstStyle/>
          <a:p>
            <a:pPr algn="ctr">
              <a:spcAft>
                <a:spcPts val="400"/>
              </a:spcAft>
            </a:pPr>
            <a:r>
              <a:rPr sz="1150" b="1">
                <a:solidFill>
                  <a:srgbClr val="7C3AED"/>
                </a:solidFill>
                <a:latin typeface="Arial"/>
              </a:rPr>
              <a:t>Measure — </a:t>
            </a:r>
            <a:r>
              <a:rPr sz="1150" b="0">
                <a:solidFill>
                  <a:srgbClr val="161B26"/>
                </a:solidFill>
                <a:latin typeface="Arial"/>
              </a:rPr>
              <a:t>Resolution under 4 hours</a:t>
            </a:r>
          </a:p>
        </p:txBody>
      </p:sp>
      <p:sp>
        <p:nvSpPr>
          <p:cNvPr id="13" name="Rectangle 12"/>
          <p:cNvSpPr/>
          <p:nvPr/>
        </p:nvSpPr>
        <p:spPr>
          <a:xfrm>
            <a:off x="2461107" y="4123944"/>
            <a:ext cx="726948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43987" y="4123944"/>
            <a:ext cx="6903720" cy="530352"/>
          </a:xfrm>
          <a:prstGeom prst="rect">
            <a:avLst/>
          </a:prstGeom>
          <a:noFill/>
        </p:spPr>
        <p:txBody>
          <a:bodyPr wrap="square" anchor="ctr">
            <a:spAutoFit/>
          </a:bodyPr>
          <a:lstStyle/>
          <a:p>
            <a:pPr algn="ctr">
              <a:spcAft>
                <a:spcPts val="400"/>
              </a:spcAft>
            </a:pPr>
            <a:r>
              <a:rPr sz="1150" b="1">
                <a:solidFill>
                  <a:srgbClr val="7C3AED"/>
                </a:solidFill>
                <a:latin typeface="Arial"/>
              </a:rPr>
              <a:t>Owner — </a:t>
            </a:r>
            <a:r>
              <a:rPr sz="1150" b="0">
                <a:solidFill>
                  <a:srgbClr val="161B26"/>
                </a:solidFill>
                <a:latin typeface="Arial"/>
              </a:rPr>
              <a:t>Customer operations</a:t>
            </a:r>
          </a:p>
        </p:txBody>
      </p:sp>
      <p:sp>
        <p:nvSpPr>
          <p:cNvPr id="15" name="Rectangle 14"/>
          <p:cNvSpPr/>
          <p:nvPr/>
        </p:nvSpPr>
        <p:spPr>
          <a:xfrm>
            <a:off x="2026767" y="4782312"/>
            <a:ext cx="8138160" cy="530352"/>
          </a:xfrm>
          <a:prstGeom prst="rect">
            <a:avLst/>
          </a:prstGeom>
          <a:solidFill>
            <a:srgbClr val="F5F8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09647" y="4782312"/>
            <a:ext cx="7772400" cy="530352"/>
          </a:xfrm>
          <a:prstGeom prst="rect">
            <a:avLst/>
          </a:prstGeom>
          <a:noFill/>
        </p:spPr>
        <p:txBody>
          <a:bodyPr wrap="square" anchor="ctr">
            <a:spAutoFit/>
          </a:bodyPr>
          <a:lstStyle/>
          <a:p>
            <a:pPr algn="ctr">
              <a:spcAft>
                <a:spcPts val="400"/>
              </a:spcAft>
            </a:pPr>
            <a:r>
              <a:rPr sz="1150" b="1">
                <a:solidFill>
                  <a:srgbClr val="7C3AED"/>
                </a:solidFill>
                <a:latin typeface="Arial"/>
              </a:rPr>
              <a:t>Review — </a:t>
            </a:r>
            <a:r>
              <a:rPr sz="1150" b="0">
                <a:solidFill>
                  <a:srgbClr val="161B26"/>
                </a:solidFill>
                <a:latin typeface="Arial"/>
              </a:rPr>
              <a:t>Monthly governance meeting</a:t>
            </a:r>
          </a:p>
        </p:txBody>
      </p:sp>
      <p:sp>
        <p:nvSpPr>
          <p:cNvPr id="17" name="Rectangle 16"/>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Show ownership and review cadence below every business goal.</a:t>
            </a:r>
          </a:p>
        </p:txBody>
      </p:sp>
      <p:sp>
        <p:nvSpPr>
          <p:cNvPr id="20" name="TextBox 19"/>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08 · MIND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needs converge on one decision story</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Stakeholder communication · synthetic training data, not operational evidence</a:t>
            </a:r>
          </a:p>
        </p:txBody>
      </p:sp>
      <p:cxnSp>
        <p:nvCxnSpPr>
          <p:cNvPr id="7" name="Connector 6"/>
          <p:cNvCxnSpPr/>
          <p:nvPr/>
        </p:nvCxnSpPr>
        <p:spPr>
          <a:xfrm flipV="1">
            <a:off x="6080760" y="2286000"/>
            <a:ext cx="0" cy="123444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80760" y="3138977"/>
            <a:ext cx="3565547"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3520440"/>
            <a:ext cx="2203629"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877130" y="3520440"/>
            <a:ext cx="2203630" cy="998682"/>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515212" y="3138977"/>
            <a:ext cx="3565548" cy="381463"/>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5257800" y="2971800"/>
            <a:ext cx="1645920" cy="10972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971800"/>
            <a:ext cx="1645920" cy="1097280"/>
          </a:xfrm>
          <a:prstGeom prst="rect">
            <a:avLst/>
          </a:prstGeom>
          <a:noFill/>
        </p:spPr>
        <p:txBody>
          <a:bodyPr wrap="square" anchor="ctr">
            <a:spAutoFit/>
          </a:bodyPr>
          <a:lstStyle/>
          <a:p>
            <a:pPr algn="ctr">
              <a:spcAft>
                <a:spcPts val="400"/>
              </a:spcAft>
            </a:pPr>
            <a:r>
              <a:rPr sz="1400" b="1">
                <a:solidFill>
                  <a:srgbClr val="FFFFFF"/>
                </a:solidFill>
                <a:latin typeface="Arial"/>
              </a:rPr>
              <a:t>ONE
DECISION</a:t>
            </a:r>
          </a:p>
        </p:txBody>
      </p:sp>
      <p:sp>
        <p:nvSpPr>
          <p:cNvPr id="14" name="Rectangle 13"/>
          <p:cNvSpPr/>
          <p:nvPr/>
        </p:nvSpPr>
        <p:spPr>
          <a:xfrm>
            <a:off x="5257800" y="1901952"/>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2" y="1975104"/>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Executives</a:t>
            </a:r>
          </a:p>
          <a:p>
            <a:pPr algn="ctr">
              <a:spcAft>
                <a:spcPts val="0"/>
              </a:spcAft>
            </a:pPr>
            <a:r>
              <a:rPr sz="850" b="0">
                <a:solidFill>
                  <a:srgbClr val="5B6372"/>
                </a:solidFill>
                <a:latin typeface="Arial"/>
              </a:rPr>
              <a:t>Outcome and risk</a:t>
            </a:r>
          </a:p>
        </p:txBody>
      </p:sp>
      <p:sp>
        <p:nvSpPr>
          <p:cNvPr id="16" name="Rectangle 15"/>
          <p:cNvSpPr/>
          <p:nvPr/>
        </p:nvSpPr>
        <p:spPr>
          <a:xfrm>
            <a:off x="8823347"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6499"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Managers</a:t>
            </a:r>
          </a:p>
          <a:p>
            <a:pPr algn="ctr">
              <a:spcAft>
                <a:spcPts val="0"/>
              </a:spcAft>
            </a:pPr>
            <a:r>
              <a:rPr sz="850" b="0">
                <a:solidFill>
                  <a:srgbClr val="5B6372"/>
                </a:solidFill>
                <a:latin typeface="Arial"/>
              </a:rPr>
              <a:t>Actions and owners</a:t>
            </a:r>
          </a:p>
        </p:txBody>
      </p:sp>
      <p:sp>
        <p:nvSpPr>
          <p:cNvPr id="18" name="Rectangle 17"/>
          <p:cNvSpPr/>
          <p:nvPr/>
        </p:nvSpPr>
        <p:spPr>
          <a:xfrm>
            <a:off x="7461429"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581"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Analysts</a:t>
            </a:r>
          </a:p>
          <a:p>
            <a:pPr algn="ctr">
              <a:spcAft>
                <a:spcPts val="0"/>
              </a:spcAft>
            </a:pPr>
            <a:r>
              <a:rPr sz="850" b="0">
                <a:solidFill>
                  <a:srgbClr val="5B6372"/>
                </a:solidFill>
                <a:latin typeface="Arial"/>
              </a:rPr>
              <a:t>Definitions and source</a:t>
            </a:r>
          </a:p>
        </p:txBody>
      </p:sp>
      <p:sp>
        <p:nvSpPr>
          <p:cNvPr id="20" name="Rectangle 19"/>
          <p:cNvSpPr/>
          <p:nvPr/>
        </p:nvSpPr>
        <p:spPr>
          <a:xfrm>
            <a:off x="3054170" y="4135074"/>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27322" y="4208226"/>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Staff</a:t>
            </a:r>
          </a:p>
          <a:p>
            <a:pPr algn="ctr">
              <a:spcAft>
                <a:spcPts val="0"/>
              </a:spcAft>
            </a:pPr>
            <a:r>
              <a:rPr sz="850" b="0">
                <a:solidFill>
                  <a:srgbClr val="5B6372"/>
                </a:solidFill>
                <a:latin typeface="Arial"/>
              </a:rPr>
              <a:t>Simple next step</a:t>
            </a:r>
          </a:p>
        </p:txBody>
      </p:sp>
      <p:sp>
        <p:nvSpPr>
          <p:cNvPr id="22" name="Rectangle 21"/>
          <p:cNvSpPr/>
          <p:nvPr/>
        </p:nvSpPr>
        <p:spPr>
          <a:xfrm>
            <a:off x="1692252" y="2754929"/>
            <a:ext cx="1645920" cy="768096"/>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5404" y="2828081"/>
            <a:ext cx="1499616" cy="621792"/>
          </a:xfrm>
          <a:prstGeom prst="rect">
            <a:avLst/>
          </a:prstGeom>
          <a:noFill/>
        </p:spPr>
        <p:txBody>
          <a:bodyPr wrap="square" anchor="ctr">
            <a:spAutoFit/>
          </a:bodyPr>
          <a:lstStyle/>
          <a:p>
            <a:pPr algn="ctr">
              <a:spcAft>
                <a:spcPts val="0"/>
              </a:spcAft>
            </a:pPr>
            <a:r>
              <a:rPr sz="1100" b="1">
                <a:solidFill>
                  <a:srgbClr val="F59E0B"/>
                </a:solidFill>
                <a:latin typeface="Arial"/>
              </a:rPr>
              <a:t>Customers</a:t>
            </a:r>
          </a:p>
          <a:p>
            <a:pPr algn="ctr">
              <a:spcAft>
                <a:spcPts val="0"/>
              </a:spcAft>
            </a:pPr>
            <a:r>
              <a:rPr sz="850" b="0">
                <a:solidFill>
                  <a:srgbClr val="5B6372"/>
                </a:solidFill>
                <a:latin typeface="Arial"/>
              </a:rPr>
              <a:t>Impact and assurance</a:t>
            </a:r>
          </a:p>
        </p:txBody>
      </p:sp>
      <p:sp>
        <p:nvSpPr>
          <p:cNvPr id="24" name="Rectangle 23"/>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Keep one core claim, then vary depth by audience.</a:t>
            </a:r>
          </a:p>
        </p:txBody>
      </p:sp>
      <p:sp>
        <p:nvSpPr>
          <p:cNvPr id="27" name="TextBox 26"/>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REALISTIC WORKPLACE DEMO 09 · GEOGRAPHIC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West-region stores need targeted queue redesign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Store operations · synthetic training data, not operational evidence</a:t>
            </a:r>
          </a:p>
        </p:txBody>
      </p:sp>
      <p:sp>
        <p:nvSpPr>
          <p:cNvPr id="7" name="Rectangle 6"/>
          <p:cNvSpPr/>
          <p:nvPr/>
        </p:nvSpPr>
        <p:spPr>
          <a:xfrm>
            <a:off x="1481328" y="3127248"/>
            <a:ext cx="1874519"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WEST</a:t>
            </a:r>
          </a:p>
        </p:txBody>
      </p:sp>
      <p:sp>
        <p:nvSpPr>
          <p:cNvPr id="9" name="TextBox 8"/>
          <p:cNvSpPr txBox="1"/>
          <p:nvPr/>
        </p:nvSpPr>
        <p:spPr>
          <a:xfrm>
            <a:off x="1481328"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6.8 min</a:t>
            </a:r>
          </a:p>
        </p:txBody>
      </p:sp>
      <p:sp>
        <p:nvSpPr>
          <p:cNvPr id="10" name="Rectangle 9"/>
          <p:cNvSpPr/>
          <p:nvPr/>
        </p:nvSpPr>
        <p:spPr>
          <a:xfrm>
            <a:off x="3730752" y="3127248"/>
            <a:ext cx="1874519"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0752"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CENTRAL</a:t>
            </a:r>
          </a:p>
        </p:txBody>
      </p:sp>
      <p:sp>
        <p:nvSpPr>
          <p:cNvPr id="12" name="TextBox 11"/>
          <p:cNvSpPr txBox="1"/>
          <p:nvPr/>
        </p:nvSpPr>
        <p:spPr>
          <a:xfrm>
            <a:off x="3730752"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4.2 min</a:t>
            </a:r>
          </a:p>
        </p:txBody>
      </p:sp>
      <p:sp>
        <p:nvSpPr>
          <p:cNvPr id="13" name="Rectangle 12"/>
          <p:cNvSpPr/>
          <p:nvPr/>
        </p:nvSpPr>
        <p:spPr>
          <a:xfrm>
            <a:off x="5980176" y="3127248"/>
            <a:ext cx="1874519"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3236976"/>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EAST</a:t>
            </a:r>
          </a:p>
        </p:txBody>
      </p:sp>
      <p:sp>
        <p:nvSpPr>
          <p:cNvPr id="15" name="TextBox 14"/>
          <p:cNvSpPr txBox="1"/>
          <p:nvPr/>
        </p:nvSpPr>
        <p:spPr>
          <a:xfrm>
            <a:off x="5980176" y="3575304"/>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4.9 min</a:t>
            </a:r>
          </a:p>
        </p:txBody>
      </p:sp>
      <p:sp>
        <p:nvSpPr>
          <p:cNvPr id="16" name="Rectangle 15"/>
          <p:cNvSpPr/>
          <p:nvPr/>
        </p:nvSpPr>
        <p:spPr>
          <a:xfrm>
            <a:off x="3730752" y="1993392"/>
            <a:ext cx="1874519"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30752" y="2103120"/>
            <a:ext cx="1874519" cy="347472"/>
          </a:xfrm>
          <a:prstGeom prst="rect">
            <a:avLst/>
          </a:prstGeom>
          <a:noFill/>
        </p:spPr>
        <p:txBody>
          <a:bodyPr wrap="square" anchor="t">
            <a:spAutoFit/>
          </a:bodyPr>
          <a:lstStyle/>
          <a:p>
            <a:pPr algn="ctr">
              <a:spcAft>
                <a:spcPts val="400"/>
              </a:spcAft>
            </a:pPr>
            <a:r>
              <a:rPr sz="1100" b="1">
                <a:solidFill>
                  <a:srgbClr val="FFFFFF"/>
                </a:solidFill>
                <a:latin typeface="Arial"/>
              </a:rPr>
              <a:t>NORTH</a:t>
            </a:r>
          </a:p>
        </p:txBody>
      </p:sp>
      <p:sp>
        <p:nvSpPr>
          <p:cNvPr id="18" name="TextBox 17"/>
          <p:cNvSpPr txBox="1"/>
          <p:nvPr/>
        </p:nvSpPr>
        <p:spPr>
          <a:xfrm>
            <a:off x="3730752" y="2441448"/>
            <a:ext cx="1874519" cy="347472"/>
          </a:xfrm>
          <a:prstGeom prst="rect">
            <a:avLst/>
          </a:prstGeom>
          <a:noFill/>
        </p:spPr>
        <p:txBody>
          <a:bodyPr wrap="square" anchor="t">
            <a:spAutoFit/>
          </a:bodyPr>
          <a:lstStyle/>
          <a:p>
            <a:pPr algn="ctr">
              <a:spcAft>
                <a:spcPts val="400"/>
              </a:spcAft>
            </a:pPr>
            <a:r>
              <a:rPr sz="1900" b="1">
                <a:solidFill>
                  <a:srgbClr val="FFFFFF"/>
                </a:solidFill>
                <a:latin typeface="Arial"/>
              </a:rPr>
              <a:t>5.1 min</a:t>
            </a:r>
          </a:p>
        </p:txBody>
      </p:sp>
      <p:sp>
        <p:nvSpPr>
          <p:cNvPr id="19" name="TextBox 18"/>
          <p:cNvSpPr txBox="1"/>
          <p:nvPr/>
        </p:nvSpPr>
        <p:spPr>
          <a:xfrm>
            <a:off x="8641080" y="2212848"/>
            <a:ext cx="2423160" cy="411480"/>
          </a:xfrm>
          <a:prstGeom prst="rect">
            <a:avLst/>
          </a:prstGeom>
          <a:noFill/>
        </p:spPr>
        <p:txBody>
          <a:bodyPr wrap="square" anchor="t">
            <a:spAutoFit/>
          </a:bodyPr>
          <a:lstStyle/>
          <a:p>
            <a:pPr algn="ctr">
              <a:spcAft>
                <a:spcPts val="400"/>
              </a:spcAft>
            </a:pPr>
            <a:r>
              <a:rPr sz="1200" b="1">
                <a:solidFill>
                  <a:srgbClr val="1F6FEB"/>
                </a:solidFill>
                <a:latin typeface="Arial"/>
              </a:rPr>
              <a:t>QUEUE-WAIT HEAT MAP</a:t>
            </a:r>
          </a:p>
        </p:txBody>
      </p:sp>
      <p:sp>
        <p:nvSpPr>
          <p:cNvPr id="20" name="TextBox 19"/>
          <p:cNvSpPr txBox="1"/>
          <p:nvPr/>
        </p:nvSpPr>
        <p:spPr>
          <a:xfrm>
            <a:off x="8641080" y="2761488"/>
            <a:ext cx="2423160" cy="1188720"/>
          </a:xfrm>
          <a:prstGeom prst="rect">
            <a:avLst/>
          </a:prstGeom>
          <a:noFill/>
        </p:spPr>
        <p:txBody>
          <a:bodyPr wrap="square" anchor="ctr">
            <a:spAutoFit/>
          </a:bodyPr>
          <a:lstStyle/>
          <a:p>
            <a:pPr algn="ctr">
              <a:spcAft>
                <a:spcPts val="400"/>
              </a:spcAft>
            </a:pPr>
            <a:r>
              <a:rPr sz="1000" b="1">
                <a:solidFill>
                  <a:srgbClr val="5B6372"/>
                </a:solidFill>
                <a:latin typeface="Arial"/>
              </a:rPr>
              <a:t>HOTTEST</a:t>
            </a:r>
          </a:p>
          <a:p>
            <a:pPr algn="ctr">
              <a:spcAft>
                <a:spcPts val="400"/>
              </a:spcAft>
            </a:pPr>
            <a:r>
              <a:rPr sz="2800" b="1">
                <a:solidFill>
                  <a:srgbClr val="F59E0B"/>
                </a:solidFill>
                <a:latin typeface="Arial"/>
              </a:rPr>
              <a:t>WEST</a:t>
            </a:r>
          </a:p>
          <a:p>
            <a:pPr algn="ctr">
              <a:spcAft>
                <a:spcPts val="400"/>
              </a:spcAft>
            </a:pPr>
            <a:r>
              <a:rPr sz="1600" b="0">
                <a:solidFill>
                  <a:srgbClr val="161B26"/>
                </a:solidFill>
                <a:latin typeface="Arial"/>
              </a:rPr>
              <a:t>6.8 min</a:t>
            </a:r>
          </a:p>
        </p:txBody>
      </p:sp>
      <p:sp>
        <p:nvSpPr>
          <p:cNvPr id="21" name="TextBox 20"/>
          <p:cNvSpPr txBox="1"/>
          <p:nvPr/>
        </p:nvSpPr>
        <p:spPr>
          <a:xfrm>
            <a:off x="8641080" y="4160520"/>
            <a:ext cx="2423160" cy="411480"/>
          </a:xfrm>
          <a:prstGeom prst="rect">
            <a:avLst/>
          </a:prstGeom>
          <a:noFill/>
        </p:spPr>
        <p:txBody>
          <a:bodyPr wrap="square" anchor="t">
            <a:spAutoFit/>
          </a:bodyPr>
          <a:lstStyle/>
          <a:p>
            <a:pPr algn="ctr">
              <a:spcAft>
                <a:spcPts val="400"/>
              </a:spcAft>
            </a:pPr>
            <a:r>
              <a:rPr sz="1600" b="1">
                <a:solidFill>
                  <a:srgbClr val="161B26"/>
                </a:solidFill>
                <a:latin typeface="Arial"/>
              </a:rPr>
              <a:t>N</a:t>
            </a:r>
            <a:r>
              <a:rPr sz="1800" b="1">
                <a:solidFill>
                  <a:srgbClr val="1F6FEB"/>
                </a:solidFill>
                <a:latin typeface="Arial"/>
              </a:rPr>
              <a:t>  ↑</a:t>
            </a:r>
          </a:p>
        </p:txBody>
      </p:sp>
      <p:sp>
        <p:nvSpPr>
          <p:cNvPr id="22" name="Rectangle 21"/>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21808"/>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Pilot queue redesign in the West region before network-wide rollout.</a:t>
            </a:r>
          </a:p>
        </p:txBody>
      </p:sp>
      <p:sp>
        <p:nvSpPr>
          <p:cNvPr id="25" name="TextBox 24"/>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50"/>
                                        <p:tgtEl>
                                          <p:spTgt spid="16"/>
                                        </p:tgtEl>
                                      </p:cBhvr>
                                    </p:animEffect>
                                    <p:anim calcmode="lin" valueType="num">
                                      <p:cBhvr additive="base">
                                        <p:cTn id="15" dur="350" fill="hold"/>
                                        <p:tgtEl>
                                          <p:spTgt spid="16"/>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50"/>
                                        <p:tgtEl>
                                          <p:spTgt spid="20"/>
                                        </p:tgtEl>
                                      </p:cBhvr>
                                    </p:animEffect>
                                    <p:anim calcmode="lin" valueType="num">
                                      <p:cBhvr additive="base">
                                        <p:cTn id="25" dur="350" fill="hold"/>
                                        <p:tgtEl>
                                          <p:spTgt spid="2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350"/>
                                        <p:tgtEl>
                                          <p:spTgt spid="7"/>
                                        </p:tgtEl>
                                      </p:cBhvr>
                                    </p:animEffect>
                                    <p:anim calcmode="lin" valueType="num">
                                      <p:cBhvr additive="base">
                                        <p:cTn id="3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350"/>
                                        <p:tgtEl>
                                          <p:spTgt spid="10"/>
                                        </p:tgtEl>
                                      </p:cBhvr>
                                    </p:animEffect>
                                    <p:anim calcmode="lin" valueType="num">
                                      <p:cBhvr additive="base">
                                        <p:cTn id="4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anim calcmode="lin" valueType="num">
                                      <p:cBhvr additive="base">
                                        <p:cTn id="65" dur="350" fill="hold"/>
                                        <p:tgtEl>
                                          <p:spTgt spid="22"/>
                                        </p:tgtEl>
                                        <p:attrNameLst>
                                          <p:attrName>ppt_y</p:attrName>
                                        </p:attrNameLst>
                                      </p:cBhvr>
                                      <p:tavLst>
                                        <p:tav tm="0">
                                          <p:val>
                                            <p:strVal val="#ppt_y+0.0350"/>
                                          </p:val>
                                        </p:tav>
                                        <p:tav tm="100000">
                                          <p:val>
                                            <p:strVal val="#ppt_y"/>
                                          </p:val>
                                        </p:tav>
                                      </p:tavLst>
                                    </p:anim>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50"/>
                                        <p:tgtEl>
                                          <p:spTgt spid="23"/>
                                        </p:tgtEl>
                                      </p:cBhvr>
                                    </p:animEffect>
                                    <p:anim calcmode="lin" valueType="num">
                                      <p:cBhvr additive="base">
                                        <p:cTn id="75" dur="350" fill="hold"/>
                                        <p:tgtEl>
                                          <p:spTgt spid="23"/>
                                        </p:tgtEl>
                                        <p:attrNameLst>
                                          <p:attrName>ppt_y</p:attrName>
                                        </p:attrNameLst>
                                      </p:cBhvr>
                                      <p:tavLst>
                                        <p:tav tm="0">
                                          <p:val>
                                            <p:strVal val="#ppt_y+0.0350"/>
                                          </p:val>
                                        </p:tav>
                                        <p:tav tm="100000">
                                          <p:val>
                                            <p:strVal val="#ppt_y"/>
                                          </p:val>
                                        </p:tav>
                                      </p:tavLst>
                                    </p:anim>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350"/>
                                        <p:tgtEl>
                                          <p:spTgt spid="24"/>
                                        </p:tgtEl>
                                      </p:cBhvr>
                                    </p:animEffect>
                                    <p:anim calcmode="lin" valueType="num">
                                      <p:cBhvr additive="base">
                                        <p:cTn id="85" dur="350" fill="hold"/>
                                        <p:tgtEl>
                                          <p:spTgt spid="2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REALISTIC WORKPLACE DEMO 10 · BEFORE AND AFTER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simplified returns flow cuts avoidable handling</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Operations redesign · synthetic training data, not operational evidence</a:t>
            </a:r>
          </a:p>
        </p:txBody>
      </p:sp>
      <p:sp>
        <p:nvSpPr>
          <p:cNvPr id="7" name="Rectangle 6"/>
          <p:cNvSpPr/>
          <p:nvPr/>
        </p:nvSpPr>
        <p:spPr>
          <a:xfrm>
            <a:off x="86868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4983480" cy="411480"/>
          </a:xfrm>
          <a:prstGeom prst="rect">
            <a:avLst/>
          </a:prstGeom>
          <a:noFill/>
        </p:spPr>
        <p:txBody>
          <a:bodyPr wrap="square" anchor="t">
            <a:spAutoFit/>
          </a:bodyPr>
          <a:lstStyle/>
          <a:p>
            <a:pPr algn="ctr">
              <a:spcAft>
                <a:spcPts val="400"/>
              </a:spcAft>
            </a:pPr>
            <a:r>
              <a:rPr sz="1600" b="1">
                <a:solidFill>
                  <a:srgbClr val="5B6372"/>
                </a:solidFill>
                <a:latin typeface="Arial"/>
              </a:rPr>
              <a:t>BEFORE</a:t>
            </a:r>
          </a:p>
        </p:txBody>
      </p:sp>
      <p:sp>
        <p:nvSpPr>
          <p:cNvPr id="9" name="TextBox 8"/>
          <p:cNvSpPr txBox="1"/>
          <p:nvPr/>
        </p:nvSpPr>
        <p:spPr>
          <a:xfrm>
            <a:off x="868680" y="3108960"/>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9</a:t>
            </a:r>
            <a:r>
              <a:rPr sz="1200" b="0">
                <a:solidFill>
                  <a:srgbClr val="161B26"/>
                </a:solidFill>
                <a:latin typeface="Arial"/>
              </a:rPr>
              <a:t>  old steps</a:t>
            </a:r>
          </a:p>
        </p:txBody>
      </p:sp>
      <p:sp>
        <p:nvSpPr>
          <p:cNvPr id="10" name="TextBox 9"/>
          <p:cNvSpPr txBox="1"/>
          <p:nvPr/>
        </p:nvSpPr>
        <p:spPr>
          <a:xfrm>
            <a:off x="868680" y="3977639"/>
            <a:ext cx="4983480" cy="731520"/>
          </a:xfrm>
          <a:prstGeom prst="rect">
            <a:avLst/>
          </a:prstGeom>
          <a:noFill/>
        </p:spPr>
        <p:txBody>
          <a:bodyPr wrap="square" anchor="t">
            <a:spAutoFit/>
          </a:bodyPr>
          <a:lstStyle/>
          <a:p>
            <a:pPr algn="ctr">
              <a:spcAft>
                <a:spcPts val="400"/>
              </a:spcAft>
            </a:pPr>
            <a:r>
              <a:rPr sz="3000" b="1">
                <a:solidFill>
                  <a:srgbClr val="5B6372"/>
                </a:solidFill>
                <a:latin typeface="Arial"/>
              </a:rPr>
              <a:t>18 min</a:t>
            </a:r>
            <a:r>
              <a:rPr sz="1200" b="0">
                <a:solidFill>
                  <a:srgbClr val="161B26"/>
                </a:solidFill>
                <a:latin typeface="Arial"/>
              </a:rPr>
              <a:t>  old handling</a:t>
            </a:r>
          </a:p>
        </p:txBody>
      </p:sp>
      <p:sp>
        <p:nvSpPr>
          <p:cNvPr id="11" name="Rectangle 10"/>
          <p:cNvSpPr/>
          <p:nvPr/>
        </p:nvSpPr>
        <p:spPr>
          <a:xfrm>
            <a:off x="6400800" y="2240280"/>
            <a:ext cx="4983480"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468880"/>
            <a:ext cx="4983480" cy="411480"/>
          </a:xfrm>
          <a:prstGeom prst="rect">
            <a:avLst/>
          </a:prstGeom>
          <a:noFill/>
        </p:spPr>
        <p:txBody>
          <a:bodyPr wrap="square" anchor="t">
            <a:spAutoFit/>
          </a:bodyPr>
          <a:lstStyle/>
          <a:p>
            <a:pPr algn="ctr">
              <a:spcAft>
                <a:spcPts val="400"/>
              </a:spcAft>
            </a:pPr>
            <a:r>
              <a:rPr sz="1600" b="1">
                <a:solidFill>
                  <a:srgbClr val="10B981"/>
                </a:solidFill>
                <a:latin typeface="Arial"/>
              </a:rPr>
              <a:t>AFTER</a:t>
            </a:r>
          </a:p>
        </p:txBody>
      </p:sp>
      <p:sp>
        <p:nvSpPr>
          <p:cNvPr id="13" name="TextBox 12"/>
          <p:cNvSpPr txBox="1"/>
          <p:nvPr/>
        </p:nvSpPr>
        <p:spPr>
          <a:xfrm>
            <a:off x="6400800" y="3108960"/>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5</a:t>
            </a:r>
            <a:r>
              <a:rPr sz="1200" b="0">
                <a:solidFill>
                  <a:srgbClr val="161B26"/>
                </a:solidFill>
                <a:latin typeface="Arial"/>
              </a:rPr>
              <a:t>  new steps</a:t>
            </a:r>
          </a:p>
        </p:txBody>
      </p:sp>
      <p:sp>
        <p:nvSpPr>
          <p:cNvPr id="14" name="TextBox 13"/>
          <p:cNvSpPr txBox="1"/>
          <p:nvPr/>
        </p:nvSpPr>
        <p:spPr>
          <a:xfrm>
            <a:off x="6400800" y="3977639"/>
            <a:ext cx="4983480" cy="731520"/>
          </a:xfrm>
          <a:prstGeom prst="rect">
            <a:avLst/>
          </a:prstGeom>
          <a:noFill/>
        </p:spPr>
        <p:txBody>
          <a:bodyPr wrap="square" anchor="t">
            <a:spAutoFit/>
          </a:bodyPr>
          <a:lstStyle/>
          <a:p>
            <a:pPr algn="ctr">
              <a:spcAft>
                <a:spcPts val="400"/>
              </a:spcAft>
            </a:pPr>
            <a:r>
              <a:rPr sz="3000" b="1">
                <a:solidFill>
                  <a:srgbClr val="10B981"/>
                </a:solidFill>
                <a:latin typeface="Arial"/>
              </a:rPr>
              <a:t>11 min</a:t>
            </a:r>
            <a:r>
              <a:rPr sz="1200" b="0">
                <a:solidFill>
                  <a:srgbClr val="161B26"/>
                </a:solidFill>
                <a:latin typeface="Arial"/>
              </a:rPr>
              <a:t>  new handling</a:t>
            </a:r>
          </a:p>
        </p:txBody>
      </p:sp>
      <p:sp>
        <p:nvSpPr>
          <p:cNvPr id="15" name="Rectangle 14"/>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321808"/>
            <a:ext cx="9144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Standardise the five-step flow and audit exceptions for four weeks.</a:t>
            </a:r>
          </a:p>
        </p:txBody>
      </p:sp>
      <p:sp>
        <p:nvSpPr>
          <p:cNvPr id="18" name="TextBox 17"/>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REALISTIC WORKPLACE DEMO 11 · RESOURCE SCORECARD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 plus PowerPoint passes the operating gates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LO3 tool investment · synthetic training data, not operational evidence</a:t>
            </a:r>
          </a:p>
        </p:txBody>
      </p:sp>
      <p:sp>
        <p:nvSpPr>
          <p:cNvPr id="7" name="Rectangle 6"/>
          <p:cNvSpPr/>
          <p:nvPr/>
        </p:nvSpPr>
        <p:spPr>
          <a:xfrm>
            <a:off x="777240"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6659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66594" cy="822960"/>
          </a:xfrm>
          <a:prstGeom prst="rect">
            <a:avLst/>
          </a:prstGeom>
          <a:noFill/>
        </p:spPr>
        <p:txBody>
          <a:bodyPr wrap="square" anchor="t">
            <a:spAutoFit/>
          </a:bodyPr>
          <a:lstStyle/>
          <a:p>
            <a:pPr algn="ctr">
              <a:spcAft>
                <a:spcPts val="400"/>
              </a:spcAft>
            </a:pPr>
            <a:r>
              <a:rPr sz="2800" b="1">
                <a:solidFill>
                  <a:srgbClr val="1F6FEB"/>
                </a:solidFill>
                <a:latin typeface="Arial"/>
              </a:rPr>
              <a:t>SGD 19.7k</a:t>
            </a:r>
          </a:p>
        </p:txBody>
      </p:sp>
      <p:sp>
        <p:nvSpPr>
          <p:cNvPr id="10" name="TextBox 9"/>
          <p:cNvSpPr txBox="1"/>
          <p:nvPr/>
        </p:nvSpPr>
        <p:spPr>
          <a:xfrm>
            <a:off x="923544"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12-month cost</a:t>
            </a:r>
          </a:p>
        </p:txBody>
      </p:sp>
      <p:sp>
        <p:nvSpPr>
          <p:cNvPr id="11" name="Rectangle 10"/>
          <p:cNvSpPr/>
          <p:nvPr/>
        </p:nvSpPr>
        <p:spPr>
          <a:xfrm>
            <a:off x="3499866"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9866" y="2331720"/>
            <a:ext cx="246659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9866" y="2788920"/>
            <a:ext cx="2466594" cy="822960"/>
          </a:xfrm>
          <a:prstGeom prst="rect">
            <a:avLst/>
          </a:prstGeom>
          <a:noFill/>
        </p:spPr>
        <p:txBody>
          <a:bodyPr wrap="square" anchor="t">
            <a:spAutoFit/>
          </a:bodyPr>
          <a:lstStyle/>
          <a:p>
            <a:pPr algn="ctr">
              <a:spcAft>
                <a:spcPts val="400"/>
              </a:spcAft>
            </a:pPr>
            <a:r>
              <a:rPr sz="2800" b="1">
                <a:solidFill>
                  <a:srgbClr val="10B981"/>
                </a:solidFill>
                <a:latin typeface="Arial"/>
              </a:rPr>
              <a:t>4.4/5</a:t>
            </a:r>
          </a:p>
        </p:txBody>
      </p:sp>
      <p:sp>
        <p:nvSpPr>
          <p:cNvPr id="14" name="TextBox 13"/>
          <p:cNvSpPr txBox="1"/>
          <p:nvPr/>
        </p:nvSpPr>
        <p:spPr>
          <a:xfrm>
            <a:off x="3646170"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effectiveness</a:t>
            </a:r>
          </a:p>
        </p:txBody>
      </p:sp>
      <p:sp>
        <p:nvSpPr>
          <p:cNvPr id="15" name="Rectangle 14"/>
          <p:cNvSpPr/>
          <p:nvPr/>
        </p:nvSpPr>
        <p:spPr>
          <a:xfrm>
            <a:off x="6222492"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2492" y="2331720"/>
            <a:ext cx="246659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2492" y="2788920"/>
            <a:ext cx="2466594" cy="822960"/>
          </a:xfrm>
          <a:prstGeom prst="rect">
            <a:avLst/>
          </a:prstGeom>
          <a:noFill/>
        </p:spPr>
        <p:txBody>
          <a:bodyPr wrap="square" anchor="t">
            <a:spAutoFit/>
          </a:bodyPr>
          <a:lstStyle/>
          <a:p>
            <a:pPr algn="ctr">
              <a:spcAft>
                <a:spcPts val="400"/>
              </a:spcAft>
            </a:pPr>
            <a:r>
              <a:rPr sz="2800" b="1">
                <a:solidFill>
                  <a:srgbClr val="7C3AED"/>
                </a:solidFill>
                <a:latin typeface="Arial"/>
              </a:rPr>
              <a:t>4/5</a:t>
            </a:r>
          </a:p>
        </p:txBody>
      </p:sp>
      <p:sp>
        <p:nvSpPr>
          <p:cNvPr id="18" name="TextBox 17"/>
          <p:cNvSpPr txBox="1"/>
          <p:nvPr/>
        </p:nvSpPr>
        <p:spPr>
          <a:xfrm>
            <a:off x="6368796"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governance</a:t>
            </a:r>
          </a:p>
        </p:txBody>
      </p:sp>
      <p:sp>
        <p:nvSpPr>
          <p:cNvPr id="19" name="Rectangle 18"/>
          <p:cNvSpPr/>
          <p:nvPr/>
        </p:nvSpPr>
        <p:spPr>
          <a:xfrm>
            <a:off x="8945118" y="2331720"/>
            <a:ext cx="2466594" cy="2468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5118" y="2331720"/>
            <a:ext cx="2466594"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45118" y="2788920"/>
            <a:ext cx="2466594" cy="822960"/>
          </a:xfrm>
          <a:prstGeom prst="rect">
            <a:avLst/>
          </a:prstGeom>
          <a:noFill/>
        </p:spPr>
        <p:txBody>
          <a:bodyPr wrap="square" anchor="t">
            <a:spAutoFit/>
          </a:bodyPr>
          <a:lstStyle/>
          <a:p>
            <a:pPr algn="ctr">
              <a:spcAft>
                <a:spcPts val="400"/>
              </a:spcAft>
            </a:pPr>
            <a:r>
              <a:rPr sz="2800" b="1">
                <a:solidFill>
                  <a:srgbClr val="F59E0B"/>
                </a:solidFill>
                <a:latin typeface="Arial"/>
              </a:rPr>
              <a:t>96</a:t>
            </a:r>
          </a:p>
        </p:txBody>
      </p:sp>
      <p:sp>
        <p:nvSpPr>
          <p:cNvPr id="22" name="TextBox 21"/>
          <p:cNvSpPr txBox="1"/>
          <p:nvPr/>
        </p:nvSpPr>
        <p:spPr>
          <a:xfrm>
            <a:off x="9091422" y="3794760"/>
            <a:ext cx="2173986" cy="640080"/>
          </a:xfrm>
          <a:prstGeom prst="rect">
            <a:avLst/>
          </a:prstGeom>
          <a:noFill/>
        </p:spPr>
        <p:txBody>
          <a:bodyPr wrap="square" anchor="t">
            <a:spAutoFit/>
          </a:bodyPr>
          <a:lstStyle/>
          <a:p>
            <a:pPr algn="ctr">
              <a:spcAft>
                <a:spcPts val="400"/>
              </a:spcAft>
            </a:pPr>
            <a:r>
              <a:rPr sz="1150" b="0">
                <a:solidFill>
                  <a:srgbClr val="161B26"/>
                </a:solidFill>
                <a:latin typeface="Arial"/>
              </a:rPr>
              <a:t>annual outputs</a:t>
            </a:r>
          </a:p>
        </p:txBody>
      </p:sp>
      <p:sp>
        <p:nvSpPr>
          <p:cNvPr id="23" name="Rectangle 22"/>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21808"/>
            <a:ext cx="9144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Fund the workflow with quarterly accuracy and accessibility reviews.</a:t>
            </a:r>
          </a:p>
        </p:txBody>
      </p:sp>
      <p:sp>
        <p:nvSpPr>
          <p:cNvPr id="26" name="TextBox 25"/>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REALISTIC WORKPLACE DEMO 12 · DECISION MATRIX</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Wide format wins for leadership</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Channel selection · synthetic training data, not operational evidence</a:t>
            </a:r>
          </a:p>
        </p:txBody>
      </p:sp>
      <p:sp>
        <p:nvSpPr>
          <p:cNvPr id="7" name="Rectangle 6"/>
          <p:cNvSpPr/>
          <p:nvPr/>
        </p:nvSpPr>
        <p:spPr>
          <a:xfrm>
            <a:off x="941832" y="2130552"/>
            <a:ext cx="246888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221992"/>
            <a:ext cx="2468880" cy="310896"/>
          </a:xfrm>
          <a:prstGeom prst="rect">
            <a:avLst/>
          </a:prstGeom>
          <a:noFill/>
        </p:spPr>
        <p:txBody>
          <a:bodyPr wrap="square" anchor="t">
            <a:spAutoFit/>
          </a:bodyPr>
          <a:lstStyle/>
          <a:p>
            <a:pPr algn="ctr">
              <a:spcAft>
                <a:spcPts val="400"/>
              </a:spcAft>
            </a:pPr>
            <a:r>
              <a:rPr sz="1100" b="1">
                <a:solidFill>
                  <a:srgbClr val="FFFFFF"/>
                </a:solidFill>
                <a:latin typeface="Arial"/>
              </a:rPr>
              <a:t>FORMAT</a:t>
            </a:r>
          </a:p>
        </p:txBody>
      </p:sp>
      <p:sp>
        <p:nvSpPr>
          <p:cNvPr id="9" name="Rectangle 8"/>
          <p:cNvSpPr/>
          <p:nvPr/>
        </p:nvSpPr>
        <p:spPr>
          <a:xfrm>
            <a:off x="34107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AUDIENCE</a:t>
            </a:r>
          </a:p>
        </p:txBody>
      </p:sp>
      <p:sp>
        <p:nvSpPr>
          <p:cNvPr id="11" name="Rectangle 10"/>
          <p:cNvSpPr/>
          <p:nvPr/>
        </p:nvSpPr>
        <p:spPr>
          <a:xfrm>
            <a:off x="50109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109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SCREEN</a:t>
            </a:r>
          </a:p>
        </p:txBody>
      </p:sp>
      <p:sp>
        <p:nvSpPr>
          <p:cNvPr id="13" name="Rectangle 12"/>
          <p:cNvSpPr/>
          <p:nvPr/>
        </p:nvSpPr>
        <p:spPr>
          <a:xfrm>
            <a:off x="66111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ACTION</a:t>
            </a:r>
          </a:p>
        </p:txBody>
      </p:sp>
      <p:sp>
        <p:nvSpPr>
          <p:cNvPr id="15" name="Rectangle 14"/>
          <p:cNvSpPr/>
          <p:nvPr/>
        </p:nvSpPr>
        <p:spPr>
          <a:xfrm>
            <a:off x="8211312" y="2130552"/>
            <a:ext cx="1600200" cy="512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2221992"/>
            <a:ext cx="1600200" cy="310896"/>
          </a:xfrm>
          <a:prstGeom prst="rect">
            <a:avLst/>
          </a:prstGeom>
          <a:noFill/>
        </p:spPr>
        <p:txBody>
          <a:bodyPr wrap="square" anchor="t">
            <a:spAutoFit/>
          </a:bodyPr>
          <a:lstStyle/>
          <a:p>
            <a:pPr algn="ctr">
              <a:spcAft>
                <a:spcPts val="400"/>
              </a:spcAft>
            </a:pPr>
            <a:r>
              <a:rPr sz="1100" b="1">
                <a:solidFill>
                  <a:srgbClr val="FFFFFF"/>
                </a:solidFill>
                <a:latin typeface="Arial"/>
              </a:rPr>
              <a:t>TOTAL</a:t>
            </a:r>
          </a:p>
        </p:txBody>
      </p:sp>
      <p:sp>
        <p:nvSpPr>
          <p:cNvPr id="17" name="Rectangle 16"/>
          <p:cNvSpPr/>
          <p:nvPr/>
        </p:nvSpPr>
        <p:spPr>
          <a:xfrm>
            <a:off x="941832" y="2660904"/>
            <a:ext cx="246888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2770632"/>
            <a:ext cx="2468880" cy="365760"/>
          </a:xfrm>
          <a:prstGeom prst="rect">
            <a:avLst/>
          </a:prstGeom>
          <a:noFill/>
        </p:spPr>
        <p:txBody>
          <a:bodyPr wrap="square" anchor="t">
            <a:spAutoFit/>
          </a:bodyPr>
          <a:lstStyle/>
          <a:p>
            <a:pPr algn="ctr">
              <a:spcAft>
                <a:spcPts val="400"/>
              </a:spcAft>
            </a:pPr>
            <a:r>
              <a:rPr sz="1400" b="1">
                <a:solidFill>
                  <a:srgbClr val="10B981"/>
                </a:solidFill>
                <a:latin typeface="Arial"/>
              </a:rPr>
              <a:t>Wide</a:t>
            </a:r>
          </a:p>
        </p:txBody>
      </p:sp>
      <p:sp>
        <p:nvSpPr>
          <p:cNvPr id="19" name="Rectangle 18"/>
          <p:cNvSpPr/>
          <p:nvPr/>
        </p:nvSpPr>
        <p:spPr>
          <a:xfrm>
            <a:off x="34107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07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1" name="Rectangle 20"/>
          <p:cNvSpPr/>
          <p:nvPr/>
        </p:nvSpPr>
        <p:spPr>
          <a:xfrm>
            <a:off x="50109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09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3" name="Rectangle 22"/>
          <p:cNvSpPr/>
          <p:nvPr/>
        </p:nvSpPr>
        <p:spPr>
          <a:xfrm>
            <a:off x="66111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5</a:t>
            </a:r>
          </a:p>
        </p:txBody>
      </p:sp>
      <p:sp>
        <p:nvSpPr>
          <p:cNvPr id="25" name="Rectangle 24"/>
          <p:cNvSpPr/>
          <p:nvPr/>
        </p:nvSpPr>
        <p:spPr>
          <a:xfrm>
            <a:off x="8211312" y="2660904"/>
            <a:ext cx="1600200" cy="658368"/>
          </a:xfrm>
          <a:prstGeom prst="rect">
            <a:avLst/>
          </a:prstGeom>
          <a:solidFill>
            <a:srgbClr val="EA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2770632"/>
            <a:ext cx="1600200" cy="365760"/>
          </a:xfrm>
          <a:prstGeom prst="rect">
            <a:avLst/>
          </a:prstGeom>
          <a:noFill/>
        </p:spPr>
        <p:txBody>
          <a:bodyPr wrap="square" anchor="t">
            <a:spAutoFit/>
          </a:bodyPr>
          <a:lstStyle/>
          <a:p>
            <a:pPr algn="ctr">
              <a:spcAft>
                <a:spcPts val="400"/>
              </a:spcAft>
            </a:pPr>
            <a:r>
              <a:rPr sz="1400" b="1">
                <a:solidFill>
                  <a:srgbClr val="10B981"/>
                </a:solidFill>
                <a:latin typeface="Arial"/>
              </a:rPr>
              <a:t>15</a:t>
            </a:r>
          </a:p>
        </p:txBody>
      </p:sp>
      <p:sp>
        <p:nvSpPr>
          <p:cNvPr id="27" name="Rectangle 26"/>
          <p:cNvSpPr/>
          <p:nvPr/>
        </p:nvSpPr>
        <p:spPr>
          <a:xfrm>
            <a:off x="941832" y="3383280"/>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 y="3493008"/>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Portrait</a:t>
            </a:r>
          </a:p>
        </p:txBody>
      </p:sp>
      <p:sp>
        <p:nvSpPr>
          <p:cNvPr id="29" name="Rectangle 28"/>
          <p:cNvSpPr/>
          <p:nvPr/>
        </p:nvSpPr>
        <p:spPr>
          <a:xfrm>
            <a:off x="34107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07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1" name="Rectangle 30"/>
          <p:cNvSpPr/>
          <p:nvPr/>
        </p:nvSpPr>
        <p:spPr>
          <a:xfrm>
            <a:off x="50109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33" name="Rectangle 32"/>
          <p:cNvSpPr/>
          <p:nvPr/>
        </p:nvSpPr>
        <p:spPr>
          <a:xfrm>
            <a:off x="66111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4</a:t>
            </a:r>
          </a:p>
        </p:txBody>
      </p:sp>
      <p:sp>
        <p:nvSpPr>
          <p:cNvPr id="35" name="Rectangle 34"/>
          <p:cNvSpPr/>
          <p:nvPr/>
        </p:nvSpPr>
        <p:spPr>
          <a:xfrm>
            <a:off x="8211312" y="3383280"/>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11312" y="3493008"/>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10</a:t>
            </a:r>
          </a:p>
        </p:txBody>
      </p:sp>
      <p:sp>
        <p:nvSpPr>
          <p:cNvPr id="37" name="Rectangle 36"/>
          <p:cNvSpPr/>
          <p:nvPr/>
        </p:nvSpPr>
        <p:spPr>
          <a:xfrm>
            <a:off x="941832" y="4105656"/>
            <a:ext cx="246888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215384"/>
            <a:ext cx="2468880" cy="365760"/>
          </a:xfrm>
          <a:prstGeom prst="rect">
            <a:avLst/>
          </a:prstGeom>
          <a:noFill/>
        </p:spPr>
        <p:txBody>
          <a:bodyPr wrap="square" anchor="t">
            <a:spAutoFit/>
          </a:bodyPr>
          <a:lstStyle/>
          <a:p>
            <a:pPr algn="ctr">
              <a:spcAft>
                <a:spcPts val="400"/>
              </a:spcAft>
            </a:pPr>
            <a:r>
              <a:rPr sz="1400" b="1">
                <a:solidFill>
                  <a:srgbClr val="161B26"/>
                </a:solidFill>
                <a:latin typeface="Arial"/>
              </a:rPr>
              <a:t>Square</a:t>
            </a:r>
          </a:p>
        </p:txBody>
      </p:sp>
      <p:sp>
        <p:nvSpPr>
          <p:cNvPr id="39" name="Rectangle 38"/>
          <p:cNvSpPr/>
          <p:nvPr/>
        </p:nvSpPr>
        <p:spPr>
          <a:xfrm>
            <a:off x="34107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1" name="Rectangle 40"/>
          <p:cNvSpPr/>
          <p:nvPr/>
        </p:nvSpPr>
        <p:spPr>
          <a:xfrm>
            <a:off x="50109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109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2</a:t>
            </a:r>
          </a:p>
        </p:txBody>
      </p:sp>
      <p:sp>
        <p:nvSpPr>
          <p:cNvPr id="43" name="Rectangle 42"/>
          <p:cNvSpPr/>
          <p:nvPr/>
        </p:nvSpPr>
        <p:spPr>
          <a:xfrm>
            <a:off x="66111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111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3</a:t>
            </a:r>
          </a:p>
        </p:txBody>
      </p:sp>
      <p:sp>
        <p:nvSpPr>
          <p:cNvPr id="45" name="Rectangle 44"/>
          <p:cNvSpPr/>
          <p:nvPr/>
        </p:nvSpPr>
        <p:spPr>
          <a:xfrm>
            <a:off x="8211312" y="4105656"/>
            <a:ext cx="1600200"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11312" y="4215384"/>
            <a:ext cx="1600200" cy="365760"/>
          </a:xfrm>
          <a:prstGeom prst="rect">
            <a:avLst/>
          </a:prstGeom>
          <a:noFill/>
        </p:spPr>
        <p:txBody>
          <a:bodyPr wrap="square" anchor="t">
            <a:spAutoFit/>
          </a:bodyPr>
          <a:lstStyle/>
          <a:p>
            <a:pPr algn="ctr">
              <a:spcAft>
                <a:spcPts val="400"/>
              </a:spcAft>
            </a:pPr>
            <a:r>
              <a:rPr sz="1400" b="0">
                <a:solidFill>
                  <a:srgbClr val="161B26"/>
                </a:solidFill>
                <a:latin typeface="Arial"/>
              </a:rPr>
              <a:t>8</a:t>
            </a:r>
          </a:p>
        </p:txBody>
      </p:sp>
      <p:sp>
        <p:nvSpPr>
          <p:cNvPr id="47" name="TextBox 46"/>
          <p:cNvSpPr txBox="1"/>
          <p:nvPr/>
        </p:nvSpPr>
        <p:spPr>
          <a:xfrm>
            <a:off x="941832" y="4745736"/>
            <a:ext cx="8869680" cy="292608"/>
          </a:xfrm>
          <a:prstGeom prst="rect">
            <a:avLst/>
          </a:prstGeom>
          <a:noFill/>
        </p:spPr>
        <p:txBody>
          <a:bodyPr wrap="square" anchor="t">
            <a:spAutoFit/>
          </a:bodyPr>
          <a:lstStyle/>
          <a:p>
            <a:pPr algn="l">
              <a:spcAft>
                <a:spcPts val="400"/>
              </a:spcAft>
            </a:pPr>
            <a:r>
              <a:rPr sz="1100" b="0">
                <a:solidFill>
                  <a:srgbClr val="5B6372"/>
                </a:solidFill>
                <a:latin typeface="Arial"/>
              </a:rPr>
              <a:t>Score each format 1–5 against the same decision criteria.</a:t>
            </a:r>
          </a:p>
        </p:txBody>
      </p:sp>
      <p:sp>
        <p:nvSpPr>
          <p:cNvPr id="48" name="Rectangle 47"/>
          <p:cNvSpPr/>
          <p:nvPr/>
        </p:nvSpPr>
        <p:spPr>
          <a:xfrm>
            <a:off x="777240" y="5321808"/>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5321808"/>
            <a:ext cx="91440"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7280" y="5321808"/>
            <a:ext cx="10058400" cy="658368"/>
          </a:xfrm>
          <a:prstGeom prst="rect">
            <a:avLst/>
          </a:prstGeom>
          <a:noFill/>
        </p:spPr>
        <p:txBody>
          <a:bodyPr wrap="square" anchor="ctr">
            <a:spAutoFit/>
          </a:bodyPr>
          <a:lstStyle/>
          <a:p>
            <a:pPr algn="l">
              <a:spcAft>
                <a:spcPts val="400"/>
              </a:spcAft>
            </a:pPr>
            <a:r>
              <a:rPr sz="1250" b="1">
                <a:solidFill>
                  <a:srgbClr val="161B26"/>
                </a:solidFill>
                <a:latin typeface="Arial"/>
              </a:rPr>
              <a:t>Use Wide for the briefing and export a separate Portrait handout.</a:t>
            </a:r>
          </a:p>
        </p:txBody>
      </p:sp>
      <p:sp>
        <p:nvSpPr>
          <p:cNvPr id="51" name="TextBox 50"/>
          <p:cNvSpPr txBox="1"/>
          <p:nvPr/>
        </p:nvSpPr>
        <p:spPr>
          <a:xfrm>
            <a:off x="777240" y="608990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realistic synthetic training scenario created for this course.</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NATIVE CAPABILITY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PowerPoint's Editable Infographic Toolkit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Use the simplest editable object that communicates the relationship.</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Layout</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Slide size, guides, gridlines, alignment, distribute, group and Selection Pane.</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Visual components</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Shapes, connectors, icons, stock images, text boxes and merged shapes.</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Structured diagrams</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SmartArt lists, cycles, processes, hierarchies and timelines.</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Data visualisation</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Native charts, embedded workbooks and Excel-linked data.</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Delivery</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Animations, transitions, comments, co-authoring and presenter-friendly export.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MICROSOFT 2026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Microsoft 365 Copilot and PowerPoint: Use the Right Control</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Microsoft's current support pages describe Copilot infographic generation and PowerPoint editing as connected stages.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Useful assistance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Human responsibility</a:t>
            </a:r>
          </a:p>
        </p:txBody>
      </p:sp>
      <p:sp>
        <p:nvSpPr>
          <p:cNvPr id="11" name="Rectangle 10"/>
          <p:cNvSpPr/>
          <p:nvPr/>
        </p:nvSpPr>
        <p:spPr>
          <a:xfrm>
            <a:off x="777240" y="256032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Design an infographic</a:t>
            </a:r>
          </a:p>
        </p:txBody>
      </p:sp>
      <p:sp>
        <p:nvSpPr>
          <p:cNvPr id="13" name="Rectangle 12"/>
          <p:cNvSpPr/>
          <p:nvPr/>
        </p:nvSpPr>
        <p:spPr>
          <a:xfrm>
            <a:off x="2926080"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Create a first direction from a detailed description and optional approved content</a:t>
            </a:r>
          </a:p>
        </p:txBody>
      </p:sp>
      <p:sp>
        <p:nvSpPr>
          <p:cNvPr id="15" name="Rectangle 14"/>
          <p:cNvSpPr/>
          <p:nvPr/>
        </p:nvSpPr>
        <p:spPr>
          <a:xfrm>
            <a:off x="7168896" y="256032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Choose the form by relationship; verify every generated section and claim</a:t>
            </a:r>
          </a:p>
        </p:txBody>
      </p:sp>
      <p:sp>
        <p:nvSpPr>
          <p:cNvPr id="17" name="Rectangle 16"/>
          <p:cNvSpPr/>
          <p:nvPr/>
        </p:nvSpPr>
        <p:spPr>
          <a:xfrm>
            <a:off x="777240" y="315468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15468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PowerPoint library</a:t>
            </a:r>
          </a:p>
        </p:txBody>
      </p:sp>
      <p:sp>
        <p:nvSpPr>
          <p:cNvPr id="19" name="Rectangle 18"/>
          <p:cNvSpPr/>
          <p:nvPr/>
        </p:nvSpPr>
        <p:spPr>
          <a:xfrm>
            <a:off x="2926080"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Icons, stock images, shapes, fonts, SmartArt and charts</a:t>
            </a:r>
          </a:p>
        </p:txBody>
      </p:sp>
      <p:sp>
        <p:nvSpPr>
          <p:cNvPr id="21" name="Rectangle 20"/>
          <p:cNvSpPr/>
          <p:nvPr/>
        </p:nvSpPr>
        <p:spPr>
          <a:xfrm>
            <a:off x="7168896" y="315468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15468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Apply hierarchy, brand, accessibility and evidence standards</a:t>
            </a:r>
          </a:p>
        </p:txBody>
      </p:sp>
      <p:sp>
        <p:nvSpPr>
          <p:cNvPr id="23" name="Rectangle 22"/>
          <p:cNvSpPr/>
          <p:nvPr/>
        </p:nvSpPr>
        <p:spPr>
          <a:xfrm>
            <a:off x="777240" y="374904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4904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controls</a:t>
            </a:r>
          </a:p>
        </p:txBody>
      </p:sp>
      <p:sp>
        <p:nvSpPr>
          <p:cNvPr id="25" name="Rectangle 24"/>
          <p:cNvSpPr/>
          <p:nvPr/>
        </p:nvSpPr>
        <p:spPr>
          <a:xfrm>
            <a:off x="2926080"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Brand and color, Portrait or Wide, Create, Copy, Edit and Download where available</a:t>
            </a:r>
          </a:p>
        </p:txBody>
      </p:sp>
      <p:sp>
        <p:nvSpPr>
          <p:cNvPr id="27" name="Rectangle 26"/>
          <p:cNvSpPr/>
          <p:nvPr/>
        </p:nvSpPr>
        <p:spPr>
          <a:xfrm>
            <a:off x="7168896" y="374904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74904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Record the chosen settings and preserve the strongest original direction</a:t>
            </a:r>
          </a:p>
        </p:txBody>
      </p:sp>
      <p:sp>
        <p:nvSpPr>
          <p:cNvPr id="29" name="Rectangle 28"/>
          <p:cNvSpPr/>
          <p:nvPr/>
        </p:nvSpPr>
        <p:spPr>
          <a:xfrm>
            <a:off x="777240" y="434340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4340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Copilot in PowerPoint</a:t>
            </a:r>
          </a:p>
        </p:txBody>
      </p:sp>
      <p:sp>
        <p:nvSpPr>
          <p:cNvPr id="31" name="Rectangle 30"/>
          <p:cNvSpPr/>
          <p:nvPr/>
        </p:nvSpPr>
        <p:spPr>
          <a:xfrm>
            <a:off x="2926080"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Add or edit slides, restructure content and refine visuals</a:t>
            </a:r>
          </a:p>
        </p:txBody>
      </p:sp>
      <p:sp>
        <p:nvSpPr>
          <p:cNvPr id="33" name="Rectangle 32"/>
          <p:cNvSpPr/>
          <p:nvPr/>
        </p:nvSpPr>
        <p:spPr>
          <a:xfrm>
            <a:off x="7168896" y="434340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34340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Preserve editability and maintain the approved master</a:t>
            </a:r>
          </a:p>
        </p:txBody>
      </p:sp>
      <p:sp>
        <p:nvSpPr>
          <p:cNvPr id="35" name="Rectangle 34"/>
          <p:cNvSpPr/>
          <p:nvPr/>
        </p:nvSpPr>
        <p:spPr>
          <a:xfrm>
            <a:off x="777240" y="4937760"/>
            <a:ext cx="2148840"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493776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Collaboration</a:t>
            </a:r>
          </a:p>
        </p:txBody>
      </p:sp>
      <p:sp>
        <p:nvSpPr>
          <p:cNvPr id="37" name="Rectangle 36"/>
          <p:cNvSpPr/>
          <p:nvPr/>
        </p:nvSpPr>
        <p:spPr>
          <a:xfrm>
            <a:off x="2926080"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Comments, mentions and real-time editing</a:t>
            </a:r>
          </a:p>
        </p:txBody>
      </p:sp>
      <p:sp>
        <p:nvSpPr>
          <p:cNvPr id="39" name="Rectangle 38"/>
          <p:cNvSpPr/>
          <p:nvPr/>
        </p:nvSpPr>
        <p:spPr>
          <a:xfrm>
            <a:off x="7168896" y="4937760"/>
            <a:ext cx="4242816" cy="594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493776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Control ownership, versions, reviewers and release status</a:t>
            </a:r>
          </a:p>
        </p:txBody>
      </p:sp>
      <p:sp>
        <p:nvSpPr>
          <p:cNvPr id="41" name="Rectangle 40"/>
          <p:cNvSpPr/>
          <p:nvPr/>
        </p:nvSpPr>
        <p:spPr>
          <a:xfrm>
            <a:off x="777240" y="5532120"/>
            <a:ext cx="2148840"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532120"/>
            <a:ext cx="1874520" cy="594360"/>
          </a:xfrm>
          <a:prstGeom prst="rect">
            <a:avLst/>
          </a:prstGeom>
          <a:noFill/>
        </p:spPr>
        <p:txBody>
          <a:bodyPr wrap="square" anchor="ctr">
            <a:spAutoFit/>
          </a:bodyPr>
          <a:lstStyle/>
          <a:p>
            <a:pPr algn="l">
              <a:spcAft>
                <a:spcPts val="400"/>
              </a:spcAft>
            </a:pPr>
            <a:r>
              <a:rPr sz="1400" b="1">
                <a:solidFill>
                  <a:srgbClr val="161B26"/>
                </a:solidFill>
                <a:latin typeface="Arial"/>
              </a:rPr>
              <a:t>Export</a:t>
            </a:r>
          </a:p>
        </p:txBody>
      </p:sp>
      <p:sp>
        <p:nvSpPr>
          <p:cNvPr id="43" name="Rectangle 42"/>
          <p:cNvSpPr/>
          <p:nvPr/>
        </p:nvSpPr>
        <p:spPr>
          <a:xfrm>
            <a:off x="2926080"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PPTX, PDF, JPG, slideshow and print</a:t>
            </a:r>
          </a:p>
        </p:txBody>
      </p:sp>
      <p:sp>
        <p:nvSpPr>
          <p:cNvPr id="45" name="Rectangle 44"/>
          <p:cNvSpPr/>
          <p:nvPr/>
        </p:nvSpPr>
        <p:spPr>
          <a:xfrm>
            <a:off x="7168896" y="5532120"/>
            <a:ext cx="4242816" cy="594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33488" y="5532120"/>
            <a:ext cx="3913632" cy="594360"/>
          </a:xfrm>
          <a:prstGeom prst="rect">
            <a:avLst/>
          </a:prstGeom>
          <a:noFill/>
        </p:spPr>
        <p:txBody>
          <a:bodyPr wrap="square" anchor="ctr">
            <a:spAutoFit/>
          </a:bodyPr>
          <a:lstStyle/>
          <a:p>
            <a:pPr algn="l">
              <a:spcAft>
                <a:spcPts val="400"/>
              </a:spcAft>
            </a:pPr>
            <a:r>
              <a:rPr sz="1300" b="0">
                <a:solidFill>
                  <a:srgbClr val="161B26"/>
                </a:solidFill>
                <a:latin typeface="Arial"/>
              </a:rPr>
              <a:t>Test each channel for clipping, fonts, links and accessibility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RESPONSIBLE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Human-in-the-Loop AI Workflow</a:t>
            </a:r>
          </a:p>
        </p:txBody>
      </p:sp>
      <p:sp>
        <p:nvSpPr>
          <p:cNvPr id="6" name="Rectangle 5"/>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1996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96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Approved brief</a:t>
            </a:r>
          </a:p>
        </p:txBody>
      </p:sp>
      <p:sp>
        <p:nvSpPr>
          <p:cNvPr id="11" name="Chevron 10"/>
          <p:cNvSpPr/>
          <p:nvPr/>
        </p:nvSpPr>
        <p:spPr>
          <a:xfrm>
            <a:off x="23393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38094"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8094"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2741676"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Structured prompt</a:t>
            </a:r>
          </a:p>
        </p:txBody>
      </p:sp>
      <p:sp>
        <p:nvSpPr>
          <p:cNvPr id="17" name="Chevron 16"/>
          <p:cNvSpPr/>
          <p:nvPr/>
        </p:nvSpPr>
        <p:spPr>
          <a:xfrm>
            <a:off x="415747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856226"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6226"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4559808"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Two options</a:t>
            </a:r>
          </a:p>
        </p:txBody>
      </p:sp>
      <p:sp>
        <p:nvSpPr>
          <p:cNvPr id="23" name="Chevron 22"/>
          <p:cNvSpPr/>
          <p:nvPr/>
        </p:nvSpPr>
        <p:spPr>
          <a:xfrm>
            <a:off x="597560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4358"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4358"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6377940"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Fact and data check</a:t>
            </a:r>
          </a:p>
        </p:txBody>
      </p:sp>
      <p:sp>
        <p:nvSpPr>
          <p:cNvPr id="29" name="Chevron 28"/>
          <p:cNvSpPr/>
          <p:nvPr/>
        </p:nvSpPr>
        <p:spPr>
          <a:xfrm>
            <a:off x="779373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492490"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2490"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8196072"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Rebuild and accessibility</a:t>
            </a:r>
          </a:p>
        </p:txBody>
      </p:sp>
      <p:sp>
        <p:nvSpPr>
          <p:cNvPr id="35" name="Chevron 34"/>
          <p:cNvSpPr/>
          <p:nvPr/>
        </p:nvSpPr>
        <p:spPr>
          <a:xfrm>
            <a:off x="9611868"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10622"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0622"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0" name="TextBox 39"/>
          <p:cNvSpPr txBox="1"/>
          <p:nvPr/>
        </p:nvSpPr>
        <p:spPr>
          <a:xfrm>
            <a:off x="10014204" y="3566160"/>
            <a:ext cx="1251204" cy="1280160"/>
          </a:xfrm>
          <a:prstGeom prst="rect">
            <a:avLst/>
          </a:prstGeom>
          <a:noFill/>
        </p:spPr>
        <p:txBody>
          <a:bodyPr wrap="square" anchor="t">
            <a:spAutoFit/>
          </a:bodyPr>
          <a:lstStyle/>
          <a:p>
            <a:pPr algn="ctr">
              <a:spcAft>
                <a:spcPts val="400"/>
              </a:spcAft>
            </a:pPr>
            <a:r>
              <a:rPr sz="1300" b="0">
                <a:solidFill>
                  <a:srgbClr val="161B26"/>
                </a:solidFill>
                <a:latin typeface="Arial"/>
              </a:rPr>
              <a:t>Named approval</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AI can propose an infographic; it cannot own the truth, the data rights or the business decision.</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CONTROLLED WORKFLOW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Editable PowerPoint Production Swimlane</a:t>
            </a:r>
          </a:p>
        </p:txBody>
      </p:sp>
      <p:sp>
        <p:nvSpPr>
          <p:cNvPr id="6" name="Rectangle 5"/>
          <p:cNvSpPr/>
          <p:nvPr/>
        </p:nvSpPr>
        <p:spPr>
          <a:xfrm>
            <a:off x="777240" y="2194560"/>
            <a:ext cx="1874519"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94560"/>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Content owner</a:t>
            </a:r>
          </a:p>
        </p:txBody>
      </p:sp>
      <p:sp>
        <p:nvSpPr>
          <p:cNvPr id="8" name="Rectangle 7"/>
          <p:cNvSpPr/>
          <p:nvPr/>
        </p:nvSpPr>
        <p:spPr>
          <a:xfrm>
            <a:off x="2834639"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39"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1"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question</a:t>
            </a:r>
          </a:p>
        </p:txBody>
      </p:sp>
      <p:sp>
        <p:nvSpPr>
          <p:cNvPr id="11" name="Rectangle 10"/>
          <p:cNvSpPr/>
          <p:nvPr/>
        </p:nvSpPr>
        <p:spPr>
          <a:xfrm>
            <a:off x="5815583"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5583"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5"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Verify data</a:t>
            </a:r>
          </a:p>
        </p:txBody>
      </p:sp>
      <p:sp>
        <p:nvSpPr>
          <p:cNvPr id="14" name="Rectangle 13"/>
          <p:cNvSpPr/>
          <p:nvPr/>
        </p:nvSpPr>
        <p:spPr>
          <a:xfrm>
            <a:off x="8796527" y="2194560"/>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796527" y="2194560"/>
            <a:ext cx="64008" cy="7840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19" y="2194560"/>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message</a:t>
            </a:r>
          </a:p>
        </p:txBody>
      </p:sp>
      <p:sp>
        <p:nvSpPr>
          <p:cNvPr id="17" name="Chevron 16"/>
          <p:cNvSpPr/>
          <p:nvPr/>
        </p:nvSpPr>
        <p:spPr>
          <a:xfrm>
            <a:off x="5669279"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8650223" y="2495169"/>
            <a:ext cx="109728" cy="18288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3106674"/>
            <a:ext cx="1874519"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106674"/>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PowerPoint / AI</a:t>
            </a:r>
          </a:p>
        </p:txBody>
      </p:sp>
      <p:sp>
        <p:nvSpPr>
          <p:cNvPr id="21" name="Rectangle 20"/>
          <p:cNvSpPr/>
          <p:nvPr/>
        </p:nvSpPr>
        <p:spPr>
          <a:xfrm>
            <a:off x="2834639"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39"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99231"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Generate options</a:t>
            </a:r>
          </a:p>
        </p:txBody>
      </p:sp>
      <p:sp>
        <p:nvSpPr>
          <p:cNvPr id="24" name="Rectangle 23"/>
          <p:cNvSpPr/>
          <p:nvPr/>
        </p:nvSpPr>
        <p:spPr>
          <a:xfrm>
            <a:off x="5815583"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15583"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5"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Build native objects</a:t>
            </a:r>
          </a:p>
        </p:txBody>
      </p:sp>
      <p:sp>
        <p:nvSpPr>
          <p:cNvPr id="27" name="Rectangle 26"/>
          <p:cNvSpPr/>
          <p:nvPr/>
        </p:nvSpPr>
        <p:spPr>
          <a:xfrm>
            <a:off x="8796527" y="3106674"/>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796527" y="3106674"/>
            <a:ext cx="64008" cy="7840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61119" y="3106674"/>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Export formats</a:t>
            </a:r>
          </a:p>
        </p:txBody>
      </p:sp>
      <p:sp>
        <p:nvSpPr>
          <p:cNvPr id="30" name="Chevron 29"/>
          <p:cNvSpPr/>
          <p:nvPr/>
        </p:nvSpPr>
        <p:spPr>
          <a:xfrm>
            <a:off x="5669279"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evron 30"/>
          <p:cNvSpPr/>
          <p:nvPr/>
        </p:nvSpPr>
        <p:spPr>
          <a:xfrm>
            <a:off x="8650223" y="3407283"/>
            <a:ext cx="109728" cy="18288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018788"/>
            <a:ext cx="1874519"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018788"/>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Designer</a:t>
            </a:r>
          </a:p>
        </p:txBody>
      </p:sp>
      <p:sp>
        <p:nvSpPr>
          <p:cNvPr id="34" name="Rectangle 33"/>
          <p:cNvSpPr/>
          <p:nvPr/>
        </p:nvSpPr>
        <p:spPr>
          <a:xfrm>
            <a:off x="2834639"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Apply hierarchy</a:t>
            </a:r>
          </a:p>
        </p:txBody>
      </p:sp>
      <p:sp>
        <p:nvSpPr>
          <p:cNvPr id="37" name="Rectangle 36"/>
          <p:cNvSpPr/>
          <p:nvPr/>
        </p:nvSpPr>
        <p:spPr>
          <a:xfrm>
            <a:off x="5815583"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15583"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5"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Check brand/access</a:t>
            </a:r>
          </a:p>
        </p:txBody>
      </p:sp>
      <p:sp>
        <p:nvSpPr>
          <p:cNvPr id="40" name="Rectangle 39"/>
          <p:cNvSpPr/>
          <p:nvPr/>
        </p:nvSpPr>
        <p:spPr>
          <a:xfrm>
            <a:off x="8796527" y="4018788"/>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96527" y="4018788"/>
            <a:ext cx="64008" cy="7840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19" y="4018788"/>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Maintain master</a:t>
            </a:r>
          </a:p>
        </p:txBody>
      </p:sp>
      <p:sp>
        <p:nvSpPr>
          <p:cNvPr id="43" name="Chevron 42"/>
          <p:cNvSpPr/>
          <p:nvPr/>
        </p:nvSpPr>
        <p:spPr>
          <a:xfrm>
            <a:off x="5669279"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evron 43"/>
          <p:cNvSpPr/>
          <p:nvPr/>
        </p:nvSpPr>
        <p:spPr>
          <a:xfrm>
            <a:off x="8650223" y="4319397"/>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 y="4930902"/>
            <a:ext cx="1874519"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56" y="4930902"/>
            <a:ext cx="1618487" cy="784098"/>
          </a:xfrm>
          <a:prstGeom prst="rect">
            <a:avLst/>
          </a:prstGeom>
          <a:noFill/>
        </p:spPr>
        <p:txBody>
          <a:bodyPr wrap="square" anchor="ctr">
            <a:spAutoFit/>
          </a:bodyPr>
          <a:lstStyle/>
          <a:p>
            <a:pPr algn="l">
              <a:spcAft>
                <a:spcPts val="400"/>
              </a:spcAft>
            </a:pPr>
            <a:r>
              <a:rPr sz="1400" b="1">
                <a:solidFill>
                  <a:srgbClr val="FFFFFF"/>
                </a:solidFill>
                <a:latin typeface="Arial"/>
              </a:rPr>
              <a:t>Reviewer</a:t>
            </a:r>
          </a:p>
        </p:txBody>
      </p:sp>
      <p:sp>
        <p:nvSpPr>
          <p:cNvPr id="47" name="Rectangle 46"/>
          <p:cNvSpPr/>
          <p:nvPr/>
        </p:nvSpPr>
        <p:spPr>
          <a:xfrm>
            <a:off x="2834639"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834639"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99231"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Challenge claims</a:t>
            </a:r>
          </a:p>
        </p:txBody>
      </p:sp>
      <p:sp>
        <p:nvSpPr>
          <p:cNvPr id="50" name="Rectangle 49"/>
          <p:cNvSpPr/>
          <p:nvPr/>
        </p:nvSpPr>
        <p:spPr>
          <a:xfrm>
            <a:off x="5815583"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15583"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0175"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Test outputs</a:t>
            </a:r>
          </a:p>
        </p:txBody>
      </p:sp>
      <p:sp>
        <p:nvSpPr>
          <p:cNvPr id="53" name="Rectangle 52"/>
          <p:cNvSpPr/>
          <p:nvPr/>
        </p:nvSpPr>
        <p:spPr>
          <a:xfrm>
            <a:off x="8796527" y="4930902"/>
            <a:ext cx="2798064" cy="78409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96527" y="4930902"/>
            <a:ext cx="64008" cy="7840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61119" y="4930902"/>
            <a:ext cx="2523744" cy="784098"/>
          </a:xfrm>
          <a:prstGeom prst="rect">
            <a:avLst/>
          </a:prstGeom>
          <a:noFill/>
        </p:spPr>
        <p:txBody>
          <a:bodyPr wrap="square" anchor="ctr">
            <a:spAutoFit/>
          </a:bodyPr>
          <a:lstStyle/>
          <a:p>
            <a:pPr algn="l">
              <a:spcAft>
                <a:spcPts val="400"/>
              </a:spcAft>
            </a:pPr>
            <a:r>
              <a:rPr sz="1250" b="0">
                <a:solidFill>
                  <a:srgbClr val="161B26"/>
                </a:solidFill>
                <a:latin typeface="Arial"/>
              </a:rPr>
              <a:t>Approve release</a:t>
            </a:r>
          </a:p>
        </p:txBody>
      </p:sp>
      <p:sp>
        <p:nvSpPr>
          <p:cNvPr id="56" name="Chevron 55"/>
          <p:cNvSpPr/>
          <p:nvPr/>
        </p:nvSpPr>
        <p:spPr>
          <a:xfrm>
            <a:off x="5669279"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a:off x="8650223" y="5231511"/>
            <a:ext cx="109728" cy="182880"/>
          </a:xfrm>
          <a:prstGeom prst="chevron">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Decision-critical charts, labels and sources stay editable and traceable.</a:t>
            </a:r>
          </a:p>
        </p:txBody>
      </p:sp>
      <p:sp>
        <p:nvSpPr>
          <p:cNvPr id="61" name="TextBox 60"/>
          <p:cNvSpPr txBox="1"/>
          <p:nvPr/>
        </p:nvSpPr>
        <p:spPr>
          <a:xfrm>
            <a:off x="777240" y="195681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workflow synthesis</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DATA STORY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Native Chart Is Part of the Evidence Chain</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DATA</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CSV and workbook retain definitions and formulas</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CHART</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Native PowerPoint object keeps labels and values editable</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TITLE</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Action title states the supported insight</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CONTEXT</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Source, period, unit and limitation travel with the chart</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UPDATE</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changed input can refresh the visual</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OWNER</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 named person verifies and releases the final slide</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Screenshots break the update path and hide the calculation trail.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Copilot timeline turns dated evidence into an ordered stakeholder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Copilot timeline turns dated evidence into an ordered stakeholder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Template fit</a:t>
            </a:r>
          </a:p>
          <a:p>
            <a:pPr algn="l">
              <a:spcAft>
                <a:spcPts val="300"/>
              </a:spcAft>
            </a:pPr>
            <a:r>
              <a:rPr sz="1200" b="0">
                <a:solidFill>
                  <a:srgbClr val="5B6372"/>
                </a:solidFill>
                <a:latin typeface="Arial"/>
              </a:rPr>
              <a:t>Choose a timeline, flowchart, roadmap, poster or comparison that matches the question.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system</a:t>
            </a:r>
          </a:p>
          <a:p>
            <a:pPr algn="l">
              <a:spcAft>
                <a:spcPts val="300"/>
              </a:spcAft>
            </a:pPr>
            <a:r>
              <a:rPr sz="1200" b="0">
                <a:solidFill>
                  <a:srgbClr val="5B6372"/>
                </a:solidFill>
                <a:latin typeface="Arial"/>
              </a:rPr>
              <a:t>Retain shapes, SmartArt, text, charts and brand elements as editable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control</a:t>
            </a:r>
          </a:p>
          <a:p>
            <a:pPr algn="l">
              <a:spcAft>
                <a:spcPts val="300"/>
              </a:spcAft>
            </a:pPr>
            <a:r>
              <a:rPr sz="1200" b="0">
                <a:solidFill>
                  <a:srgbClr val="5B6372"/>
                </a:solidFill>
                <a:latin typeface="Arial"/>
              </a:rPr>
              <a:t>Apply an approved palette, type hierarchy, logo and background deliberately.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 control</a:t>
            </a:r>
          </a:p>
          <a:p>
            <a:pPr algn="l">
              <a:spcAft>
                <a:spcPts val="300"/>
              </a:spcAft>
            </a:pPr>
            <a:r>
              <a:rPr sz="1200" b="0">
                <a:solidFill>
                  <a:srgbClr val="5B6372"/>
                </a:solidFill>
                <a:latin typeface="Arial"/>
              </a:rPr>
              <a:t>Replace every placeholder with verified data and source context.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Microsoft 365 Copilot, accessed 16 August 2026</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Copilot-to-Timeline Workflow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the timeline topic, five milestones, audience and decision.</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Add only the approved onboarding brief and dated evidence.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Choose Wide, apply brand and create two timeline directions.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Refine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Correct sequence, labels, spacing and accessibility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Export</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PPTX, PDF and image output.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Decoration vs Message Adaptation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Decoration-led</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Message-led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Keep every template section</a:t>
            </a:r>
          </a:p>
          <a:p>
            <a:pPr>
              <a:spcAft>
                <a:spcPts val="1000"/>
              </a:spcAft>
            </a:pPr>
            <a:r>
              <a:rPr sz="1600" b="0">
                <a:solidFill>
                  <a:srgbClr val="161B26"/>
                </a:solidFill>
                <a:latin typeface="Arial"/>
              </a:rPr>
              <a:t>•  Choose colours first</a:t>
            </a:r>
          </a:p>
          <a:p>
            <a:pPr>
              <a:spcAft>
                <a:spcPts val="1000"/>
              </a:spcAft>
            </a:pPr>
            <a:r>
              <a:rPr sz="1600" b="0">
                <a:solidFill>
                  <a:srgbClr val="161B26"/>
                </a:solidFill>
                <a:latin typeface="Arial"/>
              </a:rPr>
              <a:t>•  Paste data into available boxes</a:t>
            </a:r>
          </a:p>
          <a:p>
            <a:pPr>
              <a:spcAft>
                <a:spcPts val="1000"/>
              </a:spcAft>
            </a:pPr>
            <a:r>
              <a:rPr sz="1600" b="0">
                <a:solidFill>
                  <a:srgbClr val="161B26"/>
                </a:solidFill>
                <a:latin typeface="Arial"/>
              </a:rPr>
              <a:t>•  Flatten the final slide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Remove any section that does not earn space</a:t>
            </a:r>
          </a:p>
          <a:p>
            <a:pPr>
              <a:spcAft>
                <a:spcPts val="1000"/>
              </a:spcAft>
            </a:pPr>
            <a:r>
              <a:rPr sz="1600" b="0">
                <a:solidFill>
                  <a:srgbClr val="161B26"/>
                </a:solidFill>
                <a:latin typeface="Arial"/>
              </a:rPr>
              <a:t>•  Use the approved hierarchy and brand</a:t>
            </a:r>
          </a:p>
          <a:p>
            <a:pPr>
              <a:spcAft>
                <a:spcPts val="1000"/>
              </a:spcAft>
            </a:pPr>
            <a:r>
              <a:rPr sz="1600" b="0">
                <a:solidFill>
                  <a:srgbClr val="161B26"/>
                </a:solidFill>
                <a:latin typeface="Arial"/>
              </a:rPr>
              <a:t>•  Choose the chart or shape for the relationship</a:t>
            </a:r>
          </a:p>
          <a:p>
            <a:pPr>
              <a:spcAft>
                <a:spcPts val="1000"/>
              </a:spcAft>
            </a:pPr>
            <a:r>
              <a:rPr sz="1600" b="0">
                <a:solidFill>
                  <a:srgbClr val="161B26"/>
                </a:solidFill>
                <a:latin typeface="Arial"/>
              </a:rPr>
              <a:t>•  Retain an editable master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Template Audit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Does the layout answer the audience question?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a:t>
            </a:r>
          </a:p>
          <a:p>
            <a:pPr algn="l">
              <a:spcAft>
                <a:spcPts val="300"/>
              </a:spcAft>
            </a:pPr>
            <a:r>
              <a:rPr sz="1200" b="0">
                <a:solidFill>
                  <a:srgbClr val="5B6372"/>
                </a:solidFill>
                <a:latin typeface="Arial"/>
              </a:rPr>
              <a:t>Are all placeholders replaced and all claims verified?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 at thumbnail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a:t>
            </a:r>
          </a:p>
          <a:p>
            <a:pPr algn="l">
              <a:spcAft>
                <a:spcPts val="300"/>
              </a:spcAft>
            </a:pPr>
            <a:r>
              <a:rPr sz="1200" b="0">
                <a:solidFill>
                  <a:srgbClr val="5B6372"/>
                </a:solidFill>
                <a:latin typeface="Arial"/>
              </a:rPr>
              <a:t>Are palette, type, logo and tone approved?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and alt text adequate?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Do PPTX, PDF and JPG render as intended?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HR needs a five-milestone onboarding timeline for managers: account request, manager plan, Day 1 orientation, Day 7 skills check and Day 30 outcome review.</a:t>
            </a:r>
          </a:p>
          <a:p>
            <a:pPr algn="l">
              <a:spcAft>
                <a:spcPts val="800"/>
              </a:spcAft>
            </a:pPr>
            <a:r>
              <a:rPr sz="1450" b="0">
                <a:solidFill>
                  <a:srgbClr val="161B26"/>
                </a:solidFill>
                <a:latin typeface="Arial"/>
              </a:rPr>
              <a:t>Use Microsoft 365 Copilot Create &gt; Design an infographic with the supplied structured prompt and approved brief. Refine the selected Wide timeline in PowerPoint; do not let generated decoration replace dated evidence.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editable five-milestone timeline infographic in PPTX, PDF and JPG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does this template fit the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inherited element should be removed first?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remain editable?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export format fits each channel?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wipe dir="l"/>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Timeline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result still match the approved wireframe?</a:t>
            </a:r>
          </a:p>
          <a:p>
            <a:pPr>
              <a:spcAft>
                <a:spcPts val="900"/>
              </a:spcAft>
            </a:pPr>
            <a:r>
              <a:rPr sz="1450" b="0">
                <a:solidFill>
                  <a:srgbClr val="161B26"/>
                </a:solidFill>
                <a:latin typeface="Arial"/>
              </a:rPr>
              <a:t>•  Can another team member update the data without rebuilding the design?</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template-based infographic is message-led, branded, accessible, source-labelled and fully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100" b="1">
                <a:solidFill>
                  <a:srgbClr val="161B26"/>
                </a:solidFill>
                <a:latin typeface="Arial"/>
              </a:rPr>
              <a:t>Copilot proposes the process direction; PowerPoint preserves the controlled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Copilot proposes the process direction; PowerPoint preserves the controlled system?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prompt</a:t>
            </a:r>
          </a:p>
          <a:p>
            <a:pPr algn="l">
              <a:spcAft>
                <a:spcPts val="300"/>
              </a:spcAft>
            </a:pPr>
            <a:r>
              <a:rPr sz="1200" b="0">
                <a:solidFill>
                  <a:srgbClr val="5B6372"/>
                </a:solidFill>
                <a:latin typeface="Arial"/>
              </a:rPr>
              <a:t>Specify subject, style, composition, palette, transparency and exclusions.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Generate one coherent family rather than unrelated visual styles.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Editable meaning</a:t>
            </a:r>
          </a:p>
          <a:p>
            <a:pPr algn="l">
              <a:spcAft>
                <a:spcPts val="300"/>
              </a:spcAft>
            </a:pPr>
            <a:r>
              <a:rPr sz="1200" b="0">
                <a:solidFill>
                  <a:srgbClr val="5B6372"/>
                </a:solidFill>
                <a:latin typeface="Arial"/>
              </a:rPr>
              <a:t>Keep claims, labels, numbers, connectors and charts as native PowerPoint objects.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Provenance</a:t>
            </a:r>
          </a:p>
          <a:p>
            <a:pPr algn="l">
              <a:spcAft>
                <a:spcPts val="300"/>
              </a:spcAft>
            </a:pPr>
            <a:r>
              <a:rPr sz="1200" b="0">
                <a:solidFill>
                  <a:srgbClr val="5B6372"/>
                </a:solidFill>
                <a:latin typeface="Arial"/>
              </a:rPr>
              <a:t>Record tool, prompt, date, intended use, review and human changes.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Prompt-to-Process-to-PowerPoint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Describe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five stages, audience, decision, source and visual constraints.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a Wide process infographic in Microsoft 365 Copilot.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Inspect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Reject wrong sequence, invented claims, ambiguous symbols and clutter.</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editable PowerPoint stages, connectors, labels and metrics.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Check source, alt text, reading order and export.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Generated Asset vs Information Evidence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AI image can support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PowerPoint must carry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Mood and visual metaphor</a:t>
            </a:r>
          </a:p>
          <a:p>
            <a:pPr>
              <a:spcAft>
                <a:spcPts val="1000"/>
              </a:spcAft>
            </a:pPr>
            <a:r>
              <a:rPr sz="1600" b="0">
                <a:solidFill>
                  <a:srgbClr val="161B26"/>
                </a:solidFill>
                <a:latin typeface="Arial"/>
              </a:rPr>
              <a:t>•  Consistent illustrative icon family</a:t>
            </a:r>
          </a:p>
          <a:p>
            <a:pPr>
              <a:spcAft>
                <a:spcPts val="1000"/>
              </a:spcAft>
            </a:pPr>
            <a:r>
              <a:rPr sz="1600" b="0">
                <a:solidFill>
                  <a:srgbClr val="161B26"/>
                </a:solidFill>
                <a:latin typeface="Arial"/>
              </a:rPr>
              <a:t>•  Background or hero imagery</a:t>
            </a:r>
          </a:p>
          <a:p>
            <a:pPr>
              <a:spcAft>
                <a:spcPts val="1000"/>
              </a:spcAft>
            </a:pPr>
            <a:r>
              <a:rPr sz="1600" b="0">
                <a:solidFill>
                  <a:srgbClr val="161B26"/>
                </a:solidFill>
                <a:latin typeface="Arial"/>
              </a:rPr>
              <a:t>•  Non-data decorative support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Verified numbers and claims</a:t>
            </a:r>
          </a:p>
          <a:p>
            <a:pPr>
              <a:spcAft>
                <a:spcPts val="1000"/>
              </a:spcAft>
            </a:pPr>
            <a:r>
              <a:rPr sz="1600" b="0">
                <a:solidFill>
                  <a:srgbClr val="161B26"/>
                </a:solidFill>
                <a:latin typeface="Arial"/>
              </a:rPr>
              <a:t>•  Editable labels and source notes</a:t>
            </a:r>
          </a:p>
          <a:p>
            <a:pPr>
              <a:spcAft>
                <a:spcPts val="1000"/>
              </a:spcAft>
            </a:pPr>
            <a:r>
              <a:rPr sz="1600" b="0">
                <a:solidFill>
                  <a:srgbClr val="161B26"/>
                </a:solidFill>
                <a:latin typeface="Arial"/>
              </a:rPr>
              <a:t>•  Native charts and meaningful connectors</a:t>
            </a:r>
          </a:p>
          <a:p>
            <a:pPr>
              <a:spcAft>
                <a:spcPts val="1000"/>
              </a:spcAft>
            </a:pPr>
            <a:r>
              <a:rPr sz="1600" b="0">
                <a:solidFill>
                  <a:srgbClr val="161B26"/>
                </a:solidFill>
                <a:latin typeface="Arial"/>
              </a:rPr>
              <a:t>•  Reading order and accessibility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Five-Stage Delivery Process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a:t>
            </a:r>
          </a:p>
          <a:p>
            <a:pPr algn="l">
              <a:spcAft>
                <a:spcPts val="300"/>
              </a:spcAft>
            </a:pPr>
            <a:r>
              <a:rPr sz="1200" b="0">
                <a:solidFill>
                  <a:srgbClr val="5B6372"/>
                </a:solidFill>
                <a:latin typeface="Arial"/>
              </a:rPr>
              <a:t>Order confirmed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a:t>
            </a:r>
          </a:p>
          <a:p>
            <a:pPr algn="l">
              <a:spcAft>
                <a:spcPts val="300"/>
              </a:spcAft>
            </a:pPr>
            <a:r>
              <a:rPr sz="1200" b="0">
                <a:solidFill>
                  <a:srgbClr val="5B6372"/>
                </a:solidFill>
                <a:latin typeface="Arial"/>
              </a:rPr>
              <a:t>Inventory reserved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a:t>
            </a:r>
          </a:p>
          <a:p>
            <a:pPr algn="l">
              <a:spcAft>
                <a:spcPts val="300"/>
              </a:spcAft>
            </a:pPr>
            <a:r>
              <a:rPr sz="1200" b="0">
                <a:solidFill>
                  <a:srgbClr val="5B6372"/>
                </a:solidFill>
                <a:latin typeface="Arial"/>
              </a:rPr>
              <a:t>Route optimised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a:t>
            </a:r>
          </a:p>
          <a:p>
            <a:pPr algn="l">
              <a:spcAft>
                <a:spcPts val="300"/>
              </a:spcAft>
            </a:pPr>
            <a:r>
              <a:rPr sz="1200" b="0">
                <a:solidFill>
                  <a:srgbClr val="5B6372"/>
                </a:solidFill>
                <a:latin typeface="Arial"/>
              </a:rPr>
              <a:t>Low-emission delivery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a:t>
            </a:r>
          </a:p>
          <a:p>
            <a:pPr algn="l">
              <a:spcAft>
                <a:spcPts val="300"/>
              </a:spcAft>
            </a:pPr>
            <a:r>
              <a:rPr sz="1200" b="0">
                <a:solidFill>
                  <a:srgbClr val="5B6372"/>
                </a:solidFill>
                <a:latin typeface="Arial"/>
              </a:rPr>
              <a:t>Customer feedback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Rule</a:t>
            </a:r>
          </a:p>
          <a:p>
            <a:pPr algn="l">
              <a:spcAft>
                <a:spcPts val="300"/>
              </a:spcAft>
            </a:pPr>
            <a:r>
              <a:rPr sz="1200" b="0">
                <a:solidFill>
                  <a:srgbClr val="5B6372"/>
                </a:solidFill>
                <a:latin typeface="Arial"/>
              </a:rPr>
              <a:t>One stage, one verb, one icon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needs an editable five-stage sustainable-delivery process infographic for store managers. Use the supplied structured Microsoft 365 Copilot prompt and approved synthetic stage data.</a:t>
            </a:r>
          </a:p>
          <a:p>
            <a:pPr algn="l">
              <a:spcAft>
                <a:spcPts val="800"/>
              </a:spcAft>
            </a:pPr>
            <a:r>
              <a:rPr sz="1450" b="0">
                <a:solidFill>
                  <a:srgbClr val="161B26"/>
                </a:solidFill>
                <a:latin typeface="Arial"/>
              </a:rPr>
              <a:t>Treat the Copilot output as a design direction. Build all stage names, values, connectors, source labels and decision meaning as editable PowerPoint objects.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prompt log, editable five-stage process infographic and reusable PowerPoint component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visual property signals sequence?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is direct labelling still required?</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Would SmartArt clarify or constrain this design?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system remain reusable?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wipe dir="l"/>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Process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process be scanned left to right in five seconds?</a:t>
            </a:r>
          </a:p>
          <a:p>
            <a:pPr>
              <a:spcAft>
                <a:spcPts val="900"/>
              </a:spcAft>
            </a:pPr>
            <a:r>
              <a:rPr sz="1450" b="0">
                <a:solidFill>
                  <a:srgbClr val="161B26"/>
                </a:solidFill>
                <a:latin typeface="Arial"/>
              </a:rPr>
              <a:t>•  Are all objects aligned, grouped and editable?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process uses a consistent component system, real connectors, direct labels, purposeful whitespace and editable PowerPoint objects.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AI finds candidate patterns; Excel and PowerPoint make the evidence auditable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AI finds candidate patterns; Excel and PowerPoint make the evidence auditable?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fit</a:t>
            </a:r>
          </a:p>
          <a:p>
            <a:pPr algn="l">
              <a:spcAft>
                <a:spcPts val="300"/>
              </a:spcAft>
            </a:pPr>
            <a:r>
              <a:rPr sz="1200" b="0">
                <a:solidFill>
                  <a:srgbClr val="5B6372"/>
                </a:solidFill>
                <a:latin typeface="Arial"/>
              </a:rPr>
              <a:t>Select values that answer the business question and use consistent denominators.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 fit</a:t>
            </a:r>
          </a:p>
          <a:p>
            <a:pPr algn="l">
              <a:spcAft>
                <a:spcPts val="300"/>
              </a:spcAft>
            </a:pPr>
            <a:r>
              <a:rPr sz="1200" b="0">
                <a:solidFill>
                  <a:srgbClr val="5B6372"/>
                </a:solidFill>
                <a:latin typeface="Arial"/>
              </a:rPr>
              <a:t>Bar for comparison, line for time, scatter for relationship, composition only when part-to-whole matters.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integrity</a:t>
            </a:r>
          </a:p>
          <a:p>
            <a:pPr algn="l">
              <a:spcAft>
                <a:spcPts val="300"/>
              </a:spcAft>
            </a:pPr>
            <a:r>
              <a:rPr sz="1200" b="0">
                <a:solidFill>
                  <a:srgbClr val="5B6372"/>
                </a:solidFill>
                <a:latin typeface="Arial"/>
              </a:rPr>
              <a:t>Preserve units, timeframe, source and calculation logic.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Annotation</a:t>
            </a:r>
          </a:p>
          <a:p>
            <a:pPr algn="l">
              <a:spcAft>
                <a:spcPts val="300"/>
              </a:spcAft>
            </a:pPr>
            <a:r>
              <a:rPr sz="1200" b="0">
                <a:solidFill>
                  <a:srgbClr val="5B6372"/>
                </a:solidFill>
                <a:latin typeface="Arial"/>
              </a:rPr>
              <a:t>Use an action title, direct labels and one purposeful accent to reveal the takeaway.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Data-to-Decision Chart</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Question</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which products to promote and why.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Prepare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Ask AI to flag data types, missing values, duplicates and inconsistent periods.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Choose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Select metric and chart based on the relationship.</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or paste a native editable PowerPoint chart.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Write the action title, annotation and implication.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Default Chart vs Decision Visual</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Default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Decision-ready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Generic chart title</a:t>
            </a:r>
          </a:p>
          <a:p>
            <a:pPr>
              <a:spcAft>
                <a:spcPts val="1000"/>
              </a:spcAft>
            </a:pPr>
            <a:r>
              <a:rPr sz="1600" b="0">
                <a:solidFill>
                  <a:srgbClr val="161B26"/>
                </a:solidFill>
                <a:latin typeface="Arial"/>
              </a:rPr>
              <a:t>•  Legend far from data</a:t>
            </a:r>
          </a:p>
          <a:p>
            <a:pPr>
              <a:spcAft>
                <a:spcPts val="1000"/>
              </a:spcAft>
            </a:pPr>
            <a:r>
              <a:rPr sz="1600" b="0">
                <a:solidFill>
                  <a:srgbClr val="161B26"/>
                </a:solidFill>
                <a:latin typeface="Arial"/>
              </a:rPr>
              <a:t>•  Rainbow series</a:t>
            </a:r>
          </a:p>
          <a:p>
            <a:pPr>
              <a:spcAft>
                <a:spcPts val="1000"/>
              </a:spcAft>
            </a:pPr>
            <a:r>
              <a:rPr sz="1600" b="0">
                <a:solidFill>
                  <a:srgbClr val="161B26"/>
                </a:solidFill>
                <a:latin typeface="Arial"/>
              </a:rPr>
              <a:t>•  No source or timeframe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Action title states the insight</a:t>
            </a:r>
          </a:p>
          <a:p>
            <a:pPr>
              <a:spcAft>
                <a:spcPts val="1000"/>
              </a:spcAft>
            </a:pPr>
            <a:r>
              <a:rPr sz="1600" b="0">
                <a:solidFill>
                  <a:srgbClr val="161B26"/>
                </a:solidFill>
                <a:latin typeface="Arial"/>
              </a:rPr>
              <a:t>•  Direct labels</a:t>
            </a:r>
          </a:p>
          <a:p>
            <a:pPr>
              <a:spcAft>
                <a:spcPts val="1000"/>
              </a:spcAft>
            </a:pPr>
            <a:r>
              <a:rPr sz="1600" b="0">
                <a:solidFill>
                  <a:srgbClr val="161B26"/>
                </a:solidFill>
                <a:latin typeface="Arial"/>
              </a:rPr>
              <a:t>•  One accent highlights the decision</a:t>
            </a:r>
          </a:p>
          <a:p>
            <a:pPr>
              <a:spcAft>
                <a:spcPts val="1000"/>
              </a:spcAft>
            </a:pPr>
            <a:r>
              <a:rPr sz="1600" b="0">
                <a:solidFill>
                  <a:srgbClr val="161B26"/>
                </a:solidFill>
                <a:latin typeface="Arial"/>
              </a:rPr>
              <a:t>•  Source, period and unit are visible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Product Promotion Signals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Beverages</a:t>
            </a:r>
          </a:p>
          <a:p>
            <a:pPr algn="l">
              <a:spcAft>
                <a:spcPts val="300"/>
              </a:spcAft>
            </a:pPr>
            <a:r>
              <a:rPr sz="1200" b="0">
                <a:solidFill>
                  <a:srgbClr val="5B6372"/>
                </a:solidFill>
                <a:latin typeface="Arial"/>
              </a:rPr>
              <a:t>Highest revenue; stable margin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Ready meals</a:t>
            </a:r>
          </a:p>
          <a:p>
            <a:pPr algn="l">
              <a:spcAft>
                <a:spcPts val="300"/>
              </a:spcAft>
            </a:pPr>
            <a:r>
              <a:rPr sz="1200" b="0">
                <a:solidFill>
                  <a:srgbClr val="5B6372"/>
                </a:solidFill>
                <a:latin typeface="Arial"/>
              </a:rPr>
              <a:t>Fastest Q2 growth; above-floor margin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Snacks</a:t>
            </a:r>
          </a:p>
          <a:p>
            <a:pPr algn="l">
              <a:spcAft>
                <a:spcPts val="300"/>
              </a:spcAft>
            </a:pPr>
            <a:r>
              <a:rPr sz="1200" b="0">
                <a:solidFill>
                  <a:srgbClr val="5B6372"/>
                </a:solidFill>
                <a:latin typeface="Arial"/>
              </a:rPr>
              <a:t>High volume; lower margin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Household</a:t>
            </a:r>
          </a:p>
          <a:p>
            <a:pPr algn="l">
              <a:spcAft>
                <a:spcPts val="300"/>
              </a:spcAft>
            </a:pPr>
            <a:r>
              <a:rPr sz="1200" b="0">
                <a:solidFill>
                  <a:srgbClr val="5B6372"/>
                </a:solidFill>
                <a:latin typeface="Arial"/>
              </a:rPr>
              <a:t>Seasonal spike; higher returns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Revenue + growth + margin, not volume alone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Test Ready Meals as the campaign hero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Northstar's marketing team must choose one product family for the next promotion. The supplied workbook contains monthly revenue, units, margin and returns for four categories.</a:t>
            </a:r>
          </a:p>
          <a:p>
            <a:pPr algn="l">
              <a:spcAft>
                <a:spcPts val="800"/>
              </a:spcAft>
            </a:pPr>
            <a:r>
              <a:rPr sz="1450" b="0">
                <a:solidFill>
                  <a:srgbClr val="161B26"/>
                </a:solidFill>
                <a:latin typeface="Arial"/>
              </a:rPr>
              <a:t>Prompt an approved AI assistant to analyse the workbook and propose candidate insights. Reproduce the selected calculations in Excel, then create an editable PowerPoint chart with an explicit decision implication.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Copilot analysis log, verified formula workbook, comparison infographic and annotated decision slide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metric answers the actual business question?</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the chart show that a table does not?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context or caveat belongs on the slide?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product should be tested and why?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wipe dir="l"/>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Comparison Data Story with Copilot and PowerPoint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Can the chart be updated from the workbook?</a:t>
            </a:r>
          </a:p>
          <a:p>
            <a:pPr>
              <a:spcAft>
                <a:spcPts val="900"/>
              </a:spcAft>
            </a:pPr>
            <a:r>
              <a:rPr sz="1450" b="0">
                <a:solidFill>
                  <a:srgbClr val="161B26"/>
                </a:solidFill>
                <a:latin typeface="Arial"/>
              </a:rPr>
              <a:t>•  Does the title state the conclusion rather than the topic?</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chart is native/editable, uses an appropriate form, retains source context and makes a proportionate product-promotion recommendation.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LU2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hierarchy connects the business goal to outcomes, measures, owners and review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T4</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hierarchy connects the business goal to outcomes, measures, owners and review?</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goal</a:t>
            </a:r>
          </a:p>
          <a:p>
            <a:pPr algn="l">
              <a:spcAft>
                <a:spcPts val="300"/>
              </a:spcAft>
            </a:pPr>
            <a:r>
              <a:rPr sz="1200" b="0">
                <a:solidFill>
                  <a:srgbClr val="5B6372"/>
                </a:solidFill>
                <a:latin typeface="Arial"/>
              </a:rPr>
              <a:t>State the intended outcome and boundary at the top.</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Show the observable change that indicates progress.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Attach a defined metric, unit, source and target.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 and review</a:t>
            </a:r>
          </a:p>
          <a:p>
            <a:pPr algn="l">
              <a:spcAft>
                <a:spcPts val="300"/>
              </a:spcAft>
            </a:pPr>
            <a:r>
              <a:rPr sz="1200" b="0">
                <a:solidFill>
                  <a:srgbClr val="5B6372"/>
                </a:solidFill>
                <a:latin typeface="Arial"/>
              </a:rPr>
              <a:t>Name accountability and a review cadence at the base.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Microsoft Support — Create an infographic with the Microsoft 365 Copilot app, accessed 5 September 2026</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Goal-to-Measure Hierarchy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Ground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Load the approved strategy note and metric definitions.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Prompt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Specify a five-level hierarchy, audience, decision and source rule.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Generate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Create two Copilot hierarchy directions in Wide format.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Rebuild</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Make goal, outcome, measure, owner and review editable in PowerPoint.</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Verify</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Trace each relationship to the source and test reading order.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Decorative Pyramid vs Accountable Hierarchy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Decorative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Accountable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Vague ambition at the top</a:t>
            </a:r>
          </a:p>
          <a:p>
            <a:pPr>
              <a:spcAft>
                <a:spcPts val="1000"/>
              </a:spcAft>
            </a:pPr>
            <a:r>
              <a:rPr sz="1600" b="0">
                <a:solidFill>
                  <a:srgbClr val="161B26"/>
                </a:solidFill>
                <a:latin typeface="Arial"/>
              </a:rPr>
              <a:t>•  Mixed measures and activities</a:t>
            </a:r>
          </a:p>
          <a:p>
            <a:pPr>
              <a:spcAft>
                <a:spcPts val="1000"/>
              </a:spcAft>
            </a:pPr>
            <a:r>
              <a:rPr sz="1600" b="0">
                <a:solidFill>
                  <a:srgbClr val="161B26"/>
                </a:solidFill>
                <a:latin typeface="Arial"/>
              </a:rPr>
              <a:t>•  No source or owner</a:t>
            </a:r>
          </a:p>
          <a:p>
            <a:pPr>
              <a:spcAft>
                <a:spcPts val="1000"/>
              </a:spcAft>
            </a:pPr>
            <a:r>
              <a:rPr sz="1600" b="0">
                <a:solidFill>
                  <a:srgbClr val="161B26"/>
                </a:solidFill>
                <a:latin typeface="Arial"/>
              </a:rPr>
              <a:t>•  No review trigger</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Defined goal and boundary</a:t>
            </a:r>
          </a:p>
          <a:p>
            <a:pPr>
              <a:spcAft>
                <a:spcPts val="1000"/>
              </a:spcAft>
            </a:pPr>
            <a:r>
              <a:rPr sz="1600" b="0">
                <a:solidFill>
                  <a:srgbClr val="161B26"/>
                </a:solidFill>
                <a:latin typeface="Arial"/>
              </a:rPr>
              <a:t>•  Outcome linked to one metric</a:t>
            </a:r>
          </a:p>
          <a:p>
            <a:pPr>
              <a:spcAft>
                <a:spcPts val="1000"/>
              </a:spcAft>
            </a:pPr>
            <a:r>
              <a:rPr sz="1600" b="0">
                <a:solidFill>
                  <a:srgbClr val="161B26"/>
                </a:solidFill>
                <a:latin typeface="Arial"/>
              </a:rPr>
              <a:t>•  Named source and owner</a:t>
            </a:r>
          </a:p>
          <a:p>
            <a:pPr>
              <a:spcAft>
                <a:spcPts val="1000"/>
              </a:spcAft>
            </a:pPr>
            <a:r>
              <a:rPr sz="1600" b="0">
                <a:solidFill>
                  <a:srgbClr val="161B26"/>
                </a:solidFill>
                <a:latin typeface="Arial"/>
              </a:rPr>
              <a:t>•  Review cadence and reversal trigger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Accountable Goal Hierarchy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Improve service trust within the customer-support function.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Customers receive faster, clearer recovery updates.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Priority cases resolved within four hours.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Customer operations director.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Monthly governance review with exception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public claim without source, period and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wants an executive hierarchy infographic connecting its service-trust goal to a recovery outcome, a four-hour measure, the customer-operations owner and a monthly review.</a:t>
            </a:r>
          </a:p>
          <a:p>
            <a:pPr algn="l">
              <a:spcAft>
                <a:spcPts val="800"/>
              </a:spcAft>
            </a:pPr>
            <a:r>
              <a:rPr sz="1450" b="0">
                <a:solidFill>
                  <a:srgbClr val="161B26"/>
                </a:solidFill>
                <a:latin typeface="Arial"/>
              </a:rPr>
              <a:t>Use Microsoft 365 Copilot with the approved strategy note to create two hierarchy directions. Verify the relationships, then rebuild the selected direction as an editable PowerPoint hierarchy.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Two Copilot hierarchy directions, a reviewed editable PowerPoint hierarchy and a prompt/source log</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the prompt include to prevent a generic output?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data cannot be sent to an unapproved service?</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rebuilt as native PowerPoint objects?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signs off the final infographic?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wipe dir="l"/>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Create a Hierarchy Infographic with Microsoft 365 Copilot</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AI accelerate options without becoming the source of truth?</a:t>
            </a:r>
          </a:p>
          <a:p>
            <a:pPr>
              <a:spcAft>
                <a:spcPts val="900"/>
              </a:spcAft>
            </a:pPr>
            <a:r>
              <a:rPr sz="1450" b="0">
                <a:solidFill>
                  <a:srgbClr val="161B26"/>
                </a:solidFill>
                <a:latin typeface="Arial"/>
              </a:rPr>
              <a:t>•  Is the final result independently editable and auditable?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final slide records the prompt, sources and human changes; all claims are verified and the decision evidence remains editable.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Creating PowerPoint Infographics with AI</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Timeline Infographic with Microsoft 365 Copilot</a:t>
            </a:r>
          </a:p>
          <a:p>
            <a:pPr algn="l">
              <a:spcAft>
                <a:spcPts val="300"/>
              </a:spcAft>
            </a:pPr>
            <a:r>
              <a:rPr sz="1200" b="0">
                <a:solidFill>
                  <a:srgbClr val="5B6372"/>
                </a:solidFill>
                <a:latin typeface="Arial"/>
              </a:rPr>
              <a:t>You can now: create a timeline infographic in the Microsoft 365 Copilot app, then preserve hierarchy, editability, brand and evidence in PowerPoint.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Process Infographic with Microsoft 365 Copilot</a:t>
            </a:r>
          </a:p>
          <a:p>
            <a:pPr algn="l">
              <a:spcAft>
                <a:spcPts val="300"/>
              </a:spcAft>
            </a:pPr>
            <a:r>
              <a:rPr sz="1200" b="0">
                <a:solidFill>
                  <a:srgbClr val="5B6372"/>
                </a:solidFill>
                <a:latin typeface="Arial"/>
              </a:rPr>
              <a:t>You can now: use Microsoft 365 Copilot to generate a five-stage process infographic, then rebuild decision-critical labels, shapes, connectors and SmartArt as editable PowerPoint objects.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Comparison Data Story with Copilot and PowerPoint</a:t>
            </a:r>
          </a:p>
          <a:p>
            <a:pPr algn="l">
              <a:spcAft>
                <a:spcPts val="300"/>
              </a:spcAft>
            </a:pPr>
            <a:r>
              <a:rPr sz="1200" b="0">
                <a:solidFill>
                  <a:srgbClr val="5B6372"/>
                </a:solidFill>
                <a:latin typeface="Arial"/>
              </a:rPr>
              <a:t>You can now: use Microsoft 365 Copilot to analyse approved mock Excel data, verify calculations, then create a comparison infographic with a native editable chart in PowerPoint.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Create a Hierarchy Infographic with Microsoft 365 Copilot</a:t>
            </a:r>
          </a:p>
          <a:p>
            <a:pPr algn="l">
              <a:spcAft>
                <a:spcPts val="300"/>
              </a:spcAft>
            </a:pPr>
            <a:r>
              <a:rPr sz="1200" b="0">
                <a:solidFill>
                  <a:srgbClr val="5B6372"/>
                </a:solidFill>
                <a:latin typeface="Arial"/>
              </a:rPr>
              <a:t>You can now: generate a source-grounded business-goal hierarchy in Microsoft 365 Copilot and refine it as an accountable editable PowerPoint master.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fastest workflow keeps the message editable.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templates and AI for options; keep data, charts, labels and decisions under human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zoom/>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Evaluating and Presenting Infographics for Business Impact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Story · Context · Simplicity · Coaching · Budget · Effectiveness ·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push dir="l"/>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Key Concepts — Evaluating and Presenting Infographics for Business Impact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Effective review separates message clarity, data integrity, visual hierarchy, accessibility, audience fit and business usefulness.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Coaching uses specific observations, questions and criteria rather than taste-based comments such as 'make it pop'.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Tool investment is evaluated through capability, licence, learning, production, governance, collaboration and maintenance costs.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Improvement is evidence-led: gather feedback, prioritise changes, revise the controlled master and retest the intended outcome.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Six Dimensions of Infographic Effectiveness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professional review connects design decisions to audience and business outcomes.</a:t>
            </a:r>
          </a:p>
        </p:txBody>
      </p:sp>
      <p:sp>
        <p:nvSpPr>
          <p:cNvPr id="7" name="Rectangle 6"/>
          <p:cNvSpPr/>
          <p:nvPr/>
        </p:nvSpPr>
        <p:spPr>
          <a:xfrm>
            <a:off x="777240"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Clarity</a:t>
            </a:r>
          </a:p>
        </p:txBody>
      </p:sp>
      <p:sp>
        <p:nvSpPr>
          <p:cNvPr id="10" name="TextBox 9"/>
          <p:cNvSpPr txBox="1"/>
          <p:nvPr/>
        </p:nvSpPr>
        <p:spPr>
          <a:xfrm>
            <a:off x="1051560"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audience can state the message and action without trainer explanation.</a:t>
            </a:r>
          </a:p>
        </p:txBody>
      </p:sp>
      <p:sp>
        <p:nvSpPr>
          <p:cNvPr id="11" name="Rectangle 10"/>
          <p:cNvSpPr/>
          <p:nvPr/>
        </p:nvSpPr>
        <p:spPr>
          <a:xfrm>
            <a:off x="6231636" y="2057400"/>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Integrity</a:t>
            </a:r>
          </a:p>
        </p:txBody>
      </p:sp>
      <p:sp>
        <p:nvSpPr>
          <p:cNvPr id="14" name="TextBox 13"/>
          <p:cNvSpPr txBox="1"/>
          <p:nvPr/>
        </p:nvSpPr>
        <p:spPr>
          <a:xfrm>
            <a:off x="6505956" y="2624328"/>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Data, scale, context, source and uncertainty are accurate and visible.</a:t>
            </a:r>
          </a:p>
        </p:txBody>
      </p:sp>
      <p:sp>
        <p:nvSpPr>
          <p:cNvPr id="15" name="Rectangle 14"/>
          <p:cNvSpPr/>
          <p:nvPr/>
        </p:nvSpPr>
        <p:spPr>
          <a:xfrm>
            <a:off x="777240"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93008"/>
            <a:ext cx="91440" cy="1197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57600"/>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Hierarchy</a:t>
            </a:r>
          </a:p>
        </p:txBody>
      </p:sp>
      <p:sp>
        <p:nvSpPr>
          <p:cNvPr id="18" name="TextBox 17"/>
          <p:cNvSpPr txBox="1"/>
          <p:nvPr/>
        </p:nvSpPr>
        <p:spPr>
          <a:xfrm>
            <a:off x="1051560"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reading order guides attention to evidence and implication.</a:t>
            </a:r>
          </a:p>
        </p:txBody>
      </p:sp>
      <p:sp>
        <p:nvSpPr>
          <p:cNvPr id="19" name="Rectangle 18"/>
          <p:cNvSpPr/>
          <p:nvPr/>
        </p:nvSpPr>
        <p:spPr>
          <a:xfrm>
            <a:off x="6231636" y="3493008"/>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3493008"/>
            <a:ext cx="91440" cy="1197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3657600"/>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Accessibility</a:t>
            </a:r>
          </a:p>
        </p:txBody>
      </p:sp>
      <p:sp>
        <p:nvSpPr>
          <p:cNvPr id="22" name="TextBox 21"/>
          <p:cNvSpPr txBox="1"/>
          <p:nvPr/>
        </p:nvSpPr>
        <p:spPr>
          <a:xfrm>
            <a:off x="6505956" y="4059936"/>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Contrast, text size, labels, alt text and non-colour cues support access.</a:t>
            </a:r>
          </a:p>
        </p:txBody>
      </p:sp>
      <p:sp>
        <p:nvSpPr>
          <p:cNvPr id="23" name="Rectangle 22"/>
          <p:cNvSpPr/>
          <p:nvPr/>
        </p:nvSpPr>
        <p:spPr>
          <a:xfrm>
            <a:off x="777240"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928616"/>
            <a:ext cx="91440" cy="1197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093208"/>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Engagement</a:t>
            </a:r>
          </a:p>
        </p:txBody>
      </p:sp>
      <p:sp>
        <p:nvSpPr>
          <p:cNvPr id="26" name="TextBox 25"/>
          <p:cNvSpPr txBox="1"/>
          <p:nvPr/>
        </p:nvSpPr>
        <p:spPr>
          <a:xfrm>
            <a:off x="1051560"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visual earns attention without chart junk or decorative distraction.</a:t>
            </a:r>
          </a:p>
        </p:txBody>
      </p:sp>
      <p:sp>
        <p:nvSpPr>
          <p:cNvPr id="27" name="Rectangle 26"/>
          <p:cNvSpPr/>
          <p:nvPr/>
        </p:nvSpPr>
        <p:spPr>
          <a:xfrm>
            <a:off x="6231636" y="4928616"/>
            <a:ext cx="5180076" cy="11978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4928616"/>
            <a:ext cx="91440" cy="1197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5956" y="5093208"/>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Business fit</a:t>
            </a:r>
          </a:p>
        </p:txBody>
      </p:sp>
      <p:sp>
        <p:nvSpPr>
          <p:cNvPr id="30" name="TextBox 29"/>
          <p:cNvSpPr txBox="1"/>
          <p:nvPr/>
        </p:nvSpPr>
        <p:spPr>
          <a:xfrm>
            <a:off x="6505956" y="5495544"/>
            <a:ext cx="4677156" cy="512064"/>
          </a:xfrm>
          <a:prstGeom prst="rect">
            <a:avLst/>
          </a:prstGeom>
          <a:noFill/>
        </p:spPr>
        <p:txBody>
          <a:bodyPr wrap="square" anchor="t">
            <a:spAutoFit/>
          </a:bodyPr>
          <a:lstStyle/>
          <a:p>
            <a:pPr algn="l">
              <a:spcAft>
                <a:spcPts val="400"/>
              </a:spcAft>
            </a:pPr>
            <a:r>
              <a:rPr sz="1200" b="0">
                <a:solidFill>
                  <a:srgbClr val="161B26"/>
                </a:solidFill>
                <a:latin typeface="Arial"/>
              </a:rPr>
              <a:t>The output supports the stated decision, channel, resources and governance.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QUALITY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 and Don't: Review the Story, Not Just the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legacy deck's core dos and don'ts remain valid and are now tied to review criteria.</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Don't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Do</a:t>
            </a:r>
          </a:p>
        </p:txBody>
      </p:sp>
      <p:sp>
        <p:nvSpPr>
          <p:cNvPr id="11" name="Rectangle 10"/>
          <p:cNvSpPr/>
          <p:nvPr/>
        </p:nvSpPr>
        <p:spPr>
          <a:xfrm>
            <a:off x="777240" y="2560320"/>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Meaning</a:t>
            </a:r>
          </a:p>
        </p:txBody>
      </p:sp>
      <p:sp>
        <p:nvSpPr>
          <p:cNvPr id="13" name="Rectangle 12"/>
          <p:cNvSpPr/>
          <p:nvPr/>
        </p:nvSpPr>
        <p:spPr>
          <a:xfrm>
            <a:off x="2926080"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Rely on iconography alone</a:t>
            </a:r>
          </a:p>
        </p:txBody>
      </p:sp>
      <p:sp>
        <p:nvSpPr>
          <p:cNvPr id="15" name="Rectangle 14"/>
          <p:cNvSpPr/>
          <p:nvPr/>
        </p:nvSpPr>
        <p:spPr>
          <a:xfrm>
            <a:off x="7168896" y="2560320"/>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Use icons with direct labels and explanatory context</a:t>
            </a:r>
          </a:p>
        </p:txBody>
      </p:sp>
      <p:sp>
        <p:nvSpPr>
          <p:cNvPr id="17" name="Rectangle 16"/>
          <p:cNvSpPr/>
          <p:nvPr/>
        </p:nvSpPr>
        <p:spPr>
          <a:xfrm>
            <a:off x="777240" y="3273552"/>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273552"/>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Decoration</a:t>
            </a:r>
          </a:p>
        </p:txBody>
      </p:sp>
      <p:sp>
        <p:nvSpPr>
          <p:cNvPr id="19" name="Rectangle 18"/>
          <p:cNvSpPr/>
          <p:nvPr/>
        </p:nvSpPr>
        <p:spPr>
          <a:xfrm>
            <a:off x="2926080"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Add chart junk, 3-D effects or unnecessary elements</a:t>
            </a:r>
          </a:p>
        </p:txBody>
      </p:sp>
      <p:sp>
        <p:nvSpPr>
          <p:cNvPr id="21" name="Rectangle 20"/>
          <p:cNvSpPr/>
          <p:nvPr/>
        </p:nvSpPr>
        <p:spPr>
          <a:xfrm>
            <a:off x="7168896" y="3273552"/>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273552"/>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Keep graphical elements simple and purposeful</a:t>
            </a:r>
          </a:p>
        </p:txBody>
      </p:sp>
      <p:sp>
        <p:nvSpPr>
          <p:cNvPr id="23" name="Rectangle 22"/>
          <p:cNvSpPr/>
          <p:nvPr/>
        </p:nvSpPr>
        <p:spPr>
          <a:xfrm>
            <a:off x="777240" y="3986784"/>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986784"/>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Context</a:t>
            </a:r>
          </a:p>
        </p:txBody>
      </p:sp>
      <p:sp>
        <p:nvSpPr>
          <p:cNvPr id="25" name="Rectangle 24"/>
          <p:cNvSpPr/>
          <p:nvPr/>
        </p:nvSpPr>
        <p:spPr>
          <a:xfrm>
            <a:off x="2926080"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Show a number without comparison, unit or source</a:t>
            </a:r>
          </a:p>
        </p:txBody>
      </p:sp>
      <p:sp>
        <p:nvSpPr>
          <p:cNvPr id="27" name="Rectangle 26"/>
          <p:cNvSpPr/>
          <p:nvPr/>
        </p:nvSpPr>
        <p:spPr>
          <a:xfrm>
            <a:off x="7168896" y="3986784"/>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3986784"/>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Provide scale, timeframe, denominator and implication</a:t>
            </a:r>
          </a:p>
        </p:txBody>
      </p:sp>
      <p:sp>
        <p:nvSpPr>
          <p:cNvPr id="29" name="Rectangle 28"/>
          <p:cNvSpPr/>
          <p:nvPr/>
        </p:nvSpPr>
        <p:spPr>
          <a:xfrm>
            <a:off x="777240" y="4700016"/>
            <a:ext cx="214884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00016"/>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Story</a:t>
            </a:r>
          </a:p>
        </p:txBody>
      </p:sp>
      <p:sp>
        <p:nvSpPr>
          <p:cNvPr id="31" name="Rectangle 30"/>
          <p:cNvSpPr/>
          <p:nvPr/>
        </p:nvSpPr>
        <p:spPr>
          <a:xfrm>
            <a:off x="2926080"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Present isolated facts in template order</a:t>
            </a:r>
          </a:p>
        </p:txBody>
      </p:sp>
      <p:sp>
        <p:nvSpPr>
          <p:cNvPr id="33" name="Rectangle 32"/>
          <p:cNvSpPr/>
          <p:nvPr/>
        </p:nvSpPr>
        <p:spPr>
          <a:xfrm>
            <a:off x="7168896" y="4700016"/>
            <a:ext cx="4242816"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700016"/>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Create a narrative that leads from question to evidence to action</a:t>
            </a:r>
          </a:p>
        </p:txBody>
      </p:sp>
      <p:sp>
        <p:nvSpPr>
          <p:cNvPr id="35" name="Rectangle 34"/>
          <p:cNvSpPr/>
          <p:nvPr/>
        </p:nvSpPr>
        <p:spPr>
          <a:xfrm>
            <a:off x="777240" y="5413248"/>
            <a:ext cx="214884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413248"/>
            <a:ext cx="1874520" cy="713232"/>
          </a:xfrm>
          <a:prstGeom prst="rect">
            <a:avLst/>
          </a:prstGeom>
          <a:noFill/>
        </p:spPr>
        <p:txBody>
          <a:bodyPr wrap="square" anchor="ctr">
            <a:spAutoFit/>
          </a:bodyPr>
          <a:lstStyle/>
          <a:p>
            <a:pPr algn="l">
              <a:spcAft>
                <a:spcPts val="400"/>
              </a:spcAft>
            </a:pPr>
            <a:r>
              <a:rPr sz="1400" b="1">
                <a:solidFill>
                  <a:srgbClr val="161B26"/>
                </a:solidFill>
                <a:latin typeface="Arial"/>
              </a:rPr>
              <a:t>Scope</a:t>
            </a:r>
          </a:p>
        </p:txBody>
      </p:sp>
      <p:sp>
        <p:nvSpPr>
          <p:cNvPr id="37" name="Rectangle 36"/>
          <p:cNvSpPr/>
          <p:nvPr/>
        </p:nvSpPr>
        <p:spPr>
          <a:xfrm>
            <a:off x="2926080"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Include every available piece of information</a:t>
            </a:r>
          </a:p>
        </p:txBody>
      </p:sp>
      <p:sp>
        <p:nvSpPr>
          <p:cNvPr id="39" name="Rectangle 38"/>
          <p:cNvSpPr/>
          <p:nvPr/>
        </p:nvSpPr>
        <p:spPr>
          <a:xfrm>
            <a:off x="7168896" y="5413248"/>
            <a:ext cx="4242816"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33488" y="5413248"/>
            <a:ext cx="3913632" cy="713232"/>
          </a:xfrm>
          <a:prstGeom prst="rect">
            <a:avLst/>
          </a:prstGeom>
          <a:noFill/>
        </p:spPr>
        <p:txBody>
          <a:bodyPr wrap="square" anchor="ctr">
            <a:spAutoFit/>
          </a:bodyPr>
          <a:lstStyle/>
          <a:p>
            <a:pPr algn="l">
              <a:spcAft>
                <a:spcPts val="400"/>
              </a:spcAft>
            </a:pPr>
            <a:r>
              <a:rPr sz="1300" b="0">
                <a:solidFill>
                  <a:srgbClr val="161B26"/>
                </a:solidFill>
                <a:latin typeface="Arial"/>
              </a:rPr>
              <a:t>Curate the minimum evidence needed for the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Evidence-Led Improvement Loop</a:t>
            </a:r>
          </a:p>
        </p:txBody>
      </p:sp>
      <p:sp>
        <p:nvSpPr>
          <p:cNvPr id="6" name="Rectangle 5"/>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Observe audience outcome</a:t>
            </a:r>
          </a:p>
        </p:txBody>
      </p:sp>
      <p:sp>
        <p:nvSpPr>
          <p:cNvPr id="11" name="Chevron 10"/>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Diagnose six dimensions</a:t>
            </a:r>
          </a:p>
        </p:txBody>
      </p:sp>
      <p:sp>
        <p:nvSpPr>
          <p:cNvPr id="17" name="Chevron 16"/>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Prioritise by impact</a:t>
            </a:r>
          </a:p>
        </p:txBody>
      </p:sp>
      <p:sp>
        <p:nvSpPr>
          <p:cNvPr id="23" name="Chevron 22"/>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Assign and revise</a:t>
            </a:r>
          </a:p>
        </p:txBody>
      </p:sp>
      <p:sp>
        <p:nvSpPr>
          <p:cNvPr id="29" name="Chevron 28"/>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Retest and approve</a:t>
            </a:r>
          </a:p>
        </p:txBody>
      </p:sp>
      <p:sp>
        <p:nvSpPr>
          <p:cNvPr id="35" name="Rectangle 3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revision is complete only when the controlled master, evidence and acceptance check are updated together.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RESOURCE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Beyond the Licence Fee</a:t>
            </a:r>
          </a:p>
        </p:txBody>
      </p:sp>
      <p:sp>
        <p:nvSpPr>
          <p:cNvPr id="6" name="Rectangle 5"/>
          <p:cNvSpPr/>
          <p:nvPr/>
        </p:nvSpPr>
        <p:spPr>
          <a:xfrm>
            <a:off x="777240"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487168"/>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LICENCE</a:t>
            </a:r>
          </a:p>
        </p:txBody>
      </p:sp>
      <p:sp>
        <p:nvSpPr>
          <p:cNvPr id="9" name="TextBox 8"/>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Subscription, add-ons and user count</a:t>
            </a:r>
          </a:p>
        </p:txBody>
      </p:sp>
      <p:sp>
        <p:nvSpPr>
          <p:cNvPr id="10" name="Rectangle 9"/>
          <p:cNvSpPr/>
          <p:nvPr/>
        </p:nvSpPr>
        <p:spPr>
          <a:xfrm>
            <a:off x="4407408"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2487168"/>
            <a:ext cx="3374136" cy="914400"/>
          </a:xfrm>
          <a:prstGeom prst="rect">
            <a:avLst/>
          </a:prstGeom>
          <a:noFill/>
        </p:spPr>
        <p:txBody>
          <a:bodyPr wrap="square" anchor="t">
            <a:spAutoFit/>
          </a:bodyPr>
          <a:lstStyle/>
          <a:p>
            <a:pPr algn="ctr">
              <a:spcAft>
                <a:spcPts val="400"/>
              </a:spcAft>
            </a:pPr>
            <a:r>
              <a:rPr sz="4000" b="1">
                <a:solidFill>
                  <a:srgbClr val="10B981"/>
                </a:solidFill>
                <a:latin typeface="Arial"/>
              </a:rPr>
              <a:t>LEARN</a:t>
            </a:r>
          </a:p>
        </p:txBody>
      </p:sp>
      <p:sp>
        <p:nvSpPr>
          <p:cNvPr id="13" name="TextBox 12"/>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Training, templates and adoption support</a:t>
            </a:r>
          </a:p>
        </p:txBody>
      </p:sp>
      <p:sp>
        <p:nvSpPr>
          <p:cNvPr id="14" name="Rectangle 13"/>
          <p:cNvSpPr/>
          <p:nvPr/>
        </p:nvSpPr>
        <p:spPr>
          <a:xfrm>
            <a:off x="8037576" y="2212848"/>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BUILD</a:t>
            </a:r>
          </a:p>
        </p:txBody>
      </p:sp>
      <p:sp>
        <p:nvSpPr>
          <p:cNvPr id="17" name="TextBox 16"/>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Production and collaboration time</a:t>
            </a:r>
          </a:p>
        </p:txBody>
      </p:sp>
      <p:sp>
        <p:nvSpPr>
          <p:cNvPr id="18" name="Rectangle 17"/>
          <p:cNvSpPr/>
          <p:nvPr/>
        </p:nvSpPr>
        <p:spPr>
          <a:xfrm>
            <a:off x="777240"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09194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66260"/>
            <a:ext cx="3374136" cy="914400"/>
          </a:xfrm>
          <a:prstGeom prst="rect">
            <a:avLst/>
          </a:prstGeom>
          <a:noFill/>
        </p:spPr>
        <p:txBody>
          <a:bodyPr wrap="square" anchor="t">
            <a:spAutoFit/>
          </a:bodyPr>
          <a:lstStyle/>
          <a:p>
            <a:pPr algn="ctr">
              <a:spcAft>
                <a:spcPts val="400"/>
              </a:spcAft>
            </a:pPr>
            <a:r>
              <a:rPr sz="3000" b="1">
                <a:solidFill>
                  <a:srgbClr val="F59E0B"/>
                </a:solidFill>
                <a:latin typeface="Arial"/>
              </a:rPr>
              <a:t>REVIEW</a:t>
            </a:r>
          </a:p>
        </p:txBody>
      </p:sp>
      <p:sp>
        <p:nvSpPr>
          <p:cNvPr id="21" name="TextBox 20"/>
          <p:cNvSpPr txBox="1"/>
          <p:nvPr/>
        </p:nvSpPr>
        <p:spPr>
          <a:xfrm>
            <a:off x="923544"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Data, brand, accessibility and legal checks</a:t>
            </a:r>
          </a:p>
        </p:txBody>
      </p:sp>
      <p:sp>
        <p:nvSpPr>
          <p:cNvPr id="22" name="Rectangle 21"/>
          <p:cNvSpPr/>
          <p:nvPr/>
        </p:nvSpPr>
        <p:spPr>
          <a:xfrm>
            <a:off x="4407408"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8" y="409194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4366260"/>
            <a:ext cx="3374136" cy="914400"/>
          </a:xfrm>
          <a:prstGeom prst="rect">
            <a:avLst/>
          </a:prstGeom>
          <a:noFill/>
        </p:spPr>
        <p:txBody>
          <a:bodyPr wrap="square" anchor="t">
            <a:spAutoFit/>
          </a:bodyPr>
          <a:lstStyle/>
          <a:p>
            <a:pPr algn="ctr">
              <a:spcAft>
                <a:spcPts val="400"/>
              </a:spcAft>
            </a:pPr>
            <a:r>
              <a:rPr sz="3000" b="1">
                <a:solidFill>
                  <a:srgbClr val="1F6FEB"/>
                </a:solidFill>
                <a:latin typeface="Arial"/>
              </a:rPr>
              <a:t>MAINTAIN</a:t>
            </a:r>
          </a:p>
        </p:txBody>
      </p:sp>
      <p:sp>
        <p:nvSpPr>
          <p:cNvPr id="25" name="TextBox 24"/>
          <p:cNvSpPr txBox="1"/>
          <p:nvPr/>
        </p:nvSpPr>
        <p:spPr>
          <a:xfrm>
            <a:off x="4553712"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Updates, asset libraries and controlled masters</a:t>
            </a:r>
          </a:p>
        </p:txBody>
      </p:sp>
      <p:sp>
        <p:nvSpPr>
          <p:cNvPr id="26" name="Rectangle 25"/>
          <p:cNvSpPr/>
          <p:nvPr/>
        </p:nvSpPr>
        <p:spPr>
          <a:xfrm>
            <a:off x="8037576" y="4091940"/>
            <a:ext cx="3374136" cy="16413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7576" y="409194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37576" y="4366260"/>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REWORK</a:t>
            </a:r>
          </a:p>
        </p:txBody>
      </p:sp>
      <p:sp>
        <p:nvSpPr>
          <p:cNvPr id="29" name="TextBox 28"/>
          <p:cNvSpPr txBox="1"/>
          <p:nvPr/>
        </p:nvSpPr>
        <p:spPr>
          <a:xfrm>
            <a:off x="8183880" y="529894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Errors, lock-in, export failures and continuity risk</a:t>
            </a:r>
          </a:p>
        </p:txBody>
      </p:sp>
      <p:sp>
        <p:nvSpPr>
          <p:cNvPr id="30" name="Rectangle 29"/>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The lowest monthly price may create the highest total resource cost.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mind map reveals stakeholder relationships before coaching improves the story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1800" b="1">
                <a:solidFill>
                  <a:srgbClr val="161B26"/>
                </a:solidFill>
                <a:latin typeface="Arial"/>
              </a:rPr>
              <a:t>What is a mind map reveals stakeholder relationships before coaching improves the story?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Observe</a:t>
            </a:r>
          </a:p>
          <a:p>
            <a:pPr algn="l">
              <a:spcAft>
                <a:spcPts val="300"/>
              </a:spcAft>
            </a:pPr>
            <a:r>
              <a:rPr sz="1200" b="0">
                <a:solidFill>
                  <a:srgbClr val="5B6372"/>
                </a:solidFill>
                <a:latin typeface="Arial"/>
              </a:rPr>
              <a:t>Describe what the reader sees or experiences without judging intent.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Question</a:t>
            </a:r>
          </a:p>
          <a:p>
            <a:pPr algn="l">
              <a:spcAft>
                <a:spcPts val="300"/>
              </a:spcAft>
            </a:pPr>
            <a:r>
              <a:rPr sz="1200" b="0">
                <a:solidFill>
                  <a:srgbClr val="5B6372"/>
                </a:solidFill>
                <a:latin typeface="Arial"/>
              </a:rPr>
              <a:t>Ask which audience, message, decision or constraint drove the choice.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Explain</a:t>
            </a:r>
          </a:p>
          <a:p>
            <a:pPr algn="l">
              <a:spcAft>
                <a:spcPts val="300"/>
              </a:spcAft>
            </a:pPr>
            <a:r>
              <a:rPr sz="1200" b="0">
                <a:solidFill>
                  <a:srgbClr val="5B6372"/>
                </a:solidFill>
                <a:latin typeface="Arial"/>
              </a:rPr>
              <a:t>Connect the issue to a principle or observed outcome.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Suggest</a:t>
            </a:r>
          </a:p>
          <a:p>
            <a:pPr algn="l">
              <a:spcAft>
                <a:spcPts val="300"/>
              </a:spcAft>
            </a:pPr>
            <a:r>
              <a:rPr sz="1200" b="0">
                <a:solidFill>
                  <a:srgbClr val="5B6372"/>
                </a:solidFill>
                <a:latin typeface="Arial"/>
              </a:rPr>
              <a:t>Recommend one testable change and define what better looks like.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Observe, Ask, Explain, Suggest, Confirm</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Name the visible issue specifically.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Ask</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Clarify the designer's goal and constraints.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Explain</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Link to hierarchy, integrity, access or audience fit.</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Suggest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Propose one prioritised change.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Confirm</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Agree the revision and acceptance check.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Taste Comment vs Coaching Feedback</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Taste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Criteria-based</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Make it pop</a:t>
            </a:r>
          </a:p>
          <a:p>
            <a:pPr>
              <a:spcAft>
                <a:spcPts val="1000"/>
              </a:spcAft>
            </a:pPr>
            <a:r>
              <a:rPr sz="1600" b="0">
                <a:solidFill>
                  <a:srgbClr val="161B26"/>
                </a:solidFill>
                <a:latin typeface="Arial"/>
              </a:rPr>
              <a:t>•  I don't like the colours</a:t>
            </a:r>
          </a:p>
          <a:p>
            <a:pPr>
              <a:spcAft>
                <a:spcPts val="1000"/>
              </a:spcAft>
            </a:pPr>
            <a:r>
              <a:rPr sz="1600" b="0">
                <a:solidFill>
                  <a:srgbClr val="161B26"/>
                </a:solidFill>
                <a:latin typeface="Arial"/>
              </a:rPr>
              <a:t>•  Add more icons</a:t>
            </a:r>
          </a:p>
          <a:p>
            <a:pPr>
              <a:spcAft>
                <a:spcPts val="1000"/>
              </a:spcAft>
            </a:pPr>
            <a:r>
              <a:rPr sz="1600" b="0">
                <a:solidFill>
                  <a:srgbClr val="161B26"/>
                </a:solidFill>
                <a:latin typeface="Arial"/>
              </a:rPr>
              <a:t>•  It feels boring</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title labels a topic but does not state the insight</a:t>
            </a:r>
          </a:p>
          <a:p>
            <a:pPr>
              <a:spcAft>
                <a:spcPts val="1000"/>
              </a:spcAft>
            </a:pPr>
            <a:r>
              <a:rPr sz="1600" b="0">
                <a:solidFill>
                  <a:srgbClr val="161B26"/>
                </a:solidFill>
                <a:latin typeface="Arial"/>
              </a:rPr>
              <a:t>•  Body text falls below the agreed size</a:t>
            </a:r>
          </a:p>
          <a:p>
            <a:pPr>
              <a:spcAft>
                <a:spcPts val="1000"/>
              </a:spcAft>
            </a:pPr>
            <a:r>
              <a:rPr sz="1600" b="0">
                <a:solidFill>
                  <a:srgbClr val="161B26"/>
                </a:solidFill>
                <a:latin typeface="Arial"/>
              </a:rPr>
              <a:t>•  Three icon styles disrupt the visual grammar</a:t>
            </a:r>
          </a:p>
          <a:p>
            <a:pPr>
              <a:spcAft>
                <a:spcPts val="1000"/>
              </a:spcAft>
            </a:pPr>
            <a:r>
              <a:rPr sz="1600" b="0">
                <a:solidFill>
                  <a:srgbClr val="161B26"/>
                </a:solidFill>
                <a:latin typeface="Arial"/>
              </a:rPr>
              <a:t>•  The accent does not guide attention to the decision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a:t>
            </a:r>
          </a:p>
          <a:p>
            <a:pPr algn="l">
              <a:spcAft>
                <a:spcPts val="300"/>
              </a:spcAft>
            </a:pPr>
            <a:r>
              <a:rPr sz="1200" b="0">
                <a:solidFill>
                  <a:srgbClr val="5B6372"/>
                </a:solidFill>
                <a:latin typeface="Arial"/>
              </a:rPr>
              <a:t>Can the audience state the takeaway?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claims accurate, contextualised and sourced?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Is the reading order obvious?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a:t>
            </a:r>
          </a:p>
          <a:p>
            <a:pPr algn="l">
              <a:spcAft>
                <a:spcPts val="300"/>
              </a:spcAft>
            </a:pPr>
            <a:r>
              <a:rPr sz="1200" b="0">
                <a:solidFill>
                  <a:srgbClr val="5B6372"/>
                </a:solidFill>
                <a:latin typeface="Arial"/>
              </a:rPr>
              <a:t>Are contrast, labels, text size and alt text adequate?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Story</a:t>
            </a:r>
          </a:p>
          <a:p>
            <a:pPr algn="l">
              <a:spcAft>
                <a:spcPts val="300"/>
              </a:spcAft>
            </a:pPr>
            <a:r>
              <a:rPr sz="1200" b="0">
                <a:solidFill>
                  <a:srgbClr val="5B6372"/>
                </a:solidFill>
                <a:latin typeface="Arial"/>
              </a:rPr>
              <a:t>Do evidence and action connect logically?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Fit</a:t>
            </a:r>
          </a:p>
          <a:p>
            <a:pPr algn="l">
              <a:spcAft>
                <a:spcPts val="300"/>
              </a:spcAft>
            </a:pPr>
            <a:r>
              <a:rPr sz="1200" b="0">
                <a:solidFill>
                  <a:srgbClr val="5B6372"/>
                </a:solidFill>
                <a:latin typeface="Arial"/>
              </a:rPr>
              <a:t>Does the output match the audience and channel?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Each learner uses Microsoft 365 Copilot to draft a stakeholder mind map linking executives, managers, analysts, staff and customers to one common decision story.</a:t>
            </a:r>
          </a:p>
          <a:p>
            <a:pPr algn="l">
              <a:spcAft>
                <a:spcPts val="800"/>
              </a:spcAft>
            </a:pPr>
            <a:r>
              <a:rPr sz="1450" b="0">
                <a:solidFill>
                  <a:srgbClr val="161B26"/>
                </a:solidFill>
                <a:latin typeface="Arial"/>
              </a:rPr>
              <a:t>Present the editable PowerPoint mind map to two peers. Capture two observations, two strengths, two improvements and one agreed revision, then retest the reading path.</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stakeholder mind map infographic, completed peer-review log, revised PowerPoint and short reflection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7" name="Rectangle 6"/>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Designer</a:t>
            </a:r>
          </a:p>
        </p:txBody>
      </p:sp>
      <p:sp>
        <p:nvSpPr>
          <p:cNvPr id="10" name="TextBox 9"/>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1" name="TextBox 10"/>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explain the intended audience and message</a:t>
            </a:r>
          </a:p>
        </p:txBody>
      </p:sp>
      <p:sp>
        <p:nvSpPr>
          <p:cNvPr id="12" name="TextBox 11"/>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Listen without defending every choice; ask for evidence.</a:t>
            </a:r>
          </a:p>
        </p:txBody>
      </p:sp>
      <p:sp>
        <p:nvSpPr>
          <p:cNvPr id="13" name="Rectangle 12"/>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Reviewer</a:t>
            </a:r>
          </a:p>
        </p:txBody>
      </p:sp>
      <p:sp>
        <p:nvSpPr>
          <p:cNvPr id="16" name="TextBox 15"/>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7" name="TextBox 16"/>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give criteria-based feedback</a:t>
            </a:r>
          </a:p>
        </p:txBody>
      </p:sp>
      <p:sp>
        <p:nvSpPr>
          <p:cNvPr id="18" name="TextBox 17"/>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Use observations, questions and one prioritised suggestion.</a:t>
            </a:r>
          </a:p>
        </p:txBody>
      </p:sp>
      <p:sp>
        <p:nvSpPr>
          <p:cNvPr id="19" name="Rectangle 18"/>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Audience representative</a:t>
            </a:r>
          </a:p>
        </p:txBody>
      </p:sp>
      <p:sp>
        <p:nvSpPr>
          <p:cNvPr id="22" name="TextBox 21"/>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3" name="TextBox 22"/>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test comprehension</a:t>
            </a:r>
          </a:p>
        </p:txBody>
      </p:sp>
      <p:sp>
        <p:nvSpPr>
          <p:cNvPr id="24" name="TextBox 23"/>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State what you understood, what confused you and what action you would take.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wipe dir="l"/>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did the audience understand first?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issue has the greatest decision impact?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feedback is evidence-based rather than taste?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the change be tested?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wipe dir="l"/>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and Review a Stakeholder Mind Map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the feedback specific and respectful?</a:t>
            </a:r>
          </a:p>
          <a:p>
            <a:pPr>
              <a:spcAft>
                <a:spcPts val="900"/>
              </a:spcAft>
            </a:pPr>
            <a:r>
              <a:rPr sz="1450" b="0">
                <a:solidFill>
                  <a:srgbClr val="161B26"/>
                </a:solidFill>
                <a:latin typeface="Arial"/>
              </a:rPr>
              <a:t>•  Did the revision improve the intended outcome rather than merely change the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log contains observed evidence, a principle-based diagnosis, one prioritised change, a named owner and an acceptance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2600" b="1">
                <a:solidFill>
                  <a:srgbClr val="161B26"/>
                </a:solidFill>
                <a:latin typeface="Arial"/>
              </a:rPr>
              <a:t>a tool and resource decision tied to business outcomes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 tool and resource decision tied to business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Templates, native charts, AI generation, brand control, collaboration and export.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Total cost</a:t>
            </a:r>
          </a:p>
          <a:p>
            <a:pPr algn="l">
              <a:spcAft>
                <a:spcPts val="300"/>
              </a:spcAft>
            </a:pPr>
            <a:r>
              <a:rPr sz="1200" b="0">
                <a:solidFill>
                  <a:srgbClr val="5B6372"/>
                </a:solidFill>
                <a:latin typeface="Arial"/>
              </a:rPr>
              <a:t>Licence, learning, production time, governance, maintenance and rework.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Effectiveness</a:t>
            </a:r>
          </a:p>
          <a:p>
            <a:pPr algn="l">
              <a:spcAft>
                <a:spcPts val="300"/>
              </a:spcAft>
            </a:pPr>
            <a:r>
              <a:rPr sz="1200" b="0">
                <a:solidFill>
                  <a:srgbClr val="5B6372"/>
                </a:solidFill>
                <a:latin typeface="Arial"/>
              </a:rPr>
              <a:t>Clarity, comprehension, engagement, action, accuracy and accessibility.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Data handling, rights, lock-in, editability, continuity and auditability.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Investment Decision Loop</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Need</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Define outputs, volume, users and business outcomes.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Compare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Score capability, cost, workflow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Pilot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Test the same brief in shortlisted workflows.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Measure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Collect quality, time, adoption and outcome evidence.</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400" b="1">
                <a:solidFill>
                  <a:srgbClr val="161B26"/>
                </a:solidFill>
                <a:latin typeface="Arial"/>
              </a:rPr>
              <a:t>Decide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250" b="0">
                <a:solidFill>
                  <a:srgbClr val="5B6372"/>
                </a:solidFill>
                <a:latin typeface="Arial"/>
              </a:rPr>
              <a:t>Recommend tools, budget, controls and review date.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Low Price vs Low Total Cost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Licence-only view</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Total-resource 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fee</a:t>
            </a:r>
          </a:p>
          <a:p>
            <a:pPr>
              <a:spcAft>
                <a:spcPts val="1000"/>
              </a:spcAft>
            </a:pPr>
            <a:r>
              <a:rPr sz="1600" b="0">
                <a:solidFill>
                  <a:srgbClr val="161B26"/>
                </a:solidFill>
                <a:latin typeface="Arial"/>
              </a:rPr>
              <a:t>•  Template count</a:t>
            </a:r>
          </a:p>
          <a:p>
            <a:pPr>
              <a:spcAft>
                <a:spcPts val="1000"/>
              </a:spcAft>
            </a:pPr>
            <a:r>
              <a:rPr sz="1600" b="0">
                <a:solidFill>
                  <a:srgbClr val="161B26"/>
                </a:solidFill>
                <a:latin typeface="Arial"/>
              </a:rPr>
              <a:t>•  AI generation speed</a:t>
            </a:r>
          </a:p>
          <a:p>
            <a:pPr>
              <a:spcAft>
                <a:spcPts val="1000"/>
              </a:spcAft>
            </a:pPr>
            <a:r>
              <a:rPr sz="1600" b="0">
                <a:solidFill>
                  <a:srgbClr val="161B26"/>
                </a:solidFill>
                <a:latin typeface="Arial"/>
              </a:rPr>
              <a:t>•  Headline export feature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Licence + learning + review + maintenance</a:t>
            </a:r>
          </a:p>
          <a:p>
            <a:pPr>
              <a:spcAft>
                <a:spcPts val="1000"/>
              </a:spcAft>
            </a:pPr>
            <a:r>
              <a:rPr sz="1600" b="0">
                <a:solidFill>
                  <a:srgbClr val="161B26"/>
                </a:solidFill>
                <a:latin typeface="Arial"/>
              </a:rPr>
              <a:t>•  Brand and accessibility control</a:t>
            </a:r>
          </a:p>
          <a:p>
            <a:pPr>
              <a:spcAft>
                <a:spcPts val="1000"/>
              </a:spcAft>
            </a:pPr>
            <a:r>
              <a:rPr sz="1600" b="0">
                <a:solidFill>
                  <a:srgbClr val="161B26"/>
                </a:solidFill>
                <a:latin typeface="Arial"/>
              </a:rPr>
              <a:t>•  Editability and collaboration</a:t>
            </a:r>
          </a:p>
          <a:p>
            <a:pPr>
              <a:spcAft>
                <a:spcPts val="1000"/>
              </a:spcAft>
            </a:pPr>
            <a:r>
              <a:rPr sz="1600" b="0">
                <a:solidFill>
                  <a:srgbClr val="161B26"/>
                </a:solidFill>
                <a:latin typeface="Arial"/>
              </a:rPr>
              <a:t>•  Governance, continuity and rework risk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Tool Investment Scorecard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35%</a:t>
            </a:r>
          </a:p>
          <a:p>
            <a:pPr algn="l">
              <a:spcAft>
                <a:spcPts val="300"/>
              </a:spcAft>
            </a:pPr>
            <a:r>
              <a:rPr sz="1200" b="0">
                <a:solidFill>
                  <a:srgbClr val="5B6372"/>
                </a:solidFill>
                <a:latin typeface="Arial"/>
              </a:rPr>
              <a:t>Message and data effectiveness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a:t>
            </a:r>
          </a:p>
          <a:p>
            <a:pPr algn="l">
              <a:spcAft>
                <a:spcPts val="300"/>
              </a:spcAft>
            </a:pPr>
            <a:r>
              <a:rPr sz="1200" b="0">
                <a:solidFill>
                  <a:srgbClr val="5B6372"/>
                </a:solidFill>
                <a:latin typeface="Arial"/>
              </a:rPr>
              <a:t>Editability and workflow fit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Brand and accessibility control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Privacy, rights and governance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a:t>
            </a:r>
          </a:p>
          <a:p>
            <a:pPr algn="l">
              <a:spcAft>
                <a:spcPts val="300"/>
              </a:spcAft>
            </a:pPr>
            <a:r>
              <a:rPr sz="1200" b="0">
                <a:solidFill>
                  <a:srgbClr val="5B6372"/>
                </a:solidFill>
                <a:latin typeface="Arial"/>
              </a:rPr>
              <a:t>Total resource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a:t>
            </a:r>
          </a:p>
          <a:p>
            <a:pPr algn="l">
              <a:spcAft>
                <a:spcPts val="300"/>
              </a:spcAft>
            </a:pPr>
            <a:r>
              <a:rPr sz="1200" b="0">
                <a:solidFill>
                  <a:srgbClr val="5B6372"/>
                </a:solidFill>
                <a:latin typeface="Arial"/>
              </a:rPr>
              <a:t>No option passes with unverified data or public answer-key risk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
        <p:nvSpPr>
          <p:cNvPr id="39" name="TextBox 3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synthetic data</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Northstar can fund one standard workflow for 12 staff. Options include PowerPoint templates only, PowerPoint with Microsoft 365 Copilot, a Copilot-first governed workflow, or a mixed approved workflow with PowerPoint as the controlled final-production layer.</a:t>
            </a:r>
          </a:p>
          <a:p>
            <a:pPr algn="l">
              <a:spcAft>
                <a:spcPts val="800"/>
              </a:spcAft>
            </a:pPr>
            <a:r>
              <a:rPr sz="1450" b="0">
                <a:solidFill>
                  <a:srgbClr val="161B26"/>
                </a:solidFill>
                <a:latin typeface="Arial"/>
              </a:rPr>
              <a:t>Use the supplied budget workbook and effectiveness evidence to recommend a 12-month tool, training and governance plan aligned with business outcomes.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weighted resource-scorecard infographic and one-page workflow recommendation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business outcomes define effectiveness?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hidden resource costs could reverse the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risks are hard gates rather than weighted preferences?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When should the investment be reviewed?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wipe dir="l"/>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Create a Resource Scorecard Infographic</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Does the recommendation distinguish price from total cost?</a:t>
            </a:r>
          </a:p>
          <a:p>
            <a:pPr>
              <a:spcAft>
                <a:spcPts val="900"/>
              </a:spcAft>
            </a:pPr>
            <a:r>
              <a:rPr sz="1450" b="0">
                <a:solidFill>
                  <a:srgbClr val="161B26"/>
                </a:solidFill>
                <a:latin typeface="Arial"/>
              </a:rPr>
              <a:t>•  Are effectiveness criteria linked to observed business outcomes?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names the preferred workflow, budget, ownership, governance controls, success metrics and review 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Recap — Evaluating and Presenting Infographics for Business Impact</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and Review a Stakeholder Mind Map Infographic</a:t>
            </a:r>
          </a:p>
          <a:p>
            <a:pPr algn="l">
              <a:spcAft>
                <a:spcPts val="300"/>
              </a:spcAft>
            </a:pPr>
            <a:r>
              <a:rPr sz="1200" b="0">
                <a:solidFill>
                  <a:srgbClr val="5B6372"/>
                </a:solidFill>
                <a:latin typeface="Arial"/>
              </a:rPr>
              <a:t>You can now: create a stakeholder mind map, give criteria-based feedback and revise it to improve clarity, story and accessibility.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Create a Resource Scorecard Infographic</a:t>
            </a:r>
          </a:p>
          <a:p>
            <a:pPr algn="l">
              <a:spcAft>
                <a:spcPts val="300"/>
              </a:spcAft>
            </a:pPr>
            <a:r>
              <a:rPr sz="1200" b="0">
                <a:solidFill>
                  <a:srgbClr val="5B6372"/>
                </a:solidFill>
                <a:latin typeface="Arial"/>
              </a:rPr>
              <a:t>You can now: compare infographic-tool investment options and recommend a resource plan using effectiveness and governance criteria.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beautiful visual can still fail the business question.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clarity, accuracy, accessibility, engagement, resource fit and the action the audience can 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zoom/>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an infographic with the Microsoft 365 Copilot app</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User-provided Microsoft 365 Copilot shared prompt example</a:t>
            </a:r>
          </a:p>
          <a:p>
            <a:pPr algn="l">
              <a:spcAft>
                <a:spcPts val="300"/>
              </a:spcAft>
            </a:pPr>
            <a:r>
              <a:rPr sz="1000" b="0">
                <a:solidFill>
                  <a:srgbClr val="5B6372"/>
                </a:solidFill>
                <a:latin typeface="Arial"/>
              </a:rPr>
              <a:t>m365.cloud.microsoft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Edit with Copilot in PowerPoint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 slide from a file with Copilot in PowerPoint</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Create a new presentation with Copilot in PowerPoint</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File formats supported by Microsoft 365 Copilot</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or remove chart titles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Add alternative text</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Make presentations accessible</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Change slide size</a:t>
            </a:r>
          </a:p>
          <a:p>
            <a:pPr algn="l">
              <a:spcAft>
                <a:spcPts val="300"/>
              </a:spcAft>
            </a:pPr>
            <a:r>
              <a:rPr sz="1000" b="0">
                <a:solidFill>
                  <a:srgbClr val="5B6372"/>
                </a:solidFill>
                <a:latin typeface="Arial"/>
              </a:rPr>
              <a:t>support.microsoft.com</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Align or arrange objects</a:t>
            </a:r>
          </a:p>
          <a:p>
            <a:pPr algn="l">
              <a:spcAft>
                <a:spcPts val="300"/>
              </a:spcAft>
            </a:pPr>
            <a:r>
              <a:rPr sz="1000" b="0">
                <a:solidFill>
                  <a:srgbClr val="5B6372"/>
                </a:solidFill>
                <a:latin typeface="Arial"/>
              </a:rPr>
              <a:t>support.microsoft.com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Insert icons</a:t>
            </a:r>
          </a:p>
          <a:p>
            <a:pPr algn="l">
              <a:spcAft>
                <a:spcPts val="300"/>
              </a:spcAft>
            </a:pPr>
            <a:r>
              <a:rPr sz="1000" b="0">
                <a:solidFill>
                  <a:srgbClr val="5B6372"/>
                </a:solidFill>
                <a:latin typeface="Arial"/>
              </a:rPr>
              <a:t>support.microsoft.com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Use charts and graphs</a:t>
            </a:r>
          </a:p>
          <a:p>
            <a:pPr algn="l">
              <a:spcAft>
                <a:spcPts val="300"/>
              </a:spcAft>
            </a:pPr>
            <a:r>
              <a:rPr sz="1000" b="0">
                <a:solidFill>
                  <a:srgbClr val="5B6372"/>
                </a:solidFill>
                <a:latin typeface="Arial"/>
              </a:rPr>
              <a:t>support.microsoft.com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Microsoft Support: SmartArt graphics</a:t>
            </a:r>
          </a:p>
          <a:p>
            <a:pPr algn="l">
              <a:spcAft>
                <a:spcPts val="300"/>
              </a:spcAft>
            </a:pPr>
            <a:r>
              <a:rPr sz="1000" b="0">
                <a:solidFill>
                  <a:srgbClr val="5B6372"/>
                </a:solidFill>
                <a:latin typeface="Arial"/>
              </a:rPr>
              <a:t>support.microsoft.com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W3C: Understanding Success Criterion 1.4.3 Contrast</a:t>
            </a:r>
          </a:p>
          <a:p>
            <a:pPr algn="l">
              <a:spcAft>
                <a:spcPts val="300"/>
              </a:spcAft>
            </a:pPr>
            <a:r>
              <a:rPr sz="1000" b="0">
                <a:solidFill>
                  <a:srgbClr val="5B6372"/>
                </a:solidFill>
                <a:latin typeface="Arial"/>
              </a:rPr>
              <a:t>w3.org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4187952"/>
          </a:xfrm>
          <a:prstGeom prst="rect">
            <a:avLst/>
          </a:prstGeom>
          <a:noFill/>
        </p:spPr>
        <p:txBody>
          <a:bodyPr wrap="square" anchor="ctr">
            <a:spAutoFit/>
          </a:bodyPr>
          <a:lstStyle/>
          <a:p>
            <a:pPr algn="l">
              <a:spcAft>
                <a:spcPts val="300"/>
              </a:spcAft>
            </a:pPr>
            <a:r>
              <a:rPr sz="1400" b="1">
                <a:solidFill>
                  <a:srgbClr val="161B26"/>
                </a:solidFill>
                <a:latin typeface="Arial"/>
              </a:rPr>
              <a:t>Datawrapper Academy: What to consider when creating charts</a:t>
            </a:r>
          </a:p>
          <a:p>
            <a:pPr algn="l">
              <a:spcAft>
                <a:spcPts val="300"/>
              </a:spcAft>
            </a:pPr>
            <a:r>
              <a:rPr sz="1000" b="0">
                <a:solidFill>
                  <a:srgbClr val="5B6372"/>
                </a:solidFill>
                <a:latin typeface="Arial"/>
              </a:rPr>
              <a:t>academy.datawrapper.de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CLEAR Infographic Workflow</a:t>
            </a:r>
          </a:p>
        </p:txBody>
      </p:sp>
      <p:sp>
        <p:nvSpPr>
          <p:cNvPr id="6" name="TextBox 5"/>
          <p:cNvSpPr txBox="1"/>
          <p:nvPr/>
        </p:nvSpPr>
        <p:spPr>
          <a:xfrm>
            <a:off x="777240"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01</a:t>
            </a:r>
          </a:p>
        </p:txBody>
      </p:sp>
      <p:sp>
        <p:nvSpPr>
          <p:cNvPr id="7" name="TextBox 6"/>
          <p:cNvSpPr txBox="1"/>
          <p:nvPr/>
        </p:nvSpPr>
        <p:spPr>
          <a:xfrm>
            <a:off x="777240"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Collect</a:t>
            </a:r>
          </a:p>
        </p:txBody>
      </p:sp>
      <p:sp>
        <p:nvSpPr>
          <p:cNvPr id="8" name="TextBox 7"/>
          <p:cNvSpPr txBox="1"/>
          <p:nvPr/>
        </p:nvSpPr>
        <p:spPr>
          <a:xfrm>
            <a:off x="777240"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Gather and organise approved files, notes and datasets for Microsoft 365 Copilot and PowerPoint.</a:t>
            </a:r>
          </a:p>
        </p:txBody>
      </p:sp>
      <p:sp>
        <p:nvSpPr>
          <p:cNvPr id="9" name="TextBox 8"/>
          <p:cNvSpPr txBox="1"/>
          <p:nvPr/>
        </p:nvSpPr>
        <p:spPr>
          <a:xfrm>
            <a:off x="2966313"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02</a:t>
            </a:r>
          </a:p>
        </p:txBody>
      </p:sp>
      <p:sp>
        <p:nvSpPr>
          <p:cNvPr id="10" name="TextBox 9"/>
          <p:cNvSpPr txBox="1"/>
          <p:nvPr/>
        </p:nvSpPr>
        <p:spPr>
          <a:xfrm>
            <a:off x="2966313" y="2697480"/>
            <a:ext cx="1878177" cy="685800"/>
          </a:xfrm>
          <a:prstGeom prst="rect">
            <a:avLst/>
          </a:prstGeom>
          <a:noFill/>
        </p:spPr>
        <p:txBody>
          <a:bodyPr wrap="square" anchor="t">
            <a:spAutoFit/>
          </a:bodyPr>
          <a:lstStyle/>
          <a:p>
            <a:pPr algn="l">
              <a:spcAft>
                <a:spcPts val="400"/>
              </a:spcAft>
            </a:pPr>
            <a:r>
              <a:rPr sz="1600" b="1">
                <a:solidFill>
                  <a:srgbClr val="10B981"/>
                </a:solidFill>
                <a:latin typeface="Arial"/>
              </a:rPr>
              <a:t>Analyse</a:t>
            </a:r>
          </a:p>
        </p:txBody>
      </p:sp>
      <p:sp>
        <p:nvSpPr>
          <p:cNvPr id="11" name="TextBox 10"/>
          <p:cNvSpPr txBox="1"/>
          <p:nvPr/>
        </p:nvSpPr>
        <p:spPr>
          <a:xfrm>
            <a:off x="2966313"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Clean the data, reconcile units and periods, test patterns and extract candidate insights with citations.</a:t>
            </a:r>
          </a:p>
        </p:txBody>
      </p:sp>
      <p:sp>
        <p:nvSpPr>
          <p:cNvPr id="12" name="TextBox 11"/>
          <p:cNvSpPr txBox="1"/>
          <p:nvPr/>
        </p:nvSpPr>
        <p:spPr>
          <a:xfrm>
            <a:off x="5155386"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03</a:t>
            </a:r>
          </a:p>
        </p:txBody>
      </p:sp>
      <p:sp>
        <p:nvSpPr>
          <p:cNvPr id="13" name="TextBox 12"/>
          <p:cNvSpPr txBox="1"/>
          <p:nvPr/>
        </p:nvSpPr>
        <p:spPr>
          <a:xfrm>
            <a:off x="5155386" y="2697480"/>
            <a:ext cx="1878177" cy="685800"/>
          </a:xfrm>
          <a:prstGeom prst="rect">
            <a:avLst/>
          </a:prstGeom>
          <a:noFill/>
        </p:spPr>
        <p:txBody>
          <a:bodyPr wrap="square" anchor="t">
            <a:spAutoFit/>
          </a:bodyPr>
          <a:lstStyle/>
          <a:p>
            <a:pPr algn="l">
              <a:spcAft>
                <a:spcPts val="400"/>
              </a:spcAft>
            </a:pPr>
            <a:r>
              <a:rPr sz="1600" b="1">
                <a:solidFill>
                  <a:srgbClr val="7C3AED"/>
                </a:solidFill>
                <a:latin typeface="Arial"/>
              </a:rPr>
              <a:t>Generate</a:t>
            </a:r>
          </a:p>
        </p:txBody>
      </p:sp>
      <p:sp>
        <p:nvSpPr>
          <p:cNvPr id="14" name="TextBox 13"/>
          <p:cNvSpPr txBox="1"/>
          <p:nvPr/>
        </p:nvSpPr>
        <p:spPr>
          <a:xfrm>
            <a:off x="5155386"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Prompt Microsoft 365 Copilot for an evidence-led infographic direction and preserve the exact prompt.</a:t>
            </a:r>
          </a:p>
        </p:txBody>
      </p:sp>
      <p:sp>
        <p:nvSpPr>
          <p:cNvPr id="15" name="TextBox 14"/>
          <p:cNvSpPr txBox="1"/>
          <p:nvPr/>
        </p:nvSpPr>
        <p:spPr>
          <a:xfrm>
            <a:off x="7344459"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04</a:t>
            </a:r>
          </a:p>
        </p:txBody>
      </p:sp>
      <p:sp>
        <p:nvSpPr>
          <p:cNvPr id="16" name="TextBox 15"/>
          <p:cNvSpPr txBox="1"/>
          <p:nvPr/>
        </p:nvSpPr>
        <p:spPr>
          <a:xfrm>
            <a:off x="7344459" y="2697480"/>
            <a:ext cx="1878177" cy="685800"/>
          </a:xfrm>
          <a:prstGeom prst="rect">
            <a:avLst/>
          </a:prstGeom>
          <a:noFill/>
        </p:spPr>
        <p:txBody>
          <a:bodyPr wrap="square" anchor="t">
            <a:spAutoFit/>
          </a:bodyPr>
          <a:lstStyle/>
          <a:p>
            <a:pPr algn="l">
              <a:spcAft>
                <a:spcPts val="400"/>
              </a:spcAft>
            </a:pPr>
            <a:r>
              <a:rPr sz="1600" b="1">
                <a:solidFill>
                  <a:srgbClr val="F59E0B"/>
                </a:solidFill>
                <a:latin typeface="Arial"/>
              </a:rPr>
              <a:t>Refine</a:t>
            </a:r>
          </a:p>
        </p:txBody>
      </p:sp>
      <p:sp>
        <p:nvSpPr>
          <p:cNvPr id="17" name="TextBox 16"/>
          <p:cNvSpPr txBox="1"/>
          <p:nvPr/>
        </p:nvSpPr>
        <p:spPr>
          <a:xfrm>
            <a:off x="7344459"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Convert or rebuild the selected direction in PowerPoint with editable text, charts, labels and brand controls.</a:t>
            </a:r>
          </a:p>
        </p:txBody>
      </p:sp>
      <p:sp>
        <p:nvSpPr>
          <p:cNvPr id="18" name="TextBox 17"/>
          <p:cNvSpPr txBox="1"/>
          <p:nvPr/>
        </p:nvSpPr>
        <p:spPr>
          <a:xfrm>
            <a:off x="9533532" y="1828800"/>
            <a:ext cx="1878177" cy="822960"/>
          </a:xfrm>
          <a:prstGeom prst="rect">
            <a:avLst/>
          </a:prstGeom>
          <a:noFill/>
        </p:spPr>
        <p:txBody>
          <a:bodyPr wrap="square" anchor="t">
            <a:spAutoFit/>
          </a:bodyPr>
          <a:lstStyle/>
          <a:p>
            <a:pPr algn="l">
              <a:spcAft>
                <a:spcPts val="400"/>
              </a:spcAft>
            </a:pPr>
            <a:r>
              <a:rPr sz="4400" b="1">
                <a:solidFill>
                  <a:srgbClr val="A9B8CA"/>
                </a:solidFill>
                <a:latin typeface="Arial"/>
              </a:rPr>
              <a:t>05</a:t>
            </a:r>
          </a:p>
        </p:txBody>
      </p:sp>
      <p:sp>
        <p:nvSpPr>
          <p:cNvPr id="19" name="TextBox 18"/>
          <p:cNvSpPr txBox="1"/>
          <p:nvPr/>
        </p:nvSpPr>
        <p:spPr>
          <a:xfrm>
            <a:off x="9533532" y="2697480"/>
            <a:ext cx="1878177" cy="685800"/>
          </a:xfrm>
          <a:prstGeom prst="rect">
            <a:avLst/>
          </a:prstGeom>
          <a:noFill/>
        </p:spPr>
        <p:txBody>
          <a:bodyPr wrap="square" anchor="t">
            <a:spAutoFit/>
          </a:bodyPr>
          <a:lstStyle/>
          <a:p>
            <a:pPr algn="l">
              <a:spcAft>
                <a:spcPts val="400"/>
              </a:spcAft>
            </a:pPr>
            <a:r>
              <a:rPr sz="1600" b="1">
                <a:solidFill>
                  <a:srgbClr val="1F6FEB"/>
                </a:solidFill>
                <a:latin typeface="Arial"/>
              </a:rPr>
              <a:t>Verify</a:t>
            </a:r>
          </a:p>
        </p:txBody>
      </p:sp>
      <p:sp>
        <p:nvSpPr>
          <p:cNvPr id="20" name="TextBox 19"/>
          <p:cNvSpPr txBox="1"/>
          <p:nvPr/>
        </p:nvSpPr>
        <p:spPr>
          <a:xfrm>
            <a:off x="9533532" y="3401568"/>
            <a:ext cx="1878177" cy="1737360"/>
          </a:xfrm>
          <a:prstGeom prst="rect">
            <a:avLst/>
          </a:prstGeom>
          <a:noFill/>
        </p:spPr>
        <p:txBody>
          <a:bodyPr wrap="square" anchor="t">
            <a:spAutoFit/>
          </a:bodyPr>
          <a:lstStyle/>
          <a:p>
            <a:pPr algn="l">
              <a:spcAft>
                <a:spcPts val="400"/>
              </a:spcAft>
            </a:pPr>
            <a:r>
              <a:rPr sz="1200" b="0">
                <a:solidFill>
                  <a:srgbClr val="161B26"/>
                </a:solidFill>
                <a:latin typeface="Arial"/>
              </a:rPr>
              <a:t>Audit truth, privacy, rights, accessibility, provenance and export before release.</a:t>
            </a:r>
          </a:p>
        </p:txBody>
      </p:sp>
      <p:sp>
        <p:nvSpPr>
          <p:cNvPr id="21" name="Rectangle 20"/>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Clarify the question, link the evidence, edit the visual hierarchy, audit the truth and release the right format.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Draw Insights</a:t>
            </a:r>
          </a:p>
          <a:p>
            <a:pPr algn="l">
              <a:spcAft>
                <a:spcPts val="300"/>
              </a:spcAft>
            </a:pPr>
            <a:r>
              <a:rPr sz="1300" b="0">
                <a:solidFill>
                  <a:srgbClr val="5B6372"/>
                </a:solidFill>
                <a:latin typeface="Arial"/>
              </a:rPr>
              <a:t>Converted visual patterns into contextualised, defensible recommendations.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in PowerPoint</a:t>
            </a:r>
          </a:p>
          <a:p>
            <a:pPr algn="l">
              <a:spcAft>
                <a:spcPts val="300"/>
              </a:spcAft>
            </a:pPr>
            <a:r>
              <a:rPr sz="1300" b="0">
                <a:solidFill>
                  <a:srgbClr val="5B6372"/>
                </a:solidFill>
                <a:latin typeface="Arial"/>
              </a:rPr>
              <a:t>Generated varied infographic directions with Microsoft 365 Copilot, then refined editable charts, labels and decisions.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 Effectiveness</a:t>
            </a:r>
          </a:p>
          <a:p>
            <a:pPr algn="l">
              <a:spcAft>
                <a:spcPts val="300"/>
              </a:spcAft>
            </a:pPr>
            <a:r>
              <a:rPr sz="1300" b="0">
                <a:solidFill>
                  <a:srgbClr val="5B6372"/>
                </a:solidFill>
                <a:latin typeface="Arial"/>
              </a:rPr>
              <a:t>Used peer evidence, resource criteria and governance to improve and invest.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Nine open-ended questions — 30 minutes,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Three progressive tasks — 30 minutes,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WA-SAQ then Practical Performance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move from approved sources to AI-assisted insights and infographic options, then deliver an accurate, editable and accountable PowerPoint master.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Create Powerpoint Infographics with AI  ·  TGS-2026064178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