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t>Ready Meals closes the revenue gap</a:t>
            </a:r>
          </a:p>
        </c:rich>
      </c:tx>
      <c:layout/>
      <c:overlay val="0"/>
    </c:title>
    <c:autoTitleDeleted val="0"/>
    <c:plotArea>
      <c:barChart>
        <c:barDir val="col"/>
        <c:grouping val="clustered"/>
        <c:ser>
          <c:idx val="0"/>
          <c:order val="0"/>
          <c:tx>
            <c:strRef>
              <c:f>Sheet1!$B$1</c:f>
              <c:strCache>
                <c:ptCount val="1"/>
                <c:pt idx="0">
                  <c:v>Jan–Jun revenue (SGD '000)</c:v>
                </c:pt>
              </c:strCache>
            </c:strRef>
          </c:tx>
          <c:cat>
            <c:strRef>
              <c:f>Sheet1!$A$2:$A$5</c:f>
              <c:strCache>
                <c:ptCount val="4"/>
                <c:pt idx="0">
                  <c:v>Beverages</c:v>
                </c:pt>
                <c:pt idx="1">
                  <c:v>Ready Meals</c:v>
                </c:pt>
                <c:pt idx="2">
                  <c:v>Snacks</c:v>
                </c:pt>
                <c:pt idx="3">
                  <c:v>Household</c:v>
                </c:pt>
              </c:strCache>
            </c:strRef>
          </c:cat>
          <c:val>
            <c:numRef>
              <c:f>Sheet1!$B$2:$B$5</c:f>
              <c:numCache>
                <c:formatCode>General</c:formatCode>
                <c:ptCount val="4"/>
                <c:pt idx="0">
                  <c:v>0.0</c:v>
                </c:pt>
                <c:pt idx="1">
                  <c:v>0.0</c:v>
                </c:pt>
                <c:pt idx="2">
                  <c:v>0.0</c:v>
                </c:pt>
                <c:pt idx="3">
                  <c:v>0.0</c:v>
                </c:pt>
              </c:numCache>
            </c:numRef>
          </c:val>
        </c:ser>
        <c:axId val="-2068027336"/>
        <c:axId val="-2113994440"/>
      </c:barChart>
      <c:catAx>
        <c:axId val="-2068027336"/>
        <c:scaling>
          <c:orientation val="minMax"/>
        </c:scaling>
        <c:delete val="0"/>
        <c:axPos val="b"/>
        <c:title>
          <c:tx>
            <c:rich>
              <a:bodyPr/>
              <a:lstStyle/>
              <a:p>
                <a:r>
                  <a:t>Category</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l"/>
        <c:majorGridlines/>
        <c:title>
          <c:tx>
            <c:rich>
              <a:bodyPr/>
              <a:lstStyle/>
              <a:p>
                <a:r>
                  <a:t>Revenue (SGD '000)</a:t>
                </a:r>
              </a:p>
            </c:rich>
          </c:tx>
          <c:layout/>
          <c:overlay val="0"/>
        </c:title>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05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Comparison Data Story with Copilot and PowerPoint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Excel + native PowerPoint chart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05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05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comparison data-story infographic about Create a Comparison Data Story with Copilot and PowerPoint.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Beverages</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Ready meals</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Snacks</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Household</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Metric</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marketing leadership team</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chart is native/editable, uses an appropriate form, retains source context and makes a proportionate product-promotion recommendation.</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05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Northstar's marketing team must choose one product family for the next promotion. The supplied workbook contains monthly revenue, units, margin and returns for four categories.</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Prompt an approved AI assistant to analyse the workbook and propose candidate insights. Reproduce the selected calculations in Excel, then create an editable PowerPoint chart with an explicit decision implication.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05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Data-to-Decision Chart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Question</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Define which products to promote and why.</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Prepare</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Ask AI to flag data types, missing values, duplicates and inconsistent periods.</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Choose</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Select metric and chart based on the relationship.</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Build</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Create or paste a native editable PowerPoint chart.</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Explain</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Write the action title, annotation and implication.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05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Beverages</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Highest revenue; stable margin</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Ready meals</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Fastest Q2 growth; above-floor margin</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Snacks</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High volume; lower margin</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Household</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Seasonal spike; higher returns</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Metric</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Revenue + growth + margin, not volume alone</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Action</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Test Ready Meals as the campaign hero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05 · WORKED POWERPOINT OUTPUT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Native Editable Chart Example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graphicFrame>
        <p:nvGraphicFramePr>
          <p:cNvPr id="8" name="Chart 7"/>
          <p:cNvGraphicFramePr>
            <a:graphicFrameLocks noGrp="1"/>
          </p:cNvGraphicFramePr>
          <p:nvPr/>
        </p:nvGraphicFramePr>
        <p:xfrm>
          <a:off x="777240" y="1737360"/>
          <a:ext cx="7406640" cy="4251960"/>
        </p:xfrm>
        <a:graphic>
          <a:graphicData uri="http://schemas.openxmlformats.org/drawingml/2006/chart">
            <c:chart xmlns:c="http://schemas.openxmlformats.org/drawingml/2006/chart" r:id="rId2"/>
          </a:graphicData>
        </a:graphic>
      </p:graphicFrame>
      <p:sp>
        <p:nvSpPr>
          <p:cNvPr id="9" name="TextBox 8"/>
          <p:cNvSpPr txBox="1"/>
          <p:nvPr/>
        </p:nvSpPr>
        <p:spPr>
          <a:xfrm>
            <a:off x="8485632" y="1874519"/>
            <a:ext cx="2834640" cy="502920"/>
          </a:xfrm>
          <a:prstGeom prst="rect">
            <a:avLst/>
          </a:prstGeom>
          <a:noFill/>
        </p:spPr>
        <p:txBody>
          <a:bodyPr wrap="square" anchor="t">
            <a:spAutoFit/>
          </a:bodyPr>
          <a:lstStyle/>
          <a:p>
            <a:pPr algn="l"/>
            <a:r>
              <a:rPr sz="1100" b="1">
                <a:solidFill>
                  <a:srgbClr val="10B981"/>
                </a:solidFill>
                <a:latin typeface="Arial"/>
              </a:rPr>
              <a:t>DECISION INSIGHT</a:t>
            </a:r>
          </a:p>
        </p:txBody>
      </p:sp>
      <p:sp>
        <p:nvSpPr>
          <p:cNvPr id="10" name="TextBox 9"/>
          <p:cNvSpPr txBox="1"/>
          <p:nvPr/>
        </p:nvSpPr>
        <p:spPr>
          <a:xfrm>
            <a:off x="8485632" y="2359152"/>
            <a:ext cx="2880360" cy="1188720"/>
          </a:xfrm>
          <a:prstGeom prst="rect">
            <a:avLst/>
          </a:prstGeom>
          <a:noFill/>
        </p:spPr>
        <p:txBody>
          <a:bodyPr wrap="square" anchor="t">
            <a:spAutoFit/>
          </a:bodyPr>
          <a:lstStyle/>
          <a:p>
            <a:pPr algn="l"/>
            <a:r>
              <a:rPr sz="1500" b="1">
                <a:solidFill>
                  <a:srgbClr val="161B26"/>
                </a:solidFill>
                <a:latin typeface="Arial"/>
              </a:rPr>
              <a:t>Ready Meals is the strongest growth story; retain category context and verify seasonality before reallocating promotion spend.</a:t>
            </a:r>
          </a:p>
        </p:txBody>
      </p:sp>
      <p:sp>
        <p:nvSpPr>
          <p:cNvPr id="11" name="TextBox 10"/>
          <p:cNvSpPr txBox="1"/>
          <p:nvPr/>
        </p:nvSpPr>
        <p:spPr>
          <a:xfrm>
            <a:off x="8485632" y="3858768"/>
            <a:ext cx="2880360" cy="1097280"/>
          </a:xfrm>
          <a:prstGeom prst="rect">
            <a:avLst/>
          </a:prstGeom>
          <a:noFill/>
        </p:spPr>
        <p:txBody>
          <a:bodyPr wrap="square" anchor="t">
            <a:spAutoFit/>
          </a:bodyPr>
          <a:lstStyle/>
          <a:p>
            <a:pPr algn="l"/>
            <a:r>
              <a:rPr sz="1000" b="0">
                <a:solidFill>
                  <a:srgbClr val="5B6372"/>
                </a:solidFill>
                <a:latin typeface="Arial"/>
              </a:rPr>
              <a:t>Synthetic Northstar data · Jan–Jun 2026 · native chart remains editable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05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 Copilot analysis log, verified formula workbook, comparison infographic and annotated decision slide</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Workbook has zero formula errors</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Chart type matches the relationship</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Action title states a defensible insight</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One accent highlights the decision</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Source, timeframe, unit and limitation are visible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