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rial"/>
              </a:rPr>
              <a:t>ACTIVITY 05 · START FILE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rial"/>
              </a:rPr>
              <a:t>Create a Comparison Data Story with Copilot and PowerPoint</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rial"/>
              </a:rPr>
              <a:t>Northstar Retail Singapore · synthetic practice scenario</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rial"/>
              </a:rPr>
              <a:t>TOOL WORKFLOW</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rial"/>
              </a:rPr>
              <a:t>Microsoft 365 Copilot + Excel + native PowerPoint chart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05 · FULL COPY-READY TEXT IN PROMPTS.MD AND AI PROMPT LAB</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AI Prompt Starters</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73152" cy="18470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975104"/>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38528"/>
            <a:ext cx="4178808" cy="329184"/>
          </a:xfrm>
          <a:prstGeom prst="rect">
            <a:avLst/>
          </a:prstGeom>
          <a:noFill/>
        </p:spPr>
        <p:txBody>
          <a:bodyPr wrap="square" anchor="t">
            <a:spAutoFit/>
          </a:bodyPr>
          <a:lstStyle/>
          <a:p>
            <a:pPr algn="l"/>
            <a:r>
              <a:rPr sz="1400" b="1">
                <a:solidFill>
                  <a:srgbClr val="1F6FEB"/>
                </a:solidFill>
                <a:latin typeface="Arial"/>
              </a:rPr>
              <a:t>Analyse the evidence</a:t>
            </a:r>
          </a:p>
        </p:txBody>
      </p:sp>
      <p:sp>
        <p:nvSpPr>
          <p:cNvPr id="13" name="TextBox 12"/>
          <p:cNvSpPr txBox="1"/>
          <p:nvPr/>
        </p:nvSpPr>
        <p:spPr>
          <a:xfrm>
            <a:off x="1536192" y="2322576"/>
            <a:ext cx="4178808" cy="1133856"/>
          </a:xfrm>
          <a:prstGeom prst="rect">
            <a:avLst/>
          </a:prstGeom>
          <a:noFill/>
        </p:spPr>
        <p:txBody>
          <a:bodyPr wrap="square" anchor="t">
            <a:spAutoFit/>
          </a:bodyPr>
          <a:lstStyle/>
          <a:p>
            <a:pPr algn="l"/>
            <a:r>
              <a:rPr sz="1150" b="0">
                <a:solidFill>
                  <a:srgbClr val="161B26"/>
                </a:solidFill>
                <a:latin typeface="Arial"/>
              </a:rPr>
              <a:t>Using only the attached approved source, identify the three strongest patterns, the denominator for each metric, one limitation and one proportionate business action. Cite the source field or row for every number. Do not invent missing…</a:t>
            </a:r>
          </a:p>
        </p:txBody>
      </p:sp>
      <p:sp>
        <p:nvSpPr>
          <p:cNvPr id="14" name="Rounded Rectangle 13"/>
          <p:cNvSpPr/>
          <p:nvPr/>
        </p:nvSpPr>
        <p:spPr>
          <a:xfrm>
            <a:off x="6144768"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755648"/>
            <a:ext cx="73152" cy="184708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975104"/>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984248"/>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6949440" y="1938528"/>
            <a:ext cx="4178808" cy="329184"/>
          </a:xfrm>
          <a:prstGeom prst="rect">
            <a:avLst/>
          </a:prstGeom>
          <a:noFill/>
        </p:spPr>
        <p:txBody>
          <a:bodyPr wrap="square" anchor="t">
            <a:spAutoFit/>
          </a:bodyPr>
          <a:lstStyle/>
          <a:p>
            <a:pPr algn="l"/>
            <a:r>
              <a:rPr sz="1400" b="1">
                <a:solidFill>
                  <a:srgbClr val="10B981"/>
                </a:solidFill>
                <a:latin typeface="Arial"/>
              </a:rPr>
              <a:t>Create the infographic</a:t>
            </a:r>
          </a:p>
        </p:txBody>
      </p:sp>
      <p:sp>
        <p:nvSpPr>
          <p:cNvPr id="19" name="TextBox 18"/>
          <p:cNvSpPr txBox="1"/>
          <p:nvPr/>
        </p:nvSpPr>
        <p:spPr>
          <a:xfrm>
            <a:off x="6949440" y="2322576"/>
            <a:ext cx="4178808" cy="1133856"/>
          </a:xfrm>
          <a:prstGeom prst="rect">
            <a:avLst/>
          </a:prstGeom>
          <a:noFill/>
        </p:spPr>
        <p:txBody>
          <a:bodyPr wrap="square" anchor="t">
            <a:spAutoFit/>
          </a:bodyPr>
          <a:lstStyle/>
          <a:p>
            <a:pPr algn="l"/>
            <a:r>
              <a:rPr sz="1150" b="0">
                <a:solidFill>
                  <a:srgbClr val="161B26"/>
                </a:solidFill>
                <a:latin typeface="Arial"/>
              </a:rPr>
              <a:t>Create a one-page [TYPE] infographic about [TOPIC]. Sections: 1. [SECTION ONE] 2. [SECTION TWO] 3. [SECTION THREE] 4. [SECTION FOUR] 5. [SECTION FIVE]. Audience: [AUDIENCE]. Decision: [DECISION]. Style: professional, high contrast, con…</a:t>
            </a:r>
          </a:p>
        </p:txBody>
      </p:sp>
      <p:sp>
        <p:nvSpPr>
          <p:cNvPr id="20" name="Rounded Rectangle 19"/>
          <p:cNvSpPr/>
          <p:nvPr/>
        </p:nvSpPr>
        <p:spPr>
          <a:xfrm>
            <a:off x="731520"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77056"/>
            <a:ext cx="73152" cy="184708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 y="4096512"/>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105656"/>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1536192" y="4059936"/>
            <a:ext cx="4178808" cy="329184"/>
          </a:xfrm>
          <a:prstGeom prst="rect">
            <a:avLst/>
          </a:prstGeom>
          <a:noFill/>
        </p:spPr>
        <p:txBody>
          <a:bodyPr wrap="square" anchor="t">
            <a:spAutoFit/>
          </a:bodyPr>
          <a:lstStyle/>
          <a:p>
            <a:pPr algn="l"/>
            <a:r>
              <a:rPr sz="1400" b="1">
                <a:solidFill>
                  <a:srgbClr val="7C3AED"/>
                </a:solidFill>
                <a:latin typeface="Arial"/>
              </a:rPr>
              <a:t>Refine in PowerPoint</a:t>
            </a:r>
          </a:p>
        </p:txBody>
      </p:sp>
      <p:sp>
        <p:nvSpPr>
          <p:cNvPr id="25" name="TextBox 24"/>
          <p:cNvSpPr txBox="1"/>
          <p:nvPr/>
        </p:nvSpPr>
        <p:spPr>
          <a:xfrm>
            <a:off x="1536192" y="4443984"/>
            <a:ext cx="4178808" cy="1133856"/>
          </a:xfrm>
          <a:prstGeom prst="rect">
            <a:avLst/>
          </a:prstGeom>
          <a:noFill/>
        </p:spPr>
        <p:txBody>
          <a:bodyPr wrap="square" anchor="t">
            <a:spAutoFit/>
          </a:bodyPr>
          <a:lstStyle/>
          <a:p>
            <a:pPr algn="l"/>
            <a:r>
              <a:rPr sz="1150" b="0">
                <a:solidFill>
                  <a:srgbClr val="161B26"/>
                </a:solidFill>
                <a:latin typeface="Arial"/>
              </a:rPr>
              <a:t>Turn the selected infographic direction into one editable PowerPoint slide. Keep the action title, labels, numbers, chart or process, source footer and accessibility notes editable. Remove decoration that does not support the message. …</a:t>
            </a:r>
          </a:p>
        </p:txBody>
      </p:sp>
      <p:sp>
        <p:nvSpPr>
          <p:cNvPr id="26" name="Rounded Rectangle 25"/>
          <p:cNvSpPr/>
          <p:nvPr/>
        </p:nvSpPr>
        <p:spPr>
          <a:xfrm>
            <a:off x="6144768"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3877056"/>
            <a:ext cx="73152" cy="184708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4096512"/>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105656"/>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6949440" y="4059936"/>
            <a:ext cx="4178808" cy="329184"/>
          </a:xfrm>
          <a:prstGeom prst="rect">
            <a:avLst/>
          </a:prstGeom>
          <a:noFill/>
        </p:spPr>
        <p:txBody>
          <a:bodyPr wrap="square" anchor="t">
            <a:spAutoFit/>
          </a:bodyPr>
          <a:lstStyle/>
          <a:p>
            <a:pPr algn="l"/>
            <a:r>
              <a:rPr sz="1400" b="1">
                <a:solidFill>
                  <a:srgbClr val="F59E0B"/>
                </a:solidFill>
                <a:latin typeface="Arial"/>
              </a:rPr>
              <a:t>Quality review</a:t>
            </a:r>
          </a:p>
        </p:txBody>
      </p:sp>
      <p:sp>
        <p:nvSpPr>
          <p:cNvPr id="31" name="TextBox 30"/>
          <p:cNvSpPr txBox="1"/>
          <p:nvPr/>
        </p:nvSpPr>
        <p:spPr>
          <a:xfrm>
            <a:off x="6949440" y="4443984"/>
            <a:ext cx="4178808" cy="1133856"/>
          </a:xfrm>
          <a:prstGeom prst="rect">
            <a:avLst/>
          </a:prstGeom>
          <a:noFill/>
        </p:spPr>
        <p:txBody>
          <a:bodyPr wrap="square" anchor="t">
            <a:spAutoFit/>
          </a:bodyPr>
          <a:lstStyle/>
          <a:p>
            <a:pPr algn="l"/>
            <a:r>
              <a:rPr sz="1150" b="0">
                <a:solidFill>
                  <a:srgbClr val="161B26"/>
                </a:solidFill>
                <a:latin typeface="Arial"/>
              </a:rPr>
              <a:t>Review this infographic against message clarity, data accuracy, visual hierarchy, audience fit, accessibility, editability and business goal. List each issue with evidence, its impact, the proposed change and a pass/fail acceptance 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05 · COPY, ADAPT AND VERIFY</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Structured Microsoft 365 Copilot Prompt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700784"/>
            <a:ext cx="10698480" cy="437083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384048" cy="246888"/>
          </a:xfrm>
          <a:prstGeom prst="rect">
            <a:avLst/>
          </a:prstGeom>
          <a:noFill/>
        </p:spPr>
        <p:txBody>
          <a:bodyPr wrap="square" anchor="t">
            <a:spAutoFit/>
          </a:bodyPr>
          <a:lstStyle/>
          <a:p>
            <a:pPr algn="r"/>
            <a:r>
              <a:rPr sz="900" b="0">
                <a:solidFill>
                  <a:srgbClr val="5B6372"/>
                </a:solidFill>
                <a:latin typeface="Arial"/>
              </a:rPr>
              <a:t>1</a:t>
            </a:r>
          </a:p>
        </p:txBody>
      </p:sp>
      <p:sp>
        <p:nvSpPr>
          <p:cNvPr id="10" name="TextBox 9"/>
          <p:cNvSpPr txBox="1"/>
          <p:nvPr/>
        </p:nvSpPr>
        <p:spPr>
          <a:xfrm>
            <a:off x="1554480" y="1874519"/>
            <a:ext cx="9418320" cy="256032"/>
          </a:xfrm>
          <a:prstGeom prst="rect">
            <a:avLst/>
          </a:prstGeom>
          <a:noFill/>
        </p:spPr>
        <p:txBody>
          <a:bodyPr wrap="square" anchor="t">
            <a:spAutoFit/>
          </a:bodyPr>
          <a:lstStyle/>
          <a:p>
            <a:pPr algn="l"/>
            <a:r>
              <a:rPr sz="1050" b="0">
                <a:solidFill>
                  <a:srgbClr val="161B26"/>
                </a:solidFill>
                <a:latin typeface="Arial"/>
              </a:rPr>
              <a:t>Create a one-page comparison data-story infographic about Create a Comparison Data Story with Copilot and PowerPoint.</a:t>
            </a:r>
          </a:p>
        </p:txBody>
      </p:sp>
      <p:sp>
        <p:nvSpPr>
          <p:cNvPr id="11" name="TextBox 10"/>
          <p:cNvSpPr txBox="1"/>
          <p:nvPr/>
        </p:nvSpPr>
        <p:spPr>
          <a:xfrm>
            <a:off x="960120" y="2157984"/>
            <a:ext cx="384048" cy="246888"/>
          </a:xfrm>
          <a:prstGeom prst="rect">
            <a:avLst/>
          </a:prstGeom>
          <a:noFill/>
        </p:spPr>
        <p:txBody>
          <a:bodyPr wrap="square" anchor="t">
            <a:spAutoFit/>
          </a:bodyPr>
          <a:lstStyle/>
          <a:p>
            <a:pPr algn="r"/>
            <a:r>
              <a:rPr sz="900" b="0">
                <a:solidFill>
                  <a:srgbClr val="5B6372"/>
                </a:solidFill>
                <a:latin typeface="Arial"/>
              </a:rPr>
              <a:t>2</a:t>
            </a:r>
          </a:p>
        </p:txBody>
      </p:sp>
      <p:sp>
        <p:nvSpPr>
          <p:cNvPr id="12" name="TextBox 11"/>
          <p:cNvSpPr txBox="1"/>
          <p:nvPr/>
        </p:nvSpPr>
        <p:spPr>
          <a:xfrm>
            <a:off x="1554480" y="2157984"/>
            <a:ext cx="9418320" cy="256032"/>
          </a:xfrm>
          <a:prstGeom prst="rect">
            <a:avLst/>
          </a:prstGeom>
          <a:noFill/>
        </p:spPr>
        <p:txBody>
          <a:bodyPr wrap="square" anchor="t">
            <a:spAutoFit/>
          </a:bodyPr>
          <a:lstStyle/>
          <a:p>
            <a:pPr algn="l"/>
            <a:r>
              <a:rPr sz="1050" b="1">
                <a:solidFill>
                  <a:srgbClr val="161B26"/>
                </a:solidFill>
                <a:latin typeface="Arial"/>
              </a:rPr>
              <a:t>Sections:</a:t>
            </a:r>
          </a:p>
        </p:txBody>
      </p:sp>
      <p:sp>
        <p:nvSpPr>
          <p:cNvPr id="13" name="TextBox 12"/>
          <p:cNvSpPr txBox="1"/>
          <p:nvPr/>
        </p:nvSpPr>
        <p:spPr>
          <a:xfrm>
            <a:off x="960120" y="2441448"/>
            <a:ext cx="384048" cy="246888"/>
          </a:xfrm>
          <a:prstGeom prst="rect">
            <a:avLst/>
          </a:prstGeom>
          <a:noFill/>
        </p:spPr>
        <p:txBody>
          <a:bodyPr wrap="square" anchor="t">
            <a:spAutoFit/>
          </a:bodyPr>
          <a:lstStyle/>
          <a:p>
            <a:pPr algn="r"/>
            <a:r>
              <a:rPr sz="900" b="0">
                <a:solidFill>
                  <a:srgbClr val="5B6372"/>
                </a:solidFill>
                <a:latin typeface="Arial"/>
              </a:rPr>
              <a:t>3</a:t>
            </a:r>
          </a:p>
        </p:txBody>
      </p:sp>
      <p:sp>
        <p:nvSpPr>
          <p:cNvPr id="14" name="TextBox 13"/>
          <p:cNvSpPr txBox="1"/>
          <p:nvPr/>
        </p:nvSpPr>
        <p:spPr>
          <a:xfrm>
            <a:off x="1554480" y="2441448"/>
            <a:ext cx="9418320" cy="256032"/>
          </a:xfrm>
          <a:prstGeom prst="rect">
            <a:avLst/>
          </a:prstGeom>
          <a:noFill/>
        </p:spPr>
        <p:txBody>
          <a:bodyPr wrap="square" anchor="t">
            <a:spAutoFit/>
          </a:bodyPr>
          <a:lstStyle/>
          <a:p>
            <a:pPr algn="l"/>
            <a:r>
              <a:rPr sz="1050" b="0">
                <a:solidFill>
                  <a:srgbClr val="161B26"/>
                </a:solidFill>
                <a:latin typeface="Arial"/>
              </a:rPr>
              <a:t>1. Beverages</a:t>
            </a:r>
          </a:p>
        </p:txBody>
      </p:sp>
      <p:sp>
        <p:nvSpPr>
          <p:cNvPr id="15" name="TextBox 14"/>
          <p:cNvSpPr txBox="1"/>
          <p:nvPr/>
        </p:nvSpPr>
        <p:spPr>
          <a:xfrm>
            <a:off x="960120" y="2724911"/>
            <a:ext cx="384048" cy="246888"/>
          </a:xfrm>
          <a:prstGeom prst="rect">
            <a:avLst/>
          </a:prstGeom>
          <a:noFill/>
        </p:spPr>
        <p:txBody>
          <a:bodyPr wrap="square" anchor="t">
            <a:spAutoFit/>
          </a:bodyPr>
          <a:lstStyle/>
          <a:p>
            <a:pPr algn="r"/>
            <a:r>
              <a:rPr sz="900" b="0">
                <a:solidFill>
                  <a:srgbClr val="5B6372"/>
                </a:solidFill>
                <a:latin typeface="Arial"/>
              </a:rPr>
              <a:t>4</a:t>
            </a:r>
          </a:p>
        </p:txBody>
      </p:sp>
      <p:sp>
        <p:nvSpPr>
          <p:cNvPr id="16" name="TextBox 15"/>
          <p:cNvSpPr txBox="1"/>
          <p:nvPr/>
        </p:nvSpPr>
        <p:spPr>
          <a:xfrm>
            <a:off x="1554480" y="2724911"/>
            <a:ext cx="9418320" cy="256032"/>
          </a:xfrm>
          <a:prstGeom prst="rect">
            <a:avLst/>
          </a:prstGeom>
          <a:noFill/>
        </p:spPr>
        <p:txBody>
          <a:bodyPr wrap="square" anchor="t">
            <a:spAutoFit/>
          </a:bodyPr>
          <a:lstStyle/>
          <a:p>
            <a:pPr algn="l"/>
            <a:r>
              <a:rPr sz="1050" b="0">
                <a:solidFill>
                  <a:srgbClr val="161B26"/>
                </a:solidFill>
                <a:latin typeface="Arial"/>
              </a:rPr>
              <a:t>2. Ready meals</a:t>
            </a:r>
          </a:p>
        </p:txBody>
      </p:sp>
      <p:sp>
        <p:nvSpPr>
          <p:cNvPr id="17" name="TextBox 16"/>
          <p:cNvSpPr txBox="1"/>
          <p:nvPr/>
        </p:nvSpPr>
        <p:spPr>
          <a:xfrm>
            <a:off x="960120" y="3008376"/>
            <a:ext cx="384048" cy="246888"/>
          </a:xfrm>
          <a:prstGeom prst="rect">
            <a:avLst/>
          </a:prstGeom>
          <a:noFill/>
        </p:spPr>
        <p:txBody>
          <a:bodyPr wrap="square" anchor="t">
            <a:spAutoFit/>
          </a:bodyPr>
          <a:lstStyle/>
          <a:p>
            <a:pPr algn="r"/>
            <a:r>
              <a:rPr sz="900" b="0">
                <a:solidFill>
                  <a:srgbClr val="5B6372"/>
                </a:solidFill>
                <a:latin typeface="Arial"/>
              </a:rPr>
              <a:t>5</a:t>
            </a:r>
          </a:p>
        </p:txBody>
      </p:sp>
      <p:sp>
        <p:nvSpPr>
          <p:cNvPr id="18" name="TextBox 17"/>
          <p:cNvSpPr txBox="1"/>
          <p:nvPr/>
        </p:nvSpPr>
        <p:spPr>
          <a:xfrm>
            <a:off x="1554480" y="3008376"/>
            <a:ext cx="9418320" cy="256032"/>
          </a:xfrm>
          <a:prstGeom prst="rect">
            <a:avLst/>
          </a:prstGeom>
          <a:noFill/>
        </p:spPr>
        <p:txBody>
          <a:bodyPr wrap="square" anchor="t">
            <a:spAutoFit/>
          </a:bodyPr>
          <a:lstStyle/>
          <a:p>
            <a:pPr algn="l"/>
            <a:r>
              <a:rPr sz="1050" b="0">
                <a:solidFill>
                  <a:srgbClr val="161B26"/>
                </a:solidFill>
                <a:latin typeface="Arial"/>
              </a:rPr>
              <a:t>3. Snacks</a:t>
            </a:r>
          </a:p>
        </p:txBody>
      </p:sp>
      <p:sp>
        <p:nvSpPr>
          <p:cNvPr id="19" name="TextBox 18"/>
          <p:cNvSpPr txBox="1"/>
          <p:nvPr/>
        </p:nvSpPr>
        <p:spPr>
          <a:xfrm>
            <a:off x="960120" y="3291839"/>
            <a:ext cx="384048" cy="246888"/>
          </a:xfrm>
          <a:prstGeom prst="rect">
            <a:avLst/>
          </a:prstGeom>
          <a:noFill/>
        </p:spPr>
        <p:txBody>
          <a:bodyPr wrap="square" anchor="t">
            <a:spAutoFit/>
          </a:bodyPr>
          <a:lstStyle/>
          <a:p>
            <a:pPr algn="r"/>
            <a:r>
              <a:rPr sz="900" b="0">
                <a:solidFill>
                  <a:srgbClr val="5B6372"/>
                </a:solidFill>
                <a:latin typeface="Arial"/>
              </a:rPr>
              <a:t>6</a:t>
            </a:r>
          </a:p>
        </p:txBody>
      </p:sp>
      <p:sp>
        <p:nvSpPr>
          <p:cNvPr id="20" name="TextBox 19"/>
          <p:cNvSpPr txBox="1"/>
          <p:nvPr/>
        </p:nvSpPr>
        <p:spPr>
          <a:xfrm>
            <a:off x="1554480" y="3291839"/>
            <a:ext cx="9418320" cy="256032"/>
          </a:xfrm>
          <a:prstGeom prst="rect">
            <a:avLst/>
          </a:prstGeom>
          <a:noFill/>
        </p:spPr>
        <p:txBody>
          <a:bodyPr wrap="square" anchor="t">
            <a:spAutoFit/>
          </a:bodyPr>
          <a:lstStyle/>
          <a:p>
            <a:pPr algn="l"/>
            <a:r>
              <a:rPr sz="1050" b="0">
                <a:solidFill>
                  <a:srgbClr val="161B26"/>
                </a:solidFill>
                <a:latin typeface="Arial"/>
              </a:rPr>
              <a:t>4. Household</a:t>
            </a:r>
          </a:p>
        </p:txBody>
      </p:sp>
      <p:sp>
        <p:nvSpPr>
          <p:cNvPr id="21" name="TextBox 20"/>
          <p:cNvSpPr txBox="1"/>
          <p:nvPr/>
        </p:nvSpPr>
        <p:spPr>
          <a:xfrm>
            <a:off x="960120" y="3575303"/>
            <a:ext cx="384048" cy="246888"/>
          </a:xfrm>
          <a:prstGeom prst="rect">
            <a:avLst/>
          </a:prstGeom>
          <a:noFill/>
        </p:spPr>
        <p:txBody>
          <a:bodyPr wrap="square" anchor="t">
            <a:spAutoFit/>
          </a:bodyPr>
          <a:lstStyle/>
          <a:p>
            <a:pPr algn="r"/>
            <a:r>
              <a:rPr sz="900" b="0">
                <a:solidFill>
                  <a:srgbClr val="5B6372"/>
                </a:solidFill>
                <a:latin typeface="Arial"/>
              </a:rPr>
              <a:t>7</a:t>
            </a:r>
          </a:p>
        </p:txBody>
      </p:sp>
      <p:sp>
        <p:nvSpPr>
          <p:cNvPr id="22" name="TextBox 21"/>
          <p:cNvSpPr txBox="1"/>
          <p:nvPr/>
        </p:nvSpPr>
        <p:spPr>
          <a:xfrm>
            <a:off x="1554480" y="3575303"/>
            <a:ext cx="9418320" cy="256032"/>
          </a:xfrm>
          <a:prstGeom prst="rect">
            <a:avLst/>
          </a:prstGeom>
          <a:noFill/>
        </p:spPr>
        <p:txBody>
          <a:bodyPr wrap="square" anchor="t">
            <a:spAutoFit/>
          </a:bodyPr>
          <a:lstStyle/>
          <a:p>
            <a:pPr algn="l"/>
            <a:r>
              <a:rPr sz="1050" b="0">
                <a:solidFill>
                  <a:srgbClr val="161B26"/>
                </a:solidFill>
                <a:latin typeface="Arial"/>
              </a:rPr>
              <a:t>5. Metric</a:t>
            </a:r>
          </a:p>
        </p:txBody>
      </p:sp>
      <p:sp>
        <p:nvSpPr>
          <p:cNvPr id="23" name="TextBox 22"/>
          <p:cNvSpPr txBox="1"/>
          <p:nvPr/>
        </p:nvSpPr>
        <p:spPr>
          <a:xfrm>
            <a:off x="960120" y="3858768"/>
            <a:ext cx="384048" cy="246888"/>
          </a:xfrm>
          <a:prstGeom prst="rect">
            <a:avLst/>
          </a:prstGeom>
          <a:noFill/>
        </p:spPr>
        <p:txBody>
          <a:bodyPr wrap="square" anchor="t">
            <a:spAutoFit/>
          </a:bodyPr>
          <a:lstStyle/>
          <a:p>
            <a:pPr algn="r"/>
            <a:r>
              <a:rPr sz="900" b="0">
                <a:solidFill>
                  <a:srgbClr val="5B6372"/>
                </a:solidFill>
                <a:latin typeface="Arial"/>
              </a:rPr>
              <a:t>8</a:t>
            </a:r>
          </a:p>
        </p:txBody>
      </p:sp>
      <p:sp>
        <p:nvSpPr>
          <p:cNvPr id="24" name="TextBox 23"/>
          <p:cNvSpPr txBox="1"/>
          <p:nvPr/>
        </p:nvSpPr>
        <p:spPr>
          <a:xfrm>
            <a:off x="1554480" y="3858768"/>
            <a:ext cx="9418320" cy="256032"/>
          </a:xfrm>
          <a:prstGeom prst="rect">
            <a:avLst/>
          </a:prstGeom>
          <a:noFill/>
        </p:spPr>
        <p:txBody>
          <a:bodyPr wrap="square" anchor="t">
            <a:spAutoFit/>
          </a:bodyPr>
          <a:lstStyle/>
          <a:p>
            <a:pPr algn="l"/>
            <a:r>
              <a:rPr sz="1050" b="0">
                <a:solidFill>
                  <a:srgbClr val="7C3AED"/>
                </a:solidFill>
                <a:latin typeface="Arial"/>
              </a:rPr>
              <a:t>Audience: marketing leadership team</a:t>
            </a:r>
          </a:p>
        </p:txBody>
      </p:sp>
      <p:sp>
        <p:nvSpPr>
          <p:cNvPr id="25" name="TextBox 24"/>
          <p:cNvSpPr txBox="1"/>
          <p:nvPr/>
        </p:nvSpPr>
        <p:spPr>
          <a:xfrm>
            <a:off x="960120" y="4142231"/>
            <a:ext cx="384048" cy="246888"/>
          </a:xfrm>
          <a:prstGeom prst="rect">
            <a:avLst/>
          </a:prstGeom>
          <a:noFill/>
        </p:spPr>
        <p:txBody>
          <a:bodyPr wrap="square" anchor="t">
            <a:spAutoFit/>
          </a:bodyPr>
          <a:lstStyle/>
          <a:p>
            <a:pPr algn="r"/>
            <a:r>
              <a:rPr sz="900" b="0">
                <a:solidFill>
                  <a:srgbClr val="5B6372"/>
                </a:solidFill>
                <a:latin typeface="Arial"/>
              </a:rPr>
              <a:t>9</a:t>
            </a:r>
          </a:p>
        </p:txBody>
      </p:sp>
      <p:sp>
        <p:nvSpPr>
          <p:cNvPr id="26" name="TextBox 25"/>
          <p:cNvSpPr txBox="1"/>
          <p:nvPr/>
        </p:nvSpPr>
        <p:spPr>
          <a:xfrm>
            <a:off x="1554480" y="4142231"/>
            <a:ext cx="9418320" cy="256032"/>
          </a:xfrm>
          <a:prstGeom prst="rect">
            <a:avLst/>
          </a:prstGeom>
          <a:noFill/>
        </p:spPr>
        <p:txBody>
          <a:bodyPr wrap="square" anchor="t">
            <a:spAutoFit/>
          </a:bodyPr>
          <a:lstStyle/>
          <a:p>
            <a:pPr algn="l"/>
            <a:r>
              <a:rPr sz="1050" b="0">
                <a:solidFill>
                  <a:srgbClr val="7C3AED"/>
                </a:solidFill>
                <a:latin typeface="Arial"/>
              </a:rPr>
              <a:t>Decision: The chart is native/editable, uses an appropriate form, retains source context and makes a proportionate product-promotion recommendation.</a:t>
            </a:r>
          </a:p>
        </p:txBody>
      </p:sp>
      <p:sp>
        <p:nvSpPr>
          <p:cNvPr id="27" name="TextBox 26"/>
          <p:cNvSpPr txBox="1"/>
          <p:nvPr/>
        </p:nvSpPr>
        <p:spPr>
          <a:xfrm>
            <a:off x="960120" y="4425696"/>
            <a:ext cx="384048" cy="246888"/>
          </a:xfrm>
          <a:prstGeom prst="rect">
            <a:avLst/>
          </a:prstGeom>
          <a:noFill/>
        </p:spPr>
        <p:txBody>
          <a:bodyPr wrap="square" anchor="t">
            <a:spAutoFit/>
          </a:bodyPr>
          <a:lstStyle/>
          <a:p>
            <a:pPr algn="r"/>
            <a:r>
              <a:rPr sz="900" b="0">
                <a:solidFill>
                  <a:srgbClr val="5B6372"/>
                </a:solidFill>
                <a:latin typeface="Arial"/>
              </a:rPr>
              <a:t>10</a:t>
            </a:r>
          </a:p>
        </p:txBody>
      </p:sp>
      <p:sp>
        <p:nvSpPr>
          <p:cNvPr id="28" name="TextBox 27"/>
          <p:cNvSpPr txBox="1"/>
          <p:nvPr/>
        </p:nvSpPr>
        <p:spPr>
          <a:xfrm>
            <a:off x="1554480" y="4425696"/>
            <a:ext cx="9418320" cy="256032"/>
          </a:xfrm>
          <a:prstGeom prst="rect">
            <a:avLst/>
          </a:prstGeom>
          <a:noFill/>
        </p:spPr>
        <p:txBody>
          <a:bodyPr wrap="square" anchor="t">
            <a:spAutoFit/>
          </a:bodyPr>
          <a:lstStyle/>
          <a:p>
            <a:pPr algn="l"/>
            <a:r>
              <a:rPr sz="1050" b="0">
                <a:solidFill>
                  <a:srgbClr val="7C3AED"/>
                </a:solidFill>
                <a:latin typeface="Arial"/>
              </a:rPr>
              <a:t>Style: professional, concise, high contrast and accessible</a:t>
            </a:r>
          </a:p>
        </p:txBody>
      </p:sp>
      <p:sp>
        <p:nvSpPr>
          <p:cNvPr id="29" name="TextBox 28"/>
          <p:cNvSpPr txBox="1"/>
          <p:nvPr/>
        </p:nvSpPr>
        <p:spPr>
          <a:xfrm>
            <a:off x="960120" y="4709160"/>
            <a:ext cx="384048" cy="246888"/>
          </a:xfrm>
          <a:prstGeom prst="rect">
            <a:avLst/>
          </a:prstGeom>
          <a:noFill/>
        </p:spPr>
        <p:txBody>
          <a:bodyPr wrap="square" anchor="t">
            <a:spAutoFit/>
          </a:bodyPr>
          <a:lstStyle/>
          <a:p>
            <a:pPr algn="r"/>
            <a:r>
              <a:rPr sz="900" b="0">
                <a:solidFill>
                  <a:srgbClr val="5B6372"/>
                </a:solidFill>
                <a:latin typeface="Arial"/>
              </a:rPr>
              <a:t>11</a:t>
            </a:r>
          </a:p>
        </p:txBody>
      </p:sp>
      <p:sp>
        <p:nvSpPr>
          <p:cNvPr id="30" name="TextBox 29"/>
          <p:cNvSpPr txBox="1"/>
          <p:nvPr/>
        </p:nvSpPr>
        <p:spPr>
          <a:xfrm>
            <a:off x="1554480" y="4709160"/>
            <a:ext cx="9418320" cy="256032"/>
          </a:xfrm>
          <a:prstGeom prst="rect">
            <a:avLst/>
          </a:prstGeom>
          <a:noFill/>
        </p:spPr>
        <p:txBody>
          <a:bodyPr wrap="square" anchor="t">
            <a:spAutoFit/>
          </a:bodyPr>
          <a:lstStyle/>
          <a:p>
            <a:pPr algn="l"/>
            <a:r>
              <a:rPr sz="1050" b="0">
                <a:solidFill>
                  <a:srgbClr val="7C3AED"/>
                </a:solidFill>
                <a:latin typeface="Arial"/>
              </a:rPr>
              <a:t>Format: Wide for PowerPoint unless the brief requires Portrait</a:t>
            </a:r>
          </a:p>
        </p:txBody>
      </p:sp>
      <p:sp>
        <p:nvSpPr>
          <p:cNvPr id="31" name="TextBox 30"/>
          <p:cNvSpPr txBox="1"/>
          <p:nvPr/>
        </p:nvSpPr>
        <p:spPr>
          <a:xfrm>
            <a:off x="960120" y="4992624"/>
            <a:ext cx="384048" cy="246888"/>
          </a:xfrm>
          <a:prstGeom prst="rect">
            <a:avLst/>
          </a:prstGeom>
          <a:noFill/>
        </p:spPr>
        <p:txBody>
          <a:bodyPr wrap="square" anchor="t">
            <a:spAutoFit/>
          </a:bodyPr>
          <a:lstStyle/>
          <a:p>
            <a:pPr algn="r"/>
            <a:r>
              <a:rPr sz="900" b="0">
                <a:solidFill>
                  <a:srgbClr val="5B6372"/>
                </a:solidFill>
                <a:latin typeface="Arial"/>
              </a:rPr>
              <a:t>12</a:t>
            </a:r>
          </a:p>
        </p:txBody>
      </p:sp>
      <p:sp>
        <p:nvSpPr>
          <p:cNvPr id="32" name="TextBox 31"/>
          <p:cNvSpPr txBox="1"/>
          <p:nvPr/>
        </p:nvSpPr>
        <p:spPr>
          <a:xfrm>
            <a:off x="1554480" y="4992624"/>
            <a:ext cx="9418320" cy="256032"/>
          </a:xfrm>
          <a:prstGeom prst="rect">
            <a:avLst/>
          </a:prstGeom>
          <a:noFill/>
        </p:spPr>
        <p:txBody>
          <a:bodyPr wrap="square" anchor="t">
            <a:spAutoFit/>
          </a:bodyPr>
          <a:lstStyle/>
          <a:p>
            <a:pPr algn="l"/>
            <a:r>
              <a:rPr sz="1050" b="0">
                <a:solidFill>
                  <a:srgbClr val="7C3AED"/>
                </a:solidFill>
                <a:latin typeface="Arial"/>
              </a:rPr>
              <a:t>Source rule: use only the attached approved or synthetic course data; include period and source; do not invent 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rial"/>
              </a:rPr>
              <a:t>ACTIVITY 05 · EDITABLE CANVAS</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Build Here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77240" y="1783080"/>
            <a:ext cx="10652760" cy="429768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00400"/>
            <a:ext cx="10058400" cy="640080"/>
          </a:xfrm>
          <a:prstGeom prst="rect">
            <a:avLst/>
          </a:prstGeom>
          <a:noFill/>
        </p:spPr>
        <p:txBody>
          <a:bodyPr wrap="square" anchor="t">
            <a:spAutoFit/>
          </a:bodyPr>
          <a:lstStyle/>
          <a:p>
            <a:pPr algn="ctr"/>
            <a:r>
              <a:rPr sz="1800" b="0">
                <a:solidFill>
                  <a:srgbClr val="5B6372"/>
                </a:solidFill>
                <a:latin typeface="Arial"/>
              </a:rPr>
              <a:t>Replace this placeholder with your editable infographic or evidence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