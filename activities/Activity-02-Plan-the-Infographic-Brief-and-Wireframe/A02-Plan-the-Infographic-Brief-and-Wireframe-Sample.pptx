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02 · WORKED EXAMPLE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Design a Comparison Infographic Brief</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PowerPoint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02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02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comparison infographic about Design a Comparison Infographic Brief.</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Hook</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Context</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Evidence</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Guidance</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Action</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communication manager</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wireframe communicates objective, hierarchy, evidence, flow, action and source space before visual styling begins.</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02 · CONTEXT</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The Scenario</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6916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9710928" cy="329184"/>
          </a:xfrm>
          <a:prstGeom prst="rect">
            <a:avLst/>
          </a:prstGeom>
          <a:noFill/>
        </p:spPr>
        <p:txBody>
          <a:bodyPr wrap="square" anchor="t">
            <a:spAutoFit/>
          </a:bodyPr>
          <a:lstStyle/>
          <a:p>
            <a:pPr algn="l"/>
            <a:r>
              <a:rPr sz="1400" b="1">
                <a:solidFill>
                  <a:srgbClr val="1F6FEB"/>
                </a:solidFill>
                <a:latin typeface="Arial"/>
              </a:rPr>
              <a:t>Context</a:t>
            </a:r>
          </a:p>
        </p:txBody>
      </p:sp>
      <p:sp>
        <p:nvSpPr>
          <p:cNvPr id="13" name="TextBox 12"/>
          <p:cNvSpPr txBox="1"/>
          <p:nvPr/>
        </p:nvSpPr>
        <p:spPr>
          <a:xfrm>
            <a:off x="1536192" y="2350008"/>
            <a:ext cx="9710928" cy="978408"/>
          </a:xfrm>
          <a:prstGeom prst="rect">
            <a:avLst/>
          </a:prstGeom>
          <a:noFill/>
        </p:spPr>
        <p:txBody>
          <a:bodyPr wrap="square" anchor="t">
            <a:spAutoFit/>
          </a:bodyPr>
          <a:lstStyle/>
          <a:p>
            <a:pPr algn="l"/>
            <a:r>
              <a:rPr sz="1150" b="0">
                <a:solidFill>
                  <a:srgbClr val="161B26"/>
                </a:solidFill>
                <a:latin typeface="Arial"/>
              </a:rPr>
              <a:t>Northstar plans a sustainable-delivery campaign. The communication manager needs a portrait infographic showing the customer journey from order to low-emission delivery.</a:t>
            </a:r>
          </a:p>
        </p:txBody>
      </p:sp>
      <p:sp>
        <p:nvSpPr>
          <p:cNvPr id="14" name="Rounded Rectangle 13"/>
          <p:cNvSpPr/>
          <p:nvPr/>
        </p:nvSpPr>
        <p:spPr>
          <a:xfrm>
            <a:off x="731520" y="3776472"/>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76472"/>
            <a:ext cx="73152" cy="16916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1536192" y="3959352"/>
            <a:ext cx="9710928" cy="329184"/>
          </a:xfrm>
          <a:prstGeom prst="rect">
            <a:avLst/>
          </a:prstGeom>
          <a:noFill/>
        </p:spPr>
        <p:txBody>
          <a:bodyPr wrap="square" anchor="t">
            <a:spAutoFit/>
          </a:bodyPr>
          <a:lstStyle/>
          <a:p>
            <a:pPr algn="l"/>
            <a:r>
              <a:rPr sz="1400" b="1">
                <a:solidFill>
                  <a:srgbClr val="10B981"/>
                </a:solidFill>
                <a:latin typeface="Arial"/>
              </a:rPr>
              <a:t>Decision pressure</a:t>
            </a:r>
          </a:p>
        </p:txBody>
      </p:sp>
      <p:sp>
        <p:nvSpPr>
          <p:cNvPr id="19" name="TextBox 18"/>
          <p:cNvSpPr txBox="1"/>
          <p:nvPr/>
        </p:nvSpPr>
        <p:spPr>
          <a:xfrm>
            <a:off x="1536192" y="4343400"/>
            <a:ext cx="9710928" cy="978408"/>
          </a:xfrm>
          <a:prstGeom prst="rect">
            <a:avLst/>
          </a:prstGeom>
          <a:noFill/>
        </p:spPr>
        <p:txBody>
          <a:bodyPr wrap="square" anchor="t">
            <a:spAutoFit/>
          </a:bodyPr>
          <a:lstStyle/>
          <a:p>
            <a:pPr algn="l"/>
            <a:r>
              <a:rPr sz="1150" b="0">
                <a:solidFill>
                  <a:srgbClr val="161B26"/>
                </a:solidFill>
                <a:latin typeface="Arial"/>
              </a:rPr>
              <a:t>Use the supplied structured prompt workbook to ask Microsoft 365 Copilot for two comparison-infographic directions. Select one by evidence fit, then preserve it as the control brief for PowerPoint.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02 · FRAMEWORK</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Brief Before Generation</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68580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4884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490472" y="2103120"/>
            <a:ext cx="1009497" cy="329184"/>
          </a:xfrm>
          <a:prstGeom prst="rect">
            <a:avLst/>
          </a:prstGeom>
          <a:noFill/>
        </p:spPr>
        <p:txBody>
          <a:bodyPr wrap="square" anchor="t">
            <a:spAutoFit/>
          </a:bodyPr>
          <a:lstStyle/>
          <a:p>
            <a:pPr algn="l"/>
            <a:r>
              <a:rPr sz="1400" b="1">
                <a:solidFill>
                  <a:srgbClr val="1F6FEB"/>
                </a:solidFill>
                <a:latin typeface="Arial"/>
              </a:rPr>
              <a:t>Define</a:t>
            </a:r>
          </a:p>
        </p:txBody>
      </p:sp>
      <p:sp>
        <p:nvSpPr>
          <p:cNvPr id="13" name="TextBox 12"/>
          <p:cNvSpPr txBox="1"/>
          <p:nvPr/>
        </p:nvSpPr>
        <p:spPr>
          <a:xfrm>
            <a:off x="1490472" y="2487168"/>
            <a:ext cx="1009497" cy="2852928"/>
          </a:xfrm>
          <a:prstGeom prst="rect">
            <a:avLst/>
          </a:prstGeom>
          <a:noFill/>
        </p:spPr>
        <p:txBody>
          <a:bodyPr wrap="square" anchor="t">
            <a:spAutoFit/>
          </a:bodyPr>
          <a:lstStyle/>
          <a:p>
            <a:pPr algn="l"/>
            <a:r>
              <a:rPr sz="1150" b="0">
                <a:solidFill>
                  <a:srgbClr val="161B26"/>
                </a:solidFill>
                <a:latin typeface="Arial"/>
              </a:rPr>
              <a:t>Write the objective and audience question.</a:t>
            </a:r>
          </a:p>
        </p:txBody>
      </p:sp>
      <p:sp>
        <p:nvSpPr>
          <p:cNvPr id="14" name="Rounded Rectangle 13"/>
          <p:cNvSpPr/>
          <p:nvPr/>
        </p:nvSpPr>
        <p:spPr>
          <a:xfrm>
            <a:off x="2884017"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4017" y="1920240"/>
            <a:ext cx="73152" cy="356616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85185" y="213969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85185" y="214884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3688689" y="2103120"/>
            <a:ext cx="1009497" cy="329184"/>
          </a:xfrm>
          <a:prstGeom prst="rect">
            <a:avLst/>
          </a:prstGeom>
          <a:noFill/>
        </p:spPr>
        <p:txBody>
          <a:bodyPr wrap="square" anchor="t">
            <a:spAutoFit/>
          </a:bodyPr>
          <a:lstStyle/>
          <a:p>
            <a:pPr algn="l"/>
            <a:r>
              <a:rPr sz="1400" b="1">
                <a:solidFill>
                  <a:srgbClr val="10B981"/>
                </a:solidFill>
                <a:latin typeface="Arial"/>
              </a:rPr>
              <a:t>Ground</a:t>
            </a:r>
          </a:p>
        </p:txBody>
      </p:sp>
      <p:sp>
        <p:nvSpPr>
          <p:cNvPr id="19" name="TextBox 18"/>
          <p:cNvSpPr txBox="1"/>
          <p:nvPr/>
        </p:nvSpPr>
        <p:spPr>
          <a:xfrm>
            <a:off x="3688689" y="2487168"/>
            <a:ext cx="1009497" cy="2852928"/>
          </a:xfrm>
          <a:prstGeom prst="rect">
            <a:avLst/>
          </a:prstGeom>
          <a:noFill/>
        </p:spPr>
        <p:txBody>
          <a:bodyPr wrap="square" anchor="t">
            <a:spAutoFit/>
          </a:bodyPr>
          <a:lstStyle/>
          <a:p>
            <a:pPr algn="l"/>
            <a:r>
              <a:rPr sz="1150" b="0">
                <a:solidFill>
                  <a:srgbClr val="161B26"/>
                </a:solidFill>
                <a:latin typeface="Arial"/>
              </a:rPr>
              <a:t>Attach only approved sources and verified insights.</a:t>
            </a:r>
          </a:p>
        </p:txBody>
      </p:sp>
      <p:sp>
        <p:nvSpPr>
          <p:cNvPr id="20" name="Rounded Rectangle 19"/>
          <p:cNvSpPr/>
          <p:nvPr/>
        </p:nvSpPr>
        <p:spPr>
          <a:xfrm>
            <a:off x="5082235"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82235" y="1920240"/>
            <a:ext cx="73152" cy="356616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83403" y="213969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3403" y="214884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5886907" y="2103120"/>
            <a:ext cx="1009497" cy="329184"/>
          </a:xfrm>
          <a:prstGeom prst="rect">
            <a:avLst/>
          </a:prstGeom>
          <a:noFill/>
        </p:spPr>
        <p:txBody>
          <a:bodyPr wrap="square" anchor="t">
            <a:spAutoFit/>
          </a:bodyPr>
          <a:lstStyle/>
          <a:p>
            <a:pPr algn="l"/>
            <a:r>
              <a:rPr sz="1400" b="1">
                <a:solidFill>
                  <a:srgbClr val="7C3AED"/>
                </a:solidFill>
                <a:latin typeface="Arial"/>
              </a:rPr>
              <a:t>Specify</a:t>
            </a:r>
          </a:p>
        </p:txBody>
      </p:sp>
      <p:sp>
        <p:nvSpPr>
          <p:cNvPr id="25" name="TextBox 24"/>
          <p:cNvSpPr txBox="1"/>
          <p:nvPr/>
        </p:nvSpPr>
        <p:spPr>
          <a:xfrm>
            <a:off x="5886907" y="2487168"/>
            <a:ext cx="1009497" cy="2852928"/>
          </a:xfrm>
          <a:prstGeom prst="rect">
            <a:avLst/>
          </a:prstGeom>
          <a:noFill/>
        </p:spPr>
        <p:txBody>
          <a:bodyPr wrap="square" anchor="t">
            <a:spAutoFit/>
          </a:bodyPr>
          <a:lstStyle/>
          <a:p>
            <a:pPr algn="l"/>
            <a:r>
              <a:rPr sz="1150" b="0">
                <a:solidFill>
                  <a:srgbClr val="161B26"/>
                </a:solidFill>
                <a:latin typeface="Arial"/>
              </a:rPr>
              <a:t>Name hierarchy, infographic form, brand and accessibility rules.</a:t>
            </a:r>
          </a:p>
        </p:txBody>
      </p:sp>
      <p:sp>
        <p:nvSpPr>
          <p:cNvPr id="26" name="Rounded Rectangle 25"/>
          <p:cNvSpPr/>
          <p:nvPr/>
        </p:nvSpPr>
        <p:spPr>
          <a:xfrm>
            <a:off x="7280452"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0452" y="1920240"/>
            <a:ext cx="73152" cy="3566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81620" y="2139696"/>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1620" y="2148840"/>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8085124" y="2103120"/>
            <a:ext cx="1009497" cy="329184"/>
          </a:xfrm>
          <a:prstGeom prst="rect">
            <a:avLst/>
          </a:prstGeom>
          <a:noFill/>
        </p:spPr>
        <p:txBody>
          <a:bodyPr wrap="square" anchor="t">
            <a:spAutoFit/>
          </a:bodyPr>
          <a:lstStyle/>
          <a:p>
            <a:pPr algn="l"/>
            <a:r>
              <a:rPr sz="1400" b="1">
                <a:solidFill>
                  <a:srgbClr val="F59E0B"/>
                </a:solidFill>
                <a:latin typeface="Arial"/>
              </a:rPr>
              <a:t>Constrain</a:t>
            </a:r>
          </a:p>
        </p:txBody>
      </p:sp>
      <p:sp>
        <p:nvSpPr>
          <p:cNvPr id="31" name="TextBox 30"/>
          <p:cNvSpPr txBox="1"/>
          <p:nvPr/>
        </p:nvSpPr>
        <p:spPr>
          <a:xfrm>
            <a:off x="8085124" y="2487168"/>
            <a:ext cx="1009497" cy="2852928"/>
          </a:xfrm>
          <a:prstGeom prst="rect">
            <a:avLst/>
          </a:prstGeom>
          <a:noFill/>
        </p:spPr>
        <p:txBody>
          <a:bodyPr wrap="square" anchor="t">
            <a:spAutoFit/>
          </a:bodyPr>
          <a:lstStyle/>
          <a:p>
            <a:pPr algn="l"/>
            <a:r>
              <a:rPr sz="1150" b="0">
                <a:solidFill>
                  <a:srgbClr val="161B26"/>
                </a:solidFill>
                <a:latin typeface="Arial"/>
              </a:rPr>
              <a:t>Forbid invented facts, unsupported causation and decorative clutter.</a:t>
            </a:r>
          </a:p>
        </p:txBody>
      </p:sp>
      <p:sp>
        <p:nvSpPr>
          <p:cNvPr id="32" name="Rounded Rectangle 31"/>
          <p:cNvSpPr/>
          <p:nvPr/>
        </p:nvSpPr>
        <p:spPr>
          <a:xfrm>
            <a:off x="947867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7867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7983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9838" y="2148840"/>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10283342" y="2103120"/>
            <a:ext cx="1009497" cy="329184"/>
          </a:xfrm>
          <a:prstGeom prst="rect">
            <a:avLst/>
          </a:prstGeom>
          <a:noFill/>
        </p:spPr>
        <p:txBody>
          <a:bodyPr wrap="square" anchor="t">
            <a:spAutoFit/>
          </a:bodyPr>
          <a:lstStyle/>
          <a:p>
            <a:pPr algn="l"/>
            <a:r>
              <a:rPr sz="1400" b="1">
                <a:solidFill>
                  <a:srgbClr val="1F6FEB"/>
                </a:solidFill>
                <a:latin typeface="Arial"/>
              </a:rPr>
              <a:t>Generate</a:t>
            </a:r>
          </a:p>
        </p:txBody>
      </p:sp>
      <p:sp>
        <p:nvSpPr>
          <p:cNvPr id="37" name="TextBox 36"/>
          <p:cNvSpPr txBox="1"/>
          <p:nvPr/>
        </p:nvSpPr>
        <p:spPr>
          <a:xfrm>
            <a:off x="10283342" y="2487168"/>
            <a:ext cx="1009497" cy="2852928"/>
          </a:xfrm>
          <a:prstGeom prst="rect">
            <a:avLst/>
          </a:prstGeom>
          <a:noFill/>
        </p:spPr>
        <p:txBody>
          <a:bodyPr wrap="square" anchor="t">
            <a:spAutoFit/>
          </a:bodyPr>
          <a:lstStyle/>
          <a:p>
            <a:pPr algn="l"/>
            <a:r>
              <a:rPr sz="1150" b="0">
                <a:solidFill>
                  <a:srgbClr val="161B26"/>
                </a:solidFill>
                <a:latin typeface="Arial"/>
              </a:rPr>
              <a:t>Request two wireframe directions, then select by evidence fit.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02 · EXAMPLE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Worked Output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2414016" cy="329184"/>
          </a:xfrm>
          <a:prstGeom prst="rect">
            <a:avLst/>
          </a:prstGeom>
          <a:noFill/>
        </p:spPr>
        <p:txBody>
          <a:bodyPr wrap="square" anchor="t">
            <a:spAutoFit/>
          </a:bodyPr>
          <a:lstStyle/>
          <a:p>
            <a:pPr algn="l"/>
            <a:r>
              <a:rPr sz="1400" b="1">
                <a:solidFill>
                  <a:srgbClr val="1F6FEB"/>
                </a:solidFill>
                <a:latin typeface="Arial"/>
              </a:rPr>
              <a:t>Hook</a:t>
            </a:r>
          </a:p>
        </p:txBody>
      </p:sp>
      <p:sp>
        <p:nvSpPr>
          <p:cNvPr id="13" name="TextBox 12"/>
          <p:cNvSpPr txBox="1"/>
          <p:nvPr/>
        </p:nvSpPr>
        <p:spPr>
          <a:xfrm>
            <a:off x="1536192" y="2350008"/>
            <a:ext cx="2414016" cy="1005839"/>
          </a:xfrm>
          <a:prstGeom prst="rect">
            <a:avLst/>
          </a:prstGeom>
          <a:noFill/>
        </p:spPr>
        <p:txBody>
          <a:bodyPr wrap="square" anchor="t">
            <a:spAutoFit/>
          </a:bodyPr>
          <a:lstStyle/>
          <a:p>
            <a:pPr algn="l"/>
            <a:r>
              <a:rPr sz="1150" b="0">
                <a:solidFill>
                  <a:srgbClr val="161B26"/>
                </a:solidFill>
                <a:latin typeface="Arial"/>
              </a:rPr>
              <a:t>Title states the audience-relevant message.</a:t>
            </a:r>
          </a:p>
        </p:txBody>
      </p:sp>
      <p:sp>
        <p:nvSpPr>
          <p:cNvPr id="14" name="Rounded Rectangle 13"/>
          <p:cNvSpPr/>
          <p:nvPr/>
        </p:nvSpPr>
        <p:spPr>
          <a:xfrm>
            <a:off x="4315968"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1783080"/>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0025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0116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5120640" y="1965960"/>
            <a:ext cx="2414016" cy="329184"/>
          </a:xfrm>
          <a:prstGeom prst="rect">
            <a:avLst/>
          </a:prstGeom>
          <a:noFill/>
        </p:spPr>
        <p:txBody>
          <a:bodyPr wrap="square" anchor="t">
            <a:spAutoFit/>
          </a:bodyPr>
          <a:lstStyle/>
          <a:p>
            <a:pPr algn="l"/>
            <a:r>
              <a:rPr sz="1400" b="1">
                <a:solidFill>
                  <a:srgbClr val="10B981"/>
                </a:solidFill>
                <a:latin typeface="Arial"/>
              </a:rPr>
              <a:t>Context</a:t>
            </a:r>
          </a:p>
        </p:txBody>
      </p:sp>
      <p:sp>
        <p:nvSpPr>
          <p:cNvPr id="19" name="TextBox 18"/>
          <p:cNvSpPr txBox="1"/>
          <p:nvPr/>
        </p:nvSpPr>
        <p:spPr>
          <a:xfrm>
            <a:off x="5120640" y="2350008"/>
            <a:ext cx="2414016" cy="1005839"/>
          </a:xfrm>
          <a:prstGeom prst="rect">
            <a:avLst/>
          </a:prstGeom>
          <a:noFill/>
        </p:spPr>
        <p:txBody>
          <a:bodyPr wrap="square" anchor="t">
            <a:spAutoFit/>
          </a:bodyPr>
          <a:lstStyle/>
          <a:p>
            <a:pPr algn="l"/>
            <a:r>
              <a:rPr sz="1150" b="0">
                <a:solidFill>
                  <a:srgbClr val="161B26"/>
                </a:solidFill>
                <a:latin typeface="Arial"/>
              </a:rPr>
              <a:t>Source, timeframe, unit and scope.</a:t>
            </a:r>
          </a:p>
        </p:txBody>
      </p:sp>
      <p:sp>
        <p:nvSpPr>
          <p:cNvPr id="20" name="Rounded Rectangle 19"/>
          <p:cNvSpPr/>
          <p:nvPr/>
        </p:nvSpPr>
        <p:spPr>
          <a:xfrm>
            <a:off x="7900416"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0416" y="1783080"/>
            <a:ext cx="73152" cy="171907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1584" y="200253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201168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8705088" y="1965960"/>
            <a:ext cx="2414016" cy="329184"/>
          </a:xfrm>
          <a:prstGeom prst="rect">
            <a:avLst/>
          </a:prstGeom>
          <a:noFill/>
        </p:spPr>
        <p:txBody>
          <a:bodyPr wrap="square" anchor="t">
            <a:spAutoFit/>
          </a:bodyPr>
          <a:lstStyle/>
          <a:p>
            <a:pPr algn="l"/>
            <a:r>
              <a:rPr sz="1400" b="1">
                <a:solidFill>
                  <a:srgbClr val="7C3AED"/>
                </a:solidFill>
                <a:latin typeface="Arial"/>
              </a:rPr>
              <a:t>Evidence</a:t>
            </a:r>
          </a:p>
        </p:txBody>
      </p:sp>
      <p:sp>
        <p:nvSpPr>
          <p:cNvPr id="25" name="TextBox 24"/>
          <p:cNvSpPr txBox="1"/>
          <p:nvPr/>
        </p:nvSpPr>
        <p:spPr>
          <a:xfrm>
            <a:off x="8705088" y="2350008"/>
            <a:ext cx="2414016" cy="1005839"/>
          </a:xfrm>
          <a:prstGeom prst="rect">
            <a:avLst/>
          </a:prstGeom>
          <a:noFill/>
        </p:spPr>
        <p:txBody>
          <a:bodyPr wrap="square" anchor="t">
            <a:spAutoFit/>
          </a:bodyPr>
          <a:lstStyle/>
          <a:p>
            <a:pPr algn="l"/>
            <a:r>
              <a:rPr sz="1150" b="0">
                <a:solidFill>
                  <a:srgbClr val="161B26"/>
                </a:solidFill>
                <a:latin typeface="Arial"/>
              </a:rPr>
              <a:t>One primary chart or process carries the proof.</a:t>
            </a:r>
          </a:p>
        </p:txBody>
      </p:sp>
      <p:sp>
        <p:nvSpPr>
          <p:cNvPr id="26" name="Rounded Rectangle 25"/>
          <p:cNvSpPr/>
          <p:nvPr/>
        </p:nvSpPr>
        <p:spPr>
          <a:xfrm>
            <a:off x="731520"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776472"/>
            <a:ext cx="73152" cy="171907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2688" y="3995928"/>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1536192" y="3959352"/>
            <a:ext cx="2414016" cy="329184"/>
          </a:xfrm>
          <a:prstGeom prst="rect">
            <a:avLst/>
          </a:prstGeom>
          <a:noFill/>
        </p:spPr>
        <p:txBody>
          <a:bodyPr wrap="square" anchor="t">
            <a:spAutoFit/>
          </a:bodyPr>
          <a:lstStyle/>
          <a:p>
            <a:pPr algn="l"/>
            <a:r>
              <a:rPr sz="1400" b="1">
                <a:solidFill>
                  <a:srgbClr val="F59E0B"/>
                </a:solidFill>
                <a:latin typeface="Arial"/>
              </a:rPr>
              <a:t>Guidance</a:t>
            </a:r>
          </a:p>
        </p:txBody>
      </p:sp>
      <p:sp>
        <p:nvSpPr>
          <p:cNvPr id="31" name="TextBox 30"/>
          <p:cNvSpPr txBox="1"/>
          <p:nvPr/>
        </p:nvSpPr>
        <p:spPr>
          <a:xfrm>
            <a:off x="1536192" y="4343400"/>
            <a:ext cx="2414016" cy="1005839"/>
          </a:xfrm>
          <a:prstGeom prst="rect">
            <a:avLst/>
          </a:prstGeom>
          <a:noFill/>
        </p:spPr>
        <p:txBody>
          <a:bodyPr wrap="square" anchor="t">
            <a:spAutoFit/>
          </a:bodyPr>
          <a:lstStyle/>
          <a:p>
            <a:pPr algn="l"/>
            <a:r>
              <a:rPr sz="1150" b="0">
                <a:solidFill>
                  <a:srgbClr val="161B26"/>
                </a:solidFill>
                <a:latin typeface="Arial"/>
              </a:rPr>
              <a:t>Arrows, order and whitespace control the reading path.</a:t>
            </a:r>
          </a:p>
        </p:txBody>
      </p:sp>
      <p:sp>
        <p:nvSpPr>
          <p:cNvPr id="32" name="Rounded Rectangle 31"/>
          <p:cNvSpPr/>
          <p:nvPr/>
        </p:nvSpPr>
        <p:spPr>
          <a:xfrm>
            <a:off x="4315968"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776472"/>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17136" y="3995928"/>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4005072"/>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5120640" y="3959352"/>
            <a:ext cx="2414016" cy="329184"/>
          </a:xfrm>
          <a:prstGeom prst="rect">
            <a:avLst/>
          </a:prstGeom>
          <a:noFill/>
        </p:spPr>
        <p:txBody>
          <a:bodyPr wrap="square" anchor="t">
            <a:spAutoFit/>
          </a:bodyPr>
          <a:lstStyle/>
          <a:p>
            <a:pPr algn="l"/>
            <a:r>
              <a:rPr sz="1400" b="1">
                <a:solidFill>
                  <a:srgbClr val="1F6FEB"/>
                </a:solidFill>
                <a:latin typeface="Arial"/>
              </a:rPr>
              <a:t>Action</a:t>
            </a:r>
          </a:p>
        </p:txBody>
      </p:sp>
      <p:sp>
        <p:nvSpPr>
          <p:cNvPr id="37" name="TextBox 36"/>
          <p:cNvSpPr txBox="1"/>
          <p:nvPr/>
        </p:nvSpPr>
        <p:spPr>
          <a:xfrm>
            <a:off x="5120640" y="4343400"/>
            <a:ext cx="2414016" cy="1005839"/>
          </a:xfrm>
          <a:prstGeom prst="rect">
            <a:avLst/>
          </a:prstGeom>
          <a:noFill/>
        </p:spPr>
        <p:txBody>
          <a:bodyPr wrap="square" anchor="t">
            <a:spAutoFit/>
          </a:bodyPr>
          <a:lstStyle/>
          <a:p>
            <a:pPr algn="l"/>
            <a:r>
              <a:rPr sz="1150" b="0">
                <a:solidFill>
                  <a:srgbClr val="161B26"/>
                </a:solidFill>
                <a:latin typeface="Arial"/>
              </a:rPr>
              <a:t>A concise implication or next step.</a:t>
            </a:r>
          </a:p>
        </p:txBody>
      </p:sp>
      <p:sp>
        <p:nvSpPr>
          <p:cNvPr id="38" name="Rounded Rectangle 37"/>
          <p:cNvSpPr/>
          <p:nvPr/>
        </p:nvSpPr>
        <p:spPr>
          <a:xfrm>
            <a:off x="7900416"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00416" y="3776472"/>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101584"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1584" y="4005072"/>
            <a:ext cx="438912" cy="420624"/>
          </a:xfrm>
          <a:prstGeom prst="rect">
            <a:avLst/>
          </a:prstGeom>
          <a:noFill/>
        </p:spPr>
        <p:txBody>
          <a:bodyPr wrap="square" anchor="ctr">
            <a:spAutoFit/>
          </a:bodyPr>
          <a:lstStyle/>
          <a:p>
            <a:pPr algn="ctr"/>
            <a:r>
              <a:rPr sz="1400" b="1">
                <a:solidFill>
                  <a:srgbClr val="FFFFFF"/>
                </a:solidFill>
                <a:latin typeface="Arial"/>
              </a:rPr>
              <a:t>6</a:t>
            </a:r>
          </a:p>
        </p:txBody>
      </p:sp>
      <p:sp>
        <p:nvSpPr>
          <p:cNvPr id="42" name="TextBox 41"/>
          <p:cNvSpPr txBox="1"/>
          <p:nvPr/>
        </p:nvSpPr>
        <p:spPr>
          <a:xfrm>
            <a:off x="8705088" y="3959352"/>
            <a:ext cx="2414016" cy="329184"/>
          </a:xfrm>
          <a:prstGeom prst="rect">
            <a:avLst/>
          </a:prstGeom>
          <a:noFill/>
        </p:spPr>
        <p:txBody>
          <a:bodyPr wrap="square" anchor="t">
            <a:spAutoFit/>
          </a:bodyPr>
          <a:lstStyle/>
          <a:p>
            <a:pPr algn="l"/>
            <a:r>
              <a:rPr sz="1400" b="1">
                <a:solidFill>
                  <a:srgbClr val="10B981"/>
                </a:solidFill>
                <a:latin typeface="Arial"/>
              </a:rPr>
              <a:t>Footer</a:t>
            </a:r>
          </a:p>
        </p:txBody>
      </p:sp>
      <p:sp>
        <p:nvSpPr>
          <p:cNvPr id="43" name="TextBox 42"/>
          <p:cNvSpPr txBox="1"/>
          <p:nvPr/>
        </p:nvSpPr>
        <p:spPr>
          <a:xfrm>
            <a:off x="8705088" y="4343400"/>
            <a:ext cx="2414016" cy="1005839"/>
          </a:xfrm>
          <a:prstGeom prst="rect">
            <a:avLst/>
          </a:prstGeom>
          <a:noFill/>
        </p:spPr>
        <p:txBody>
          <a:bodyPr wrap="square" anchor="t">
            <a:spAutoFit/>
          </a:bodyPr>
          <a:lstStyle/>
          <a:p>
            <a:pPr algn="l"/>
            <a:r>
              <a:rPr sz="1150" b="0">
                <a:solidFill>
                  <a:srgbClr val="161B26"/>
                </a:solidFill>
                <a:latin typeface="Arial"/>
              </a:rPr>
              <a:t>Source, owner, date and accessibility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02 · ACCEPTANCE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What Good Looks Like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810512"/>
            <a:ext cx="10652760" cy="1005840"/>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10058400" cy="566928"/>
          </a:xfrm>
          <a:prstGeom prst="rect">
            <a:avLst/>
          </a:prstGeom>
          <a:noFill/>
        </p:spPr>
        <p:txBody>
          <a:bodyPr wrap="square" anchor="ctr">
            <a:spAutoFit/>
          </a:bodyPr>
          <a:lstStyle/>
          <a:p>
            <a:pPr algn="ctr"/>
            <a:r>
              <a:rPr sz="1900" b="1">
                <a:solidFill>
                  <a:srgbClr val="FFFFFF"/>
                </a:solidFill>
                <a:latin typeface="Arial"/>
              </a:rPr>
              <a:t>A structured Copilot prompt, two comparison-infographic directions and one approved PowerPoint wireframe</a:t>
            </a:r>
          </a:p>
        </p:txBody>
      </p:sp>
      <p:sp>
        <p:nvSpPr>
          <p:cNvPr id="10" name="Rounded Rectangle 9"/>
          <p:cNvSpPr/>
          <p:nvPr/>
        </p:nvSpPr>
        <p:spPr>
          <a:xfrm>
            <a:off x="777240"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3832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4" name="TextBox 13"/>
          <p:cNvSpPr txBox="1"/>
          <p:nvPr/>
        </p:nvSpPr>
        <p:spPr>
          <a:xfrm>
            <a:off x="1581912"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15" name="TextBox 14"/>
          <p:cNvSpPr txBox="1"/>
          <p:nvPr/>
        </p:nvSpPr>
        <p:spPr>
          <a:xfrm>
            <a:off x="1581912" y="3721608"/>
            <a:ext cx="4087368" cy="36575"/>
          </a:xfrm>
          <a:prstGeom prst="rect">
            <a:avLst/>
          </a:prstGeom>
          <a:noFill/>
        </p:spPr>
        <p:txBody>
          <a:bodyPr wrap="square" anchor="t">
            <a:spAutoFit/>
          </a:bodyPr>
          <a:lstStyle/>
          <a:p>
            <a:pPr algn="l"/>
            <a:r>
              <a:rPr sz="1150" b="0">
                <a:solidFill>
                  <a:srgbClr val="161B26"/>
                </a:solidFill>
                <a:latin typeface="Arial"/>
              </a:rPr>
              <a:t>Audience question and action are explicit</a:t>
            </a:r>
          </a:p>
        </p:txBody>
      </p:sp>
      <p:sp>
        <p:nvSpPr>
          <p:cNvPr id="16" name="Rounded Rectangle 15"/>
          <p:cNvSpPr/>
          <p:nvPr/>
        </p:nvSpPr>
        <p:spPr>
          <a:xfrm>
            <a:off x="6126479"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9"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7647"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7" y="33832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20" name="TextBox 19"/>
          <p:cNvSpPr txBox="1"/>
          <p:nvPr/>
        </p:nvSpPr>
        <p:spPr>
          <a:xfrm>
            <a:off x="6931151"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1" name="TextBox 20"/>
          <p:cNvSpPr txBox="1"/>
          <p:nvPr/>
        </p:nvSpPr>
        <p:spPr>
          <a:xfrm>
            <a:off x="6931151" y="3721608"/>
            <a:ext cx="4087368" cy="36575"/>
          </a:xfrm>
          <a:prstGeom prst="rect">
            <a:avLst/>
          </a:prstGeom>
          <a:noFill/>
        </p:spPr>
        <p:txBody>
          <a:bodyPr wrap="square" anchor="t">
            <a:spAutoFit/>
          </a:bodyPr>
          <a:lstStyle/>
          <a:p>
            <a:pPr algn="l"/>
            <a:r>
              <a:rPr sz="1150" b="0">
                <a:solidFill>
                  <a:srgbClr val="161B26"/>
                </a:solidFill>
                <a:latin typeface="Arial"/>
              </a:rPr>
              <a:t>Infographic form matches the relationship</a:t>
            </a:r>
          </a:p>
        </p:txBody>
      </p:sp>
      <p:sp>
        <p:nvSpPr>
          <p:cNvPr id="22" name="Rounded Rectangle 21"/>
          <p:cNvSpPr/>
          <p:nvPr/>
        </p:nvSpPr>
        <p:spPr>
          <a:xfrm>
            <a:off x="777240"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325112"/>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6" name="TextBox 25"/>
          <p:cNvSpPr txBox="1"/>
          <p:nvPr/>
        </p:nvSpPr>
        <p:spPr>
          <a:xfrm>
            <a:off x="1581912"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7" name="TextBox 26"/>
          <p:cNvSpPr txBox="1"/>
          <p:nvPr/>
        </p:nvSpPr>
        <p:spPr>
          <a:xfrm>
            <a:off x="1581912" y="4663440"/>
            <a:ext cx="4087368" cy="36575"/>
          </a:xfrm>
          <a:prstGeom prst="rect">
            <a:avLst/>
          </a:prstGeom>
          <a:noFill/>
        </p:spPr>
        <p:txBody>
          <a:bodyPr wrap="square" anchor="t">
            <a:spAutoFit/>
          </a:bodyPr>
          <a:lstStyle/>
          <a:p>
            <a:pPr algn="l"/>
            <a:r>
              <a:rPr sz="1150" b="0">
                <a:solidFill>
                  <a:srgbClr val="161B26"/>
                </a:solidFill>
                <a:latin typeface="Arial"/>
              </a:rPr>
              <a:t>Wireframe works without colour</a:t>
            </a:r>
          </a:p>
        </p:txBody>
      </p:sp>
      <p:sp>
        <p:nvSpPr>
          <p:cNvPr id="28" name="Rounded Rectangle 27"/>
          <p:cNvSpPr/>
          <p:nvPr/>
        </p:nvSpPr>
        <p:spPr>
          <a:xfrm>
            <a:off x="6126479"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79"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7647"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7" y="432511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2" name="TextBox 31"/>
          <p:cNvSpPr txBox="1"/>
          <p:nvPr/>
        </p:nvSpPr>
        <p:spPr>
          <a:xfrm>
            <a:off x="6931151"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3" name="TextBox 32"/>
          <p:cNvSpPr txBox="1"/>
          <p:nvPr/>
        </p:nvSpPr>
        <p:spPr>
          <a:xfrm>
            <a:off x="6931151" y="4663440"/>
            <a:ext cx="4087368" cy="36575"/>
          </a:xfrm>
          <a:prstGeom prst="rect">
            <a:avLst/>
          </a:prstGeom>
          <a:noFill/>
        </p:spPr>
        <p:txBody>
          <a:bodyPr wrap="square" anchor="t">
            <a:spAutoFit/>
          </a:bodyPr>
          <a:lstStyle/>
          <a:p>
            <a:pPr algn="l"/>
            <a:r>
              <a:rPr sz="1150" b="0">
                <a:solidFill>
                  <a:srgbClr val="161B26"/>
                </a:solidFill>
                <a:latin typeface="Arial"/>
              </a:rPr>
              <a:t>Reading order is obvious at thumbnail size</a:t>
            </a:r>
          </a:p>
        </p:txBody>
      </p:sp>
      <p:sp>
        <p:nvSpPr>
          <p:cNvPr id="34" name="Rounded Rectangle 33"/>
          <p:cNvSpPr/>
          <p:nvPr/>
        </p:nvSpPr>
        <p:spPr>
          <a:xfrm>
            <a:off x="777240" y="5038344"/>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038344"/>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78408" y="5257800"/>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5266944"/>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8" name="TextBox 37"/>
          <p:cNvSpPr txBox="1"/>
          <p:nvPr/>
        </p:nvSpPr>
        <p:spPr>
          <a:xfrm>
            <a:off x="1581912" y="5221224"/>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9" name="TextBox 38"/>
          <p:cNvSpPr txBox="1"/>
          <p:nvPr/>
        </p:nvSpPr>
        <p:spPr>
          <a:xfrm>
            <a:off x="1581912" y="5605272"/>
            <a:ext cx="4087368" cy="36575"/>
          </a:xfrm>
          <a:prstGeom prst="rect">
            <a:avLst/>
          </a:prstGeom>
          <a:noFill/>
        </p:spPr>
        <p:txBody>
          <a:bodyPr wrap="square" anchor="t">
            <a:spAutoFit/>
          </a:bodyPr>
          <a:lstStyle/>
          <a:p>
            <a:pPr algn="l"/>
            <a:r>
              <a:rPr sz="1150" b="0">
                <a:solidFill>
                  <a:srgbClr val="161B26"/>
                </a:solidFill>
                <a:latin typeface="Arial"/>
              </a:rPr>
              <a:t>Space exists for source and accessibility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