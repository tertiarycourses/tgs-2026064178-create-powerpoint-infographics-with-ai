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10B981"/>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685800"/>
            <a:ext cx="10789920" cy="365760"/>
          </a:xfrm>
          <a:prstGeom prst="rect">
            <a:avLst/>
          </a:prstGeom>
          <a:noFill/>
        </p:spPr>
        <p:txBody>
          <a:bodyPr wrap="square" anchor="t">
            <a:spAutoFit/>
          </a:bodyPr>
          <a:lstStyle/>
          <a:p>
            <a:pPr algn="l"/>
            <a:r>
              <a:rPr sz="1400" b="1">
                <a:solidFill>
                  <a:srgbClr val="1F6FEB"/>
                </a:solidFill>
                <a:latin typeface="Arial"/>
              </a:rPr>
              <a:t>ACTIVITY 02 · WORKED EXAMPLE</a:t>
            </a:r>
          </a:p>
        </p:txBody>
      </p:sp>
      <p:sp>
        <p:nvSpPr>
          <p:cNvPr id="6" name="TextBox 5"/>
          <p:cNvSpPr txBox="1"/>
          <p:nvPr/>
        </p:nvSpPr>
        <p:spPr>
          <a:xfrm>
            <a:off x="777240" y="1417320"/>
            <a:ext cx="10607040" cy="1280160"/>
          </a:xfrm>
          <a:prstGeom prst="rect">
            <a:avLst/>
          </a:prstGeom>
          <a:noFill/>
        </p:spPr>
        <p:txBody>
          <a:bodyPr wrap="square" anchor="t">
            <a:spAutoFit/>
          </a:bodyPr>
          <a:lstStyle/>
          <a:p>
            <a:pPr algn="l"/>
            <a:r>
              <a:rPr sz="3400" b="1">
                <a:solidFill>
                  <a:srgbClr val="161B26"/>
                </a:solidFill>
                <a:latin typeface="Arial"/>
              </a:rPr>
              <a:t>Prompt an Evidence-Led Infographic Brief</a:t>
            </a:r>
          </a:p>
        </p:txBody>
      </p:sp>
      <p:sp>
        <p:nvSpPr>
          <p:cNvPr id="7" name="TextBox 6"/>
          <p:cNvSpPr txBox="1"/>
          <p:nvPr/>
        </p:nvSpPr>
        <p:spPr>
          <a:xfrm>
            <a:off x="777240" y="2971800"/>
            <a:ext cx="10424160" cy="640080"/>
          </a:xfrm>
          <a:prstGeom prst="rect">
            <a:avLst/>
          </a:prstGeom>
          <a:noFill/>
        </p:spPr>
        <p:txBody>
          <a:bodyPr wrap="square" anchor="t">
            <a:spAutoFit/>
          </a:bodyPr>
          <a:lstStyle/>
          <a:p>
            <a:pPr algn="l"/>
            <a:r>
              <a:rPr sz="2000" b="0">
                <a:solidFill>
                  <a:srgbClr val="5B6372"/>
                </a:solidFill>
                <a:latin typeface="Arial"/>
              </a:rPr>
              <a:t>Northstar Retail Singapore · synthetic practice scenario</a:t>
            </a:r>
          </a:p>
        </p:txBody>
      </p:sp>
      <p:sp>
        <p:nvSpPr>
          <p:cNvPr id="8" name="Rounded Rectangle 7"/>
          <p:cNvSpPr/>
          <p:nvPr/>
        </p:nvSpPr>
        <p:spPr>
          <a:xfrm>
            <a:off x="777240" y="3794760"/>
            <a:ext cx="10561320" cy="1234440"/>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4069080"/>
            <a:ext cx="9966960" cy="274320"/>
          </a:xfrm>
          <a:prstGeom prst="rect">
            <a:avLst/>
          </a:prstGeom>
          <a:noFill/>
        </p:spPr>
        <p:txBody>
          <a:bodyPr wrap="square" anchor="t">
            <a:spAutoFit/>
          </a:bodyPr>
          <a:lstStyle/>
          <a:p>
            <a:pPr algn="l"/>
            <a:r>
              <a:rPr sz="1000" b="1">
                <a:solidFill>
                  <a:srgbClr val="1F6FEB"/>
                </a:solidFill>
                <a:latin typeface="Arial"/>
              </a:rPr>
              <a:t>TOOL WORKFLOW</a:t>
            </a:r>
          </a:p>
        </p:txBody>
      </p:sp>
      <p:sp>
        <p:nvSpPr>
          <p:cNvPr id="10" name="TextBox 9"/>
          <p:cNvSpPr txBox="1"/>
          <p:nvPr/>
        </p:nvSpPr>
        <p:spPr>
          <a:xfrm>
            <a:off x="1051560" y="4434840"/>
            <a:ext cx="9966960" cy="384048"/>
          </a:xfrm>
          <a:prstGeom prst="rect">
            <a:avLst/>
          </a:prstGeom>
          <a:noFill/>
        </p:spPr>
        <p:txBody>
          <a:bodyPr wrap="square" anchor="t">
            <a:spAutoFit/>
          </a:bodyPr>
          <a:lstStyle/>
          <a:p>
            <a:pPr algn="l"/>
            <a:r>
              <a:rPr sz="1800" b="1">
                <a:solidFill>
                  <a:srgbClr val="161B26"/>
                </a:solidFill>
                <a:latin typeface="Arial"/>
              </a:rPr>
              <a:t>Approved AI assistant + PowerPoint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7C3AED"/>
          </a:solidFill>
          <a:ln>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84048"/>
            <a:ext cx="10789920" cy="320040"/>
          </a:xfrm>
          <a:prstGeom prst="rect">
            <a:avLst/>
          </a:prstGeom>
          <a:noFill/>
        </p:spPr>
        <p:txBody>
          <a:bodyPr wrap="square" anchor="t">
            <a:spAutoFit/>
          </a:bodyPr>
          <a:lstStyle/>
          <a:p>
            <a:pPr algn="l"/>
            <a:r>
              <a:rPr sz="1100" b="1">
                <a:solidFill>
                  <a:srgbClr val="7C3AED"/>
                </a:solidFill>
                <a:latin typeface="Arial"/>
              </a:rPr>
              <a:t>ACTIVITY 02 · FULL COPY-READY TEXT IN PROMPTS.MD AND AI PROMPT LAB</a:t>
            </a:r>
          </a:p>
        </p:txBody>
      </p:sp>
      <p:sp>
        <p:nvSpPr>
          <p:cNvPr id="5" name="TextBox 4"/>
          <p:cNvSpPr txBox="1"/>
          <p:nvPr/>
        </p:nvSpPr>
        <p:spPr>
          <a:xfrm>
            <a:off x="658368" y="749808"/>
            <a:ext cx="10789920" cy="658368"/>
          </a:xfrm>
          <a:prstGeom prst="rect">
            <a:avLst/>
          </a:prstGeom>
          <a:noFill/>
        </p:spPr>
        <p:txBody>
          <a:bodyPr wrap="square" anchor="t">
            <a:spAutoFit/>
          </a:bodyPr>
          <a:lstStyle/>
          <a:p>
            <a:pPr algn="l"/>
            <a:r>
              <a:rPr sz="2700" b="1">
                <a:solidFill>
                  <a:srgbClr val="161B26"/>
                </a:solidFill>
                <a:latin typeface="Arial"/>
              </a:rPr>
              <a:t>AI Prompt Starters</a:t>
            </a:r>
          </a:p>
        </p:txBody>
      </p:sp>
      <p:sp>
        <p:nvSpPr>
          <p:cNvPr id="6" name="Rectangle 5"/>
          <p:cNvSpPr/>
          <p:nvPr/>
        </p:nvSpPr>
        <p:spPr>
          <a:xfrm>
            <a:off x="658368" y="1444752"/>
            <a:ext cx="10881360" cy="18288"/>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9875520" cy="201168"/>
          </a:xfrm>
          <a:prstGeom prst="rect">
            <a:avLst/>
          </a:prstGeom>
          <a:noFill/>
        </p:spPr>
        <p:txBody>
          <a:bodyPr wrap="square" anchor="t">
            <a:spAutoFit/>
          </a:bodyPr>
          <a:lstStyle/>
          <a:p>
            <a:pPr algn="l"/>
            <a:r>
              <a:rPr sz="800" b="0">
                <a:solidFill>
                  <a:srgbClr val="5B6372"/>
                </a:solidFill>
                <a:latin typeface="Arial"/>
              </a:rPr>
              <a:t>TGS-2026064178 · ACTIVITY PRACTICE · Tertiary Infotech Academy Pte Ltd</a:t>
            </a:r>
          </a:p>
        </p:txBody>
      </p:sp>
      <p:sp>
        <p:nvSpPr>
          <p:cNvPr id="8" name="Rounded Rectangle 7"/>
          <p:cNvSpPr/>
          <p:nvPr/>
        </p:nvSpPr>
        <p:spPr>
          <a:xfrm>
            <a:off x="731520" y="1755648"/>
            <a:ext cx="5166360" cy="1847088"/>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31520" y="1755648"/>
            <a:ext cx="73152" cy="1847088"/>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932688" y="1975104"/>
            <a:ext cx="438912" cy="438912"/>
          </a:xfrm>
          <a:prstGeom prst="round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32688" y="1984248"/>
            <a:ext cx="438912" cy="420624"/>
          </a:xfrm>
          <a:prstGeom prst="rect">
            <a:avLst/>
          </a:prstGeom>
          <a:noFill/>
        </p:spPr>
        <p:txBody>
          <a:bodyPr wrap="square" anchor="ctr">
            <a:spAutoFit/>
          </a:bodyPr>
          <a:lstStyle/>
          <a:p>
            <a:pPr algn="ctr"/>
            <a:r>
              <a:rPr sz="1400" b="1">
                <a:solidFill>
                  <a:srgbClr val="FFFFFF"/>
                </a:solidFill>
                <a:latin typeface="Arial"/>
              </a:rPr>
              <a:t>1</a:t>
            </a:r>
          </a:p>
        </p:txBody>
      </p:sp>
      <p:sp>
        <p:nvSpPr>
          <p:cNvPr id="12" name="TextBox 11"/>
          <p:cNvSpPr txBox="1"/>
          <p:nvPr/>
        </p:nvSpPr>
        <p:spPr>
          <a:xfrm>
            <a:off x="1536192" y="1938528"/>
            <a:ext cx="4178808" cy="329184"/>
          </a:xfrm>
          <a:prstGeom prst="rect">
            <a:avLst/>
          </a:prstGeom>
          <a:noFill/>
        </p:spPr>
        <p:txBody>
          <a:bodyPr wrap="square" anchor="t">
            <a:spAutoFit/>
          </a:bodyPr>
          <a:lstStyle/>
          <a:p>
            <a:pPr algn="l"/>
            <a:r>
              <a:rPr sz="1400" b="1">
                <a:solidFill>
                  <a:srgbClr val="1F6FEB"/>
                </a:solidFill>
                <a:latin typeface="Arial"/>
              </a:rPr>
              <a:t>Data analyst</a:t>
            </a:r>
          </a:p>
        </p:txBody>
      </p:sp>
      <p:sp>
        <p:nvSpPr>
          <p:cNvPr id="13" name="TextBox 12"/>
          <p:cNvSpPr txBox="1"/>
          <p:nvPr/>
        </p:nvSpPr>
        <p:spPr>
          <a:xfrm>
            <a:off x="1536192" y="2322576"/>
            <a:ext cx="4178808" cy="1133856"/>
          </a:xfrm>
          <a:prstGeom prst="rect">
            <a:avLst/>
          </a:prstGeom>
          <a:noFill/>
        </p:spPr>
        <p:txBody>
          <a:bodyPr wrap="square" anchor="t">
            <a:spAutoFit/>
          </a:bodyPr>
          <a:lstStyle/>
          <a:p>
            <a:pPr algn="l"/>
            <a:r>
              <a:rPr sz="1150" b="0">
                <a:solidFill>
                  <a:srgbClr val="161B26"/>
                </a:solidFill>
                <a:latin typeface="Arial"/>
              </a:rPr>
              <a:t>Using only the attached approved sources, create a source register, identify duplicates or conflicting definitions, clean the table, show formulas or transformations, and return five candidate insights with citations, caveats and a con…</a:t>
            </a:r>
          </a:p>
        </p:txBody>
      </p:sp>
      <p:sp>
        <p:nvSpPr>
          <p:cNvPr id="14" name="Rounded Rectangle 13"/>
          <p:cNvSpPr/>
          <p:nvPr/>
        </p:nvSpPr>
        <p:spPr>
          <a:xfrm>
            <a:off x="6144768" y="1755648"/>
            <a:ext cx="5166360" cy="1847088"/>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144768" y="1755648"/>
            <a:ext cx="73152" cy="1847088"/>
          </a:xfrm>
          <a:prstGeom prst="rect">
            <a:avLst/>
          </a:prstGeom>
          <a:solidFill>
            <a:srgbClr val="10B981"/>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6345936" y="1975104"/>
            <a:ext cx="438912" cy="438912"/>
          </a:xfrm>
          <a:prstGeom prst="roundRect">
            <a:avLst/>
          </a:prstGeom>
          <a:solidFill>
            <a:srgbClr val="10B981"/>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45936" y="1984248"/>
            <a:ext cx="438912" cy="420624"/>
          </a:xfrm>
          <a:prstGeom prst="rect">
            <a:avLst/>
          </a:prstGeom>
          <a:noFill/>
        </p:spPr>
        <p:txBody>
          <a:bodyPr wrap="square" anchor="ctr">
            <a:spAutoFit/>
          </a:bodyPr>
          <a:lstStyle/>
          <a:p>
            <a:pPr algn="ctr"/>
            <a:r>
              <a:rPr sz="1400" b="1">
                <a:solidFill>
                  <a:srgbClr val="FFFFFF"/>
                </a:solidFill>
                <a:latin typeface="Arial"/>
              </a:rPr>
              <a:t>2</a:t>
            </a:r>
          </a:p>
        </p:txBody>
      </p:sp>
      <p:sp>
        <p:nvSpPr>
          <p:cNvPr id="18" name="TextBox 17"/>
          <p:cNvSpPr txBox="1"/>
          <p:nvPr/>
        </p:nvSpPr>
        <p:spPr>
          <a:xfrm>
            <a:off x="6949440" y="1938528"/>
            <a:ext cx="4178808" cy="329184"/>
          </a:xfrm>
          <a:prstGeom prst="rect">
            <a:avLst/>
          </a:prstGeom>
          <a:noFill/>
        </p:spPr>
        <p:txBody>
          <a:bodyPr wrap="square" anchor="t">
            <a:spAutoFit/>
          </a:bodyPr>
          <a:lstStyle/>
          <a:p>
            <a:pPr algn="l"/>
            <a:r>
              <a:rPr sz="1400" b="1">
                <a:solidFill>
                  <a:srgbClr val="10B981"/>
                </a:solidFill>
                <a:latin typeface="Arial"/>
              </a:rPr>
              <a:t>Infographic</a:t>
            </a:r>
          </a:p>
        </p:txBody>
      </p:sp>
      <p:sp>
        <p:nvSpPr>
          <p:cNvPr id="19" name="TextBox 18"/>
          <p:cNvSpPr txBox="1"/>
          <p:nvPr/>
        </p:nvSpPr>
        <p:spPr>
          <a:xfrm>
            <a:off x="6949440" y="2322576"/>
            <a:ext cx="4178808" cy="1133856"/>
          </a:xfrm>
          <a:prstGeom prst="rect">
            <a:avLst/>
          </a:prstGeom>
          <a:noFill/>
        </p:spPr>
        <p:txBody>
          <a:bodyPr wrap="square" anchor="t">
            <a:spAutoFit/>
          </a:bodyPr>
          <a:lstStyle/>
          <a:p>
            <a:pPr algn="l"/>
            <a:r>
              <a:rPr sz="1150" b="0">
                <a:solidFill>
                  <a:srgbClr val="161B26"/>
                </a:solidFill>
                <a:latin typeface="Arial"/>
              </a:rPr>
              <a:t>Create a one-page executive infographic for Singapore retail managers. Lead with one decision insight, show three supporting metrics, include a five-stage flow and a source footer. Use a clean professional style, strong hierarchy and n…</a:t>
            </a:r>
          </a:p>
        </p:txBody>
      </p:sp>
      <p:sp>
        <p:nvSpPr>
          <p:cNvPr id="20" name="Rounded Rectangle 19"/>
          <p:cNvSpPr/>
          <p:nvPr/>
        </p:nvSpPr>
        <p:spPr>
          <a:xfrm>
            <a:off x="731520" y="3877056"/>
            <a:ext cx="5166360" cy="1847088"/>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31520" y="3877056"/>
            <a:ext cx="73152" cy="1847088"/>
          </a:xfrm>
          <a:prstGeom prst="rect">
            <a:avLst/>
          </a:prstGeom>
          <a:solidFill>
            <a:srgbClr val="7C3AED"/>
          </a:solidFill>
          <a:ln>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932688" y="4096512"/>
            <a:ext cx="438912" cy="438912"/>
          </a:xfrm>
          <a:prstGeom prst="roundRect">
            <a:avLst/>
          </a:prstGeom>
          <a:solidFill>
            <a:srgbClr val="7C3AED"/>
          </a:solidFill>
          <a:ln>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32688" y="4105656"/>
            <a:ext cx="438912" cy="420624"/>
          </a:xfrm>
          <a:prstGeom prst="rect">
            <a:avLst/>
          </a:prstGeom>
          <a:noFill/>
        </p:spPr>
        <p:txBody>
          <a:bodyPr wrap="square" anchor="ctr">
            <a:spAutoFit/>
          </a:bodyPr>
          <a:lstStyle/>
          <a:p>
            <a:pPr algn="ctr"/>
            <a:r>
              <a:rPr sz="1400" b="1">
                <a:solidFill>
                  <a:srgbClr val="FFFFFF"/>
                </a:solidFill>
                <a:latin typeface="Arial"/>
              </a:rPr>
              <a:t>3</a:t>
            </a:r>
          </a:p>
        </p:txBody>
      </p:sp>
      <p:sp>
        <p:nvSpPr>
          <p:cNvPr id="24" name="TextBox 23"/>
          <p:cNvSpPr txBox="1"/>
          <p:nvPr/>
        </p:nvSpPr>
        <p:spPr>
          <a:xfrm>
            <a:off x="1536192" y="4059936"/>
            <a:ext cx="4178808" cy="329184"/>
          </a:xfrm>
          <a:prstGeom prst="rect">
            <a:avLst/>
          </a:prstGeom>
          <a:noFill/>
        </p:spPr>
        <p:txBody>
          <a:bodyPr wrap="square" anchor="t">
            <a:spAutoFit/>
          </a:bodyPr>
          <a:lstStyle/>
          <a:p>
            <a:pPr algn="l"/>
            <a:r>
              <a:rPr sz="1400" b="1">
                <a:solidFill>
                  <a:srgbClr val="7C3AED"/>
                </a:solidFill>
                <a:latin typeface="Arial"/>
              </a:rPr>
              <a:t>Text to image</a:t>
            </a:r>
          </a:p>
        </p:txBody>
      </p:sp>
      <p:sp>
        <p:nvSpPr>
          <p:cNvPr id="25" name="TextBox 24"/>
          <p:cNvSpPr txBox="1"/>
          <p:nvPr/>
        </p:nvSpPr>
        <p:spPr>
          <a:xfrm>
            <a:off x="1536192" y="4443984"/>
            <a:ext cx="4178808" cy="1133856"/>
          </a:xfrm>
          <a:prstGeom prst="rect">
            <a:avLst/>
          </a:prstGeom>
          <a:noFill/>
        </p:spPr>
        <p:txBody>
          <a:bodyPr wrap="square" anchor="t">
            <a:spAutoFit/>
          </a:bodyPr>
          <a:lstStyle/>
          <a:p>
            <a:pPr algn="l"/>
            <a:r>
              <a:rPr sz="1150" b="0">
                <a:solidFill>
                  <a:srgbClr val="161B26"/>
                </a:solidFill>
                <a:latin typeface="Arial"/>
              </a:rPr>
              <a:t>Create a clean vector-like sustainability delivery illustration for a PowerPoint infographic: one electric van, one reusable parcel, a simple route and a feedback symbol. Transparent background, consistent blue/teal/violet/amber palett…</a:t>
            </a:r>
          </a:p>
        </p:txBody>
      </p:sp>
      <p:sp>
        <p:nvSpPr>
          <p:cNvPr id="26" name="Rounded Rectangle 25"/>
          <p:cNvSpPr/>
          <p:nvPr/>
        </p:nvSpPr>
        <p:spPr>
          <a:xfrm>
            <a:off x="6144768" y="3877056"/>
            <a:ext cx="5166360" cy="1847088"/>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144768" y="3877056"/>
            <a:ext cx="73152" cy="1847088"/>
          </a:xfrm>
          <a:prstGeom prst="rect">
            <a:avLst/>
          </a:prstGeom>
          <a:solidFill>
            <a:srgbClr val="F59E0B"/>
          </a:solidFill>
          <a:ln>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6345936" y="4096512"/>
            <a:ext cx="438912" cy="438912"/>
          </a:xfrm>
          <a:prstGeom prst="roundRect">
            <a:avLst/>
          </a:prstGeom>
          <a:solidFill>
            <a:srgbClr val="F59E0B"/>
          </a:solidFill>
          <a:ln>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345936" y="4105656"/>
            <a:ext cx="438912" cy="420624"/>
          </a:xfrm>
          <a:prstGeom prst="rect">
            <a:avLst/>
          </a:prstGeom>
          <a:noFill/>
        </p:spPr>
        <p:txBody>
          <a:bodyPr wrap="square" anchor="ctr">
            <a:spAutoFit/>
          </a:bodyPr>
          <a:lstStyle/>
          <a:p>
            <a:pPr algn="ctr"/>
            <a:r>
              <a:rPr sz="1400" b="1">
                <a:solidFill>
                  <a:srgbClr val="FFFFFF"/>
                </a:solidFill>
                <a:latin typeface="Arial"/>
              </a:rPr>
              <a:t>4</a:t>
            </a:r>
          </a:p>
        </p:txBody>
      </p:sp>
      <p:sp>
        <p:nvSpPr>
          <p:cNvPr id="30" name="TextBox 29"/>
          <p:cNvSpPr txBox="1"/>
          <p:nvPr/>
        </p:nvSpPr>
        <p:spPr>
          <a:xfrm>
            <a:off x="6949440" y="4059936"/>
            <a:ext cx="4178808" cy="329184"/>
          </a:xfrm>
          <a:prstGeom prst="rect">
            <a:avLst/>
          </a:prstGeom>
          <a:noFill/>
        </p:spPr>
        <p:txBody>
          <a:bodyPr wrap="square" anchor="t">
            <a:spAutoFit/>
          </a:bodyPr>
          <a:lstStyle/>
          <a:p>
            <a:pPr algn="l"/>
            <a:r>
              <a:rPr sz="1400" b="1">
                <a:solidFill>
                  <a:srgbClr val="F59E0B"/>
                </a:solidFill>
                <a:latin typeface="Arial"/>
              </a:rPr>
              <a:t>Gemini Notebook deck</a:t>
            </a:r>
          </a:p>
        </p:txBody>
      </p:sp>
      <p:sp>
        <p:nvSpPr>
          <p:cNvPr id="31" name="TextBox 30"/>
          <p:cNvSpPr txBox="1"/>
          <p:nvPr/>
        </p:nvSpPr>
        <p:spPr>
          <a:xfrm>
            <a:off x="6949440" y="4443984"/>
            <a:ext cx="4178808" cy="1133856"/>
          </a:xfrm>
          <a:prstGeom prst="rect">
            <a:avLst/>
          </a:prstGeom>
          <a:noFill/>
        </p:spPr>
        <p:txBody>
          <a:bodyPr wrap="square" anchor="t">
            <a:spAutoFit/>
          </a:bodyPr>
          <a:lstStyle/>
          <a:p>
            <a:pPr algn="l"/>
            <a:r>
              <a:rPr sz="1150" b="0">
                <a:solidFill>
                  <a:srgbClr val="161B26"/>
                </a:solidFill>
                <a:latin typeface="Arial"/>
              </a:rPr>
              <a:t>Create Presenter Slides for business stakeholders. Focus on the verified decision insight, use a concise professional style, include source-grounded comparisons and a final recommendation. Avoid claims not supported by selected sources…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84048"/>
            <a:ext cx="10789920" cy="320040"/>
          </a:xfrm>
          <a:prstGeom prst="rect">
            <a:avLst/>
          </a:prstGeom>
          <a:noFill/>
        </p:spPr>
        <p:txBody>
          <a:bodyPr wrap="square" anchor="t">
            <a:spAutoFit/>
          </a:bodyPr>
          <a:lstStyle/>
          <a:p>
            <a:pPr algn="l"/>
            <a:r>
              <a:rPr sz="1100" b="1">
                <a:solidFill>
                  <a:srgbClr val="1F6FEB"/>
                </a:solidFill>
                <a:latin typeface="Arial"/>
              </a:rPr>
              <a:t>ACTIVITY 02 · CONTEXT</a:t>
            </a:r>
          </a:p>
        </p:txBody>
      </p:sp>
      <p:sp>
        <p:nvSpPr>
          <p:cNvPr id="5" name="TextBox 4"/>
          <p:cNvSpPr txBox="1"/>
          <p:nvPr/>
        </p:nvSpPr>
        <p:spPr>
          <a:xfrm>
            <a:off x="658368" y="749808"/>
            <a:ext cx="10789920" cy="658368"/>
          </a:xfrm>
          <a:prstGeom prst="rect">
            <a:avLst/>
          </a:prstGeom>
          <a:noFill/>
        </p:spPr>
        <p:txBody>
          <a:bodyPr wrap="square" anchor="t">
            <a:spAutoFit/>
          </a:bodyPr>
          <a:lstStyle/>
          <a:p>
            <a:pPr algn="l"/>
            <a:r>
              <a:rPr sz="2700" b="1">
                <a:solidFill>
                  <a:srgbClr val="161B26"/>
                </a:solidFill>
                <a:latin typeface="Arial"/>
              </a:rPr>
              <a:t>The Scenario</a:t>
            </a:r>
          </a:p>
        </p:txBody>
      </p:sp>
      <p:sp>
        <p:nvSpPr>
          <p:cNvPr id="6" name="Rectangle 5"/>
          <p:cNvSpPr/>
          <p:nvPr/>
        </p:nvSpPr>
        <p:spPr>
          <a:xfrm>
            <a:off x="658368" y="1444752"/>
            <a:ext cx="10881360" cy="18288"/>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9875520" cy="201168"/>
          </a:xfrm>
          <a:prstGeom prst="rect">
            <a:avLst/>
          </a:prstGeom>
          <a:noFill/>
        </p:spPr>
        <p:txBody>
          <a:bodyPr wrap="square" anchor="t">
            <a:spAutoFit/>
          </a:bodyPr>
          <a:lstStyle/>
          <a:p>
            <a:pPr algn="l"/>
            <a:r>
              <a:rPr sz="800" b="0">
                <a:solidFill>
                  <a:srgbClr val="5B6372"/>
                </a:solidFill>
                <a:latin typeface="Arial"/>
              </a:rPr>
              <a:t>TGS-2026064178 · ACTIVITY PRACTICE · Tertiary Infotech Academy Pte Ltd</a:t>
            </a:r>
          </a:p>
        </p:txBody>
      </p:sp>
      <p:sp>
        <p:nvSpPr>
          <p:cNvPr id="8" name="Rounded Rectangle 7"/>
          <p:cNvSpPr/>
          <p:nvPr/>
        </p:nvSpPr>
        <p:spPr>
          <a:xfrm>
            <a:off x="731520" y="1783080"/>
            <a:ext cx="10698480" cy="1691640"/>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31520" y="1783080"/>
            <a:ext cx="73152" cy="1691640"/>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932688" y="2002536"/>
            <a:ext cx="438912" cy="438912"/>
          </a:xfrm>
          <a:prstGeom prst="round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32688" y="2011680"/>
            <a:ext cx="438912" cy="420624"/>
          </a:xfrm>
          <a:prstGeom prst="rect">
            <a:avLst/>
          </a:prstGeom>
          <a:noFill/>
        </p:spPr>
        <p:txBody>
          <a:bodyPr wrap="square" anchor="ctr">
            <a:spAutoFit/>
          </a:bodyPr>
          <a:lstStyle/>
          <a:p>
            <a:pPr algn="ctr"/>
            <a:r>
              <a:rPr sz="1400" b="1">
                <a:solidFill>
                  <a:srgbClr val="FFFFFF"/>
                </a:solidFill>
                <a:latin typeface="Arial"/>
              </a:rPr>
              <a:t>1</a:t>
            </a:r>
          </a:p>
        </p:txBody>
      </p:sp>
      <p:sp>
        <p:nvSpPr>
          <p:cNvPr id="12" name="TextBox 11"/>
          <p:cNvSpPr txBox="1"/>
          <p:nvPr/>
        </p:nvSpPr>
        <p:spPr>
          <a:xfrm>
            <a:off x="1536192" y="1965960"/>
            <a:ext cx="9710928" cy="329184"/>
          </a:xfrm>
          <a:prstGeom prst="rect">
            <a:avLst/>
          </a:prstGeom>
          <a:noFill/>
        </p:spPr>
        <p:txBody>
          <a:bodyPr wrap="square" anchor="t">
            <a:spAutoFit/>
          </a:bodyPr>
          <a:lstStyle/>
          <a:p>
            <a:pPr algn="l"/>
            <a:r>
              <a:rPr sz="1400" b="1">
                <a:solidFill>
                  <a:srgbClr val="1F6FEB"/>
                </a:solidFill>
                <a:latin typeface="Arial"/>
              </a:rPr>
              <a:t>Context</a:t>
            </a:r>
          </a:p>
        </p:txBody>
      </p:sp>
      <p:sp>
        <p:nvSpPr>
          <p:cNvPr id="13" name="TextBox 12"/>
          <p:cNvSpPr txBox="1"/>
          <p:nvPr/>
        </p:nvSpPr>
        <p:spPr>
          <a:xfrm>
            <a:off x="1536192" y="2350008"/>
            <a:ext cx="9710928" cy="978408"/>
          </a:xfrm>
          <a:prstGeom prst="rect">
            <a:avLst/>
          </a:prstGeom>
          <a:noFill/>
        </p:spPr>
        <p:txBody>
          <a:bodyPr wrap="square" anchor="t">
            <a:spAutoFit/>
          </a:bodyPr>
          <a:lstStyle/>
          <a:p>
            <a:pPr algn="l"/>
            <a:r>
              <a:rPr sz="1150" b="0">
                <a:solidFill>
                  <a:srgbClr val="161B26"/>
                </a:solidFill>
                <a:latin typeface="Arial"/>
              </a:rPr>
              <a:t>Northstar plans a sustainable-delivery campaign. The communication manager needs a portrait infographic showing the customer journey from order to low-emission delivery.</a:t>
            </a:r>
          </a:p>
        </p:txBody>
      </p:sp>
      <p:sp>
        <p:nvSpPr>
          <p:cNvPr id="14" name="Rounded Rectangle 13"/>
          <p:cNvSpPr/>
          <p:nvPr/>
        </p:nvSpPr>
        <p:spPr>
          <a:xfrm>
            <a:off x="731520" y="3776472"/>
            <a:ext cx="10698480" cy="1691640"/>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31520" y="3776472"/>
            <a:ext cx="73152" cy="1691640"/>
          </a:xfrm>
          <a:prstGeom prst="rect">
            <a:avLst/>
          </a:prstGeom>
          <a:solidFill>
            <a:srgbClr val="10B981"/>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932688" y="3995928"/>
            <a:ext cx="438912" cy="438912"/>
          </a:xfrm>
          <a:prstGeom prst="roundRect">
            <a:avLst/>
          </a:prstGeom>
          <a:solidFill>
            <a:srgbClr val="10B981"/>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32688" y="4005072"/>
            <a:ext cx="438912" cy="420624"/>
          </a:xfrm>
          <a:prstGeom prst="rect">
            <a:avLst/>
          </a:prstGeom>
          <a:noFill/>
        </p:spPr>
        <p:txBody>
          <a:bodyPr wrap="square" anchor="ctr">
            <a:spAutoFit/>
          </a:bodyPr>
          <a:lstStyle/>
          <a:p>
            <a:pPr algn="ctr"/>
            <a:r>
              <a:rPr sz="1400" b="1">
                <a:solidFill>
                  <a:srgbClr val="FFFFFF"/>
                </a:solidFill>
                <a:latin typeface="Arial"/>
              </a:rPr>
              <a:t>2</a:t>
            </a:r>
          </a:p>
        </p:txBody>
      </p:sp>
      <p:sp>
        <p:nvSpPr>
          <p:cNvPr id="18" name="TextBox 17"/>
          <p:cNvSpPr txBox="1"/>
          <p:nvPr/>
        </p:nvSpPr>
        <p:spPr>
          <a:xfrm>
            <a:off x="1536192" y="3959352"/>
            <a:ext cx="9710928" cy="329184"/>
          </a:xfrm>
          <a:prstGeom prst="rect">
            <a:avLst/>
          </a:prstGeom>
          <a:noFill/>
        </p:spPr>
        <p:txBody>
          <a:bodyPr wrap="square" anchor="t">
            <a:spAutoFit/>
          </a:bodyPr>
          <a:lstStyle/>
          <a:p>
            <a:pPr algn="l"/>
            <a:r>
              <a:rPr sz="1400" b="1">
                <a:solidFill>
                  <a:srgbClr val="10B981"/>
                </a:solidFill>
                <a:latin typeface="Arial"/>
              </a:rPr>
              <a:t>Decision pressure</a:t>
            </a:r>
          </a:p>
        </p:txBody>
      </p:sp>
      <p:sp>
        <p:nvSpPr>
          <p:cNvPr id="19" name="TextBox 18"/>
          <p:cNvSpPr txBox="1"/>
          <p:nvPr/>
        </p:nvSpPr>
        <p:spPr>
          <a:xfrm>
            <a:off x="1536192" y="4343400"/>
            <a:ext cx="9710928" cy="978408"/>
          </a:xfrm>
          <a:prstGeom prst="rect">
            <a:avLst/>
          </a:prstGeom>
          <a:noFill/>
        </p:spPr>
        <p:txBody>
          <a:bodyPr wrap="square" anchor="t">
            <a:spAutoFit/>
          </a:bodyPr>
          <a:lstStyle/>
          <a:p>
            <a:pPr algn="l"/>
            <a:r>
              <a:rPr sz="1150" b="0">
                <a:solidFill>
                  <a:srgbClr val="161B26"/>
                </a:solidFill>
                <a:latin typeface="Arial"/>
              </a:rPr>
              <a:t>Use the supplied prompt workbook to ask AI for two wireframe directions. Select one by evidence fit, then preserve it as the control brief for Microsoft 365 Copilot, Gemini Notebook or PowerPoint.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10B981"/>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84048"/>
            <a:ext cx="10789920" cy="320040"/>
          </a:xfrm>
          <a:prstGeom prst="rect">
            <a:avLst/>
          </a:prstGeom>
          <a:noFill/>
        </p:spPr>
        <p:txBody>
          <a:bodyPr wrap="square" anchor="t">
            <a:spAutoFit/>
          </a:bodyPr>
          <a:lstStyle/>
          <a:p>
            <a:pPr algn="l"/>
            <a:r>
              <a:rPr sz="1100" b="1">
                <a:solidFill>
                  <a:srgbClr val="10B981"/>
                </a:solidFill>
                <a:latin typeface="Arial"/>
              </a:rPr>
              <a:t>ACTIVITY 02 · FRAMEWORK</a:t>
            </a:r>
          </a:p>
        </p:txBody>
      </p:sp>
      <p:sp>
        <p:nvSpPr>
          <p:cNvPr id="5" name="TextBox 4"/>
          <p:cNvSpPr txBox="1"/>
          <p:nvPr/>
        </p:nvSpPr>
        <p:spPr>
          <a:xfrm>
            <a:off x="658368" y="749808"/>
            <a:ext cx="10789920" cy="658368"/>
          </a:xfrm>
          <a:prstGeom prst="rect">
            <a:avLst/>
          </a:prstGeom>
          <a:noFill/>
        </p:spPr>
        <p:txBody>
          <a:bodyPr wrap="square" anchor="t">
            <a:spAutoFit/>
          </a:bodyPr>
          <a:lstStyle/>
          <a:p>
            <a:pPr algn="l"/>
            <a:r>
              <a:rPr sz="2700" b="1">
                <a:solidFill>
                  <a:srgbClr val="161B26"/>
                </a:solidFill>
                <a:latin typeface="Arial"/>
              </a:rPr>
              <a:t>Brief Before Generation</a:t>
            </a:r>
          </a:p>
        </p:txBody>
      </p:sp>
      <p:sp>
        <p:nvSpPr>
          <p:cNvPr id="6" name="Rectangle 5"/>
          <p:cNvSpPr/>
          <p:nvPr/>
        </p:nvSpPr>
        <p:spPr>
          <a:xfrm>
            <a:off x="658368" y="1444752"/>
            <a:ext cx="10881360" cy="18288"/>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9875520" cy="201168"/>
          </a:xfrm>
          <a:prstGeom prst="rect">
            <a:avLst/>
          </a:prstGeom>
          <a:noFill/>
        </p:spPr>
        <p:txBody>
          <a:bodyPr wrap="square" anchor="t">
            <a:spAutoFit/>
          </a:bodyPr>
          <a:lstStyle/>
          <a:p>
            <a:pPr algn="l"/>
            <a:r>
              <a:rPr sz="800" b="0">
                <a:solidFill>
                  <a:srgbClr val="5B6372"/>
                </a:solidFill>
                <a:latin typeface="Arial"/>
              </a:rPr>
              <a:t>TGS-2026064178 · ACTIVITY PRACTICE · Tertiary Infotech Academy Pte Ltd</a:t>
            </a:r>
          </a:p>
        </p:txBody>
      </p:sp>
      <p:sp>
        <p:nvSpPr>
          <p:cNvPr id="8" name="Rounded Rectangle 7"/>
          <p:cNvSpPr/>
          <p:nvPr/>
        </p:nvSpPr>
        <p:spPr>
          <a:xfrm>
            <a:off x="685800" y="1920240"/>
            <a:ext cx="1997049" cy="3566160"/>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85800" y="1920240"/>
            <a:ext cx="73152" cy="3566160"/>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886968" y="2139696"/>
            <a:ext cx="438912" cy="438912"/>
          </a:xfrm>
          <a:prstGeom prst="round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6968" y="2148840"/>
            <a:ext cx="438912" cy="420624"/>
          </a:xfrm>
          <a:prstGeom prst="rect">
            <a:avLst/>
          </a:prstGeom>
          <a:noFill/>
        </p:spPr>
        <p:txBody>
          <a:bodyPr wrap="square" anchor="ctr">
            <a:spAutoFit/>
          </a:bodyPr>
          <a:lstStyle/>
          <a:p>
            <a:pPr algn="ctr"/>
            <a:r>
              <a:rPr sz="1400" b="1">
                <a:solidFill>
                  <a:srgbClr val="FFFFFF"/>
                </a:solidFill>
                <a:latin typeface="Arial"/>
              </a:rPr>
              <a:t>1</a:t>
            </a:r>
          </a:p>
        </p:txBody>
      </p:sp>
      <p:sp>
        <p:nvSpPr>
          <p:cNvPr id="12" name="TextBox 11"/>
          <p:cNvSpPr txBox="1"/>
          <p:nvPr/>
        </p:nvSpPr>
        <p:spPr>
          <a:xfrm>
            <a:off x="1490472" y="2103120"/>
            <a:ext cx="1009497" cy="329184"/>
          </a:xfrm>
          <a:prstGeom prst="rect">
            <a:avLst/>
          </a:prstGeom>
          <a:noFill/>
        </p:spPr>
        <p:txBody>
          <a:bodyPr wrap="square" anchor="t">
            <a:spAutoFit/>
          </a:bodyPr>
          <a:lstStyle/>
          <a:p>
            <a:pPr algn="l"/>
            <a:r>
              <a:rPr sz="1400" b="1">
                <a:solidFill>
                  <a:srgbClr val="1F6FEB"/>
                </a:solidFill>
                <a:latin typeface="Arial"/>
              </a:rPr>
              <a:t>Define</a:t>
            </a:r>
          </a:p>
        </p:txBody>
      </p:sp>
      <p:sp>
        <p:nvSpPr>
          <p:cNvPr id="13" name="TextBox 12"/>
          <p:cNvSpPr txBox="1"/>
          <p:nvPr/>
        </p:nvSpPr>
        <p:spPr>
          <a:xfrm>
            <a:off x="1490472" y="2487168"/>
            <a:ext cx="1009497" cy="2852928"/>
          </a:xfrm>
          <a:prstGeom prst="rect">
            <a:avLst/>
          </a:prstGeom>
          <a:noFill/>
        </p:spPr>
        <p:txBody>
          <a:bodyPr wrap="square" anchor="t">
            <a:spAutoFit/>
          </a:bodyPr>
          <a:lstStyle/>
          <a:p>
            <a:pPr algn="l"/>
            <a:r>
              <a:rPr sz="1150" b="0">
                <a:solidFill>
                  <a:srgbClr val="161B26"/>
                </a:solidFill>
                <a:latin typeface="Arial"/>
              </a:rPr>
              <a:t>Write the objective and audience question.</a:t>
            </a:r>
          </a:p>
        </p:txBody>
      </p:sp>
      <p:sp>
        <p:nvSpPr>
          <p:cNvPr id="14" name="Rounded Rectangle 13"/>
          <p:cNvSpPr/>
          <p:nvPr/>
        </p:nvSpPr>
        <p:spPr>
          <a:xfrm>
            <a:off x="2884017" y="1920240"/>
            <a:ext cx="1997049" cy="3566160"/>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84017" y="1920240"/>
            <a:ext cx="73152" cy="3566160"/>
          </a:xfrm>
          <a:prstGeom prst="rect">
            <a:avLst/>
          </a:prstGeom>
          <a:solidFill>
            <a:srgbClr val="10B981"/>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3085185" y="2139696"/>
            <a:ext cx="438912" cy="438912"/>
          </a:xfrm>
          <a:prstGeom prst="roundRect">
            <a:avLst/>
          </a:prstGeom>
          <a:solidFill>
            <a:srgbClr val="10B981"/>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085185" y="2148840"/>
            <a:ext cx="438912" cy="420624"/>
          </a:xfrm>
          <a:prstGeom prst="rect">
            <a:avLst/>
          </a:prstGeom>
          <a:noFill/>
        </p:spPr>
        <p:txBody>
          <a:bodyPr wrap="square" anchor="ctr">
            <a:spAutoFit/>
          </a:bodyPr>
          <a:lstStyle/>
          <a:p>
            <a:pPr algn="ctr"/>
            <a:r>
              <a:rPr sz="1400" b="1">
                <a:solidFill>
                  <a:srgbClr val="FFFFFF"/>
                </a:solidFill>
                <a:latin typeface="Arial"/>
              </a:rPr>
              <a:t>2</a:t>
            </a:r>
          </a:p>
        </p:txBody>
      </p:sp>
      <p:sp>
        <p:nvSpPr>
          <p:cNvPr id="18" name="TextBox 17"/>
          <p:cNvSpPr txBox="1"/>
          <p:nvPr/>
        </p:nvSpPr>
        <p:spPr>
          <a:xfrm>
            <a:off x="3688689" y="2103120"/>
            <a:ext cx="1009497" cy="329184"/>
          </a:xfrm>
          <a:prstGeom prst="rect">
            <a:avLst/>
          </a:prstGeom>
          <a:noFill/>
        </p:spPr>
        <p:txBody>
          <a:bodyPr wrap="square" anchor="t">
            <a:spAutoFit/>
          </a:bodyPr>
          <a:lstStyle/>
          <a:p>
            <a:pPr algn="l"/>
            <a:r>
              <a:rPr sz="1400" b="1">
                <a:solidFill>
                  <a:srgbClr val="10B981"/>
                </a:solidFill>
                <a:latin typeface="Arial"/>
              </a:rPr>
              <a:t>Ground</a:t>
            </a:r>
          </a:p>
        </p:txBody>
      </p:sp>
      <p:sp>
        <p:nvSpPr>
          <p:cNvPr id="19" name="TextBox 18"/>
          <p:cNvSpPr txBox="1"/>
          <p:nvPr/>
        </p:nvSpPr>
        <p:spPr>
          <a:xfrm>
            <a:off x="3688689" y="2487168"/>
            <a:ext cx="1009497" cy="2852928"/>
          </a:xfrm>
          <a:prstGeom prst="rect">
            <a:avLst/>
          </a:prstGeom>
          <a:noFill/>
        </p:spPr>
        <p:txBody>
          <a:bodyPr wrap="square" anchor="t">
            <a:spAutoFit/>
          </a:bodyPr>
          <a:lstStyle/>
          <a:p>
            <a:pPr algn="l"/>
            <a:r>
              <a:rPr sz="1150" b="0">
                <a:solidFill>
                  <a:srgbClr val="161B26"/>
                </a:solidFill>
                <a:latin typeface="Arial"/>
              </a:rPr>
              <a:t>Attach only approved sources and verified insights.</a:t>
            </a:r>
          </a:p>
        </p:txBody>
      </p:sp>
      <p:sp>
        <p:nvSpPr>
          <p:cNvPr id="20" name="Rounded Rectangle 19"/>
          <p:cNvSpPr/>
          <p:nvPr/>
        </p:nvSpPr>
        <p:spPr>
          <a:xfrm>
            <a:off x="5082235" y="1920240"/>
            <a:ext cx="1997049" cy="3566160"/>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082235" y="1920240"/>
            <a:ext cx="73152" cy="3566160"/>
          </a:xfrm>
          <a:prstGeom prst="rect">
            <a:avLst/>
          </a:prstGeom>
          <a:solidFill>
            <a:srgbClr val="7C3AED"/>
          </a:solidFill>
          <a:ln>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283403" y="2139696"/>
            <a:ext cx="438912" cy="438912"/>
          </a:xfrm>
          <a:prstGeom prst="roundRect">
            <a:avLst/>
          </a:prstGeom>
          <a:solidFill>
            <a:srgbClr val="7C3AED"/>
          </a:solidFill>
          <a:ln>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283403" y="2148840"/>
            <a:ext cx="438912" cy="420624"/>
          </a:xfrm>
          <a:prstGeom prst="rect">
            <a:avLst/>
          </a:prstGeom>
          <a:noFill/>
        </p:spPr>
        <p:txBody>
          <a:bodyPr wrap="square" anchor="ctr">
            <a:spAutoFit/>
          </a:bodyPr>
          <a:lstStyle/>
          <a:p>
            <a:pPr algn="ctr"/>
            <a:r>
              <a:rPr sz="1400" b="1">
                <a:solidFill>
                  <a:srgbClr val="FFFFFF"/>
                </a:solidFill>
                <a:latin typeface="Arial"/>
              </a:rPr>
              <a:t>3</a:t>
            </a:r>
          </a:p>
        </p:txBody>
      </p:sp>
      <p:sp>
        <p:nvSpPr>
          <p:cNvPr id="24" name="TextBox 23"/>
          <p:cNvSpPr txBox="1"/>
          <p:nvPr/>
        </p:nvSpPr>
        <p:spPr>
          <a:xfrm>
            <a:off x="5886907" y="2103120"/>
            <a:ext cx="1009497" cy="329184"/>
          </a:xfrm>
          <a:prstGeom prst="rect">
            <a:avLst/>
          </a:prstGeom>
          <a:noFill/>
        </p:spPr>
        <p:txBody>
          <a:bodyPr wrap="square" anchor="t">
            <a:spAutoFit/>
          </a:bodyPr>
          <a:lstStyle/>
          <a:p>
            <a:pPr algn="l"/>
            <a:r>
              <a:rPr sz="1400" b="1">
                <a:solidFill>
                  <a:srgbClr val="7C3AED"/>
                </a:solidFill>
                <a:latin typeface="Arial"/>
              </a:rPr>
              <a:t>Specify</a:t>
            </a:r>
          </a:p>
        </p:txBody>
      </p:sp>
      <p:sp>
        <p:nvSpPr>
          <p:cNvPr id="25" name="TextBox 24"/>
          <p:cNvSpPr txBox="1"/>
          <p:nvPr/>
        </p:nvSpPr>
        <p:spPr>
          <a:xfrm>
            <a:off x="5886907" y="2487168"/>
            <a:ext cx="1009497" cy="2852928"/>
          </a:xfrm>
          <a:prstGeom prst="rect">
            <a:avLst/>
          </a:prstGeom>
          <a:noFill/>
        </p:spPr>
        <p:txBody>
          <a:bodyPr wrap="square" anchor="t">
            <a:spAutoFit/>
          </a:bodyPr>
          <a:lstStyle/>
          <a:p>
            <a:pPr algn="l"/>
            <a:r>
              <a:rPr sz="1150" b="0">
                <a:solidFill>
                  <a:srgbClr val="161B26"/>
                </a:solidFill>
                <a:latin typeface="Arial"/>
              </a:rPr>
              <a:t>Name hierarchy, infographic form, brand and accessibility rules.</a:t>
            </a:r>
          </a:p>
        </p:txBody>
      </p:sp>
      <p:sp>
        <p:nvSpPr>
          <p:cNvPr id="26" name="Rounded Rectangle 25"/>
          <p:cNvSpPr/>
          <p:nvPr/>
        </p:nvSpPr>
        <p:spPr>
          <a:xfrm>
            <a:off x="7280452" y="1920240"/>
            <a:ext cx="1997049" cy="3566160"/>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280452" y="1920240"/>
            <a:ext cx="73152" cy="3566160"/>
          </a:xfrm>
          <a:prstGeom prst="rect">
            <a:avLst/>
          </a:prstGeom>
          <a:solidFill>
            <a:srgbClr val="F59E0B"/>
          </a:solidFill>
          <a:ln>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7481620" y="2139696"/>
            <a:ext cx="438912" cy="438912"/>
          </a:xfrm>
          <a:prstGeom prst="roundRect">
            <a:avLst/>
          </a:prstGeom>
          <a:solidFill>
            <a:srgbClr val="F59E0B"/>
          </a:solidFill>
          <a:ln>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481620" y="2148840"/>
            <a:ext cx="438912" cy="420624"/>
          </a:xfrm>
          <a:prstGeom prst="rect">
            <a:avLst/>
          </a:prstGeom>
          <a:noFill/>
        </p:spPr>
        <p:txBody>
          <a:bodyPr wrap="square" anchor="ctr">
            <a:spAutoFit/>
          </a:bodyPr>
          <a:lstStyle/>
          <a:p>
            <a:pPr algn="ctr"/>
            <a:r>
              <a:rPr sz="1400" b="1">
                <a:solidFill>
                  <a:srgbClr val="FFFFFF"/>
                </a:solidFill>
                <a:latin typeface="Arial"/>
              </a:rPr>
              <a:t>4</a:t>
            </a:r>
          </a:p>
        </p:txBody>
      </p:sp>
      <p:sp>
        <p:nvSpPr>
          <p:cNvPr id="30" name="TextBox 29"/>
          <p:cNvSpPr txBox="1"/>
          <p:nvPr/>
        </p:nvSpPr>
        <p:spPr>
          <a:xfrm>
            <a:off x="8085124" y="2103120"/>
            <a:ext cx="1009497" cy="329184"/>
          </a:xfrm>
          <a:prstGeom prst="rect">
            <a:avLst/>
          </a:prstGeom>
          <a:noFill/>
        </p:spPr>
        <p:txBody>
          <a:bodyPr wrap="square" anchor="t">
            <a:spAutoFit/>
          </a:bodyPr>
          <a:lstStyle/>
          <a:p>
            <a:pPr algn="l"/>
            <a:r>
              <a:rPr sz="1400" b="1">
                <a:solidFill>
                  <a:srgbClr val="F59E0B"/>
                </a:solidFill>
                <a:latin typeface="Arial"/>
              </a:rPr>
              <a:t>Constrain</a:t>
            </a:r>
          </a:p>
        </p:txBody>
      </p:sp>
      <p:sp>
        <p:nvSpPr>
          <p:cNvPr id="31" name="TextBox 30"/>
          <p:cNvSpPr txBox="1"/>
          <p:nvPr/>
        </p:nvSpPr>
        <p:spPr>
          <a:xfrm>
            <a:off x="8085124" y="2487168"/>
            <a:ext cx="1009497" cy="2852928"/>
          </a:xfrm>
          <a:prstGeom prst="rect">
            <a:avLst/>
          </a:prstGeom>
          <a:noFill/>
        </p:spPr>
        <p:txBody>
          <a:bodyPr wrap="square" anchor="t">
            <a:spAutoFit/>
          </a:bodyPr>
          <a:lstStyle/>
          <a:p>
            <a:pPr algn="l"/>
            <a:r>
              <a:rPr sz="1150" b="0">
                <a:solidFill>
                  <a:srgbClr val="161B26"/>
                </a:solidFill>
                <a:latin typeface="Arial"/>
              </a:rPr>
              <a:t>Forbid invented facts, unsupported causation and decorative clutter.</a:t>
            </a:r>
          </a:p>
        </p:txBody>
      </p:sp>
      <p:sp>
        <p:nvSpPr>
          <p:cNvPr id="32" name="Rounded Rectangle 31"/>
          <p:cNvSpPr/>
          <p:nvPr/>
        </p:nvSpPr>
        <p:spPr>
          <a:xfrm>
            <a:off x="9478670" y="1920240"/>
            <a:ext cx="1997049" cy="3566160"/>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9478670" y="1920240"/>
            <a:ext cx="73152" cy="3566160"/>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9679838" y="2139696"/>
            <a:ext cx="438912" cy="438912"/>
          </a:xfrm>
          <a:prstGeom prst="round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679838" y="2148840"/>
            <a:ext cx="438912" cy="420624"/>
          </a:xfrm>
          <a:prstGeom prst="rect">
            <a:avLst/>
          </a:prstGeom>
          <a:noFill/>
        </p:spPr>
        <p:txBody>
          <a:bodyPr wrap="square" anchor="ctr">
            <a:spAutoFit/>
          </a:bodyPr>
          <a:lstStyle/>
          <a:p>
            <a:pPr algn="ctr"/>
            <a:r>
              <a:rPr sz="1400" b="1">
                <a:solidFill>
                  <a:srgbClr val="FFFFFF"/>
                </a:solidFill>
                <a:latin typeface="Arial"/>
              </a:rPr>
              <a:t>5</a:t>
            </a:r>
          </a:p>
        </p:txBody>
      </p:sp>
      <p:sp>
        <p:nvSpPr>
          <p:cNvPr id="36" name="TextBox 35"/>
          <p:cNvSpPr txBox="1"/>
          <p:nvPr/>
        </p:nvSpPr>
        <p:spPr>
          <a:xfrm>
            <a:off x="10283342" y="2103120"/>
            <a:ext cx="1009497" cy="329184"/>
          </a:xfrm>
          <a:prstGeom prst="rect">
            <a:avLst/>
          </a:prstGeom>
          <a:noFill/>
        </p:spPr>
        <p:txBody>
          <a:bodyPr wrap="square" anchor="t">
            <a:spAutoFit/>
          </a:bodyPr>
          <a:lstStyle/>
          <a:p>
            <a:pPr algn="l"/>
            <a:r>
              <a:rPr sz="1400" b="1">
                <a:solidFill>
                  <a:srgbClr val="1F6FEB"/>
                </a:solidFill>
                <a:latin typeface="Arial"/>
              </a:rPr>
              <a:t>Generate</a:t>
            </a:r>
          </a:p>
        </p:txBody>
      </p:sp>
      <p:sp>
        <p:nvSpPr>
          <p:cNvPr id="37" name="TextBox 36"/>
          <p:cNvSpPr txBox="1"/>
          <p:nvPr/>
        </p:nvSpPr>
        <p:spPr>
          <a:xfrm>
            <a:off x="10283342" y="2487168"/>
            <a:ext cx="1009497" cy="2852928"/>
          </a:xfrm>
          <a:prstGeom prst="rect">
            <a:avLst/>
          </a:prstGeom>
          <a:noFill/>
        </p:spPr>
        <p:txBody>
          <a:bodyPr wrap="square" anchor="t">
            <a:spAutoFit/>
          </a:bodyPr>
          <a:lstStyle/>
          <a:p>
            <a:pPr algn="l"/>
            <a:r>
              <a:rPr sz="1150" b="0">
                <a:solidFill>
                  <a:srgbClr val="161B26"/>
                </a:solidFill>
                <a:latin typeface="Arial"/>
              </a:rPr>
              <a:t>Request two wireframe directions, then select by evidence fit.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7C3AED"/>
          </a:solidFill>
          <a:ln>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84048"/>
            <a:ext cx="10789920" cy="320040"/>
          </a:xfrm>
          <a:prstGeom prst="rect">
            <a:avLst/>
          </a:prstGeom>
          <a:noFill/>
        </p:spPr>
        <p:txBody>
          <a:bodyPr wrap="square" anchor="t">
            <a:spAutoFit/>
          </a:bodyPr>
          <a:lstStyle/>
          <a:p>
            <a:pPr algn="l"/>
            <a:r>
              <a:rPr sz="1100" b="1">
                <a:solidFill>
                  <a:srgbClr val="7C3AED"/>
                </a:solidFill>
                <a:latin typeface="Arial"/>
              </a:rPr>
              <a:t>ACTIVITY 02 · EXAMPLE</a:t>
            </a:r>
          </a:p>
        </p:txBody>
      </p:sp>
      <p:sp>
        <p:nvSpPr>
          <p:cNvPr id="5" name="TextBox 4"/>
          <p:cNvSpPr txBox="1"/>
          <p:nvPr/>
        </p:nvSpPr>
        <p:spPr>
          <a:xfrm>
            <a:off x="658368" y="749808"/>
            <a:ext cx="10789920" cy="658368"/>
          </a:xfrm>
          <a:prstGeom prst="rect">
            <a:avLst/>
          </a:prstGeom>
          <a:noFill/>
        </p:spPr>
        <p:txBody>
          <a:bodyPr wrap="square" anchor="t">
            <a:spAutoFit/>
          </a:bodyPr>
          <a:lstStyle/>
          <a:p>
            <a:pPr algn="l"/>
            <a:r>
              <a:rPr sz="2700" b="1">
                <a:solidFill>
                  <a:srgbClr val="161B26"/>
                </a:solidFill>
                <a:latin typeface="Arial"/>
              </a:rPr>
              <a:t>Worked Output</a:t>
            </a:r>
          </a:p>
        </p:txBody>
      </p:sp>
      <p:sp>
        <p:nvSpPr>
          <p:cNvPr id="6" name="Rectangle 5"/>
          <p:cNvSpPr/>
          <p:nvPr/>
        </p:nvSpPr>
        <p:spPr>
          <a:xfrm>
            <a:off x="658368" y="1444752"/>
            <a:ext cx="10881360" cy="18288"/>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9875520" cy="201168"/>
          </a:xfrm>
          <a:prstGeom prst="rect">
            <a:avLst/>
          </a:prstGeom>
          <a:noFill/>
        </p:spPr>
        <p:txBody>
          <a:bodyPr wrap="square" anchor="t">
            <a:spAutoFit/>
          </a:bodyPr>
          <a:lstStyle/>
          <a:p>
            <a:pPr algn="l"/>
            <a:r>
              <a:rPr sz="800" b="0">
                <a:solidFill>
                  <a:srgbClr val="5B6372"/>
                </a:solidFill>
                <a:latin typeface="Arial"/>
              </a:rPr>
              <a:t>TGS-2026064178 · ACTIVITY PRACTICE · Tertiary Infotech Academy Pte Ltd</a:t>
            </a:r>
          </a:p>
        </p:txBody>
      </p:sp>
      <p:sp>
        <p:nvSpPr>
          <p:cNvPr id="8" name="Rounded Rectangle 7"/>
          <p:cNvSpPr/>
          <p:nvPr/>
        </p:nvSpPr>
        <p:spPr>
          <a:xfrm>
            <a:off x="731520" y="1783080"/>
            <a:ext cx="3401568" cy="1719072"/>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31520" y="1783080"/>
            <a:ext cx="73152" cy="1719072"/>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932688" y="2002536"/>
            <a:ext cx="438912" cy="438912"/>
          </a:xfrm>
          <a:prstGeom prst="round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32688" y="2011680"/>
            <a:ext cx="438912" cy="420624"/>
          </a:xfrm>
          <a:prstGeom prst="rect">
            <a:avLst/>
          </a:prstGeom>
          <a:noFill/>
        </p:spPr>
        <p:txBody>
          <a:bodyPr wrap="square" anchor="ctr">
            <a:spAutoFit/>
          </a:bodyPr>
          <a:lstStyle/>
          <a:p>
            <a:pPr algn="ctr"/>
            <a:r>
              <a:rPr sz="1400" b="1">
                <a:solidFill>
                  <a:srgbClr val="FFFFFF"/>
                </a:solidFill>
                <a:latin typeface="Arial"/>
              </a:rPr>
              <a:t>1</a:t>
            </a:r>
          </a:p>
        </p:txBody>
      </p:sp>
      <p:sp>
        <p:nvSpPr>
          <p:cNvPr id="12" name="TextBox 11"/>
          <p:cNvSpPr txBox="1"/>
          <p:nvPr/>
        </p:nvSpPr>
        <p:spPr>
          <a:xfrm>
            <a:off x="1536192" y="1965960"/>
            <a:ext cx="2414016" cy="329184"/>
          </a:xfrm>
          <a:prstGeom prst="rect">
            <a:avLst/>
          </a:prstGeom>
          <a:noFill/>
        </p:spPr>
        <p:txBody>
          <a:bodyPr wrap="square" anchor="t">
            <a:spAutoFit/>
          </a:bodyPr>
          <a:lstStyle/>
          <a:p>
            <a:pPr algn="l"/>
            <a:r>
              <a:rPr sz="1400" b="1">
                <a:solidFill>
                  <a:srgbClr val="1F6FEB"/>
                </a:solidFill>
                <a:latin typeface="Arial"/>
              </a:rPr>
              <a:t>Hook</a:t>
            </a:r>
          </a:p>
        </p:txBody>
      </p:sp>
      <p:sp>
        <p:nvSpPr>
          <p:cNvPr id="13" name="TextBox 12"/>
          <p:cNvSpPr txBox="1"/>
          <p:nvPr/>
        </p:nvSpPr>
        <p:spPr>
          <a:xfrm>
            <a:off x="1536192" y="2350008"/>
            <a:ext cx="2414016" cy="1005839"/>
          </a:xfrm>
          <a:prstGeom prst="rect">
            <a:avLst/>
          </a:prstGeom>
          <a:noFill/>
        </p:spPr>
        <p:txBody>
          <a:bodyPr wrap="square" anchor="t">
            <a:spAutoFit/>
          </a:bodyPr>
          <a:lstStyle/>
          <a:p>
            <a:pPr algn="l"/>
            <a:r>
              <a:rPr sz="1150" b="0">
                <a:solidFill>
                  <a:srgbClr val="161B26"/>
                </a:solidFill>
                <a:latin typeface="Arial"/>
              </a:rPr>
              <a:t>Title states the audience-relevant message.</a:t>
            </a:r>
          </a:p>
        </p:txBody>
      </p:sp>
      <p:sp>
        <p:nvSpPr>
          <p:cNvPr id="14" name="Rounded Rectangle 13"/>
          <p:cNvSpPr/>
          <p:nvPr/>
        </p:nvSpPr>
        <p:spPr>
          <a:xfrm>
            <a:off x="4315968" y="1783080"/>
            <a:ext cx="3401568" cy="1719072"/>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15968" y="1783080"/>
            <a:ext cx="73152" cy="1719072"/>
          </a:xfrm>
          <a:prstGeom prst="rect">
            <a:avLst/>
          </a:prstGeom>
          <a:solidFill>
            <a:srgbClr val="10B981"/>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4517136" y="2002536"/>
            <a:ext cx="438912" cy="438912"/>
          </a:xfrm>
          <a:prstGeom prst="roundRect">
            <a:avLst/>
          </a:prstGeom>
          <a:solidFill>
            <a:srgbClr val="10B981"/>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17136" y="2011680"/>
            <a:ext cx="438912" cy="420624"/>
          </a:xfrm>
          <a:prstGeom prst="rect">
            <a:avLst/>
          </a:prstGeom>
          <a:noFill/>
        </p:spPr>
        <p:txBody>
          <a:bodyPr wrap="square" anchor="ctr">
            <a:spAutoFit/>
          </a:bodyPr>
          <a:lstStyle/>
          <a:p>
            <a:pPr algn="ctr"/>
            <a:r>
              <a:rPr sz="1400" b="1">
                <a:solidFill>
                  <a:srgbClr val="FFFFFF"/>
                </a:solidFill>
                <a:latin typeface="Arial"/>
              </a:rPr>
              <a:t>2</a:t>
            </a:r>
          </a:p>
        </p:txBody>
      </p:sp>
      <p:sp>
        <p:nvSpPr>
          <p:cNvPr id="18" name="TextBox 17"/>
          <p:cNvSpPr txBox="1"/>
          <p:nvPr/>
        </p:nvSpPr>
        <p:spPr>
          <a:xfrm>
            <a:off x="5120640" y="1965960"/>
            <a:ext cx="2414016" cy="329184"/>
          </a:xfrm>
          <a:prstGeom prst="rect">
            <a:avLst/>
          </a:prstGeom>
          <a:noFill/>
        </p:spPr>
        <p:txBody>
          <a:bodyPr wrap="square" anchor="t">
            <a:spAutoFit/>
          </a:bodyPr>
          <a:lstStyle/>
          <a:p>
            <a:pPr algn="l"/>
            <a:r>
              <a:rPr sz="1400" b="1">
                <a:solidFill>
                  <a:srgbClr val="10B981"/>
                </a:solidFill>
                <a:latin typeface="Arial"/>
              </a:rPr>
              <a:t>Context</a:t>
            </a:r>
          </a:p>
        </p:txBody>
      </p:sp>
      <p:sp>
        <p:nvSpPr>
          <p:cNvPr id="19" name="TextBox 18"/>
          <p:cNvSpPr txBox="1"/>
          <p:nvPr/>
        </p:nvSpPr>
        <p:spPr>
          <a:xfrm>
            <a:off x="5120640" y="2350008"/>
            <a:ext cx="2414016" cy="1005839"/>
          </a:xfrm>
          <a:prstGeom prst="rect">
            <a:avLst/>
          </a:prstGeom>
          <a:noFill/>
        </p:spPr>
        <p:txBody>
          <a:bodyPr wrap="square" anchor="t">
            <a:spAutoFit/>
          </a:bodyPr>
          <a:lstStyle/>
          <a:p>
            <a:pPr algn="l"/>
            <a:r>
              <a:rPr sz="1150" b="0">
                <a:solidFill>
                  <a:srgbClr val="161B26"/>
                </a:solidFill>
                <a:latin typeface="Arial"/>
              </a:rPr>
              <a:t>Source, timeframe, unit and scope.</a:t>
            </a:r>
          </a:p>
        </p:txBody>
      </p:sp>
      <p:sp>
        <p:nvSpPr>
          <p:cNvPr id="20" name="Rounded Rectangle 19"/>
          <p:cNvSpPr/>
          <p:nvPr/>
        </p:nvSpPr>
        <p:spPr>
          <a:xfrm>
            <a:off x="7900416" y="1783080"/>
            <a:ext cx="3401568" cy="1719072"/>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900416" y="1783080"/>
            <a:ext cx="73152" cy="1719072"/>
          </a:xfrm>
          <a:prstGeom prst="rect">
            <a:avLst/>
          </a:prstGeom>
          <a:solidFill>
            <a:srgbClr val="7C3AED"/>
          </a:solidFill>
          <a:ln>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8101584" y="2002536"/>
            <a:ext cx="438912" cy="438912"/>
          </a:xfrm>
          <a:prstGeom prst="roundRect">
            <a:avLst/>
          </a:prstGeom>
          <a:solidFill>
            <a:srgbClr val="7C3AED"/>
          </a:solidFill>
          <a:ln>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101584" y="2011680"/>
            <a:ext cx="438912" cy="420624"/>
          </a:xfrm>
          <a:prstGeom prst="rect">
            <a:avLst/>
          </a:prstGeom>
          <a:noFill/>
        </p:spPr>
        <p:txBody>
          <a:bodyPr wrap="square" anchor="ctr">
            <a:spAutoFit/>
          </a:bodyPr>
          <a:lstStyle/>
          <a:p>
            <a:pPr algn="ctr"/>
            <a:r>
              <a:rPr sz="1400" b="1">
                <a:solidFill>
                  <a:srgbClr val="FFFFFF"/>
                </a:solidFill>
                <a:latin typeface="Arial"/>
              </a:rPr>
              <a:t>3</a:t>
            </a:r>
          </a:p>
        </p:txBody>
      </p:sp>
      <p:sp>
        <p:nvSpPr>
          <p:cNvPr id="24" name="TextBox 23"/>
          <p:cNvSpPr txBox="1"/>
          <p:nvPr/>
        </p:nvSpPr>
        <p:spPr>
          <a:xfrm>
            <a:off x="8705088" y="1965960"/>
            <a:ext cx="2414016" cy="329184"/>
          </a:xfrm>
          <a:prstGeom prst="rect">
            <a:avLst/>
          </a:prstGeom>
          <a:noFill/>
        </p:spPr>
        <p:txBody>
          <a:bodyPr wrap="square" anchor="t">
            <a:spAutoFit/>
          </a:bodyPr>
          <a:lstStyle/>
          <a:p>
            <a:pPr algn="l"/>
            <a:r>
              <a:rPr sz="1400" b="1">
                <a:solidFill>
                  <a:srgbClr val="7C3AED"/>
                </a:solidFill>
                <a:latin typeface="Arial"/>
              </a:rPr>
              <a:t>Evidence</a:t>
            </a:r>
          </a:p>
        </p:txBody>
      </p:sp>
      <p:sp>
        <p:nvSpPr>
          <p:cNvPr id="25" name="TextBox 24"/>
          <p:cNvSpPr txBox="1"/>
          <p:nvPr/>
        </p:nvSpPr>
        <p:spPr>
          <a:xfrm>
            <a:off x="8705088" y="2350008"/>
            <a:ext cx="2414016" cy="1005839"/>
          </a:xfrm>
          <a:prstGeom prst="rect">
            <a:avLst/>
          </a:prstGeom>
          <a:noFill/>
        </p:spPr>
        <p:txBody>
          <a:bodyPr wrap="square" anchor="t">
            <a:spAutoFit/>
          </a:bodyPr>
          <a:lstStyle/>
          <a:p>
            <a:pPr algn="l"/>
            <a:r>
              <a:rPr sz="1150" b="0">
                <a:solidFill>
                  <a:srgbClr val="161B26"/>
                </a:solidFill>
                <a:latin typeface="Arial"/>
              </a:rPr>
              <a:t>One primary chart or process carries the proof.</a:t>
            </a:r>
          </a:p>
        </p:txBody>
      </p:sp>
      <p:sp>
        <p:nvSpPr>
          <p:cNvPr id="26" name="Rounded Rectangle 25"/>
          <p:cNvSpPr/>
          <p:nvPr/>
        </p:nvSpPr>
        <p:spPr>
          <a:xfrm>
            <a:off x="731520" y="3776472"/>
            <a:ext cx="3401568" cy="1719072"/>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31520" y="3776472"/>
            <a:ext cx="73152" cy="1719072"/>
          </a:xfrm>
          <a:prstGeom prst="rect">
            <a:avLst/>
          </a:prstGeom>
          <a:solidFill>
            <a:srgbClr val="F59E0B"/>
          </a:solidFill>
          <a:ln>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932688" y="3995928"/>
            <a:ext cx="438912" cy="438912"/>
          </a:xfrm>
          <a:prstGeom prst="roundRect">
            <a:avLst/>
          </a:prstGeom>
          <a:solidFill>
            <a:srgbClr val="F59E0B"/>
          </a:solidFill>
          <a:ln>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32688" y="4005072"/>
            <a:ext cx="438912" cy="420624"/>
          </a:xfrm>
          <a:prstGeom prst="rect">
            <a:avLst/>
          </a:prstGeom>
          <a:noFill/>
        </p:spPr>
        <p:txBody>
          <a:bodyPr wrap="square" anchor="ctr">
            <a:spAutoFit/>
          </a:bodyPr>
          <a:lstStyle/>
          <a:p>
            <a:pPr algn="ctr"/>
            <a:r>
              <a:rPr sz="1400" b="1">
                <a:solidFill>
                  <a:srgbClr val="FFFFFF"/>
                </a:solidFill>
                <a:latin typeface="Arial"/>
              </a:rPr>
              <a:t>4</a:t>
            </a:r>
          </a:p>
        </p:txBody>
      </p:sp>
      <p:sp>
        <p:nvSpPr>
          <p:cNvPr id="30" name="TextBox 29"/>
          <p:cNvSpPr txBox="1"/>
          <p:nvPr/>
        </p:nvSpPr>
        <p:spPr>
          <a:xfrm>
            <a:off x="1536192" y="3959352"/>
            <a:ext cx="2414016" cy="329184"/>
          </a:xfrm>
          <a:prstGeom prst="rect">
            <a:avLst/>
          </a:prstGeom>
          <a:noFill/>
        </p:spPr>
        <p:txBody>
          <a:bodyPr wrap="square" anchor="t">
            <a:spAutoFit/>
          </a:bodyPr>
          <a:lstStyle/>
          <a:p>
            <a:pPr algn="l"/>
            <a:r>
              <a:rPr sz="1400" b="1">
                <a:solidFill>
                  <a:srgbClr val="F59E0B"/>
                </a:solidFill>
                <a:latin typeface="Arial"/>
              </a:rPr>
              <a:t>Guidance</a:t>
            </a:r>
          </a:p>
        </p:txBody>
      </p:sp>
      <p:sp>
        <p:nvSpPr>
          <p:cNvPr id="31" name="TextBox 30"/>
          <p:cNvSpPr txBox="1"/>
          <p:nvPr/>
        </p:nvSpPr>
        <p:spPr>
          <a:xfrm>
            <a:off x="1536192" y="4343400"/>
            <a:ext cx="2414016" cy="1005839"/>
          </a:xfrm>
          <a:prstGeom prst="rect">
            <a:avLst/>
          </a:prstGeom>
          <a:noFill/>
        </p:spPr>
        <p:txBody>
          <a:bodyPr wrap="square" anchor="t">
            <a:spAutoFit/>
          </a:bodyPr>
          <a:lstStyle/>
          <a:p>
            <a:pPr algn="l"/>
            <a:r>
              <a:rPr sz="1150" b="0">
                <a:solidFill>
                  <a:srgbClr val="161B26"/>
                </a:solidFill>
                <a:latin typeface="Arial"/>
              </a:rPr>
              <a:t>Arrows, order and whitespace control the reading path.</a:t>
            </a:r>
          </a:p>
        </p:txBody>
      </p:sp>
      <p:sp>
        <p:nvSpPr>
          <p:cNvPr id="32" name="Rounded Rectangle 31"/>
          <p:cNvSpPr/>
          <p:nvPr/>
        </p:nvSpPr>
        <p:spPr>
          <a:xfrm>
            <a:off x="4315968" y="3776472"/>
            <a:ext cx="3401568" cy="1719072"/>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4315968" y="3776472"/>
            <a:ext cx="73152" cy="1719072"/>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4517136" y="3995928"/>
            <a:ext cx="438912" cy="438912"/>
          </a:xfrm>
          <a:prstGeom prst="round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517136" y="4005072"/>
            <a:ext cx="438912" cy="420624"/>
          </a:xfrm>
          <a:prstGeom prst="rect">
            <a:avLst/>
          </a:prstGeom>
          <a:noFill/>
        </p:spPr>
        <p:txBody>
          <a:bodyPr wrap="square" anchor="ctr">
            <a:spAutoFit/>
          </a:bodyPr>
          <a:lstStyle/>
          <a:p>
            <a:pPr algn="ctr"/>
            <a:r>
              <a:rPr sz="1400" b="1">
                <a:solidFill>
                  <a:srgbClr val="FFFFFF"/>
                </a:solidFill>
                <a:latin typeface="Arial"/>
              </a:rPr>
              <a:t>5</a:t>
            </a:r>
          </a:p>
        </p:txBody>
      </p:sp>
      <p:sp>
        <p:nvSpPr>
          <p:cNvPr id="36" name="TextBox 35"/>
          <p:cNvSpPr txBox="1"/>
          <p:nvPr/>
        </p:nvSpPr>
        <p:spPr>
          <a:xfrm>
            <a:off x="5120640" y="3959352"/>
            <a:ext cx="2414016" cy="329184"/>
          </a:xfrm>
          <a:prstGeom prst="rect">
            <a:avLst/>
          </a:prstGeom>
          <a:noFill/>
        </p:spPr>
        <p:txBody>
          <a:bodyPr wrap="square" anchor="t">
            <a:spAutoFit/>
          </a:bodyPr>
          <a:lstStyle/>
          <a:p>
            <a:pPr algn="l"/>
            <a:r>
              <a:rPr sz="1400" b="1">
                <a:solidFill>
                  <a:srgbClr val="1F6FEB"/>
                </a:solidFill>
                <a:latin typeface="Arial"/>
              </a:rPr>
              <a:t>Action</a:t>
            </a:r>
          </a:p>
        </p:txBody>
      </p:sp>
      <p:sp>
        <p:nvSpPr>
          <p:cNvPr id="37" name="TextBox 36"/>
          <p:cNvSpPr txBox="1"/>
          <p:nvPr/>
        </p:nvSpPr>
        <p:spPr>
          <a:xfrm>
            <a:off x="5120640" y="4343400"/>
            <a:ext cx="2414016" cy="1005839"/>
          </a:xfrm>
          <a:prstGeom prst="rect">
            <a:avLst/>
          </a:prstGeom>
          <a:noFill/>
        </p:spPr>
        <p:txBody>
          <a:bodyPr wrap="square" anchor="t">
            <a:spAutoFit/>
          </a:bodyPr>
          <a:lstStyle/>
          <a:p>
            <a:pPr algn="l"/>
            <a:r>
              <a:rPr sz="1150" b="0">
                <a:solidFill>
                  <a:srgbClr val="161B26"/>
                </a:solidFill>
                <a:latin typeface="Arial"/>
              </a:rPr>
              <a:t>A concise implication or next step.</a:t>
            </a:r>
          </a:p>
        </p:txBody>
      </p:sp>
      <p:sp>
        <p:nvSpPr>
          <p:cNvPr id="38" name="Rounded Rectangle 37"/>
          <p:cNvSpPr/>
          <p:nvPr/>
        </p:nvSpPr>
        <p:spPr>
          <a:xfrm>
            <a:off x="7900416" y="3776472"/>
            <a:ext cx="3401568" cy="1719072"/>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7900416" y="3776472"/>
            <a:ext cx="73152" cy="1719072"/>
          </a:xfrm>
          <a:prstGeom prst="rect">
            <a:avLst/>
          </a:prstGeom>
          <a:solidFill>
            <a:srgbClr val="10B981"/>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8101584" y="3995928"/>
            <a:ext cx="438912" cy="438912"/>
          </a:xfrm>
          <a:prstGeom prst="roundRect">
            <a:avLst/>
          </a:prstGeom>
          <a:solidFill>
            <a:srgbClr val="10B981"/>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101584" y="4005072"/>
            <a:ext cx="438912" cy="420624"/>
          </a:xfrm>
          <a:prstGeom prst="rect">
            <a:avLst/>
          </a:prstGeom>
          <a:noFill/>
        </p:spPr>
        <p:txBody>
          <a:bodyPr wrap="square" anchor="ctr">
            <a:spAutoFit/>
          </a:bodyPr>
          <a:lstStyle/>
          <a:p>
            <a:pPr algn="ctr"/>
            <a:r>
              <a:rPr sz="1400" b="1">
                <a:solidFill>
                  <a:srgbClr val="FFFFFF"/>
                </a:solidFill>
                <a:latin typeface="Arial"/>
              </a:rPr>
              <a:t>6</a:t>
            </a:r>
          </a:p>
        </p:txBody>
      </p:sp>
      <p:sp>
        <p:nvSpPr>
          <p:cNvPr id="42" name="TextBox 41"/>
          <p:cNvSpPr txBox="1"/>
          <p:nvPr/>
        </p:nvSpPr>
        <p:spPr>
          <a:xfrm>
            <a:off x="8705088" y="3959352"/>
            <a:ext cx="2414016" cy="329184"/>
          </a:xfrm>
          <a:prstGeom prst="rect">
            <a:avLst/>
          </a:prstGeom>
          <a:noFill/>
        </p:spPr>
        <p:txBody>
          <a:bodyPr wrap="square" anchor="t">
            <a:spAutoFit/>
          </a:bodyPr>
          <a:lstStyle/>
          <a:p>
            <a:pPr algn="l"/>
            <a:r>
              <a:rPr sz="1400" b="1">
                <a:solidFill>
                  <a:srgbClr val="10B981"/>
                </a:solidFill>
                <a:latin typeface="Arial"/>
              </a:rPr>
              <a:t>Footer</a:t>
            </a:r>
          </a:p>
        </p:txBody>
      </p:sp>
      <p:sp>
        <p:nvSpPr>
          <p:cNvPr id="43" name="TextBox 42"/>
          <p:cNvSpPr txBox="1"/>
          <p:nvPr/>
        </p:nvSpPr>
        <p:spPr>
          <a:xfrm>
            <a:off x="8705088" y="4343400"/>
            <a:ext cx="2414016" cy="1005839"/>
          </a:xfrm>
          <a:prstGeom prst="rect">
            <a:avLst/>
          </a:prstGeom>
          <a:noFill/>
        </p:spPr>
        <p:txBody>
          <a:bodyPr wrap="square" anchor="t">
            <a:spAutoFit/>
          </a:bodyPr>
          <a:lstStyle/>
          <a:p>
            <a:pPr algn="l"/>
            <a:r>
              <a:rPr sz="1150" b="0">
                <a:solidFill>
                  <a:srgbClr val="161B26"/>
                </a:solidFill>
                <a:latin typeface="Arial"/>
              </a:rPr>
              <a:t>Source, owner, date and accessibility notes.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84048"/>
            <a:ext cx="10789920" cy="320040"/>
          </a:xfrm>
          <a:prstGeom prst="rect">
            <a:avLst/>
          </a:prstGeom>
          <a:noFill/>
        </p:spPr>
        <p:txBody>
          <a:bodyPr wrap="square" anchor="t">
            <a:spAutoFit/>
          </a:bodyPr>
          <a:lstStyle/>
          <a:p>
            <a:pPr algn="l"/>
            <a:r>
              <a:rPr sz="1100" b="1">
                <a:solidFill>
                  <a:srgbClr val="1F6FEB"/>
                </a:solidFill>
                <a:latin typeface="Arial"/>
              </a:rPr>
              <a:t>ACTIVITY 02 · ACCEPTANCE</a:t>
            </a:r>
          </a:p>
        </p:txBody>
      </p:sp>
      <p:sp>
        <p:nvSpPr>
          <p:cNvPr id="5" name="TextBox 4"/>
          <p:cNvSpPr txBox="1"/>
          <p:nvPr/>
        </p:nvSpPr>
        <p:spPr>
          <a:xfrm>
            <a:off x="658368" y="749808"/>
            <a:ext cx="10789920" cy="658368"/>
          </a:xfrm>
          <a:prstGeom prst="rect">
            <a:avLst/>
          </a:prstGeom>
          <a:noFill/>
        </p:spPr>
        <p:txBody>
          <a:bodyPr wrap="square" anchor="t">
            <a:spAutoFit/>
          </a:bodyPr>
          <a:lstStyle/>
          <a:p>
            <a:pPr algn="l"/>
            <a:r>
              <a:rPr sz="2700" b="1">
                <a:solidFill>
                  <a:srgbClr val="161B26"/>
                </a:solidFill>
                <a:latin typeface="Arial"/>
              </a:rPr>
              <a:t>What Good Looks Like</a:t>
            </a:r>
          </a:p>
        </p:txBody>
      </p:sp>
      <p:sp>
        <p:nvSpPr>
          <p:cNvPr id="6" name="Rectangle 5"/>
          <p:cNvSpPr/>
          <p:nvPr/>
        </p:nvSpPr>
        <p:spPr>
          <a:xfrm>
            <a:off x="658368" y="1444752"/>
            <a:ext cx="10881360" cy="18288"/>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9875520" cy="201168"/>
          </a:xfrm>
          <a:prstGeom prst="rect">
            <a:avLst/>
          </a:prstGeom>
          <a:noFill/>
        </p:spPr>
        <p:txBody>
          <a:bodyPr wrap="square" anchor="t">
            <a:spAutoFit/>
          </a:bodyPr>
          <a:lstStyle/>
          <a:p>
            <a:pPr algn="l"/>
            <a:r>
              <a:rPr sz="800" b="0">
                <a:solidFill>
                  <a:srgbClr val="5B6372"/>
                </a:solidFill>
                <a:latin typeface="Arial"/>
              </a:rPr>
              <a:t>TGS-2026064178 · ACTIVITY PRACTICE · Tertiary Infotech Academy Pte Ltd</a:t>
            </a:r>
          </a:p>
        </p:txBody>
      </p:sp>
      <p:sp>
        <p:nvSpPr>
          <p:cNvPr id="8" name="Rounded Rectangle 7"/>
          <p:cNvSpPr/>
          <p:nvPr/>
        </p:nvSpPr>
        <p:spPr>
          <a:xfrm>
            <a:off x="749808" y="1810512"/>
            <a:ext cx="10652760" cy="1005840"/>
          </a:xfrm>
          <a:prstGeom prst="round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2011680"/>
            <a:ext cx="10058400" cy="566928"/>
          </a:xfrm>
          <a:prstGeom prst="rect">
            <a:avLst/>
          </a:prstGeom>
          <a:noFill/>
        </p:spPr>
        <p:txBody>
          <a:bodyPr wrap="square" anchor="ctr">
            <a:spAutoFit/>
          </a:bodyPr>
          <a:lstStyle/>
          <a:p>
            <a:pPr algn="ctr"/>
            <a:r>
              <a:rPr sz="1900" b="1">
                <a:solidFill>
                  <a:srgbClr val="FFFFFF"/>
                </a:solidFill>
                <a:latin typeface="Arial"/>
              </a:rPr>
              <a:t>A structured prompt brief, two AI wireframe directions and one approved PowerPoint wireframe</a:t>
            </a:r>
          </a:p>
        </p:txBody>
      </p:sp>
      <p:sp>
        <p:nvSpPr>
          <p:cNvPr id="10" name="Rounded Rectangle 9"/>
          <p:cNvSpPr/>
          <p:nvPr/>
        </p:nvSpPr>
        <p:spPr>
          <a:xfrm>
            <a:off x="777240" y="3154680"/>
            <a:ext cx="5074920" cy="749808"/>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3154680"/>
            <a:ext cx="73152" cy="749808"/>
          </a:xfrm>
          <a:prstGeom prst="rect">
            <a:avLst/>
          </a:prstGeom>
          <a:solidFill>
            <a:srgbClr val="10B981"/>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978408" y="3374136"/>
            <a:ext cx="438912" cy="438912"/>
          </a:xfrm>
          <a:prstGeom prst="roundRect">
            <a:avLst/>
          </a:prstGeom>
          <a:solidFill>
            <a:srgbClr val="10B981"/>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78408" y="3383280"/>
            <a:ext cx="438912" cy="420624"/>
          </a:xfrm>
          <a:prstGeom prst="rect">
            <a:avLst/>
          </a:prstGeom>
          <a:noFill/>
        </p:spPr>
        <p:txBody>
          <a:bodyPr wrap="square" anchor="ctr">
            <a:spAutoFit/>
          </a:bodyPr>
          <a:lstStyle/>
          <a:p>
            <a:pPr algn="ctr"/>
            <a:r>
              <a:rPr sz="1400" b="1">
                <a:solidFill>
                  <a:srgbClr val="FFFFFF"/>
                </a:solidFill>
                <a:latin typeface="Arial"/>
              </a:rPr>
              <a:t>1</a:t>
            </a:r>
          </a:p>
        </p:txBody>
      </p:sp>
      <p:sp>
        <p:nvSpPr>
          <p:cNvPr id="14" name="TextBox 13"/>
          <p:cNvSpPr txBox="1"/>
          <p:nvPr/>
        </p:nvSpPr>
        <p:spPr>
          <a:xfrm>
            <a:off x="1581912" y="3337560"/>
            <a:ext cx="4087368" cy="329184"/>
          </a:xfrm>
          <a:prstGeom prst="rect">
            <a:avLst/>
          </a:prstGeom>
          <a:noFill/>
        </p:spPr>
        <p:txBody>
          <a:bodyPr wrap="square" anchor="t">
            <a:spAutoFit/>
          </a:bodyPr>
          <a:lstStyle/>
          <a:p>
            <a:pPr algn="l"/>
            <a:r>
              <a:rPr sz="1400" b="1">
                <a:solidFill>
                  <a:srgbClr val="10B981"/>
                </a:solidFill>
                <a:latin typeface="Arial"/>
              </a:rPr>
              <a:t>CHECK</a:t>
            </a:r>
          </a:p>
        </p:txBody>
      </p:sp>
      <p:sp>
        <p:nvSpPr>
          <p:cNvPr id="15" name="TextBox 14"/>
          <p:cNvSpPr txBox="1"/>
          <p:nvPr/>
        </p:nvSpPr>
        <p:spPr>
          <a:xfrm>
            <a:off x="1581912" y="3721608"/>
            <a:ext cx="4087368" cy="36575"/>
          </a:xfrm>
          <a:prstGeom prst="rect">
            <a:avLst/>
          </a:prstGeom>
          <a:noFill/>
        </p:spPr>
        <p:txBody>
          <a:bodyPr wrap="square" anchor="t">
            <a:spAutoFit/>
          </a:bodyPr>
          <a:lstStyle/>
          <a:p>
            <a:pPr algn="l"/>
            <a:r>
              <a:rPr sz="1150" b="0">
                <a:solidFill>
                  <a:srgbClr val="161B26"/>
                </a:solidFill>
                <a:latin typeface="Arial"/>
              </a:rPr>
              <a:t>Audience question and action are explicit</a:t>
            </a:r>
          </a:p>
        </p:txBody>
      </p:sp>
      <p:sp>
        <p:nvSpPr>
          <p:cNvPr id="16" name="Rounded Rectangle 15"/>
          <p:cNvSpPr/>
          <p:nvPr/>
        </p:nvSpPr>
        <p:spPr>
          <a:xfrm>
            <a:off x="6126479" y="3154680"/>
            <a:ext cx="5074920" cy="749808"/>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79" y="3154680"/>
            <a:ext cx="73152" cy="749808"/>
          </a:xfrm>
          <a:prstGeom prst="rect">
            <a:avLst/>
          </a:prstGeom>
          <a:solidFill>
            <a:srgbClr val="10B981"/>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327647" y="3374136"/>
            <a:ext cx="438912" cy="438912"/>
          </a:xfrm>
          <a:prstGeom prst="roundRect">
            <a:avLst/>
          </a:prstGeom>
          <a:solidFill>
            <a:srgbClr val="10B981"/>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27647" y="3383280"/>
            <a:ext cx="438912" cy="420624"/>
          </a:xfrm>
          <a:prstGeom prst="rect">
            <a:avLst/>
          </a:prstGeom>
          <a:noFill/>
        </p:spPr>
        <p:txBody>
          <a:bodyPr wrap="square" anchor="ctr">
            <a:spAutoFit/>
          </a:bodyPr>
          <a:lstStyle/>
          <a:p>
            <a:pPr algn="ctr"/>
            <a:r>
              <a:rPr sz="1400" b="1">
                <a:solidFill>
                  <a:srgbClr val="FFFFFF"/>
                </a:solidFill>
                <a:latin typeface="Arial"/>
              </a:rPr>
              <a:t>2</a:t>
            </a:r>
          </a:p>
        </p:txBody>
      </p:sp>
      <p:sp>
        <p:nvSpPr>
          <p:cNvPr id="20" name="TextBox 19"/>
          <p:cNvSpPr txBox="1"/>
          <p:nvPr/>
        </p:nvSpPr>
        <p:spPr>
          <a:xfrm>
            <a:off x="6931151" y="3337560"/>
            <a:ext cx="4087368" cy="329184"/>
          </a:xfrm>
          <a:prstGeom prst="rect">
            <a:avLst/>
          </a:prstGeom>
          <a:noFill/>
        </p:spPr>
        <p:txBody>
          <a:bodyPr wrap="square" anchor="t">
            <a:spAutoFit/>
          </a:bodyPr>
          <a:lstStyle/>
          <a:p>
            <a:pPr algn="l"/>
            <a:r>
              <a:rPr sz="1400" b="1">
                <a:solidFill>
                  <a:srgbClr val="10B981"/>
                </a:solidFill>
                <a:latin typeface="Arial"/>
              </a:rPr>
              <a:t>CHECK</a:t>
            </a:r>
          </a:p>
        </p:txBody>
      </p:sp>
      <p:sp>
        <p:nvSpPr>
          <p:cNvPr id="21" name="TextBox 20"/>
          <p:cNvSpPr txBox="1"/>
          <p:nvPr/>
        </p:nvSpPr>
        <p:spPr>
          <a:xfrm>
            <a:off x="6931151" y="3721608"/>
            <a:ext cx="4087368" cy="36575"/>
          </a:xfrm>
          <a:prstGeom prst="rect">
            <a:avLst/>
          </a:prstGeom>
          <a:noFill/>
        </p:spPr>
        <p:txBody>
          <a:bodyPr wrap="square" anchor="t">
            <a:spAutoFit/>
          </a:bodyPr>
          <a:lstStyle/>
          <a:p>
            <a:pPr algn="l"/>
            <a:r>
              <a:rPr sz="1150" b="0">
                <a:solidFill>
                  <a:srgbClr val="161B26"/>
                </a:solidFill>
                <a:latin typeface="Arial"/>
              </a:rPr>
              <a:t>Infographic form matches the relationship</a:t>
            </a:r>
          </a:p>
        </p:txBody>
      </p:sp>
      <p:sp>
        <p:nvSpPr>
          <p:cNvPr id="22" name="Rounded Rectangle 21"/>
          <p:cNvSpPr/>
          <p:nvPr/>
        </p:nvSpPr>
        <p:spPr>
          <a:xfrm>
            <a:off x="777240" y="4096512"/>
            <a:ext cx="5074920" cy="749808"/>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4096512"/>
            <a:ext cx="73152" cy="749808"/>
          </a:xfrm>
          <a:prstGeom prst="rect">
            <a:avLst/>
          </a:prstGeom>
          <a:solidFill>
            <a:srgbClr val="10B981"/>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978408" y="4315968"/>
            <a:ext cx="438912" cy="438912"/>
          </a:xfrm>
          <a:prstGeom prst="roundRect">
            <a:avLst/>
          </a:prstGeom>
          <a:solidFill>
            <a:srgbClr val="10B981"/>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78408" y="4325112"/>
            <a:ext cx="438912" cy="420624"/>
          </a:xfrm>
          <a:prstGeom prst="rect">
            <a:avLst/>
          </a:prstGeom>
          <a:noFill/>
        </p:spPr>
        <p:txBody>
          <a:bodyPr wrap="square" anchor="ctr">
            <a:spAutoFit/>
          </a:bodyPr>
          <a:lstStyle/>
          <a:p>
            <a:pPr algn="ctr"/>
            <a:r>
              <a:rPr sz="1400" b="1">
                <a:solidFill>
                  <a:srgbClr val="FFFFFF"/>
                </a:solidFill>
                <a:latin typeface="Arial"/>
              </a:rPr>
              <a:t>3</a:t>
            </a:r>
          </a:p>
        </p:txBody>
      </p:sp>
      <p:sp>
        <p:nvSpPr>
          <p:cNvPr id="26" name="TextBox 25"/>
          <p:cNvSpPr txBox="1"/>
          <p:nvPr/>
        </p:nvSpPr>
        <p:spPr>
          <a:xfrm>
            <a:off x="1581912" y="4279392"/>
            <a:ext cx="4087368" cy="329184"/>
          </a:xfrm>
          <a:prstGeom prst="rect">
            <a:avLst/>
          </a:prstGeom>
          <a:noFill/>
        </p:spPr>
        <p:txBody>
          <a:bodyPr wrap="square" anchor="t">
            <a:spAutoFit/>
          </a:bodyPr>
          <a:lstStyle/>
          <a:p>
            <a:pPr algn="l"/>
            <a:r>
              <a:rPr sz="1400" b="1">
                <a:solidFill>
                  <a:srgbClr val="10B981"/>
                </a:solidFill>
                <a:latin typeface="Arial"/>
              </a:rPr>
              <a:t>CHECK</a:t>
            </a:r>
          </a:p>
        </p:txBody>
      </p:sp>
      <p:sp>
        <p:nvSpPr>
          <p:cNvPr id="27" name="TextBox 26"/>
          <p:cNvSpPr txBox="1"/>
          <p:nvPr/>
        </p:nvSpPr>
        <p:spPr>
          <a:xfrm>
            <a:off x="1581912" y="4663440"/>
            <a:ext cx="4087368" cy="36575"/>
          </a:xfrm>
          <a:prstGeom prst="rect">
            <a:avLst/>
          </a:prstGeom>
          <a:noFill/>
        </p:spPr>
        <p:txBody>
          <a:bodyPr wrap="square" anchor="t">
            <a:spAutoFit/>
          </a:bodyPr>
          <a:lstStyle/>
          <a:p>
            <a:pPr algn="l"/>
            <a:r>
              <a:rPr sz="1150" b="0">
                <a:solidFill>
                  <a:srgbClr val="161B26"/>
                </a:solidFill>
                <a:latin typeface="Arial"/>
              </a:rPr>
              <a:t>Wireframe works without colour</a:t>
            </a:r>
          </a:p>
        </p:txBody>
      </p:sp>
      <p:sp>
        <p:nvSpPr>
          <p:cNvPr id="28" name="Rounded Rectangle 27"/>
          <p:cNvSpPr/>
          <p:nvPr/>
        </p:nvSpPr>
        <p:spPr>
          <a:xfrm>
            <a:off x="6126479" y="4096512"/>
            <a:ext cx="5074920" cy="749808"/>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126479" y="4096512"/>
            <a:ext cx="73152" cy="749808"/>
          </a:xfrm>
          <a:prstGeom prst="rect">
            <a:avLst/>
          </a:prstGeom>
          <a:solidFill>
            <a:srgbClr val="10B981"/>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6327647" y="4315968"/>
            <a:ext cx="438912" cy="438912"/>
          </a:xfrm>
          <a:prstGeom prst="roundRect">
            <a:avLst/>
          </a:prstGeom>
          <a:solidFill>
            <a:srgbClr val="10B981"/>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327647" y="4325112"/>
            <a:ext cx="438912" cy="420624"/>
          </a:xfrm>
          <a:prstGeom prst="rect">
            <a:avLst/>
          </a:prstGeom>
          <a:noFill/>
        </p:spPr>
        <p:txBody>
          <a:bodyPr wrap="square" anchor="ctr">
            <a:spAutoFit/>
          </a:bodyPr>
          <a:lstStyle/>
          <a:p>
            <a:pPr algn="ctr"/>
            <a:r>
              <a:rPr sz="1400" b="1">
                <a:solidFill>
                  <a:srgbClr val="FFFFFF"/>
                </a:solidFill>
                <a:latin typeface="Arial"/>
              </a:rPr>
              <a:t>4</a:t>
            </a:r>
          </a:p>
        </p:txBody>
      </p:sp>
      <p:sp>
        <p:nvSpPr>
          <p:cNvPr id="32" name="TextBox 31"/>
          <p:cNvSpPr txBox="1"/>
          <p:nvPr/>
        </p:nvSpPr>
        <p:spPr>
          <a:xfrm>
            <a:off x="6931151" y="4279392"/>
            <a:ext cx="4087368" cy="329184"/>
          </a:xfrm>
          <a:prstGeom prst="rect">
            <a:avLst/>
          </a:prstGeom>
          <a:noFill/>
        </p:spPr>
        <p:txBody>
          <a:bodyPr wrap="square" anchor="t">
            <a:spAutoFit/>
          </a:bodyPr>
          <a:lstStyle/>
          <a:p>
            <a:pPr algn="l"/>
            <a:r>
              <a:rPr sz="1400" b="1">
                <a:solidFill>
                  <a:srgbClr val="10B981"/>
                </a:solidFill>
                <a:latin typeface="Arial"/>
              </a:rPr>
              <a:t>CHECK</a:t>
            </a:r>
          </a:p>
        </p:txBody>
      </p:sp>
      <p:sp>
        <p:nvSpPr>
          <p:cNvPr id="33" name="TextBox 32"/>
          <p:cNvSpPr txBox="1"/>
          <p:nvPr/>
        </p:nvSpPr>
        <p:spPr>
          <a:xfrm>
            <a:off x="6931151" y="4663440"/>
            <a:ext cx="4087368" cy="36575"/>
          </a:xfrm>
          <a:prstGeom prst="rect">
            <a:avLst/>
          </a:prstGeom>
          <a:noFill/>
        </p:spPr>
        <p:txBody>
          <a:bodyPr wrap="square" anchor="t">
            <a:spAutoFit/>
          </a:bodyPr>
          <a:lstStyle/>
          <a:p>
            <a:pPr algn="l"/>
            <a:r>
              <a:rPr sz="1150" b="0">
                <a:solidFill>
                  <a:srgbClr val="161B26"/>
                </a:solidFill>
                <a:latin typeface="Arial"/>
              </a:rPr>
              <a:t>Reading order is obvious at thumbnail size</a:t>
            </a:r>
          </a:p>
        </p:txBody>
      </p:sp>
      <p:sp>
        <p:nvSpPr>
          <p:cNvPr id="34" name="Rounded Rectangle 33"/>
          <p:cNvSpPr/>
          <p:nvPr/>
        </p:nvSpPr>
        <p:spPr>
          <a:xfrm>
            <a:off x="777240" y="5038344"/>
            <a:ext cx="5074920" cy="749808"/>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777240" y="5038344"/>
            <a:ext cx="73152" cy="749808"/>
          </a:xfrm>
          <a:prstGeom prst="rect">
            <a:avLst/>
          </a:prstGeom>
          <a:solidFill>
            <a:srgbClr val="10B981"/>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978408" y="5257800"/>
            <a:ext cx="438912" cy="438912"/>
          </a:xfrm>
          <a:prstGeom prst="roundRect">
            <a:avLst/>
          </a:prstGeom>
          <a:solidFill>
            <a:srgbClr val="10B981"/>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78408" y="5266944"/>
            <a:ext cx="438912" cy="420624"/>
          </a:xfrm>
          <a:prstGeom prst="rect">
            <a:avLst/>
          </a:prstGeom>
          <a:noFill/>
        </p:spPr>
        <p:txBody>
          <a:bodyPr wrap="square" anchor="ctr">
            <a:spAutoFit/>
          </a:bodyPr>
          <a:lstStyle/>
          <a:p>
            <a:pPr algn="ctr"/>
            <a:r>
              <a:rPr sz="1400" b="1">
                <a:solidFill>
                  <a:srgbClr val="FFFFFF"/>
                </a:solidFill>
                <a:latin typeface="Arial"/>
              </a:rPr>
              <a:t>5</a:t>
            </a:r>
          </a:p>
        </p:txBody>
      </p:sp>
      <p:sp>
        <p:nvSpPr>
          <p:cNvPr id="38" name="TextBox 37"/>
          <p:cNvSpPr txBox="1"/>
          <p:nvPr/>
        </p:nvSpPr>
        <p:spPr>
          <a:xfrm>
            <a:off x="1581912" y="5221224"/>
            <a:ext cx="4087368" cy="329184"/>
          </a:xfrm>
          <a:prstGeom prst="rect">
            <a:avLst/>
          </a:prstGeom>
          <a:noFill/>
        </p:spPr>
        <p:txBody>
          <a:bodyPr wrap="square" anchor="t">
            <a:spAutoFit/>
          </a:bodyPr>
          <a:lstStyle/>
          <a:p>
            <a:pPr algn="l"/>
            <a:r>
              <a:rPr sz="1400" b="1">
                <a:solidFill>
                  <a:srgbClr val="10B981"/>
                </a:solidFill>
                <a:latin typeface="Arial"/>
              </a:rPr>
              <a:t>CHECK</a:t>
            </a:r>
          </a:p>
        </p:txBody>
      </p:sp>
      <p:sp>
        <p:nvSpPr>
          <p:cNvPr id="39" name="TextBox 38"/>
          <p:cNvSpPr txBox="1"/>
          <p:nvPr/>
        </p:nvSpPr>
        <p:spPr>
          <a:xfrm>
            <a:off x="1581912" y="5605272"/>
            <a:ext cx="4087368" cy="36575"/>
          </a:xfrm>
          <a:prstGeom prst="rect">
            <a:avLst/>
          </a:prstGeom>
          <a:noFill/>
        </p:spPr>
        <p:txBody>
          <a:bodyPr wrap="square" anchor="t">
            <a:spAutoFit/>
          </a:bodyPr>
          <a:lstStyle/>
          <a:p>
            <a:pPr algn="l"/>
            <a:r>
              <a:rPr sz="1150" b="0">
                <a:solidFill>
                  <a:srgbClr val="161B26"/>
                </a:solidFill>
                <a:latin typeface="Arial"/>
              </a:rPr>
              <a:t>Space exists for source and accessibility notes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