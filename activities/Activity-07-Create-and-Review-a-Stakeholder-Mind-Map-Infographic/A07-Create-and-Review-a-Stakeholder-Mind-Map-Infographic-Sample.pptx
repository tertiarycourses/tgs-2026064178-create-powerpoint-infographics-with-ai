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85800"/>
            <a:ext cx="10789920" cy="365760"/>
          </a:xfrm>
          <a:prstGeom prst="rect">
            <a:avLst/>
          </a:prstGeom>
          <a:noFill/>
        </p:spPr>
        <p:txBody>
          <a:bodyPr wrap="square" anchor="t">
            <a:spAutoFit/>
          </a:bodyPr>
          <a:lstStyle/>
          <a:p>
            <a:pPr algn="l"/>
            <a:r>
              <a:rPr sz="1400" b="1">
                <a:solidFill>
                  <a:srgbClr val="1F6FEB"/>
                </a:solidFill>
                <a:latin typeface="Arial"/>
              </a:rPr>
              <a:t>ACTIVITY 07 · WORKED EXAMPLE</a:t>
            </a:r>
          </a:p>
        </p:txBody>
      </p:sp>
      <p:sp>
        <p:nvSpPr>
          <p:cNvPr id="6" name="TextBox 5"/>
          <p:cNvSpPr txBox="1"/>
          <p:nvPr/>
        </p:nvSpPr>
        <p:spPr>
          <a:xfrm>
            <a:off x="777240" y="1417320"/>
            <a:ext cx="10607040" cy="1280160"/>
          </a:xfrm>
          <a:prstGeom prst="rect">
            <a:avLst/>
          </a:prstGeom>
          <a:noFill/>
        </p:spPr>
        <p:txBody>
          <a:bodyPr wrap="square" anchor="t">
            <a:spAutoFit/>
          </a:bodyPr>
          <a:lstStyle/>
          <a:p>
            <a:pPr algn="l"/>
            <a:r>
              <a:rPr sz="3400" b="1">
                <a:solidFill>
                  <a:srgbClr val="161B26"/>
                </a:solidFill>
                <a:latin typeface="Arial"/>
              </a:rPr>
              <a:t>Create and Review a Stakeholder Mind Map Infographic</a:t>
            </a:r>
          </a:p>
        </p:txBody>
      </p:sp>
      <p:sp>
        <p:nvSpPr>
          <p:cNvPr id="7" name="TextBox 6"/>
          <p:cNvSpPr txBox="1"/>
          <p:nvPr/>
        </p:nvSpPr>
        <p:spPr>
          <a:xfrm>
            <a:off x="777240" y="2971800"/>
            <a:ext cx="10424160" cy="640080"/>
          </a:xfrm>
          <a:prstGeom prst="rect">
            <a:avLst/>
          </a:prstGeom>
          <a:noFill/>
        </p:spPr>
        <p:txBody>
          <a:bodyPr wrap="square" anchor="t">
            <a:spAutoFit/>
          </a:bodyPr>
          <a:lstStyle/>
          <a:p>
            <a:pPr algn="l"/>
            <a:r>
              <a:rPr sz="2000" b="0">
                <a:solidFill>
                  <a:srgbClr val="5B6372"/>
                </a:solidFill>
                <a:latin typeface="Arial"/>
              </a:rPr>
              <a:t>Northstar Retail Singapore · synthetic practice scenario</a:t>
            </a:r>
          </a:p>
        </p:txBody>
      </p:sp>
      <p:sp>
        <p:nvSpPr>
          <p:cNvPr id="8" name="Rounded Rectangle 7"/>
          <p:cNvSpPr/>
          <p:nvPr/>
        </p:nvSpPr>
        <p:spPr>
          <a:xfrm>
            <a:off x="777240" y="3794760"/>
            <a:ext cx="10561320" cy="123444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4069080"/>
            <a:ext cx="9966960" cy="274320"/>
          </a:xfrm>
          <a:prstGeom prst="rect">
            <a:avLst/>
          </a:prstGeom>
          <a:noFill/>
        </p:spPr>
        <p:txBody>
          <a:bodyPr wrap="square" anchor="t">
            <a:spAutoFit/>
          </a:bodyPr>
          <a:lstStyle/>
          <a:p>
            <a:pPr algn="l"/>
            <a:r>
              <a:rPr sz="1000" b="1">
                <a:solidFill>
                  <a:srgbClr val="1F6FEB"/>
                </a:solidFill>
                <a:latin typeface="Arial"/>
              </a:rPr>
              <a:t>TOOL WORKFLOW</a:t>
            </a:r>
          </a:p>
        </p:txBody>
      </p:sp>
      <p:sp>
        <p:nvSpPr>
          <p:cNvPr id="10" name="TextBox 9"/>
          <p:cNvSpPr txBox="1"/>
          <p:nvPr/>
        </p:nvSpPr>
        <p:spPr>
          <a:xfrm>
            <a:off x="1051560" y="4434840"/>
            <a:ext cx="9966960" cy="384048"/>
          </a:xfrm>
          <a:prstGeom prst="rect">
            <a:avLst/>
          </a:prstGeom>
          <a:noFill/>
        </p:spPr>
        <p:txBody>
          <a:bodyPr wrap="square" anchor="t">
            <a:spAutoFit/>
          </a:bodyPr>
          <a:lstStyle/>
          <a:p>
            <a:pPr algn="l"/>
            <a:r>
              <a:rPr sz="1800" b="1">
                <a:solidFill>
                  <a:srgbClr val="161B26"/>
                </a:solidFill>
                <a:latin typeface="Arial"/>
              </a:rPr>
              <a:t>Microsoft 365 Copilot + PowerPoint + peer review workbook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789920" cy="320040"/>
          </a:xfrm>
          <a:prstGeom prst="rect">
            <a:avLst/>
          </a:prstGeom>
          <a:noFill/>
        </p:spPr>
        <p:txBody>
          <a:bodyPr wrap="square" anchor="t">
            <a:spAutoFit/>
          </a:bodyPr>
          <a:lstStyle/>
          <a:p>
            <a:pPr algn="l"/>
            <a:r>
              <a:rPr sz="1100" b="1">
                <a:solidFill>
                  <a:srgbClr val="7C3AED"/>
                </a:solidFill>
                <a:latin typeface="Arial"/>
              </a:rPr>
              <a:t>ACTIVITY 07 · FULL COPY-READY TEXT IN PROMPTS.MD AND AI PROMPT LAB</a:t>
            </a:r>
          </a:p>
        </p:txBody>
      </p:sp>
      <p:sp>
        <p:nvSpPr>
          <p:cNvPr id="5" name="TextBox 4"/>
          <p:cNvSpPr txBox="1"/>
          <p:nvPr/>
        </p:nvSpPr>
        <p:spPr>
          <a:xfrm>
            <a:off x="658368" y="749808"/>
            <a:ext cx="10789920" cy="658368"/>
          </a:xfrm>
          <a:prstGeom prst="rect">
            <a:avLst/>
          </a:prstGeom>
          <a:noFill/>
        </p:spPr>
        <p:txBody>
          <a:bodyPr wrap="square" anchor="t">
            <a:spAutoFit/>
          </a:bodyPr>
          <a:lstStyle/>
          <a:p>
            <a:pPr algn="l"/>
            <a:r>
              <a:rPr sz="2700" b="1">
                <a:solidFill>
                  <a:srgbClr val="161B26"/>
                </a:solidFill>
                <a:latin typeface="Arial"/>
              </a:rPr>
              <a:t>AI Prompt Starters</a:t>
            </a:r>
          </a:p>
        </p:txBody>
      </p:sp>
      <p:sp>
        <p:nvSpPr>
          <p:cNvPr id="6" name="Rectangle 5"/>
          <p:cNvSpPr/>
          <p:nvPr/>
        </p:nvSpPr>
        <p:spPr>
          <a:xfrm>
            <a:off x="658368" y="1444752"/>
            <a:ext cx="1088136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9875520" cy="201168"/>
          </a:xfrm>
          <a:prstGeom prst="rect">
            <a:avLst/>
          </a:prstGeom>
          <a:noFill/>
        </p:spPr>
        <p:txBody>
          <a:bodyPr wrap="square" anchor="t">
            <a:spAutoFit/>
          </a:bodyPr>
          <a:lstStyle/>
          <a:p>
            <a:pPr algn="l"/>
            <a:r>
              <a:rPr sz="800" b="0">
                <a:solidFill>
                  <a:srgbClr val="5B6372"/>
                </a:solidFill>
                <a:latin typeface="Arial"/>
              </a:rPr>
              <a:t>TGS-2026064178 · ACTIVITY PRACTICE · Tertiary Infotech Academy Pte Ltd</a:t>
            </a:r>
          </a:p>
        </p:txBody>
      </p:sp>
      <p:sp>
        <p:nvSpPr>
          <p:cNvPr id="8" name="Rounded Rectangle 7"/>
          <p:cNvSpPr/>
          <p:nvPr/>
        </p:nvSpPr>
        <p:spPr>
          <a:xfrm>
            <a:off x="731520" y="1755648"/>
            <a:ext cx="5166360" cy="184708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755648"/>
            <a:ext cx="73152" cy="184708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32688" y="1975104"/>
            <a:ext cx="438912" cy="43891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984248"/>
            <a:ext cx="438912" cy="420624"/>
          </a:xfrm>
          <a:prstGeom prst="rect">
            <a:avLst/>
          </a:prstGeom>
          <a:noFill/>
        </p:spPr>
        <p:txBody>
          <a:bodyPr wrap="square" anchor="ctr">
            <a:spAutoFit/>
          </a:bodyPr>
          <a:lstStyle/>
          <a:p>
            <a:pPr algn="ctr"/>
            <a:r>
              <a:rPr sz="1400" b="1">
                <a:solidFill>
                  <a:srgbClr val="FFFFFF"/>
                </a:solidFill>
                <a:latin typeface="Arial"/>
              </a:rPr>
              <a:t>1</a:t>
            </a:r>
          </a:p>
        </p:txBody>
      </p:sp>
      <p:sp>
        <p:nvSpPr>
          <p:cNvPr id="12" name="TextBox 11"/>
          <p:cNvSpPr txBox="1"/>
          <p:nvPr/>
        </p:nvSpPr>
        <p:spPr>
          <a:xfrm>
            <a:off x="1536192" y="1938528"/>
            <a:ext cx="4178808" cy="329184"/>
          </a:xfrm>
          <a:prstGeom prst="rect">
            <a:avLst/>
          </a:prstGeom>
          <a:noFill/>
        </p:spPr>
        <p:txBody>
          <a:bodyPr wrap="square" anchor="t">
            <a:spAutoFit/>
          </a:bodyPr>
          <a:lstStyle/>
          <a:p>
            <a:pPr algn="l"/>
            <a:r>
              <a:rPr sz="1400" b="1">
                <a:solidFill>
                  <a:srgbClr val="1F6FEB"/>
                </a:solidFill>
                <a:latin typeface="Arial"/>
              </a:rPr>
              <a:t>Analyse the evidence</a:t>
            </a:r>
          </a:p>
        </p:txBody>
      </p:sp>
      <p:sp>
        <p:nvSpPr>
          <p:cNvPr id="13" name="TextBox 12"/>
          <p:cNvSpPr txBox="1"/>
          <p:nvPr/>
        </p:nvSpPr>
        <p:spPr>
          <a:xfrm>
            <a:off x="1536192" y="2322576"/>
            <a:ext cx="4178808" cy="1133856"/>
          </a:xfrm>
          <a:prstGeom prst="rect">
            <a:avLst/>
          </a:prstGeom>
          <a:noFill/>
        </p:spPr>
        <p:txBody>
          <a:bodyPr wrap="square" anchor="t">
            <a:spAutoFit/>
          </a:bodyPr>
          <a:lstStyle/>
          <a:p>
            <a:pPr algn="l"/>
            <a:r>
              <a:rPr sz="1150" b="0">
                <a:solidFill>
                  <a:srgbClr val="161B26"/>
                </a:solidFill>
                <a:latin typeface="Arial"/>
              </a:rPr>
              <a:t>Using only the attached approved source, identify the three strongest patterns, the denominator for each metric, one limitation and one proportionate business action. Cite the source field or row for every number. Do not invent missing…</a:t>
            </a:r>
          </a:p>
        </p:txBody>
      </p:sp>
      <p:sp>
        <p:nvSpPr>
          <p:cNvPr id="14" name="Rounded Rectangle 13"/>
          <p:cNvSpPr/>
          <p:nvPr/>
        </p:nvSpPr>
        <p:spPr>
          <a:xfrm>
            <a:off x="6144768" y="1755648"/>
            <a:ext cx="5166360" cy="184708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755648"/>
            <a:ext cx="73152" cy="184708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45936" y="1975104"/>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45936" y="1984248"/>
            <a:ext cx="438912" cy="420624"/>
          </a:xfrm>
          <a:prstGeom prst="rect">
            <a:avLst/>
          </a:prstGeom>
          <a:noFill/>
        </p:spPr>
        <p:txBody>
          <a:bodyPr wrap="square" anchor="ctr">
            <a:spAutoFit/>
          </a:bodyPr>
          <a:lstStyle/>
          <a:p>
            <a:pPr algn="ctr"/>
            <a:r>
              <a:rPr sz="1400" b="1">
                <a:solidFill>
                  <a:srgbClr val="FFFFFF"/>
                </a:solidFill>
                <a:latin typeface="Arial"/>
              </a:rPr>
              <a:t>2</a:t>
            </a:r>
          </a:p>
        </p:txBody>
      </p:sp>
      <p:sp>
        <p:nvSpPr>
          <p:cNvPr id="18" name="TextBox 17"/>
          <p:cNvSpPr txBox="1"/>
          <p:nvPr/>
        </p:nvSpPr>
        <p:spPr>
          <a:xfrm>
            <a:off x="6949440" y="1938528"/>
            <a:ext cx="4178808" cy="329184"/>
          </a:xfrm>
          <a:prstGeom prst="rect">
            <a:avLst/>
          </a:prstGeom>
          <a:noFill/>
        </p:spPr>
        <p:txBody>
          <a:bodyPr wrap="square" anchor="t">
            <a:spAutoFit/>
          </a:bodyPr>
          <a:lstStyle/>
          <a:p>
            <a:pPr algn="l"/>
            <a:r>
              <a:rPr sz="1400" b="1">
                <a:solidFill>
                  <a:srgbClr val="10B981"/>
                </a:solidFill>
                <a:latin typeface="Arial"/>
              </a:rPr>
              <a:t>Create the infographic</a:t>
            </a:r>
          </a:p>
        </p:txBody>
      </p:sp>
      <p:sp>
        <p:nvSpPr>
          <p:cNvPr id="19" name="TextBox 18"/>
          <p:cNvSpPr txBox="1"/>
          <p:nvPr/>
        </p:nvSpPr>
        <p:spPr>
          <a:xfrm>
            <a:off x="6949440" y="2322576"/>
            <a:ext cx="4178808" cy="1133856"/>
          </a:xfrm>
          <a:prstGeom prst="rect">
            <a:avLst/>
          </a:prstGeom>
          <a:noFill/>
        </p:spPr>
        <p:txBody>
          <a:bodyPr wrap="square" anchor="t">
            <a:spAutoFit/>
          </a:bodyPr>
          <a:lstStyle/>
          <a:p>
            <a:pPr algn="l"/>
            <a:r>
              <a:rPr sz="1150" b="0">
                <a:solidFill>
                  <a:srgbClr val="161B26"/>
                </a:solidFill>
                <a:latin typeface="Arial"/>
              </a:rPr>
              <a:t>Create a one-page [TYPE] infographic about [TOPIC]. Sections: 1. [SECTION ONE] 2. [SECTION TWO] 3. [SECTION THREE] 4. [SECTION FOUR] 5. [SECTION FIVE]. Audience: [AUDIENCE]. Decision: [DECISION]. Style: professional, high contrast, con…</a:t>
            </a:r>
          </a:p>
        </p:txBody>
      </p:sp>
      <p:sp>
        <p:nvSpPr>
          <p:cNvPr id="20" name="Rounded Rectangle 19"/>
          <p:cNvSpPr/>
          <p:nvPr/>
        </p:nvSpPr>
        <p:spPr>
          <a:xfrm>
            <a:off x="731520" y="3877056"/>
            <a:ext cx="5166360" cy="184708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3877056"/>
            <a:ext cx="73152" cy="1847088"/>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32688" y="4096512"/>
            <a:ext cx="438912" cy="43891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105656"/>
            <a:ext cx="438912" cy="420624"/>
          </a:xfrm>
          <a:prstGeom prst="rect">
            <a:avLst/>
          </a:prstGeom>
          <a:noFill/>
        </p:spPr>
        <p:txBody>
          <a:bodyPr wrap="square" anchor="ctr">
            <a:spAutoFit/>
          </a:bodyPr>
          <a:lstStyle/>
          <a:p>
            <a:pPr algn="ctr"/>
            <a:r>
              <a:rPr sz="1400" b="1">
                <a:solidFill>
                  <a:srgbClr val="FFFFFF"/>
                </a:solidFill>
                <a:latin typeface="Arial"/>
              </a:rPr>
              <a:t>3</a:t>
            </a:r>
          </a:p>
        </p:txBody>
      </p:sp>
      <p:sp>
        <p:nvSpPr>
          <p:cNvPr id="24" name="TextBox 23"/>
          <p:cNvSpPr txBox="1"/>
          <p:nvPr/>
        </p:nvSpPr>
        <p:spPr>
          <a:xfrm>
            <a:off x="1536192" y="4059936"/>
            <a:ext cx="4178808" cy="329184"/>
          </a:xfrm>
          <a:prstGeom prst="rect">
            <a:avLst/>
          </a:prstGeom>
          <a:noFill/>
        </p:spPr>
        <p:txBody>
          <a:bodyPr wrap="square" anchor="t">
            <a:spAutoFit/>
          </a:bodyPr>
          <a:lstStyle/>
          <a:p>
            <a:pPr algn="l"/>
            <a:r>
              <a:rPr sz="1400" b="1">
                <a:solidFill>
                  <a:srgbClr val="7C3AED"/>
                </a:solidFill>
                <a:latin typeface="Arial"/>
              </a:rPr>
              <a:t>Refine in PowerPoint</a:t>
            </a:r>
          </a:p>
        </p:txBody>
      </p:sp>
      <p:sp>
        <p:nvSpPr>
          <p:cNvPr id="25" name="TextBox 24"/>
          <p:cNvSpPr txBox="1"/>
          <p:nvPr/>
        </p:nvSpPr>
        <p:spPr>
          <a:xfrm>
            <a:off x="1536192" y="4443984"/>
            <a:ext cx="4178808" cy="1133856"/>
          </a:xfrm>
          <a:prstGeom prst="rect">
            <a:avLst/>
          </a:prstGeom>
          <a:noFill/>
        </p:spPr>
        <p:txBody>
          <a:bodyPr wrap="square" anchor="t">
            <a:spAutoFit/>
          </a:bodyPr>
          <a:lstStyle/>
          <a:p>
            <a:pPr algn="l"/>
            <a:r>
              <a:rPr sz="1150" b="0">
                <a:solidFill>
                  <a:srgbClr val="161B26"/>
                </a:solidFill>
                <a:latin typeface="Arial"/>
              </a:rPr>
              <a:t>Turn the selected infographic direction into one editable PowerPoint slide. Keep the action title, labels, numbers, chart or process, source footer and accessibility notes editable. Remove decoration that does not support the message. …</a:t>
            </a:r>
          </a:p>
        </p:txBody>
      </p:sp>
      <p:sp>
        <p:nvSpPr>
          <p:cNvPr id="26" name="Rounded Rectangle 25"/>
          <p:cNvSpPr/>
          <p:nvPr/>
        </p:nvSpPr>
        <p:spPr>
          <a:xfrm>
            <a:off x="6144768" y="3877056"/>
            <a:ext cx="5166360" cy="184708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44768" y="3877056"/>
            <a:ext cx="73152" cy="1847088"/>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45936" y="4096512"/>
            <a:ext cx="438912" cy="438912"/>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45936" y="4105656"/>
            <a:ext cx="438912" cy="420624"/>
          </a:xfrm>
          <a:prstGeom prst="rect">
            <a:avLst/>
          </a:prstGeom>
          <a:noFill/>
        </p:spPr>
        <p:txBody>
          <a:bodyPr wrap="square" anchor="ctr">
            <a:spAutoFit/>
          </a:bodyPr>
          <a:lstStyle/>
          <a:p>
            <a:pPr algn="ctr"/>
            <a:r>
              <a:rPr sz="1400" b="1">
                <a:solidFill>
                  <a:srgbClr val="FFFFFF"/>
                </a:solidFill>
                <a:latin typeface="Arial"/>
              </a:rPr>
              <a:t>4</a:t>
            </a:r>
          </a:p>
        </p:txBody>
      </p:sp>
      <p:sp>
        <p:nvSpPr>
          <p:cNvPr id="30" name="TextBox 29"/>
          <p:cNvSpPr txBox="1"/>
          <p:nvPr/>
        </p:nvSpPr>
        <p:spPr>
          <a:xfrm>
            <a:off x="6949440" y="4059936"/>
            <a:ext cx="4178808" cy="329184"/>
          </a:xfrm>
          <a:prstGeom prst="rect">
            <a:avLst/>
          </a:prstGeom>
          <a:noFill/>
        </p:spPr>
        <p:txBody>
          <a:bodyPr wrap="square" anchor="t">
            <a:spAutoFit/>
          </a:bodyPr>
          <a:lstStyle/>
          <a:p>
            <a:pPr algn="l"/>
            <a:r>
              <a:rPr sz="1400" b="1">
                <a:solidFill>
                  <a:srgbClr val="F59E0B"/>
                </a:solidFill>
                <a:latin typeface="Arial"/>
              </a:rPr>
              <a:t>Quality review</a:t>
            </a:r>
          </a:p>
        </p:txBody>
      </p:sp>
      <p:sp>
        <p:nvSpPr>
          <p:cNvPr id="31" name="TextBox 30"/>
          <p:cNvSpPr txBox="1"/>
          <p:nvPr/>
        </p:nvSpPr>
        <p:spPr>
          <a:xfrm>
            <a:off x="6949440" y="4443984"/>
            <a:ext cx="4178808" cy="1133856"/>
          </a:xfrm>
          <a:prstGeom prst="rect">
            <a:avLst/>
          </a:prstGeom>
          <a:noFill/>
        </p:spPr>
        <p:txBody>
          <a:bodyPr wrap="square" anchor="t">
            <a:spAutoFit/>
          </a:bodyPr>
          <a:lstStyle/>
          <a:p>
            <a:pPr algn="l"/>
            <a:r>
              <a:rPr sz="1150" b="0">
                <a:solidFill>
                  <a:srgbClr val="161B26"/>
                </a:solidFill>
                <a:latin typeface="Arial"/>
              </a:rPr>
              <a:t>Review this infographic against message clarity, data accuracy, visual hierarchy, audience fit, accessibility, editability and business goal. List each issue with evidence, its impact, the proposed change and a pass/fail acceptance che…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789920" cy="320040"/>
          </a:xfrm>
          <a:prstGeom prst="rect">
            <a:avLst/>
          </a:prstGeom>
          <a:noFill/>
        </p:spPr>
        <p:txBody>
          <a:bodyPr wrap="square" anchor="t">
            <a:spAutoFit/>
          </a:bodyPr>
          <a:lstStyle/>
          <a:p>
            <a:pPr algn="l"/>
            <a:r>
              <a:rPr sz="1100" b="1">
                <a:solidFill>
                  <a:srgbClr val="7C3AED"/>
                </a:solidFill>
                <a:latin typeface="Arial"/>
              </a:rPr>
              <a:t>ACTIVITY 07 · COPY, ADAPT AND VERIFY</a:t>
            </a:r>
          </a:p>
        </p:txBody>
      </p:sp>
      <p:sp>
        <p:nvSpPr>
          <p:cNvPr id="5" name="TextBox 4"/>
          <p:cNvSpPr txBox="1"/>
          <p:nvPr/>
        </p:nvSpPr>
        <p:spPr>
          <a:xfrm>
            <a:off x="658368" y="749808"/>
            <a:ext cx="10789920" cy="658368"/>
          </a:xfrm>
          <a:prstGeom prst="rect">
            <a:avLst/>
          </a:prstGeom>
          <a:noFill/>
        </p:spPr>
        <p:txBody>
          <a:bodyPr wrap="square" anchor="t">
            <a:spAutoFit/>
          </a:bodyPr>
          <a:lstStyle/>
          <a:p>
            <a:pPr algn="l"/>
            <a:r>
              <a:rPr sz="2700" b="1">
                <a:solidFill>
                  <a:srgbClr val="161B26"/>
                </a:solidFill>
                <a:latin typeface="Arial"/>
              </a:rPr>
              <a:t>Structured Microsoft 365 Copilot Prompt</a:t>
            </a:r>
          </a:p>
        </p:txBody>
      </p:sp>
      <p:sp>
        <p:nvSpPr>
          <p:cNvPr id="6" name="Rectangle 5"/>
          <p:cNvSpPr/>
          <p:nvPr/>
        </p:nvSpPr>
        <p:spPr>
          <a:xfrm>
            <a:off x="658368" y="1444752"/>
            <a:ext cx="1088136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9875520" cy="201168"/>
          </a:xfrm>
          <a:prstGeom prst="rect">
            <a:avLst/>
          </a:prstGeom>
          <a:noFill/>
        </p:spPr>
        <p:txBody>
          <a:bodyPr wrap="square" anchor="t">
            <a:spAutoFit/>
          </a:bodyPr>
          <a:lstStyle/>
          <a:p>
            <a:pPr algn="l"/>
            <a:r>
              <a:rPr sz="800" b="0">
                <a:solidFill>
                  <a:srgbClr val="5B6372"/>
                </a:solidFill>
                <a:latin typeface="Arial"/>
              </a:rPr>
              <a:t>TGS-2026064178 · ACTIVITY PRACTICE · Tertiary Infotech Academy Pte Ltd</a:t>
            </a:r>
          </a:p>
        </p:txBody>
      </p:sp>
      <p:sp>
        <p:nvSpPr>
          <p:cNvPr id="8" name="Rounded Rectangle 7"/>
          <p:cNvSpPr/>
          <p:nvPr/>
        </p:nvSpPr>
        <p:spPr>
          <a:xfrm>
            <a:off x="749808" y="1700784"/>
            <a:ext cx="10698480" cy="4370832"/>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874519"/>
            <a:ext cx="384048" cy="246888"/>
          </a:xfrm>
          <a:prstGeom prst="rect">
            <a:avLst/>
          </a:prstGeom>
          <a:noFill/>
        </p:spPr>
        <p:txBody>
          <a:bodyPr wrap="square" anchor="t">
            <a:spAutoFit/>
          </a:bodyPr>
          <a:lstStyle/>
          <a:p>
            <a:pPr algn="r"/>
            <a:r>
              <a:rPr sz="900" b="0">
                <a:solidFill>
                  <a:srgbClr val="5B6372"/>
                </a:solidFill>
                <a:latin typeface="Arial"/>
              </a:rPr>
              <a:t>1</a:t>
            </a:r>
          </a:p>
        </p:txBody>
      </p:sp>
      <p:sp>
        <p:nvSpPr>
          <p:cNvPr id="10" name="TextBox 9"/>
          <p:cNvSpPr txBox="1"/>
          <p:nvPr/>
        </p:nvSpPr>
        <p:spPr>
          <a:xfrm>
            <a:off x="1554480" y="1874519"/>
            <a:ext cx="9418320" cy="256032"/>
          </a:xfrm>
          <a:prstGeom prst="rect">
            <a:avLst/>
          </a:prstGeom>
          <a:noFill/>
        </p:spPr>
        <p:txBody>
          <a:bodyPr wrap="square" anchor="t">
            <a:spAutoFit/>
          </a:bodyPr>
          <a:lstStyle/>
          <a:p>
            <a:pPr algn="l"/>
            <a:r>
              <a:rPr sz="1050" b="0">
                <a:solidFill>
                  <a:srgbClr val="161B26"/>
                </a:solidFill>
                <a:latin typeface="Arial"/>
              </a:rPr>
              <a:t>Create a one-page stakeholder mind-map infographic about Create and Review a Stakeholder Mind Map Infographic.</a:t>
            </a:r>
          </a:p>
        </p:txBody>
      </p:sp>
      <p:sp>
        <p:nvSpPr>
          <p:cNvPr id="11" name="TextBox 10"/>
          <p:cNvSpPr txBox="1"/>
          <p:nvPr/>
        </p:nvSpPr>
        <p:spPr>
          <a:xfrm>
            <a:off x="960120" y="2157984"/>
            <a:ext cx="384048" cy="246888"/>
          </a:xfrm>
          <a:prstGeom prst="rect">
            <a:avLst/>
          </a:prstGeom>
          <a:noFill/>
        </p:spPr>
        <p:txBody>
          <a:bodyPr wrap="square" anchor="t">
            <a:spAutoFit/>
          </a:bodyPr>
          <a:lstStyle/>
          <a:p>
            <a:pPr algn="r"/>
            <a:r>
              <a:rPr sz="900" b="0">
                <a:solidFill>
                  <a:srgbClr val="5B6372"/>
                </a:solidFill>
                <a:latin typeface="Arial"/>
              </a:rPr>
              <a:t>2</a:t>
            </a:r>
          </a:p>
        </p:txBody>
      </p:sp>
      <p:sp>
        <p:nvSpPr>
          <p:cNvPr id="12" name="TextBox 11"/>
          <p:cNvSpPr txBox="1"/>
          <p:nvPr/>
        </p:nvSpPr>
        <p:spPr>
          <a:xfrm>
            <a:off x="1554480" y="2157984"/>
            <a:ext cx="9418320" cy="256032"/>
          </a:xfrm>
          <a:prstGeom prst="rect">
            <a:avLst/>
          </a:prstGeom>
          <a:noFill/>
        </p:spPr>
        <p:txBody>
          <a:bodyPr wrap="square" anchor="t">
            <a:spAutoFit/>
          </a:bodyPr>
          <a:lstStyle/>
          <a:p>
            <a:pPr algn="l"/>
            <a:r>
              <a:rPr sz="1050" b="1">
                <a:solidFill>
                  <a:srgbClr val="161B26"/>
                </a:solidFill>
                <a:latin typeface="Arial"/>
              </a:rPr>
              <a:t>Sections:</a:t>
            </a:r>
          </a:p>
        </p:txBody>
      </p:sp>
      <p:sp>
        <p:nvSpPr>
          <p:cNvPr id="13" name="TextBox 12"/>
          <p:cNvSpPr txBox="1"/>
          <p:nvPr/>
        </p:nvSpPr>
        <p:spPr>
          <a:xfrm>
            <a:off x="960120" y="2441448"/>
            <a:ext cx="384048" cy="246888"/>
          </a:xfrm>
          <a:prstGeom prst="rect">
            <a:avLst/>
          </a:prstGeom>
          <a:noFill/>
        </p:spPr>
        <p:txBody>
          <a:bodyPr wrap="square" anchor="t">
            <a:spAutoFit/>
          </a:bodyPr>
          <a:lstStyle/>
          <a:p>
            <a:pPr algn="r"/>
            <a:r>
              <a:rPr sz="900" b="0">
                <a:solidFill>
                  <a:srgbClr val="5B6372"/>
                </a:solidFill>
                <a:latin typeface="Arial"/>
              </a:rPr>
              <a:t>3</a:t>
            </a:r>
          </a:p>
        </p:txBody>
      </p:sp>
      <p:sp>
        <p:nvSpPr>
          <p:cNvPr id="14" name="TextBox 13"/>
          <p:cNvSpPr txBox="1"/>
          <p:nvPr/>
        </p:nvSpPr>
        <p:spPr>
          <a:xfrm>
            <a:off x="1554480" y="2441448"/>
            <a:ext cx="9418320" cy="256032"/>
          </a:xfrm>
          <a:prstGeom prst="rect">
            <a:avLst/>
          </a:prstGeom>
          <a:noFill/>
        </p:spPr>
        <p:txBody>
          <a:bodyPr wrap="square" anchor="t">
            <a:spAutoFit/>
          </a:bodyPr>
          <a:lstStyle/>
          <a:p>
            <a:pPr algn="l"/>
            <a:r>
              <a:rPr sz="1050" b="0">
                <a:solidFill>
                  <a:srgbClr val="161B26"/>
                </a:solidFill>
                <a:latin typeface="Arial"/>
              </a:rPr>
              <a:t>1. Message</a:t>
            </a:r>
          </a:p>
        </p:txBody>
      </p:sp>
      <p:sp>
        <p:nvSpPr>
          <p:cNvPr id="15" name="TextBox 14"/>
          <p:cNvSpPr txBox="1"/>
          <p:nvPr/>
        </p:nvSpPr>
        <p:spPr>
          <a:xfrm>
            <a:off x="960120" y="2724911"/>
            <a:ext cx="384048" cy="246888"/>
          </a:xfrm>
          <a:prstGeom prst="rect">
            <a:avLst/>
          </a:prstGeom>
          <a:noFill/>
        </p:spPr>
        <p:txBody>
          <a:bodyPr wrap="square" anchor="t">
            <a:spAutoFit/>
          </a:bodyPr>
          <a:lstStyle/>
          <a:p>
            <a:pPr algn="r"/>
            <a:r>
              <a:rPr sz="900" b="0">
                <a:solidFill>
                  <a:srgbClr val="5B6372"/>
                </a:solidFill>
                <a:latin typeface="Arial"/>
              </a:rPr>
              <a:t>4</a:t>
            </a:r>
          </a:p>
        </p:txBody>
      </p:sp>
      <p:sp>
        <p:nvSpPr>
          <p:cNvPr id="16" name="TextBox 15"/>
          <p:cNvSpPr txBox="1"/>
          <p:nvPr/>
        </p:nvSpPr>
        <p:spPr>
          <a:xfrm>
            <a:off x="1554480" y="2724911"/>
            <a:ext cx="9418320" cy="256032"/>
          </a:xfrm>
          <a:prstGeom prst="rect">
            <a:avLst/>
          </a:prstGeom>
          <a:noFill/>
        </p:spPr>
        <p:txBody>
          <a:bodyPr wrap="square" anchor="t">
            <a:spAutoFit/>
          </a:bodyPr>
          <a:lstStyle/>
          <a:p>
            <a:pPr algn="l"/>
            <a:r>
              <a:rPr sz="1050" b="0">
                <a:solidFill>
                  <a:srgbClr val="161B26"/>
                </a:solidFill>
                <a:latin typeface="Arial"/>
              </a:rPr>
              <a:t>2. Data</a:t>
            </a:r>
          </a:p>
        </p:txBody>
      </p:sp>
      <p:sp>
        <p:nvSpPr>
          <p:cNvPr id="17" name="TextBox 16"/>
          <p:cNvSpPr txBox="1"/>
          <p:nvPr/>
        </p:nvSpPr>
        <p:spPr>
          <a:xfrm>
            <a:off x="960120" y="3008376"/>
            <a:ext cx="384048" cy="246888"/>
          </a:xfrm>
          <a:prstGeom prst="rect">
            <a:avLst/>
          </a:prstGeom>
          <a:noFill/>
        </p:spPr>
        <p:txBody>
          <a:bodyPr wrap="square" anchor="t">
            <a:spAutoFit/>
          </a:bodyPr>
          <a:lstStyle/>
          <a:p>
            <a:pPr algn="r"/>
            <a:r>
              <a:rPr sz="900" b="0">
                <a:solidFill>
                  <a:srgbClr val="5B6372"/>
                </a:solidFill>
                <a:latin typeface="Arial"/>
              </a:rPr>
              <a:t>5</a:t>
            </a:r>
          </a:p>
        </p:txBody>
      </p:sp>
      <p:sp>
        <p:nvSpPr>
          <p:cNvPr id="18" name="TextBox 17"/>
          <p:cNvSpPr txBox="1"/>
          <p:nvPr/>
        </p:nvSpPr>
        <p:spPr>
          <a:xfrm>
            <a:off x="1554480" y="3008376"/>
            <a:ext cx="9418320" cy="256032"/>
          </a:xfrm>
          <a:prstGeom prst="rect">
            <a:avLst/>
          </a:prstGeom>
          <a:noFill/>
        </p:spPr>
        <p:txBody>
          <a:bodyPr wrap="square" anchor="t">
            <a:spAutoFit/>
          </a:bodyPr>
          <a:lstStyle/>
          <a:p>
            <a:pPr algn="l"/>
            <a:r>
              <a:rPr sz="1050" b="0">
                <a:solidFill>
                  <a:srgbClr val="161B26"/>
                </a:solidFill>
                <a:latin typeface="Arial"/>
              </a:rPr>
              <a:t>3. Hierarchy</a:t>
            </a:r>
          </a:p>
        </p:txBody>
      </p:sp>
      <p:sp>
        <p:nvSpPr>
          <p:cNvPr id="19" name="TextBox 18"/>
          <p:cNvSpPr txBox="1"/>
          <p:nvPr/>
        </p:nvSpPr>
        <p:spPr>
          <a:xfrm>
            <a:off x="960120" y="3291839"/>
            <a:ext cx="384048" cy="246888"/>
          </a:xfrm>
          <a:prstGeom prst="rect">
            <a:avLst/>
          </a:prstGeom>
          <a:noFill/>
        </p:spPr>
        <p:txBody>
          <a:bodyPr wrap="square" anchor="t">
            <a:spAutoFit/>
          </a:bodyPr>
          <a:lstStyle/>
          <a:p>
            <a:pPr algn="r"/>
            <a:r>
              <a:rPr sz="900" b="0">
                <a:solidFill>
                  <a:srgbClr val="5B6372"/>
                </a:solidFill>
                <a:latin typeface="Arial"/>
              </a:rPr>
              <a:t>6</a:t>
            </a:r>
          </a:p>
        </p:txBody>
      </p:sp>
      <p:sp>
        <p:nvSpPr>
          <p:cNvPr id="20" name="TextBox 19"/>
          <p:cNvSpPr txBox="1"/>
          <p:nvPr/>
        </p:nvSpPr>
        <p:spPr>
          <a:xfrm>
            <a:off x="1554480" y="3291839"/>
            <a:ext cx="9418320" cy="256032"/>
          </a:xfrm>
          <a:prstGeom prst="rect">
            <a:avLst/>
          </a:prstGeom>
          <a:noFill/>
        </p:spPr>
        <p:txBody>
          <a:bodyPr wrap="square" anchor="t">
            <a:spAutoFit/>
          </a:bodyPr>
          <a:lstStyle/>
          <a:p>
            <a:pPr algn="l"/>
            <a:r>
              <a:rPr sz="1050" b="0">
                <a:solidFill>
                  <a:srgbClr val="161B26"/>
                </a:solidFill>
                <a:latin typeface="Arial"/>
              </a:rPr>
              <a:t>4. Access</a:t>
            </a:r>
          </a:p>
        </p:txBody>
      </p:sp>
      <p:sp>
        <p:nvSpPr>
          <p:cNvPr id="21" name="TextBox 20"/>
          <p:cNvSpPr txBox="1"/>
          <p:nvPr/>
        </p:nvSpPr>
        <p:spPr>
          <a:xfrm>
            <a:off x="960120" y="3575303"/>
            <a:ext cx="384048" cy="246888"/>
          </a:xfrm>
          <a:prstGeom prst="rect">
            <a:avLst/>
          </a:prstGeom>
          <a:noFill/>
        </p:spPr>
        <p:txBody>
          <a:bodyPr wrap="square" anchor="t">
            <a:spAutoFit/>
          </a:bodyPr>
          <a:lstStyle/>
          <a:p>
            <a:pPr algn="r"/>
            <a:r>
              <a:rPr sz="900" b="0">
                <a:solidFill>
                  <a:srgbClr val="5B6372"/>
                </a:solidFill>
                <a:latin typeface="Arial"/>
              </a:rPr>
              <a:t>7</a:t>
            </a:r>
          </a:p>
        </p:txBody>
      </p:sp>
      <p:sp>
        <p:nvSpPr>
          <p:cNvPr id="22" name="TextBox 21"/>
          <p:cNvSpPr txBox="1"/>
          <p:nvPr/>
        </p:nvSpPr>
        <p:spPr>
          <a:xfrm>
            <a:off x="1554480" y="3575303"/>
            <a:ext cx="9418320" cy="256032"/>
          </a:xfrm>
          <a:prstGeom prst="rect">
            <a:avLst/>
          </a:prstGeom>
          <a:noFill/>
        </p:spPr>
        <p:txBody>
          <a:bodyPr wrap="square" anchor="t">
            <a:spAutoFit/>
          </a:bodyPr>
          <a:lstStyle/>
          <a:p>
            <a:pPr algn="l"/>
            <a:r>
              <a:rPr sz="1050" b="0">
                <a:solidFill>
                  <a:srgbClr val="161B26"/>
                </a:solidFill>
                <a:latin typeface="Arial"/>
              </a:rPr>
              <a:t>5. Story</a:t>
            </a:r>
          </a:p>
        </p:txBody>
      </p:sp>
      <p:sp>
        <p:nvSpPr>
          <p:cNvPr id="23" name="TextBox 22"/>
          <p:cNvSpPr txBox="1"/>
          <p:nvPr/>
        </p:nvSpPr>
        <p:spPr>
          <a:xfrm>
            <a:off x="960120" y="3858768"/>
            <a:ext cx="384048" cy="246888"/>
          </a:xfrm>
          <a:prstGeom prst="rect">
            <a:avLst/>
          </a:prstGeom>
          <a:noFill/>
        </p:spPr>
        <p:txBody>
          <a:bodyPr wrap="square" anchor="t">
            <a:spAutoFit/>
          </a:bodyPr>
          <a:lstStyle/>
          <a:p>
            <a:pPr algn="r"/>
            <a:r>
              <a:rPr sz="900" b="0">
                <a:solidFill>
                  <a:srgbClr val="5B6372"/>
                </a:solidFill>
                <a:latin typeface="Arial"/>
              </a:rPr>
              <a:t>8</a:t>
            </a:r>
          </a:p>
        </p:txBody>
      </p:sp>
      <p:sp>
        <p:nvSpPr>
          <p:cNvPr id="24" name="TextBox 23"/>
          <p:cNvSpPr txBox="1"/>
          <p:nvPr/>
        </p:nvSpPr>
        <p:spPr>
          <a:xfrm>
            <a:off x="1554480" y="3858768"/>
            <a:ext cx="9418320" cy="256032"/>
          </a:xfrm>
          <a:prstGeom prst="rect">
            <a:avLst/>
          </a:prstGeom>
          <a:noFill/>
        </p:spPr>
        <p:txBody>
          <a:bodyPr wrap="square" anchor="t">
            <a:spAutoFit/>
          </a:bodyPr>
          <a:lstStyle/>
          <a:p>
            <a:pPr algn="l"/>
            <a:r>
              <a:rPr sz="1050" b="0">
                <a:solidFill>
                  <a:srgbClr val="7C3AED"/>
                </a:solidFill>
                <a:latin typeface="Arial"/>
              </a:rPr>
              <a:t>Audience: cross-functional stakeholders</a:t>
            </a:r>
          </a:p>
        </p:txBody>
      </p:sp>
      <p:sp>
        <p:nvSpPr>
          <p:cNvPr id="25" name="TextBox 24"/>
          <p:cNvSpPr txBox="1"/>
          <p:nvPr/>
        </p:nvSpPr>
        <p:spPr>
          <a:xfrm>
            <a:off x="960120" y="4142231"/>
            <a:ext cx="384048" cy="246888"/>
          </a:xfrm>
          <a:prstGeom prst="rect">
            <a:avLst/>
          </a:prstGeom>
          <a:noFill/>
        </p:spPr>
        <p:txBody>
          <a:bodyPr wrap="square" anchor="t">
            <a:spAutoFit/>
          </a:bodyPr>
          <a:lstStyle/>
          <a:p>
            <a:pPr algn="r"/>
            <a:r>
              <a:rPr sz="900" b="0">
                <a:solidFill>
                  <a:srgbClr val="5B6372"/>
                </a:solidFill>
                <a:latin typeface="Arial"/>
              </a:rPr>
              <a:t>9</a:t>
            </a:r>
          </a:p>
        </p:txBody>
      </p:sp>
      <p:sp>
        <p:nvSpPr>
          <p:cNvPr id="26" name="TextBox 25"/>
          <p:cNvSpPr txBox="1"/>
          <p:nvPr/>
        </p:nvSpPr>
        <p:spPr>
          <a:xfrm>
            <a:off x="1554480" y="4142231"/>
            <a:ext cx="9418320" cy="256032"/>
          </a:xfrm>
          <a:prstGeom prst="rect">
            <a:avLst/>
          </a:prstGeom>
          <a:noFill/>
        </p:spPr>
        <p:txBody>
          <a:bodyPr wrap="square" anchor="t">
            <a:spAutoFit/>
          </a:bodyPr>
          <a:lstStyle/>
          <a:p>
            <a:pPr algn="l"/>
            <a:r>
              <a:rPr sz="1050" b="0">
                <a:solidFill>
                  <a:srgbClr val="7C3AED"/>
                </a:solidFill>
                <a:latin typeface="Arial"/>
              </a:rPr>
              <a:t>Decision: The review log contains observed evidence, a principle-based diagnosis, one prioritised change, a named owner and an acceptance check.</a:t>
            </a:r>
          </a:p>
        </p:txBody>
      </p:sp>
      <p:sp>
        <p:nvSpPr>
          <p:cNvPr id="27" name="TextBox 26"/>
          <p:cNvSpPr txBox="1"/>
          <p:nvPr/>
        </p:nvSpPr>
        <p:spPr>
          <a:xfrm>
            <a:off x="960120" y="4425696"/>
            <a:ext cx="384048" cy="246888"/>
          </a:xfrm>
          <a:prstGeom prst="rect">
            <a:avLst/>
          </a:prstGeom>
          <a:noFill/>
        </p:spPr>
        <p:txBody>
          <a:bodyPr wrap="square" anchor="t">
            <a:spAutoFit/>
          </a:bodyPr>
          <a:lstStyle/>
          <a:p>
            <a:pPr algn="r"/>
            <a:r>
              <a:rPr sz="900" b="0">
                <a:solidFill>
                  <a:srgbClr val="5B6372"/>
                </a:solidFill>
                <a:latin typeface="Arial"/>
              </a:rPr>
              <a:t>10</a:t>
            </a:r>
          </a:p>
        </p:txBody>
      </p:sp>
      <p:sp>
        <p:nvSpPr>
          <p:cNvPr id="28" name="TextBox 27"/>
          <p:cNvSpPr txBox="1"/>
          <p:nvPr/>
        </p:nvSpPr>
        <p:spPr>
          <a:xfrm>
            <a:off x="1554480" y="4425696"/>
            <a:ext cx="9418320" cy="256032"/>
          </a:xfrm>
          <a:prstGeom prst="rect">
            <a:avLst/>
          </a:prstGeom>
          <a:noFill/>
        </p:spPr>
        <p:txBody>
          <a:bodyPr wrap="square" anchor="t">
            <a:spAutoFit/>
          </a:bodyPr>
          <a:lstStyle/>
          <a:p>
            <a:pPr algn="l"/>
            <a:r>
              <a:rPr sz="1050" b="0">
                <a:solidFill>
                  <a:srgbClr val="7C3AED"/>
                </a:solidFill>
                <a:latin typeface="Arial"/>
              </a:rPr>
              <a:t>Style: professional, concise, high contrast and accessible</a:t>
            </a:r>
          </a:p>
        </p:txBody>
      </p:sp>
      <p:sp>
        <p:nvSpPr>
          <p:cNvPr id="29" name="TextBox 28"/>
          <p:cNvSpPr txBox="1"/>
          <p:nvPr/>
        </p:nvSpPr>
        <p:spPr>
          <a:xfrm>
            <a:off x="960120" y="4709160"/>
            <a:ext cx="384048" cy="246888"/>
          </a:xfrm>
          <a:prstGeom prst="rect">
            <a:avLst/>
          </a:prstGeom>
          <a:noFill/>
        </p:spPr>
        <p:txBody>
          <a:bodyPr wrap="square" anchor="t">
            <a:spAutoFit/>
          </a:bodyPr>
          <a:lstStyle/>
          <a:p>
            <a:pPr algn="r"/>
            <a:r>
              <a:rPr sz="900" b="0">
                <a:solidFill>
                  <a:srgbClr val="5B6372"/>
                </a:solidFill>
                <a:latin typeface="Arial"/>
              </a:rPr>
              <a:t>11</a:t>
            </a:r>
          </a:p>
        </p:txBody>
      </p:sp>
      <p:sp>
        <p:nvSpPr>
          <p:cNvPr id="30" name="TextBox 29"/>
          <p:cNvSpPr txBox="1"/>
          <p:nvPr/>
        </p:nvSpPr>
        <p:spPr>
          <a:xfrm>
            <a:off x="1554480" y="4709160"/>
            <a:ext cx="9418320" cy="256032"/>
          </a:xfrm>
          <a:prstGeom prst="rect">
            <a:avLst/>
          </a:prstGeom>
          <a:noFill/>
        </p:spPr>
        <p:txBody>
          <a:bodyPr wrap="square" anchor="t">
            <a:spAutoFit/>
          </a:bodyPr>
          <a:lstStyle/>
          <a:p>
            <a:pPr algn="l"/>
            <a:r>
              <a:rPr sz="1050" b="0">
                <a:solidFill>
                  <a:srgbClr val="7C3AED"/>
                </a:solidFill>
                <a:latin typeface="Arial"/>
              </a:rPr>
              <a:t>Format: Wide for PowerPoint unless the brief requires Portrait</a:t>
            </a:r>
          </a:p>
        </p:txBody>
      </p:sp>
      <p:sp>
        <p:nvSpPr>
          <p:cNvPr id="31" name="TextBox 30"/>
          <p:cNvSpPr txBox="1"/>
          <p:nvPr/>
        </p:nvSpPr>
        <p:spPr>
          <a:xfrm>
            <a:off x="960120" y="4992624"/>
            <a:ext cx="384048" cy="246888"/>
          </a:xfrm>
          <a:prstGeom prst="rect">
            <a:avLst/>
          </a:prstGeom>
          <a:noFill/>
        </p:spPr>
        <p:txBody>
          <a:bodyPr wrap="square" anchor="t">
            <a:spAutoFit/>
          </a:bodyPr>
          <a:lstStyle/>
          <a:p>
            <a:pPr algn="r"/>
            <a:r>
              <a:rPr sz="900" b="0">
                <a:solidFill>
                  <a:srgbClr val="5B6372"/>
                </a:solidFill>
                <a:latin typeface="Arial"/>
              </a:rPr>
              <a:t>12</a:t>
            </a:r>
          </a:p>
        </p:txBody>
      </p:sp>
      <p:sp>
        <p:nvSpPr>
          <p:cNvPr id="32" name="TextBox 31"/>
          <p:cNvSpPr txBox="1"/>
          <p:nvPr/>
        </p:nvSpPr>
        <p:spPr>
          <a:xfrm>
            <a:off x="1554480" y="4992624"/>
            <a:ext cx="9418320" cy="256032"/>
          </a:xfrm>
          <a:prstGeom prst="rect">
            <a:avLst/>
          </a:prstGeom>
          <a:noFill/>
        </p:spPr>
        <p:txBody>
          <a:bodyPr wrap="square" anchor="t">
            <a:spAutoFit/>
          </a:bodyPr>
          <a:lstStyle/>
          <a:p>
            <a:pPr algn="l"/>
            <a:r>
              <a:rPr sz="1050" b="0">
                <a:solidFill>
                  <a:srgbClr val="7C3AED"/>
                </a:solidFill>
                <a:latin typeface="Arial"/>
              </a:rPr>
              <a:t>Source rule: use only the attached approved or synthetic course data; include period and source; do not invent facts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789920" cy="320040"/>
          </a:xfrm>
          <a:prstGeom prst="rect">
            <a:avLst/>
          </a:prstGeom>
          <a:noFill/>
        </p:spPr>
        <p:txBody>
          <a:bodyPr wrap="square" anchor="t">
            <a:spAutoFit/>
          </a:bodyPr>
          <a:lstStyle/>
          <a:p>
            <a:pPr algn="l"/>
            <a:r>
              <a:rPr sz="1100" b="1">
                <a:solidFill>
                  <a:srgbClr val="1F6FEB"/>
                </a:solidFill>
                <a:latin typeface="Arial"/>
              </a:rPr>
              <a:t>ACTIVITY 07 · CONTEXT</a:t>
            </a:r>
          </a:p>
        </p:txBody>
      </p:sp>
      <p:sp>
        <p:nvSpPr>
          <p:cNvPr id="5" name="TextBox 4"/>
          <p:cNvSpPr txBox="1"/>
          <p:nvPr/>
        </p:nvSpPr>
        <p:spPr>
          <a:xfrm>
            <a:off x="658368" y="749808"/>
            <a:ext cx="10789920" cy="658368"/>
          </a:xfrm>
          <a:prstGeom prst="rect">
            <a:avLst/>
          </a:prstGeom>
          <a:noFill/>
        </p:spPr>
        <p:txBody>
          <a:bodyPr wrap="square" anchor="t">
            <a:spAutoFit/>
          </a:bodyPr>
          <a:lstStyle/>
          <a:p>
            <a:pPr algn="l"/>
            <a:r>
              <a:rPr sz="2700" b="1">
                <a:solidFill>
                  <a:srgbClr val="161B26"/>
                </a:solidFill>
                <a:latin typeface="Arial"/>
              </a:rPr>
              <a:t>The Scenario</a:t>
            </a:r>
          </a:p>
        </p:txBody>
      </p:sp>
      <p:sp>
        <p:nvSpPr>
          <p:cNvPr id="6" name="Rectangle 5"/>
          <p:cNvSpPr/>
          <p:nvPr/>
        </p:nvSpPr>
        <p:spPr>
          <a:xfrm>
            <a:off x="658368" y="1444752"/>
            <a:ext cx="1088136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9875520" cy="201168"/>
          </a:xfrm>
          <a:prstGeom prst="rect">
            <a:avLst/>
          </a:prstGeom>
          <a:noFill/>
        </p:spPr>
        <p:txBody>
          <a:bodyPr wrap="square" anchor="t">
            <a:spAutoFit/>
          </a:bodyPr>
          <a:lstStyle/>
          <a:p>
            <a:pPr algn="l"/>
            <a:r>
              <a:rPr sz="800" b="0">
                <a:solidFill>
                  <a:srgbClr val="5B6372"/>
                </a:solidFill>
                <a:latin typeface="Arial"/>
              </a:rPr>
              <a:t>TGS-2026064178 · ACTIVITY PRACTICE · Tertiary Infotech Academy Pte Ltd</a:t>
            </a:r>
          </a:p>
        </p:txBody>
      </p:sp>
      <p:sp>
        <p:nvSpPr>
          <p:cNvPr id="8" name="Rounded Rectangle 7"/>
          <p:cNvSpPr/>
          <p:nvPr/>
        </p:nvSpPr>
        <p:spPr>
          <a:xfrm>
            <a:off x="731520" y="1783080"/>
            <a:ext cx="10698480" cy="169164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783080"/>
            <a:ext cx="73152" cy="16916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32688" y="2002536"/>
            <a:ext cx="438912" cy="43891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2011680"/>
            <a:ext cx="438912" cy="420624"/>
          </a:xfrm>
          <a:prstGeom prst="rect">
            <a:avLst/>
          </a:prstGeom>
          <a:noFill/>
        </p:spPr>
        <p:txBody>
          <a:bodyPr wrap="square" anchor="ctr">
            <a:spAutoFit/>
          </a:bodyPr>
          <a:lstStyle/>
          <a:p>
            <a:pPr algn="ctr"/>
            <a:r>
              <a:rPr sz="1400" b="1">
                <a:solidFill>
                  <a:srgbClr val="FFFFFF"/>
                </a:solidFill>
                <a:latin typeface="Arial"/>
              </a:rPr>
              <a:t>1</a:t>
            </a:r>
          </a:p>
        </p:txBody>
      </p:sp>
      <p:sp>
        <p:nvSpPr>
          <p:cNvPr id="12" name="TextBox 11"/>
          <p:cNvSpPr txBox="1"/>
          <p:nvPr/>
        </p:nvSpPr>
        <p:spPr>
          <a:xfrm>
            <a:off x="1536192" y="1965960"/>
            <a:ext cx="9710928" cy="329184"/>
          </a:xfrm>
          <a:prstGeom prst="rect">
            <a:avLst/>
          </a:prstGeom>
          <a:noFill/>
        </p:spPr>
        <p:txBody>
          <a:bodyPr wrap="square" anchor="t">
            <a:spAutoFit/>
          </a:bodyPr>
          <a:lstStyle/>
          <a:p>
            <a:pPr algn="l"/>
            <a:r>
              <a:rPr sz="1400" b="1">
                <a:solidFill>
                  <a:srgbClr val="1F6FEB"/>
                </a:solidFill>
                <a:latin typeface="Arial"/>
              </a:rPr>
              <a:t>Context</a:t>
            </a:r>
          </a:p>
        </p:txBody>
      </p:sp>
      <p:sp>
        <p:nvSpPr>
          <p:cNvPr id="13" name="TextBox 12"/>
          <p:cNvSpPr txBox="1"/>
          <p:nvPr/>
        </p:nvSpPr>
        <p:spPr>
          <a:xfrm>
            <a:off x="1536192" y="2350008"/>
            <a:ext cx="9710928" cy="978408"/>
          </a:xfrm>
          <a:prstGeom prst="rect">
            <a:avLst/>
          </a:prstGeom>
          <a:noFill/>
        </p:spPr>
        <p:txBody>
          <a:bodyPr wrap="square" anchor="t">
            <a:spAutoFit/>
          </a:bodyPr>
          <a:lstStyle/>
          <a:p>
            <a:pPr algn="l"/>
            <a:r>
              <a:rPr sz="1150" b="0">
                <a:solidFill>
                  <a:srgbClr val="161B26"/>
                </a:solidFill>
                <a:latin typeface="Arial"/>
              </a:rPr>
              <a:t>Each learner uses Microsoft 365 Copilot to draft a stakeholder mind map linking executives, managers, analysts, staff and customers to one common decision story.</a:t>
            </a:r>
          </a:p>
        </p:txBody>
      </p:sp>
      <p:sp>
        <p:nvSpPr>
          <p:cNvPr id="14" name="Rounded Rectangle 13"/>
          <p:cNvSpPr/>
          <p:nvPr/>
        </p:nvSpPr>
        <p:spPr>
          <a:xfrm>
            <a:off x="731520" y="3776472"/>
            <a:ext cx="10698480" cy="169164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3776472"/>
            <a:ext cx="73152" cy="1691640"/>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32688" y="3995928"/>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005072"/>
            <a:ext cx="438912" cy="420624"/>
          </a:xfrm>
          <a:prstGeom prst="rect">
            <a:avLst/>
          </a:prstGeom>
          <a:noFill/>
        </p:spPr>
        <p:txBody>
          <a:bodyPr wrap="square" anchor="ctr">
            <a:spAutoFit/>
          </a:bodyPr>
          <a:lstStyle/>
          <a:p>
            <a:pPr algn="ctr"/>
            <a:r>
              <a:rPr sz="1400" b="1">
                <a:solidFill>
                  <a:srgbClr val="FFFFFF"/>
                </a:solidFill>
                <a:latin typeface="Arial"/>
              </a:rPr>
              <a:t>2</a:t>
            </a:r>
          </a:p>
        </p:txBody>
      </p:sp>
      <p:sp>
        <p:nvSpPr>
          <p:cNvPr id="18" name="TextBox 17"/>
          <p:cNvSpPr txBox="1"/>
          <p:nvPr/>
        </p:nvSpPr>
        <p:spPr>
          <a:xfrm>
            <a:off x="1536192" y="3959352"/>
            <a:ext cx="9710928" cy="329184"/>
          </a:xfrm>
          <a:prstGeom prst="rect">
            <a:avLst/>
          </a:prstGeom>
          <a:noFill/>
        </p:spPr>
        <p:txBody>
          <a:bodyPr wrap="square" anchor="t">
            <a:spAutoFit/>
          </a:bodyPr>
          <a:lstStyle/>
          <a:p>
            <a:pPr algn="l"/>
            <a:r>
              <a:rPr sz="1400" b="1">
                <a:solidFill>
                  <a:srgbClr val="10B981"/>
                </a:solidFill>
                <a:latin typeface="Arial"/>
              </a:rPr>
              <a:t>Decision pressure</a:t>
            </a:r>
          </a:p>
        </p:txBody>
      </p:sp>
      <p:sp>
        <p:nvSpPr>
          <p:cNvPr id="19" name="TextBox 18"/>
          <p:cNvSpPr txBox="1"/>
          <p:nvPr/>
        </p:nvSpPr>
        <p:spPr>
          <a:xfrm>
            <a:off x="1536192" y="4343400"/>
            <a:ext cx="9710928" cy="978408"/>
          </a:xfrm>
          <a:prstGeom prst="rect">
            <a:avLst/>
          </a:prstGeom>
          <a:noFill/>
        </p:spPr>
        <p:txBody>
          <a:bodyPr wrap="square" anchor="t">
            <a:spAutoFit/>
          </a:bodyPr>
          <a:lstStyle/>
          <a:p>
            <a:pPr algn="l"/>
            <a:r>
              <a:rPr sz="1150" b="0">
                <a:solidFill>
                  <a:srgbClr val="161B26"/>
                </a:solidFill>
                <a:latin typeface="Arial"/>
              </a:rPr>
              <a:t>Present the editable PowerPoint mind map to two peers. Capture two observations, two strengths, two improvements and one agreed revision, then retest the reading path.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789920" cy="320040"/>
          </a:xfrm>
          <a:prstGeom prst="rect">
            <a:avLst/>
          </a:prstGeom>
          <a:noFill/>
        </p:spPr>
        <p:txBody>
          <a:bodyPr wrap="square" anchor="t">
            <a:spAutoFit/>
          </a:bodyPr>
          <a:lstStyle/>
          <a:p>
            <a:pPr algn="l"/>
            <a:r>
              <a:rPr sz="1100" b="1">
                <a:solidFill>
                  <a:srgbClr val="10B981"/>
                </a:solidFill>
                <a:latin typeface="Arial"/>
              </a:rPr>
              <a:t>ACTIVITY 07 · FRAMEWORK</a:t>
            </a:r>
          </a:p>
        </p:txBody>
      </p:sp>
      <p:sp>
        <p:nvSpPr>
          <p:cNvPr id="5" name="TextBox 4"/>
          <p:cNvSpPr txBox="1"/>
          <p:nvPr/>
        </p:nvSpPr>
        <p:spPr>
          <a:xfrm>
            <a:off x="658368" y="749808"/>
            <a:ext cx="10789920" cy="658368"/>
          </a:xfrm>
          <a:prstGeom prst="rect">
            <a:avLst/>
          </a:prstGeom>
          <a:noFill/>
        </p:spPr>
        <p:txBody>
          <a:bodyPr wrap="square" anchor="t">
            <a:spAutoFit/>
          </a:bodyPr>
          <a:lstStyle/>
          <a:p>
            <a:pPr algn="l"/>
            <a:r>
              <a:rPr sz="2700" b="1">
                <a:solidFill>
                  <a:srgbClr val="161B26"/>
                </a:solidFill>
                <a:latin typeface="Arial"/>
              </a:rPr>
              <a:t>Observe, Ask, Explain, Suggest, Confirm</a:t>
            </a:r>
          </a:p>
        </p:txBody>
      </p:sp>
      <p:sp>
        <p:nvSpPr>
          <p:cNvPr id="6" name="Rectangle 5"/>
          <p:cNvSpPr/>
          <p:nvPr/>
        </p:nvSpPr>
        <p:spPr>
          <a:xfrm>
            <a:off x="658368" y="1444752"/>
            <a:ext cx="1088136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9875520" cy="201168"/>
          </a:xfrm>
          <a:prstGeom prst="rect">
            <a:avLst/>
          </a:prstGeom>
          <a:noFill/>
        </p:spPr>
        <p:txBody>
          <a:bodyPr wrap="square" anchor="t">
            <a:spAutoFit/>
          </a:bodyPr>
          <a:lstStyle/>
          <a:p>
            <a:pPr algn="l"/>
            <a:r>
              <a:rPr sz="800" b="0">
                <a:solidFill>
                  <a:srgbClr val="5B6372"/>
                </a:solidFill>
                <a:latin typeface="Arial"/>
              </a:rPr>
              <a:t>TGS-2026064178 · ACTIVITY PRACTICE · Tertiary Infotech Academy Pte Ltd</a:t>
            </a:r>
          </a:p>
        </p:txBody>
      </p:sp>
      <p:sp>
        <p:nvSpPr>
          <p:cNvPr id="8" name="Rounded Rectangle 7"/>
          <p:cNvSpPr/>
          <p:nvPr/>
        </p:nvSpPr>
        <p:spPr>
          <a:xfrm>
            <a:off x="685800" y="1920240"/>
            <a:ext cx="1997049" cy="356616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920240"/>
            <a:ext cx="73152" cy="356616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86968" y="2139696"/>
            <a:ext cx="438912" cy="43891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2148840"/>
            <a:ext cx="438912" cy="420624"/>
          </a:xfrm>
          <a:prstGeom prst="rect">
            <a:avLst/>
          </a:prstGeom>
          <a:noFill/>
        </p:spPr>
        <p:txBody>
          <a:bodyPr wrap="square" anchor="ctr">
            <a:spAutoFit/>
          </a:bodyPr>
          <a:lstStyle/>
          <a:p>
            <a:pPr algn="ctr"/>
            <a:r>
              <a:rPr sz="1400" b="1">
                <a:solidFill>
                  <a:srgbClr val="FFFFFF"/>
                </a:solidFill>
                <a:latin typeface="Arial"/>
              </a:rPr>
              <a:t>1</a:t>
            </a:r>
          </a:p>
        </p:txBody>
      </p:sp>
      <p:sp>
        <p:nvSpPr>
          <p:cNvPr id="12" name="TextBox 11"/>
          <p:cNvSpPr txBox="1"/>
          <p:nvPr/>
        </p:nvSpPr>
        <p:spPr>
          <a:xfrm>
            <a:off x="1490472" y="2103120"/>
            <a:ext cx="1009497" cy="329184"/>
          </a:xfrm>
          <a:prstGeom prst="rect">
            <a:avLst/>
          </a:prstGeom>
          <a:noFill/>
        </p:spPr>
        <p:txBody>
          <a:bodyPr wrap="square" anchor="t">
            <a:spAutoFit/>
          </a:bodyPr>
          <a:lstStyle/>
          <a:p>
            <a:pPr algn="l"/>
            <a:r>
              <a:rPr sz="1400" b="1">
                <a:solidFill>
                  <a:srgbClr val="1F6FEB"/>
                </a:solidFill>
                <a:latin typeface="Arial"/>
              </a:rPr>
              <a:t>Observe</a:t>
            </a:r>
          </a:p>
        </p:txBody>
      </p:sp>
      <p:sp>
        <p:nvSpPr>
          <p:cNvPr id="13" name="TextBox 12"/>
          <p:cNvSpPr txBox="1"/>
          <p:nvPr/>
        </p:nvSpPr>
        <p:spPr>
          <a:xfrm>
            <a:off x="1490472" y="2487168"/>
            <a:ext cx="1009497" cy="2852928"/>
          </a:xfrm>
          <a:prstGeom prst="rect">
            <a:avLst/>
          </a:prstGeom>
          <a:noFill/>
        </p:spPr>
        <p:txBody>
          <a:bodyPr wrap="square" anchor="t">
            <a:spAutoFit/>
          </a:bodyPr>
          <a:lstStyle/>
          <a:p>
            <a:pPr algn="l"/>
            <a:r>
              <a:rPr sz="1150" b="0">
                <a:solidFill>
                  <a:srgbClr val="161B26"/>
                </a:solidFill>
                <a:latin typeface="Arial"/>
              </a:rPr>
              <a:t>Name the visible issue specifically.</a:t>
            </a:r>
          </a:p>
        </p:txBody>
      </p:sp>
      <p:sp>
        <p:nvSpPr>
          <p:cNvPr id="14" name="Rounded Rectangle 13"/>
          <p:cNvSpPr/>
          <p:nvPr/>
        </p:nvSpPr>
        <p:spPr>
          <a:xfrm>
            <a:off x="2884017" y="1920240"/>
            <a:ext cx="1997049" cy="356616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84017" y="1920240"/>
            <a:ext cx="73152" cy="3566160"/>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085185" y="2139696"/>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85185" y="2148840"/>
            <a:ext cx="438912" cy="420624"/>
          </a:xfrm>
          <a:prstGeom prst="rect">
            <a:avLst/>
          </a:prstGeom>
          <a:noFill/>
        </p:spPr>
        <p:txBody>
          <a:bodyPr wrap="square" anchor="ctr">
            <a:spAutoFit/>
          </a:bodyPr>
          <a:lstStyle/>
          <a:p>
            <a:pPr algn="ctr"/>
            <a:r>
              <a:rPr sz="1400" b="1">
                <a:solidFill>
                  <a:srgbClr val="FFFFFF"/>
                </a:solidFill>
                <a:latin typeface="Arial"/>
              </a:rPr>
              <a:t>2</a:t>
            </a:r>
          </a:p>
        </p:txBody>
      </p:sp>
      <p:sp>
        <p:nvSpPr>
          <p:cNvPr id="18" name="TextBox 17"/>
          <p:cNvSpPr txBox="1"/>
          <p:nvPr/>
        </p:nvSpPr>
        <p:spPr>
          <a:xfrm>
            <a:off x="3688689" y="2103120"/>
            <a:ext cx="1009497" cy="329184"/>
          </a:xfrm>
          <a:prstGeom prst="rect">
            <a:avLst/>
          </a:prstGeom>
          <a:noFill/>
        </p:spPr>
        <p:txBody>
          <a:bodyPr wrap="square" anchor="t">
            <a:spAutoFit/>
          </a:bodyPr>
          <a:lstStyle/>
          <a:p>
            <a:pPr algn="l"/>
            <a:r>
              <a:rPr sz="1400" b="1">
                <a:solidFill>
                  <a:srgbClr val="10B981"/>
                </a:solidFill>
                <a:latin typeface="Arial"/>
              </a:rPr>
              <a:t>Ask</a:t>
            </a:r>
          </a:p>
        </p:txBody>
      </p:sp>
      <p:sp>
        <p:nvSpPr>
          <p:cNvPr id="19" name="TextBox 18"/>
          <p:cNvSpPr txBox="1"/>
          <p:nvPr/>
        </p:nvSpPr>
        <p:spPr>
          <a:xfrm>
            <a:off x="3688689" y="2487168"/>
            <a:ext cx="1009497" cy="2852928"/>
          </a:xfrm>
          <a:prstGeom prst="rect">
            <a:avLst/>
          </a:prstGeom>
          <a:noFill/>
        </p:spPr>
        <p:txBody>
          <a:bodyPr wrap="square" anchor="t">
            <a:spAutoFit/>
          </a:bodyPr>
          <a:lstStyle/>
          <a:p>
            <a:pPr algn="l"/>
            <a:r>
              <a:rPr sz="1150" b="0">
                <a:solidFill>
                  <a:srgbClr val="161B26"/>
                </a:solidFill>
                <a:latin typeface="Arial"/>
              </a:rPr>
              <a:t>Clarify the designer's goal and constraints.</a:t>
            </a:r>
          </a:p>
        </p:txBody>
      </p:sp>
      <p:sp>
        <p:nvSpPr>
          <p:cNvPr id="20" name="Rounded Rectangle 19"/>
          <p:cNvSpPr/>
          <p:nvPr/>
        </p:nvSpPr>
        <p:spPr>
          <a:xfrm>
            <a:off x="5082235" y="1920240"/>
            <a:ext cx="1997049" cy="356616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82235" y="1920240"/>
            <a:ext cx="73152" cy="356616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283403" y="2139696"/>
            <a:ext cx="438912" cy="43891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83403" y="2148840"/>
            <a:ext cx="438912" cy="420624"/>
          </a:xfrm>
          <a:prstGeom prst="rect">
            <a:avLst/>
          </a:prstGeom>
          <a:noFill/>
        </p:spPr>
        <p:txBody>
          <a:bodyPr wrap="square" anchor="ctr">
            <a:spAutoFit/>
          </a:bodyPr>
          <a:lstStyle/>
          <a:p>
            <a:pPr algn="ctr"/>
            <a:r>
              <a:rPr sz="1400" b="1">
                <a:solidFill>
                  <a:srgbClr val="FFFFFF"/>
                </a:solidFill>
                <a:latin typeface="Arial"/>
              </a:rPr>
              <a:t>3</a:t>
            </a:r>
          </a:p>
        </p:txBody>
      </p:sp>
      <p:sp>
        <p:nvSpPr>
          <p:cNvPr id="24" name="TextBox 23"/>
          <p:cNvSpPr txBox="1"/>
          <p:nvPr/>
        </p:nvSpPr>
        <p:spPr>
          <a:xfrm>
            <a:off x="5886907" y="2103120"/>
            <a:ext cx="1009497" cy="329184"/>
          </a:xfrm>
          <a:prstGeom prst="rect">
            <a:avLst/>
          </a:prstGeom>
          <a:noFill/>
        </p:spPr>
        <p:txBody>
          <a:bodyPr wrap="square" anchor="t">
            <a:spAutoFit/>
          </a:bodyPr>
          <a:lstStyle/>
          <a:p>
            <a:pPr algn="l"/>
            <a:r>
              <a:rPr sz="1400" b="1">
                <a:solidFill>
                  <a:srgbClr val="7C3AED"/>
                </a:solidFill>
                <a:latin typeface="Arial"/>
              </a:rPr>
              <a:t>Explain</a:t>
            </a:r>
          </a:p>
        </p:txBody>
      </p:sp>
      <p:sp>
        <p:nvSpPr>
          <p:cNvPr id="25" name="TextBox 24"/>
          <p:cNvSpPr txBox="1"/>
          <p:nvPr/>
        </p:nvSpPr>
        <p:spPr>
          <a:xfrm>
            <a:off x="5886907" y="2487168"/>
            <a:ext cx="1009497" cy="2852928"/>
          </a:xfrm>
          <a:prstGeom prst="rect">
            <a:avLst/>
          </a:prstGeom>
          <a:noFill/>
        </p:spPr>
        <p:txBody>
          <a:bodyPr wrap="square" anchor="t">
            <a:spAutoFit/>
          </a:bodyPr>
          <a:lstStyle/>
          <a:p>
            <a:pPr algn="l"/>
            <a:r>
              <a:rPr sz="1150" b="0">
                <a:solidFill>
                  <a:srgbClr val="161B26"/>
                </a:solidFill>
                <a:latin typeface="Arial"/>
              </a:rPr>
              <a:t>Link to hierarchy, integrity, access or audience fit.</a:t>
            </a:r>
          </a:p>
        </p:txBody>
      </p:sp>
      <p:sp>
        <p:nvSpPr>
          <p:cNvPr id="26" name="Rounded Rectangle 25"/>
          <p:cNvSpPr/>
          <p:nvPr/>
        </p:nvSpPr>
        <p:spPr>
          <a:xfrm>
            <a:off x="7280452" y="1920240"/>
            <a:ext cx="1997049" cy="356616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280452" y="1920240"/>
            <a:ext cx="73152" cy="3566160"/>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481620" y="2139696"/>
            <a:ext cx="438912" cy="438912"/>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81620" y="2148840"/>
            <a:ext cx="438912" cy="420624"/>
          </a:xfrm>
          <a:prstGeom prst="rect">
            <a:avLst/>
          </a:prstGeom>
          <a:noFill/>
        </p:spPr>
        <p:txBody>
          <a:bodyPr wrap="square" anchor="ctr">
            <a:spAutoFit/>
          </a:bodyPr>
          <a:lstStyle/>
          <a:p>
            <a:pPr algn="ctr"/>
            <a:r>
              <a:rPr sz="1400" b="1">
                <a:solidFill>
                  <a:srgbClr val="FFFFFF"/>
                </a:solidFill>
                <a:latin typeface="Arial"/>
              </a:rPr>
              <a:t>4</a:t>
            </a:r>
          </a:p>
        </p:txBody>
      </p:sp>
      <p:sp>
        <p:nvSpPr>
          <p:cNvPr id="30" name="TextBox 29"/>
          <p:cNvSpPr txBox="1"/>
          <p:nvPr/>
        </p:nvSpPr>
        <p:spPr>
          <a:xfrm>
            <a:off x="8085124" y="2103120"/>
            <a:ext cx="1009497" cy="329184"/>
          </a:xfrm>
          <a:prstGeom prst="rect">
            <a:avLst/>
          </a:prstGeom>
          <a:noFill/>
        </p:spPr>
        <p:txBody>
          <a:bodyPr wrap="square" anchor="t">
            <a:spAutoFit/>
          </a:bodyPr>
          <a:lstStyle/>
          <a:p>
            <a:pPr algn="l"/>
            <a:r>
              <a:rPr sz="1400" b="1">
                <a:solidFill>
                  <a:srgbClr val="F59E0B"/>
                </a:solidFill>
                <a:latin typeface="Arial"/>
              </a:rPr>
              <a:t>Suggest</a:t>
            </a:r>
          </a:p>
        </p:txBody>
      </p:sp>
      <p:sp>
        <p:nvSpPr>
          <p:cNvPr id="31" name="TextBox 30"/>
          <p:cNvSpPr txBox="1"/>
          <p:nvPr/>
        </p:nvSpPr>
        <p:spPr>
          <a:xfrm>
            <a:off x="8085124" y="2487168"/>
            <a:ext cx="1009497" cy="2852928"/>
          </a:xfrm>
          <a:prstGeom prst="rect">
            <a:avLst/>
          </a:prstGeom>
          <a:noFill/>
        </p:spPr>
        <p:txBody>
          <a:bodyPr wrap="square" anchor="t">
            <a:spAutoFit/>
          </a:bodyPr>
          <a:lstStyle/>
          <a:p>
            <a:pPr algn="l"/>
            <a:r>
              <a:rPr sz="1150" b="0">
                <a:solidFill>
                  <a:srgbClr val="161B26"/>
                </a:solidFill>
                <a:latin typeface="Arial"/>
              </a:rPr>
              <a:t>Propose one prioritised change.</a:t>
            </a:r>
          </a:p>
        </p:txBody>
      </p:sp>
      <p:sp>
        <p:nvSpPr>
          <p:cNvPr id="32" name="Rounded Rectangle 31"/>
          <p:cNvSpPr/>
          <p:nvPr/>
        </p:nvSpPr>
        <p:spPr>
          <a:xfrm>
            <a:off x="9478670" y="1920240"/>
            <a:ext cx="1997049" cy="356616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478670" y="1920240"/>
            <a:ext cx="73152" cy="356616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679838" y="2139696"/>
            <a:ext cx="438912" cy="43891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79838" y="2148840"/>
            <a:ext cx="438912" cy="420624"/>
          </a:xfrm>
          <a:prstGeom prst="rect">
            <a:avLst/>
          </a:prstGeom>
          <a:noFill/>
        </p:spPr>
        <p:txBody>
          <a:bodyPr wrap="square" anchor="ctr">
            <a:spAutoFit/>
          </a:bodyPr>
          <a:lstStyle/>
          <a:p>
            <a:pPr algn="ctr"/>
            <a:r>
              <a:rPr sz="1400" b="1">
                <a:solidFill>
                  <a:srgbClr val="FFFFFF"/>
                </a:solidFill>
                <a:latin typeface="Arial"/>
              </a:rPr>
              <a:t>5</a:t>
            </a:r>
          </a:p>
        </p:txBody>
      </p:sp>
      <p:sp>
        <p:nvSpPr>
          <p:cNvPr id="36" name="TextBox 35"/>
          <p:cNvSpPr txBox="1"/>
          <p:nvPr/>
        </p:nvSpPr>
        <p:spPr>
          <a:xfrm>
            <a:off x="10283342" y="2103120"/>
            <a:ext cx="1009497" cy="329184"/>
          </a:xfrm>
          <a:prstGeom prst="rect">
            <a:avLst/>
          </a:prstGeom>
          <a:noFill/>
        </p:spPr>
        <p:txBody>
          <a:bodyPr wrap="square" anchor="t">
            <a:spAutoFit/>
          </a:bodyPr>
          <a:lstStyle/>
          <a:p>
            <a:pPr algn="l"/>
            <a:r>
              <a:rPr sz="1400" b="1">
                <a:solidFill>
                  <a:srgbClr val="1F6FEB"/>
                </a:solidFill>
                <a:latin typeface="Arial"/>
              </a:rPr>
              <a:t>Confirm</a:t>
            </a:r>
          </a:p>
        </p:txBody>
      </p:sp>
      <p:sp>
        <p:nvSpPr>
          <p:cNvPr id="37" name="TextBox 36"/>
          <p:cNvSpPr txBox="1"/>
          <p:nvPr/>
        </p:nvSpPr>
        <p:spPr>
          <a:xfrm>
            <a:off x="10283342" y="2487168"/>
            <a:ext cx="1009497" cy="2852928"/>
          </a:xfrm>
          <a:prstGeom prst="rect">
            <a:avLst/>
          </a:prstGeom>
          <a:noFill/>
        </p:spPr>
        <p:txBody>
          <a:bodyPr wrap="square" anchor="t">
            <a:spAutoFit/>
          </a:bodyPr>
          <a:lstStyle/>
          <a:p>
            <a:pPr algn="l"/>
            <a:r>
              <a:rPr sz="1150" b="0">
                <a:solidFill>
                  <a:srgbClr val="161B26"/>
                </a:solidFill>
                <a:latin typeface="Arial"/>
              </a:rPr>
              <a:t>Agree the revision and acceptance check.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789920" cy="320040"/>
          </a:xfrm>
          <a:prstGeom prst="rect">
            <a:avLst/>
          </a:prstGeom>
          <a:noFill/>
        </p:spPr>
        <p:txBody>
          <a:bodyPr wrap="square" anchor="t">
            <a:spAutoFit/>
          </a:bodyPr>
          <a:lstStyle/>
          <a:p>
            <a:pPr algn="l"/>
            <a:r>
              <a:rPr sz="1100" b="1">
                <a:solidFill>
                  <a:srgbClr val="7C3AED"/>
                </a:solidFill>
                <a:latin typeface="Arial"/>
              </a:rPr>
              <a:t>ACTIVITY 07 · EXAMPLE</a:t>
            </a:r>
          </a:p>
        </p:txBody>
      </p:sp>
      <p:sp>
        <p:nvSpPr>
          <p:cNvPr id="5" name="TextBox 4"/>
          <p:cNvSpPr txBox="1"/>
          <p:nvPr/>
        </p:nvSpPr>
        <p:spPr>
          <a:xfrm>
            <a:off x="658368" y="749808"/>
            <a:ext cx="10789920" cy="658368"/>
          </a:xfrm>
          <a:prstGeom prst="rect">
            <a:avLst/>
          </a:prstGeom>
          <a:noFill/>
        </p:spPr>
        <p:txBody>
          <a:bodyPr wrap="square" anchor="t">
            <a:spAutoFit/>
          </a:bodyPr>
          <a:lstStyle/>
          <a:p>
            <a:pPr algn="l"/>
            <a:r>
              <a:rPr sz="2700" b="1">
                <a:solidFill>
                  <a:srgbClr val="161B26"/>
                </a:solidFill>
                <a:latin typeface="Arial"/>
              </a:rPr>
              <a:t>Worked Output</a:t>
            </a:r>
          </a:p>
        </p:txBody>
      </p:sp>
      <p:sp>
        <p:nvSpPr>
          <p:cNvPr id="6" name="Rectangle 5"/>
          <p:cNvSpPr/>
          <p:nvPr/>
        </p:nvSpPr>
        <p:spPr>
          <a:xfrm>
            <a:off x="658368" y="1444752"/>
            <a:ext cx="1088136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9875520" cy="201168"/>
          </a:xfrm>
          <a:prstGeom prst="rect">
            <a:avLst/>
          </a:prstGeom>
          <a:noFill/>
        </p:spPr>
        <p:txBody>
          <a:bodyPr wrap="square" anchor="t">
            <a:spAutoFit/>
          </a:bodyPr>
          <a:lstStyle/>
          <a:p>
            <a:pPr algn="l"/>
            <a:r>
              <a:rPr sz="800" b="0">
                <a:solidFill>
                  <a:srgbClr val="5B6372"/>
                </a:solidFill>
                <a:latin typeface="Arial"/>
              </a:rPr>
              <a:t>TGS-2026064178 · ACTIVITY PRACTICE · Tertiary Infotech Academy Pte Ltd</a:t>
            </a:r>
          </a:p>
        </p:txBody>
      </p:sp>
      <p:sp>
        <p:nvSpPr>
          <p:cNvPr id="8" name="Rounded Rectangle 7"/>
          <p:cNvSpPr/>
          <p:nvPr/>
        </p:nvSpPr>
        <p:spPr>
          <a:xfrm>
            <a:off x="731520" y="1783080"/>
            <a:ext cx="3401568" cy="1719072"/>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783080"/>
            <a:ext cx="73152" cy="17190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32688" y="2002536"/>
            <a:ext cx="438912" cy="43891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2011680"/>
            <a:ext cx="438912" cy="420624"/>
          </a:xfrm>
          <a:prstGeom prst="rect">
            <a:avLst/>
          </a:prstGeom>
          <a:noFill/>
        </p:spPr>
        <p:txBody>
          <a:bodyPr wrap="square" anchor="ctr">
            <a:spAutoFit/>
          </a:bodyPr>
          <a:lstStyle/>
          <a:p>
            <a:pPr algn="ctr"/>
            <a:r>
              <a:rPr sz="1400" b="1">
                <a:solidFill>
                  <a:srgbClr val="FFFFFF"/>
                </a:solidFill>
                <a:latin typeface="Arial"/>
              </a:rPr>
              <a:t>1</a:t>
            </a:r>
          </a:p>
        </p:txBody>
      </p:sp>
      <p:sp>
        <p:nvSpPr>
          <p:cNvPr id="12" name="TextBox 11"/>
          <p:cNvSpPr txBox="1"/>
          <p:nvPr/>
        </p:nvSpPr>
        <p:spPr>
          <a:xfrm>
            <a:off x="1536192" y="1965960"/>
            <a:ext cx="2414016" cy="329184"/>
          </a:xfrm>
          <a:prstGeom prst="rect">
            <a:avLst/>
          </a:prstGeom>
          <a:noFill/>
        </p:spPr>
        <p:txBody>
          <a:bodyPr wrap="square" anchor="t">
            <a:spAutoFit/>
          </a:bodyPr>
          <a:lstStyle/>
          <a:p>
            <a:pPr algn="l"/>
            <a:r>
              <a:rPr sz="1400" b="1">
                <a:solidFill>
                  <a:srgbClr val="1F6FEB"/>
                </a:solidFill>
                <a:latin typeface="Arial"/>
              </a:rPr>
              <a:t>Message</a:t>
            </a:r>
          </a:p>
        </p:txBody>
      </p:sp>
      <p:sp>
        <p:nvSpPr>
          <p:cNvPr id="13" name="TextBox 12"/>
          <p:cNvSpPr txBox="1"/>
          <p:nvPr/>
        </p:nvSpPr>
        <p:spPr>
          <a:xfrm>
            <a:off x="1536192" y="2350008"/>
            <a:ext cx="2414016" cy="1005839"/>
          </a:xfrm>
          <a:prstGeom prst="rect">
            <a:avLst/>
          </a:prstGeom>
          <a:noFill/>
        </p:spPr>
        <p:txBody>
          <a:bodyPr wrap="square" anchor="t">
            <a:spAutoFit/>
          </a:bodyPr>
          <a:lstStyle/>
          <a:p>
            <a:pPr algn="l"/>
            <a:r>
              <a:rPr sz="1150" b="0">
                <a:solidFill>
                  <a:srgbClr val="161B26"/>
                </a:solidFill>
                <a:latin typeface="Arial"/>
              </a:rPr>
              <a:t>Can the audience state the takeaway?</a:t>
            </a:r>
          </a:p>
        </p:txBody>
      </p:sp>
      <p:sp>
        <p:nvSpPr>
          <p:cNvPr id="14" name="Rounded Rectangle 13"/>
          <p:cNvSpPr/>
          <p:nvPr/>
        </p:nvSpPr>
        <p:spPr>
          <a:xfrm>
            <a:off x="4315968" y="1783080"/>
            <a:ext cx="3401568" cy="1719072"/>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5968" y="1783080"/>
            <a:ext cx="73152" cy="1719072"/>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517136" y="2002536"/>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17136" y="2011680"/>
            <a:ext cx="438912" cy="420624"/>
          </a:xfrm>
          <a:prstGeom prst="rect">
            <a:avLst/>
          </a:prstGeom>
          <a:noFill/>
        </p:spPr>
        <p:txBody>
          <a:bodyPr wrap="square" anchor="ctr">
            <a:spAutoFit/>
          </a:bodyPr>
          <a:lstStyle/>
          <a:p>
            <a:pPr algn="ctr"/>
            <a:r>
              <a:rPr sz="1400" b="1">
                <a:solidFill>
                  <a:srgbClr val="FFFFFF"/>
                </a:solidFill>
                <a:latin typeface="Arial"/>
              </a:rPr>
              <a:t>2</a:t>
            </a:r>
          </a:p>
        </p:txBody>
      </p:sp>
      <p:sp>
        <p:nvSpPr>
          <p:cNvPr id="18" name="TextBox 17"/>
          <p:cNvSpPr txBox="1"/>
          <p:nvPr/>
        </p:nvSpPr>
        <p:spPr>
          <a:xfrm>
            <a:off x="5120640" y="1965960"/>
            <a:ext cx="2414016" cy="329184"/>
          </a:xfrm>
          <a:prstGeom prst="rect">
            <a:avLst/>
          </a:prstGeom>
          <a:noFill/>
        </p:spPr>
        <p:txBody>
          <a:bodyPr wrap="square" anchor="t">
            <a:spAutoFit/>
          </a:bodyPr>
          <a:lstStyle/>
          <a:p>
            <a:pPr algn="l"/>
            <a:r>
              <a:rPr sz="1400" b="1">
                <a:solidFill>
                  <a:srgbClr val="10B981"/>
                </a:solidFill>
                <a:latin typeface="Arial"/>
              </a:rPr>
              <a:t>Data</a:t>
            </a:r>
          </a:p>
        </p:txBody>
      </p:sp>
      <p:sp>
        <p:nvSpPr>
          <p:cNvPr id="19" name="TextBox 18"/>
          <p:cNvSpPr txBox="1"/>
          <p:nvPr/>
        </p:nvSpPr>
        <p:spPr>
          <a:xfrm>
            <a:off x="5120640" y="2350008"/>
            <a:ext cx="2414016" cy="1005839"/>
          </a:xfrm>
          <a:prstGeom prst="rect">
            <a:avLst/>
          </a:prstGeom>
          <a:noFill/>
        </p:spPr>
        <p:txBody>
          <a:bodyPr wrap="square" anchor="t">
            <a:spAutoFit/>
          </a:bodyPr>
          <a:lstStyle/>
          <a:p>
            <a:pPr algn="l"/>
            <a:r>
              <a:rPr sz="1150" b="0">
                <a:solidFill>
                  <a:srgbClr val="161B26"/>
                </a:solidFill>
                <a:latin typeface="Arial"/>
              </a:rPr>
              <a:t>Are claims accurate, contextualised and sourced?</a:t>
            </a:r>
          </a:p>
        </p:txBody>
      </p:sp>
      <p:sp>
        <p:nvSpPr>
          <p:cNvPr id="20" name="Rounded Rectangle 19"/>
          <p:cNvSpPr/>
          <p:nvPr/>
        </p:nvSpPr>
        <p:spPr>
          <a:xfrm>
            <a:off x="7900416" y="1783080"/>
            <a:ext cx="3401568" cy="1719072"/>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00416" y="1783080"/>
            <a:ext cx="73152" cy="1719072"/>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101584" y="2002536"/>
            <a:ext cx="438912" cy="43891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01584" y="2011680"/>
            <a:ext cx="438912" cy="420624"/>
          </a:xfrm>
          <a:prstGeom prst="rect">
            <a:avLst/>
          </a:prstGeom>
          <a:noFill/>
        </p:spPr>
        <p:txBody>
          <a:bodyPr wrap="square" anchor="ctr">
            <a:spAutoFit/>
          </a:bodyPr>
          <a:lstStyle/>
          <a:p>
            <a:pPr algn="ctr"/>
            <a:r>
              <a:rPr sz="1400" b="1">
                <a:solidFill>
                  <a:srgbClr val="FFFFFF"/>
                </a:solidFill>
                <a:latin typeface="Arial"/>
              </a:rPr>
              <a:t>3</a:t>
            </a:r>
          </a:p>
        </p:txBody>
      </p:sp>
      <p:sp>
        <p:nvSpPr>
          <p:cNvPr id="24" name="TextBox 23"/>
          <p:cNvSpPr txBox="1"/>
          <p:nvPr/>
        </p:nvSpPr>
        <p:spPr>
          <a:xfrm>
            <a:off x="8705088" y="1965960"/>
            <a:ext cx="2414016" cy="329184"/>
          </a:xfrm>
          <a:prstGeom prst="rect">
            <a:avLst/>
          </a:prstGeom>
          <a:noFill/>
        </p:spPr>
        <p:txBody>
          <a:bodyPr wrap="square" anchor="t">
            <a:spAutoFit/>
          </a:bodyPr>
          <a:lstStyle/>
          <a:p>
            <a:pPr algn="l"/>
            <a:r>
              <a:rPr sz="1400" b="1">
                <a:solidFill>
                  <a:srgbClr val="7C3AED"/>
                </a:solidFill>
                <a:latin typeface="Arial"/>
              </a:rPr>
              <a:t>Hierarchy</a:t>
            </a:r>
          </a:p>
        </p:txBody>
      </p:sp>
      <p:sp>
        <p:nvSpPr>
          <p:cNvPr id="25" name="TextBox 24"/>
          <p:cNvSpPr txBox="1"/>
          <p:nvPr/>
        </p:nvSpPr>
        <p:spPr>
          <a:xfrm>
            <a:off x="8705088" y="2350008"/>
            <a:ext cx="2414016" cy="1005839"/>
          </a:xfrm>
          <a:prstGeom prst="rect">
            <a:avLst/>
          </a:prstGeom>
          <a:noFill/>
        </p:spPr>
        <p:txBody>
          <a:bodyPr wrap="square" anchor="t">
            <a:spAutoFit/>
          </a:bodyPr>
          <a:lstStyle/>
          <a:p>
            <a:pPr algn="l"/>
            <a:r>
              <a:rPr sz="1150" b="0">
                <a:solidFill>
                  <a:srgbClr val="161B26"/>
                </a:solidFill>
                <a:latin typeface="Arial"/>
              </a:rPr>
              <a:t>Is the reading order obvious?</a:t>
            </a:r>
          </a:p>
        </p:txBody>
      </p:sp>
      <p:sp>
        <p:nvSpPr>
          <p:cNvPr id="26" name="Rounded Rectangle 25"/>
          <p:cNvSpPr/>
          <p:nvPr/>
        </p:nvSpPr>
        <p:spPr>
          <a:xfrm>
            <a:off x="731520" y="3776472"/>
            <a:ext cx="3401568" cy="1719072"/>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1520" y="3776472"/>
            <a:ext cx="73152" cy="171907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32688" y="3995928"/>
            <a:ext cx="438912" cy="438912"/>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 y="4005072"/>
            <a:ext cx="438912" cy="420624"/>
          </a:xfrm>
          <a:prstGeom prst="rect">
            <a:avLst/>
          </a:prstGeom>
          <a:noFill/>
        </p:spPr>
        <p:txBody>
          <a:bodyPr wrap="square" anchor="ctr">
            <a:spAutoFit/>
          </a:bodyPr>
          <a:lstStyle/>
          <a:p>
            <a:pPr algn="ctr"/>
            <a:r>
              <a:rPr sz="1400" b="1">
                <a:solidFill>
                  <a:srgbClr val="FFFFFF"/>
                </a:solidFill>
                <a:latin typeface="Arial"/>
              </a:rPr>
              <a:t>4</a:t>
            </a:r>
          </a:p>
        </p:txBody>
      </p:sp>
      <p:sp>
        <p:nvSpPr>
          <p:cNvPr id="30" name="TextBox 29"/>
          <p:cNvSpPr txBox="1"/>
          <p:nvPr/>
        </p:nvSpPr>
        <p:spPr>
          <a:xfrm>
            <a:off x="1536192" y="3959352"/>
            <a:ext cx="2414016" cy="329184"/>
          </a:xfrm>
          <a:prstGeom prst="rect">
            <a:avLst/>
          </a:prstGeom>
          <a:noFill/>
        </p:spPr>
        <p:txBody>
          <a:bodyPr wrap="square" anchor="t">
            <a:spAutoFit/>
          </a:bodyPr>
          <a:lstStyle/>
          <a:p>
            <a:pPr algn="l"/>
            <a:r>
              <a:rPr sz="1400" b="1">
                <a:solidFill>
                  <a:srgbClr val="F59E0B"/>
                </a:solidFill>
                <a:latin typeface="Arial"/>
              </a:rPr>
              <a:t>Access</a:t>
            </a:r>
          </a:p>
        </p:txBody>
      </p:sp>
      <p:sp>
        <p:nvSpPr>
          <p:cNvPr id="31" name="TextBox 30"/>
          <p:cNvSpPr txBox="1"/>
          <p:nvPr/>
        </p:nvSpPr>
        <p:spPr>
          <a:xfrm>
            <a:off x="1536192" y="4343400"/>
            <a:ext cx="2414016" cy="1005839"/>
          </a:xfrm>
          <a:prstGeom prst="rect">
            <a:avLst/>
          </a:prstGeom>
          <a:noFill/>
        </p:spPr>
        <p:txBody>
          <a:bodyPr wrap="square" anchor="t">
            <a:spAutoFit/>
          </a:bodyPr>
          <a:lstStyle/>
          <a:p>
            <a:pPr algn="l"/>
            <a:r>
              <a:rPr sz="1150" b="0">
                <a:solidFill>
                  <a:srgbClr val="161B26"/>
                </a:solidFill>
                <a:latin typeface="Arial"/>
              </a:rPr>
              <a:t>Are contrast, labels, text size and alt text adequate?</a:t>
            </a:r>
          </a:p>
        </p:txBody>
      </p:sp>
      <p:sp>
        <p:nvSpPr>
          <p:cNvPr id="32" name="Rounded Rectangle 31"/>
          <p:cNvSpPr/>
          <p:nvPr/>
        </p:nvSpPr>
        <p:spPr>
          <a:xfrm>
            <a:off x="4315968" y="3776472"/>
            <a:ext cx="3401568" cy="1719072"/>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315968" y="3776472"/>
            <a:ext cx="73152" cy="17190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517136" y="3995928"/>
            <a:ext cx="438912" cy="43891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17136" y="4005072"/>
            <a:ext cx="438912" cy="420624"/>
          </a:xfrm>
          <a:prstGeom prst="rect">
            <a:avLst/>
          </a:prstGeom>
          <a:noFill/>
        </p:spPr>
        <p:txBody>
          <a:bodyPr wrap="square" anchor="ctr">
            <a:spAutoFit/>
          </a:bodyPr>
          <a:lstStyle/>
          <a:p>
            <a:pPr algn="ctr"/>
            <a:r>
              <a:rPr sz="1400" b="1">
                <a:solidFill>
                  <a:srgbClr val="FFFFFF"/>
                </a:solidFill>
                <a:latin typeface="Arial"/>
              </a:rPr>
              <a:t>5</a:t>
            </a:r>
          </a:p>
        </p:txBody>
      </p:sp>
      <p:sp>
        <p:nvSpPr>
          <p:cNvPr id="36" name="TextBox 35"/>
          <p:cNvSpPr txBox="1"/>
          <p:nvPr/>
        </p:nvSpPr>
        <p:spPr>
          <a:xfrm>
            <a:off x="5120640" y="3959352"/>
            <a:ext cx="2414016" cy="329184"/>
          </a:xfrm>
          <a:prstGeom prst="rect">
            <a:avLst/>
          </a:prstGeom>
          <a:noFill/>
        </p:spPr>
        <p:txBody>
          <a:bodyPr wrap="square" anchor="t">
            <a:spAutoFit/>
          </a:bodyPr>
          <a:lstStyle/>
          <a:p>
            <a:pPr algn="l"/>
            <a:r>
              <a:rPr sz="1400" b="1">
                <a:solidFill>
                  <a:srgbClr val="1F6FEB"/>
                </a:solidFill>
                <a:latin typeface="Arial"/>
              </a:rPr>
              <a:t>Story</a:t>
            </a:r>
          </a:p>
        </p:txBody>
      </p:sp>
      <p:sp>
        <p:nvSpPr>
          <p:cNvPr id="37" name="TextBox 36"/>
          <p:cNvSpPr txBox="1"/>
          <p:nvPr/>
        </p:nvSpPr>
        <p:spPr>
          <a:xfrm>
            <a:off x="5120640" y="4343400"/>
            <a:ext cx="2414016" cy="1005839"/>
          </a:xfrm>
          <a:prstGeom prst="rect">
            <a:avLst/>
          </a:prstGeom>
          <a:noFill/>
        </p:spPr>
        <p:txBody>
          <a:bodyPr wrap="square" anchor="t">
            <a:spAutoFit/>
          </a:bodyPr>
          <a:lstStyle/>
          <a:p>
            <a:pPr algn="l"/>
            <a:r>
              <a:rPr sz="1150" b="0">
                <a:solidFill>
                  <a:srgbClr val="161B26"/>
                </a:solidFill>
                <a:latin typeface="Arial"/>
              </a:rPr>
              <a:t>Do evidence and action connect logically?</a:t>
            </a:r>
          </a:p>
        </p:txBody>
      </p:sp>
      <p:sp>
        <p:nvSpPr>
          <p:cNvPr id="38" name="Rounded Rectangle 37"/>
          <p:cNvSpPr/>
          <p:nvPr/>
        </p:nvSpPr>
        <p:spPr>
          <a:xfrm>
            <a:off x="7900416" y="3776472"/>
            <a:ext cx="3401568" cy="1719072"/>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900416" y="3776472"/>
            <a:ext cx="73152" cy="1719072"/>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101584" y="3995928"/>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01584" y="4005072"/>
            <a:ext cx="438912" cy="420624"/>
          </a:xfrm>
          <a:prstGeom prst="rect">
            <a:avLst/>
          </a:prstGeom>
          <a:noFill/>
        </p:spPr>
        <p:txBody>
          <a:bodyPr wrap="square" anchor="ctr">
            <a:spAutoFit/>
          </a:bodyPr>
          <a:lstStyle/>
          <a:p>
            <a:pPr algn="ctr"/>
            <a:r>
              <a:rPr sz="1400" b="1">
                <a:solidFill>
                  <a:srgbClr val="FFFFFF"/>
                </a:solidFill>
                <a:latin typeface="Arial"/>
              </a:rPr>
              <a:t>6</a:t>
            </a:r>
          </a:p>
        </p:txBody>
      </p:sp>
      <p:sp>
        <p:nvSpPr>
          <p:cNvPr id="42" name="TextBox 41"/>
          <p:cNvSpPr txBox="1"/>
          <p:nvPr/>
        </p:nvSpPr>
        <p:spPr>
          <a:xfrm>
            <a:off x="8705088" y="3959352"/>
            <a:ext cx="2414016" cy="329184"/>
          </a:xfrm>
          <a:prstGeom prst="rect">
            <a:avLst/>
          </a:prstGeom>
          <a:noFill/>
        </p:spPr>
        <p:txBody>
          <a:bodyPr wrap="square" anchor="t">
            <a:spAutoFit/>
          </a:bodyPr>
          <a:lstStyle/>
          <a:p>
            <a:pPr algn="l"/>
            <a:r>
              <a:rPr sz="1400" b="1">
                <a:solidFill>
                  <a:srgbClr val="10B981"/>
                </a:solidFill>
                <a:latin typeface="Arial"/>
              </a:rPr>
              <a:t>Fit</a:t>
            </a:r>
          </a:p>
        </p:txBody>
      </p:sp>
      <p:sp>
        <p:nvSpPr>
          <p:cNvPr id="43" name="TextBox 42"/>
          <p:cNvSpPr txBox="1"/>
          <p:nvPr/>
        </p:nvSpPr>
        <p:spPr>
          <a:xfrm>
            <a:off x="8705088" y="4343400"/>
            <a:ext cx="2414016" cy="1005839"/>
          </a:xfrm>
          <a:prstGeom prst="rect">
            <a:avLst/>
          </a:prstGeom>
          <a:noFill/>
        </p:spPr>
        <p:txBody>
          <a:bodyPr wrap="square" anchor="t">
            <a:spAutoFit/>
          </a:bodyPr>
          <a:lstStyle/>
          <a:p>
            <a:pPr algn="l"/>
            <a:r>
              <a:rPr sz="1150" b="0">
                <a:solidFill>
                  <a:srgbClr val="161B26"/>
                </a:solidFill>
                <a:latin typeface="Arial"/>
              </a:rPr>
              <a:t>Does the output match the audience and channel?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789920" cy="320040"/>
          </a:xfrm>
          <a:prstGeom prst="rect">
            <a:avLst/>
          </a:prstGeom>
          <a:noFill/>
        </p:spPr>
        <p:txBody>
          <a:bodyPr wrap="square" anchor="t">
            <a:spAutoFit/>
          </a:bodyPr>
          <a:lstStyle/>
          <a:p>
            <a:pPr algn="l"/>
            <a:r>
              <a:rPr sz="1100" b="1">
                <a:solidFill>
                  <a:srgbClr val="1F6FEB"/>
                </a:solidFill>
                <a:latin typeface="Arial"/>
              </a:rPr>
              <a:t>ACTIVITY 07 · ACCEPTANCE</a:t>
            </a:r>
          </a:p>
        </p:txBody>
      </p:sp>
      <p:sp>
        <p:nvSpPr>
          <p:cNvPr id="5" name="TextBox 4"/>
          <p:cNvSpPr txBox="1"/>
          <p:nvPr/>
        </p:nvSpPr>
        <p:spPr>
          <a:xfrm>
            <a:off x="658368" y="749808"/>
            <a:ext cx="10789920" cy="658368"/>
          </a:xfrm>
          <a:prstGeom prst="rect">
            <a:avLst/>
          </a:prstGeom>
          <a:noFill/>
        </p:spPr>
        <p:txBody>
          <a:bodyPr wrap="square" anchor="t">
            <a:spAutoFit/>
          </a:bodyPr>
          <a:lstStyle/>
          <a:p>
            <a:pPr algn="l"/>
            <a:r>
              <a:rPr sz="2700" b="1">
                <a:solidFill>
                  <a:srgbClr val="161B26"/>
                </a:solidFill>
                <a:latin typeface="Arial"/>
              </a:rPr>
              <a:t>What Good Looks Like</a:t>
            </a:r>
          </a:p>
        </p:txBody>
      </p:sp>
      <p:sp>
        <p:nvSpPr>
          <p:cNvPr id="6" name="Rectangle 5"/>
          <p:cNvSpPr/>
          <p:nvPr/>
        </p:nvSpPr>
        <p:spPr>
          <a:xfrm>
            <a:off x="658368" y="1444752"/>
            <a:ext cx="1088136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9875520" cy="201168"/>
          </a:xfrm>
          <a:prstGeom prst="rect">
            <a:avLst/>
          </a:prstGeom>
          <a:noFill/>
        </p:spPr>
        <p:txBody>
          <a:bodyPr wrap="square" anchor="t">
            <a:spAutoFit/>
          </a:bodyPr>
          <a:lstStyle/>
          <a:p>
            <a:pPr algn="l"/>
            <a:r>
              <a:rPr sz="800" b="0">
                <a:solidFill>
                  <a:srgbClr val="5B6372"/>
                </a:solidFill>
                <a:latin typeface="Arial"/>
              </a:rPr>
              <a:t>TGS-2026064178 · ACTIVITY PRACTICE · Tertiary Infotech Academy Pte Ltd</a:t>
            </a:r>
          </a:p>
        </p:txBody>
      </p:sp>
      <p:sp>
        <p:nvSpPr>
          <p:cNvPr id="8" name="Rounded Rectangle 7"/>
          <p:cNvSpPr/>
          <p:nvPr/>
        </p:nvSpPr>
        <p:spPr>
          <a:xfrm>
            <a:off x="749808" y="1810512"/>
            <a:ext cx="10652760" cy="1005840"/>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011680"/>
            <a:ext cx="10058400" cy="566928"/>
          </a:xfrm>
          <a:prstGeom prst="rect">
            <a:avLst/>
          </a:prstGeom>
          <a:noFill/>
        </p:spPr>
        <p:txBody>
          <a:bodyPr wrap="square" anchor="ctr">
            <a:spAutoFit/>
          </a:bodyPr>
          <a:lstStyle/>
          <a:p>
            <a:pPr algn="ctr"/>
            <a:r>
              <a:rPr sz="1900" b="1">
                <a:solidFill>
                  <a:srgbClr val="FFFFFF"/>
                </a:solidFill>
                <a:latin typeface="Arial"/>
              </a:rPr>
              <a:t>A stakeholder mind map infographic, completed peer-review log, revised PowerPoint and short reflection</a:t>
            </a:r>
          </a:p>
        </p:txBody>
      </p:sp>
      <p:sp>
        <p:nvSpPr>
          <p:cNvPr id="10" name="Rounded Rectangle 9"/>
          <p:cNvSpPr/>
          <p:nvPr/>
        </p:nvSpPr>
        <p:spPr>
          <a:xfrm>
            <a:off x="777240" y="3154680"/>
            <a:ext cx="5074920" cy="74980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154680"/>
            <a:ext cx="73152" cy="74980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78408" y="3374136"/>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3383280"/>
            <a:ext cx="438912" cy="420624"/>
          </a:xfrm>
          <a:prstGeom prst="rect">
            <a:avLst/>
          </a:prstGeom>
          <a:noFill/>
        </p:spPr>
        <p:txBody>
          <a:bodyPr wrap="square" anchor="ctr">
            <a:spAutoFit/>
          </a:bodyPr>
          <a:lstStyle/>
          <a:p>
            <a:pPr algn="ctr"/>
            <a:r>
              <a:rPr sz="1400" b="1">
                <a:solidFill>
                  <a:srgbClr val="FFFFFF"/>
                </a:solidFill>
                <a:latin typeface="Arial"/>
              </a:rPr>
              <a:t>1</a:t>
            </a:r>
          </a:p>
        </p:txBody>
      </p:sp>
      <p:sp>
        <p:nvSpPr>
          <p:cNvPr id="14" name="TextBox 13"/>
          <p:cNvSpPr txBox="1"/>
          <p:nvPr/>
        </p:nvSpPr>
        <p:spPr>
          <a:xfrm>
            <a:off x="1581912" y="3337560"/>
            <a:ext cx="4087368" cy="329184"/>
          </a:xfrm>
          <a:prstGeom prst="rect">
            <a:avLst/>
          </a:prstGeom>
          <a:noFill/>
        </p:spPr>
        <p:txBody>
          <a:bodyPr wrap="square" anchor="t">
            <a:spAutoFit/>
          </a:bodyPr>
          <a:lstStyle/>
          <a:p>
            <a:pPr algn="l"/>
            <a:r>
              <a:rPr sz="1400" b="1">
                <a:solidFill>
                  <a:srgbClr val="10B981"/>
                </a:solidFill>
                <a:latin typeface="Arial"/>
              </a:rPr>
              <a:t>CHECK</a:t>
            </a:r>
          </a:p>
        </p:txBody>
      </p:sp>
      <p:sp>
        <p:nvSpPr>
          <p:cNvPr id="15" name="TextBox 14"/>
          <p:cNvSpPr txBox="1"/>
          <p:nvPr/>
        </p:nvSpPr>
        <p:spPr>
          <a:xfrm>
            <a:off x="1581912" y="3721608"/>
            <a:ext cx="4087368" cy="36575"/>
          </a:xfrm>
          <a:prstGeom prst="rect">
            <a:avLst/>
          </a:prstGeom>
          <a:noFill/>
        </p:spPr>
        <p:txBody>
          <a:bodyPr wrap="square" anchor="t">
            <a:spAutoFit/>
          </a:bodyPr>
          <a:lstStyle/>
          <a:p>
            <a:pPr algn="l"/>
            <a:r>
              <a:rPr sz="1150" b="0">
                <a:solidFill>
                  <a:srgbClr val="161B26"/>
                </a:solidFill>
                <a:latin typeface="Arial"/>
              </a:rPr>
              <a:t>Feedback contains observations, not taste-only comments</a:t>
            </a:r>
          </a:p>
        </p:txBody>
      </p:sp>
      <p:sp>
        <p:nvSpPr>
          <p:cNvPr id="16" name="Rounded Rectangle 15"/>
          <p:cNvSpPr/>
          <p:nvPr/>
        </p:nvSpPr>
        <p:spPr>
          <a:xfrm>
            <a:off x="6126479" y="3154680"/>
            <a:ext cx="5074920" cy="74980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79" y="3154680"/>
            <a:ext cx="73152" cy="74980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7647" y="3374136"/>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27647" y="3383280"/>
            <a:ext cx="438912" cy="420624"/>
          </a:xfrm>
          <a:prstGeom prst="rect">
            <a:avLst/>
          </a:prstGeom>
          <a:noFill/>
        </p:spPr>
        <p:txBody>
          <a:bodyPr wrap="square" anchor="ctr">
            <a:spAutoFit/>
          </a:bodyPr>
          <a:lstStyle/>
          <a:p>
            <a:pPr algn="ctr"/>
            <a:r>
              <a:rPr sz="1400" b="1">
                <a:solidFill>
                  <a:srgbClr val="FFFFFF"/>
                </a:solidFill>
                <a:latin typeface="Arial"/>
              </a:rPr>
              <a:t>2</a:t>
            </a:r>
          </a:p>
        </p:txBody>
      </p:sp>
      <p:sp>
        <p:nvSpPr>
          <p:cNvPr id="20" name="TextBox 19"/>
          <p:cNvSpPr txBox="1"/>
          <p:nvPr/>
        </p:nvSpPr>
        <p:spPr>
          <a:xfrm>
            <a:off x="6931151" y="3337560"/>
            <a:ext cx="4087368" cy="329184"/>
          </a:xfrm>
          <a:prstGeom prst="rect">
            <a:avLst/>
          </a:prstGeom>
          <a:noFill/>
        </p:spPr>
        <p:txBody>
          <a:bodyPr wrap="square" anchor="t">
            <a:spAutoFit/>
          </a:bodyPr>
          <a:lstStyle/>
          <a:p>
            <a:pPr algn="l"/>
            <a:r>
              <a:rPr sz="1400" b="1">
                <a:solidFill>
                  <a:srgbClr val="10B981"/>
                </a:solidFill>
                <a:latin typeface="Arial"/>
              </a:rPr>
              <a:t>CHECK</a:t>
            </a:r>
          </a:p>
        </p:txBody>
      </p:sp>
      <p:sp>
        <p:nvSpPr>
          <p:cNvPr id="21" name="TextBox 20"/>
          <p:cNvSpPr txBox="1"/>
          <p:nvPr/>
        </p:nvSpPr>
        <p:spPr>
          <a:xfrm>
            <a:off x="6931151" y="3721608"/>
            <a:ext cx="4087368" cy="36575"/>
          </a:xfrm>
          <a:prstGeom prst="rect">
            <a:avLst/>
          </a:prstGeom>
          <a:noFill/>
        </p:spPr>
        <p:txBody>
          <a:bodyPr wrap="square" anchor="t">
            <a:spAutoFit/>
          </a:bodyPr>
          <a:lstStyle/>
          <a:p>
            <a:pPr algn="l"/>
            <a:r>
              <a:rPr sz="1150" b="0">
                <a:solidFill>
                  <a:srgbClr val="161B26"/>
                </a:solidFill>
                <a:latin typeface="Arial"/>
              </a:rPr>
              <a:t>Every score has evidence</a:t>
            </a:r>
          </a:p>
        </p:txBody>
      </p:sp>
      <p:sp>
        <p:nvSpPr>
          <p:cNvPr id="22" name="Rounded Rectangle 21"/>
          <p:cNvSpPr/>
          <p:nvPr/>
        </p:nvSpPr>
        <p:spPr>
          <a:xfrm>
            <a:off x="777240" y="4096512"/>
            <a:ext cx="5074920" cy="74980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96512"/>
            <a:ext cx="73152" cy="74980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78408" y="4315968"/>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4325112"/>
            <a:ext cx="438912" cy="420624"/>
          </a:xfrm>
          <a:prstGeom prst="rect">
            <a:avLst/>
          </a:prstGeom>
          <a:noFill/>
        </p:spPr>
        <p:txBody>
          <a:bodyPr wrap="square" anchor="ctr">
            <a:spAutoFit/>
          </a:bodyPr>
          <a:lstStyle/>
          <a:p>
            <a:pPr algn="ctr"/>
            <a:r>
              <a:rPr sz="1400" b="1">
                <a:solidFill>
                  <a:srgbClr val="FFFFFF"/>
                </a:solidFill>
                <a:latin typeface="Arial"/>
              </a:rPr>
              <a:t>3</a:t>
            </a:r>
          </a:p>
        </p:txBody>
      </p:sp>
      <p:sp>
        <p:nvSpPr>
          <p:cNvPr id="26" name="TextBox 25"/>
          <p:cNvSpPr txBox="1"/>
          <p:nvPr/>
        </p:nvSpPr>
        <p:spPr>
          <a:xfrm>
            <a:off x="1581912" y="4279392"/>
            <a:ext cx="4087368" cy="329184"/>
          </a:xfrm>
          <a:prstGeom prst="rect">
            <a:avLst/>
          </a:prstGeom>
          <a:noFill/>
        </p:spPr>
        <p:txBody>
          <a:bodyPr wrap="square" anchor="t">
            <a:spAutoFit/>
          </a:bodyPr>
          <a:lstStyle/>
          <a:p>
            <a:pPr algn="l"/>
            <a:r>
              <a:rPr sz="1400" b="1">
                <a:solidFill>
                  <a:srgbClr val="10B981"/>
                </a:solidFill>
                <a:latin typeface="Arial"/>
              </a:rPr>
              <a:t>CHECK</a:t>
            </a:r>
          </a:p>
        </p:txBody>
      </p:sp>
      <p:sp>
        <p:nvSpPr>
          <p:cNvPr id="27" name="TextBox 26"/>
          <p:cNvSpPr txBox="1"/>
          <p:nvPr/>
        </p:nvSpPr>
        <p:spPr>
          <a:xfrm>
            <a:off x="1581912" y="4663440"/>
            <a:ext cx="4087368" cy="36575"/>
          </a:xfrm>
          <a:prstGeom prst="rect">
            <a:avLst/>
          </a:prstGeom>
          <a:noFill/>
        </p:spPr>
        <p:txBody>
          <a:bodyPr wrap="square" anchor="t">
            <a:spAutoFit/>
          </a:bodyPr>
          <a:lstStyle/>
          <a:p>
            <a:pPr algn="l"/>
            <a:r>
              <a:rPr sz="1150" b="0">
                <a:solidFill>
                  <a:srgbClr val="161B26"/>
                </a:solidFill>
                <a:latin typeface="Arial"/>
              </a:rPr>
              <a:t>One high-impact change is prioritised</a:t>
            </a:r>
          </a:p>
        </p:txBody>
      </p:sp>
      <p:sp>
        <p:nvSpPr>
          <p:cNvPr id="28" name="Rounded Rectangle 27"/>
          <p:cNvSpPr/>
          <p:nvPr/>
        </p:nvSpPr>
        <p:spPr>
          <a:xfrm>
            <a:off x="6126479" y="4096512"/>
            <a:ext cx="5074920" cy="74980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26479" y="4096512"/>
            <a:ext cx="73152" cy="74980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327647" y="4315968"/>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27647" y="4325112"/>
            <a:ext cx="438912" cy="420624"/>
          </a:xfrm>
          <a:prstGeom prst="rect">
            <a:avLst/>
          </a:prstGeom>
          <a:noFill/>
        </p:spPr>
        <p:txBody>
          <a:bodyPr wrap="square" anchor="ctr">
            <a:spAutoFit/>
          </a:bodyPr>
          <a:lstStyle/>
          <a:p>
            <a:pPr algn="ctr"/>
            <a:r>
              <a:rPr sz="1400" b="1">
                <a:solidFill>
                  <a:srgbClr val="FFFFFF"/>
                </a:solidFill>
                <a:latin typeface="Arial"/>
              </a:rPr>
              <a:t>4</a:t>
            </a:r>
          </a:p>
        </p:txBody>
      </p:sp>
      <p:sp>
        <p:nvSpPr>
          <p:cNvPr id="32" name="TextBox 31"/>
          <p:cNvSpPr txBox="1"/>
          <p:nvPr/>
        </p:nvSpPr>
        <p:spPr>
          <a:xfrm>
            <a:off x="6931151" y="4279392"/>
            <a:ext cx="4087368" cy="329184"/>
          </a:xfrm>
          <a:prstGeom prst="rect">
            <a:avLst/>
          </a:prstGeom>
          <a:noFill/>
        </p:spPr>
        <p:txBody>
          <a:bodyPr wrap="square" anchor="t">
            <a:spAutoFit/>
          </a:bodyPr>
          <a:lstStyle/>
          <a:p>
            <a:pPr algn="l"/>
            <a:r>
              <a:rPr sz="1400" b="1">
                <a:solidFill>
                  <a:srgbClr val="10B981"/>
                </a:solidFill>
                <a:latin typeface="Arial"/>
              </a:rPr>
              <a:t>CHECK</a:t>
            </a:r>
          </a:p>
        </p:txBody>
      </p:sp>
      <p:sp>
        <p:nvSpPr>
          <p:cNvPr id="33" name="TextBox 32"/>
          <p:cNvSpPr txBox="1"/>
          <p:nvPr/>
        </p:nvSpPr>
        <p:spPr>
          <a:xfrm>
            <a:off x="6931151" y="4663440"/>
            <a:ext cx="4087368" cy="36575"/>
          </a:xfrm>
          <a:prstGeom prst="rect">
            <a:avLst/>
          </a:prstGeom>
          <a:noFill/>
        </p:spPr>
        <p:txBody>
          <a:bodyPr wrap="square" anchor="t">
            <a:spAutoFit/>
          </a:bodyPr>
          <a:lstStyle/>
          <a:p>
            <a:pPr algn="l"/>
            <a:r>
              <a:rPr sz="1150" b="0">
                <a:solidFill>
                  <a:srgbClr val="161B26"/>
                </a:solidFill>
                <a:latin typeface="Arial"/>
              </a:rPr>
              <a:t>Revised PPTX remains editable</a:t>
            </a:r>
          </a:p>
        </p:txBody>
      </p:sp>
      <p:sp>
        <p:nvSpPr>
          <p:cNvPr id="34" name="Rounded Rectangle 33"/>
          <p:cNvSpPr/>
          <p:nvPr/>
        </p:nvSpPr>
        <p:spPr>
          <a:xfrm>
            <a:off x="777240" y="5038344"/>
            <a:ext cx="5074920" cy="74980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7240" y="5038344"/>
            <a:ext cx="73152" cy="74980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78408" y="5257800"/>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8408" y="5266944"/>
            <a:ext cx="438912" cy="420624"/>
          </a:xfrm>
          <a:prstGeom prst="rect">
            <a:avLst/>
          </a:prstGeom>
          <a:noFill/>
        </p:spPr>
        <p:txBody>
          <a:bodyPr wrap="square" anchor="ctr">
            <a:spAutoFit/>
          </a:bodyPr>
          <a:lstStyle/>
          <a:p>
            <a:pPr algn="ctr"/>
            <a:r>
              <a:rPr sz="1400" b="1">
                <a:solidFill>
                  <a:srgbClr val="FFFFFF"/>
                </a:solidFill>
                <a:latin typeface="Arial"/>
              </a:rPr>
              <a:t>5</a:t>
            </a:r>
          </a:p>
        </p:txBody>
      </p:sp>
      <p:sp>
        <p:nvSpPr>
          <p:cNvPr id="38" name="TextBox 37"/>
          <p:cNvSpPr txBox="1"/>
          <p:nvPr/>
        </p:nvSpPr>
        <p:spPr>
          <a:xfrm>
            <a:off x="1581912" y="5221224"/>
            <a:ext cx="4087368" cy="329184"/>
          </a:xfrm>
          <a:prstGeom prst="rect">
            <a:avLst/>
          </a:prstGeom>
          <a:noFill/>
        </p:spPr>
        <p:txBody>
          <a:bodyPr wrap="square" anchor="t">
            <a:spAutoFit/>
          </a:bodyPr>
          <a:lstStyle/>
          <a:p>
            <a:pPr algn="l"/>
            <a:r>
              <a:rPr sz="1400" b="1">
                <a:solidFill>
                  <a:srgbClr val="10B981"/>
                </a:solidFill>
                <a:latin typeface="Arial"/>
              </a:rPr>
              <a:t>CHECK</a:t>
            </a:r>
          </a:p>
        </p:txBody>
      </p:sp>
      <p:sp>
        <p:nvSpPr>
          <p:cNvPr id="39" name="TextBox 38"/>
          <p:cNvSpPr txBox="1"/>
          <p:nvPr/>
        </p:nvSpPr>
        <p:spPr>
          <a:xfrm>
            <a:off x="1581912" y="5605272"/>
            <a:ext cx="4087368" cy="36575"/>
          </a:xfrm>
          <a:prstGeom prst="rect">
            <a:avLst/>
          </a:prstGeom>
          <a:noFill/>
        </p:spPr>
        <p:txBody>
          <a:bodyPr wrap="square" anchor="t">
            <a:spAutoFit/>
          </a:bodyPr>
          <a:lstStyle/>
          <a:p>
            <a:pPr algn="l"/>
            <a:r>
              <a:rPr sz="1150" b="0">
                <a:solidFill>
                  <a:srgbClr val="161B26"/>
                </a:solidFill>
                <a:latin typeface="Arial"/>
              </a:rPr>
              <a:t>Reflection explains how the change affects audience understanding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