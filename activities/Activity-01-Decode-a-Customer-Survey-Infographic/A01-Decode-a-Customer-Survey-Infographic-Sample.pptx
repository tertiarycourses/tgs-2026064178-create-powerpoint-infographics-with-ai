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85800"/>
            <a:ext cx="10789920" cy="365760"/>
          </a:xfrm>
          <a:prstGeom prst="rect">
            <a:avLst/>
          </a:prstGeom>
          <a:noFill/>
        </p:spPr>
        <p:txBody>
          <a:bodyPr wrap="square" anchor="t">
            <a:spAutoFit/>
          </a:bodyPr>
          <a:lstStyle/>
          <a:p>
            <a:pPr algn="l"/>
            <a:r>
              <a:rPr sz="1400" b="1">
                <a:solidFill>
                  <a:srgbClr val="1F6FEB"/>
                </a:solidFill>
                <a:latin typeface="Arial"/>
              </a:rPr>
              <a:t>ACTIVITY 01 · WORKED EXAMPLE</a:t>
            </a:r>
          </a:p>
        </p:txBody>
      </p:sp>
      <p:sp>
        <p:nvSpPr>
          <p:cNvPr id="6" name="TextBox 5"/>
          <p:cNvSpPr txBox="1"/>
          <p:nvPr/>
        </p:nvSpPr>
        <p:spPr>
          <a:xfrm>
            <a:off x="777240" y="1417320"/>
            <a:ext cx="10607040" cy="1280160"/>
          </a:xfrm>
          <a:prstGeom prst="rect">
            <a:avLst/>
          </a:prstGeom>
          <a:noFill/>
        </p:spPr>
        <p:txBody>
          <a:bodyPr wrap="square" anchor="t">
            <a:spAutoFit/>
          </a:bodyPr>
          <a:lstStyle/>
          <a:p>
            <a:pPr algn="l"/>
            <a:r>
              <a:rPr sz="3400" b="1">
                <a:solidFill>
                  <a:srgbClr val="161B26"/>
                </a:solidFill>
                <a:latin typeface="Arial"/>
              </a:rPr>
              <a:t>Interpret a Statistical KPI Infographic</a:t>
            </a:r>
          </a:p>
        </p:txBody>
      </p:sp>
      <p:sp>
        <p:nvSpPr>
          <p:cNvPr id="7" name="TextBox 6"/>
          <p:cNvSpPr txBox="1"/>
          <p:nvPr/>
        </p:nvSpPr>
        <p:spPr>
          <a:xfrm>
            <a:off x="777240" y="2971800"/>
            <a:ext cx="10424160" cy="640080"/>
          </a:xfrm>
          <a:prstGeom prst="rect">
            <a:avLst/>
          </a:prstGeom>
          <a:noFill/>
        </p:spPr>
        <p:txBody>
          <a:bodyPr wrap="square" anchor="t">
            <a:spAutoFit/>
          </a:bodyPr>
          <a:lstStyle/>
          <a:p>
            <a:pPr algn="l"/>
            <a:r>
              <a:rPr sz="2000" b="0">
                <a:solidFill>
                  <a:srgbClr val="5B6372"/>
                </a:solidFill>
                <a:latin typeface="Arial"/>
              </a:rPr>
              <a:t>Northstar Retail Singapore · synthetic practice scenario</a:t>
            </a:r>
          </a:p>
        </p:txBody>
      </p:sp>
      <p:sp>
        <p:nvSpPr>
          <p:cNvPr id="8" name="Rounded Rectangle 7"/>
          <p:cNvSpPr/>
          <p:nvPr/>
        </p:nvSpPr>
        <p:spPr>
          <a:xfrm>
            <a:off x="777240" y="3794760"/>
            <a:ext cx="10561320" cy="12344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069080"/>
            <a:ext cx="9966960" cy="274320"/>
          </a:xfrm>
          <a:prstGeom prst="rect">
            <a:avLst/>
          </a:prstGeom>
          <a:noFill/>
        </p:spPr>
        <p:txBody>
          <a:bodyPr wrap="square" anchor="t">
            <a:spAutoFit/>
          </a:bodyPr>
          <a:lstStyle/>
          <a:p>
            <a:pPr algn="l"/>
            <a:r>
              <a:rPr sz="1000" b="1">
                <a:solidFill>
                  <a:srgbClr val="1F6FEB"/>
                </a:solidFill>
                <a:latin typeface="Arial"/>
              </a:rPr>
              <a:t>TOOL WORKFLOW</a:t>
            </a:r>
          </a:p>
        </p:txBody>
      </p:sp>
      <p:sp>
        <p:nvSpPr>
          <p:cNvPr id="10" name="TextBox 9"/>
          <p:cNvSpPr txBox="1"/>
          <p:nvPr/>
        </p:nvSpPr>
        <p:spPr>
          <a:xfrm>
            <a:off x="1051560" y="4434840"/>
            <a:ext cx="9966960" cy="384048"/>
          </a:xfrm>
          <a:prstGeom prst="rect">
            <a:avLst/>
          </a:prstGeom>
          <a:noFill/>
        </p:spPr>
        <p:txBody>
          <a:bodyPr wrap="square" anchor="t">
            <a:spAutoFit/>
          </a:bodyPr>
          <a:lstStyle/>
          <a:p>
            <a:pPr algn="l"/>
            <a:r>
              <a:rPr sz="1800" b="1">
                <a:solidFill>
                  <a:srgbClr val="161B26"/>
                </a:solidFill>
                <a:latin typeface="Arial"/>
              </a:rPr>
              <a:t>Microsoft 365 Copilot + Excel + PowerPoint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01 · FULL COPY-READY TEXT IN PROMPTS.MD AND AI PROMPT LAB</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AI Prompt Starters</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55648"/>
            <a:ext cx="73152" cy="18470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1975104"/>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38528"/>
            <a:ext cx="4178808" cy="329184"/>
          </a:xfrm>
          <a:prstGeom prst="rect">
            <a:avLst/>
          </a:prstGeom>
          <a:noFill/>
        </p:spPr>
        <p:txBody>
          <a:bodyPr wrap="square" anchor="t">
            <a:spAutoFit/>
          </a:bodyPr>
          <a:lstStyle/>
          <a:p>
            <a:pPr algn="l"/>
            <a:r>
              <a:rPr sz="1400" b="1">
                <a:solidFill>
                  <a:srgbClr val="1F6FEB"/>
                </a:solidFill>
                <a:latin typeface="Arial"/>
              </a:rPr>
              <a:t>Analyse the evidence</a:t>
            </a:r>
          </a:p>
        </p:txBody>
      </p:sp>
      <p:sp>
        <p:nvSpPr>
          <p:cNvPr id="13" name="TextBox 12"/>
          <p:cNvSpPr txBox="1"/>
          <p:nvPr/>
        </p:nvSpPr>
        <p:spPr>
          <a:xfrm>
            <a:off x="1536192" y="2322576"/>
            <a:ext cx="4178808" cy="1133856"/>
          </a:xfrm>
          <a:prstGeom prst="rect">
            <a:avLst/>
          </a:prstGeom>
          <a:noFill/>
        </p:spPr>
        <p:txBody>
          <a:bodyPr wrap="square" anchor="t">
            <a:spAutoFit/>
          </a:bodyPr>
          <a:lstStyle/>
          <a:p>
            <a:pPr algn="l"/>
            <a:r>
              <a:rPr sz="1150" b="0">
                <a:solidFill>
                  <a:srgbClr val="161B26"/>
                </a:solidFill>
                <a:latin typeface="Arial"/>
              </a:rPr>
              <a:t>Using only the attached approved source, identify the three strongest patterns, the denominator for each metric, one limitation and one proportionate business action. Cite the source field or row for every number. Do not invent missing…</a:t>
            </a:r>
          </a:p>
        </p:txBody>
      </p:sp>
      <p:sp>
        <p:nvSpPr>
          <p:cNvPr id="14" name="Rounded Rectangle 13"/>
          <p:cNvSpPr/>
          <p:nvPr/>
        </p:nvSpPr>
        <p:spPr>
          <a:xfrm>
            <a:off x="6144768"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755648"/>
            <a:ext cx="73152" cy="184708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5936" y="1975104"/>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984248"/>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6949440" y="1938528"/>
            <a:ext cx="4178808" cy="329184"/>
          </a:xfrm>
          <a:prstGeom prst="rect">
            <a:avLst/>
          </a:prstGeom>
          <a:noFill/>
        </p:spPr>
        <p:txBody>
          <a:bodyPr wrap="square" anchor="t">
            <a:spAutoFit/>
          </a:bodyPr>
          <a:lstStyle/>
          <a:p>
            <a:pPr algn="l"/>
            <a:r>
              <a:rPr sz="1400" b="1">
                <a:solidFill>
                  <a:srgbClr val="10B981"/>
                </a:solidFill>
                <a:latin typeface="Arial"/>
              </a:rPr>
              <a:t>Create the infographic</a:t>
            </a:r>
          </a:p>
        </p:txBody>
      </p:sp>
      <p:sp>
        <p:nvSpPr>
          <p:cNvPr id="19" name="TextBox 18"/>
          <p:cNvSpPr txBox="1"/>
          <p:nvPr/>
        </p:nvSpPr>
        <p:spPr>
          <a:xfrm>
            <a:off x="6949440" y="2322576"/>
            <a:ext cx="4178808" cy="1133856"/>
          </a:xfrm>
          <a:prstGeom prst="rect">
            <a:avLst/>
          </a:prstGeom>
          <a:noFill/>
        </p:spPr>
        <p:txBody>
          <a:bodyPr wrap="square" anchor="t">
            <a:spAutoFit/>
          </a:bodyPr>
          <a:lstStyle/>
          <a:p>
            <a:pPr algn="l"/>
            <a:r>
              <a:rPr sz="1150" b="0">
                <a:solidFill>
                  <a:srgbClr val="161B26"/>
                </a:solidFill>
                <a:latin typeface="Arial"/>
              </a:rPr>
              <a:t>Create a one-page [TYPE] infographic about [TOPIC]. Sections: 1. [SECTION ONE] 2. [SECTION TWO] 3. [SECTION THREE] 4. [SECTION FOUR] 5. [SECTION FIVE]. Audience: [AUDIENCE]. Decision: [DECISION]. Style: professional, high contrast, con…</a:t>
            </a:r>
          </a:p>
        </p:txBody>
      </p:sp>
      <p:sp>
        <p:nvSpPr>
          <p:cNvPr id="20" name="Rounded Rectangle 19"/>
          <p:cNvSpPr/>
          <p:nvPr/>
        </p:nvSpPr>
        <p:spPr>
          <a:xfrm>
            <a:off x="731520"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77056"/>
            <a:ext cx="73152" cy="184708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2688" y="4096512"/>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105656"/>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1536192" y="4059936"/>
            <a:ext cx="4178808" cy="329184"/>
          </a:xfrm>
          <a:prstGeom prst="rect">
            <a:avLst/>
          </a:prstGeom>
          <a:noFill/>
        </p:spPr>
        <p:txBody>
          <a:bodyPr wrap="square" anchor="t">
            <a:spAutoFit/>
          </a:bodyPr>
          <a:lstStyle/>
          <a:p>
            <a:pPr algn="l"/>
            <a:r>
              <a:rPr sz="1400" b="1">
                <a:solidFill>
                  <a:srgbClr val="7C3AED"/>
                </a:solidFill>
                <a:latin typeface="Arial"/>
              </a:rPr>
              <a:t>Refine in PowerPoint</a:t>
            </a:r>
          </a:p>
        </p:txBody>
      </p:sp>
      <p:sp>
        <p:nvSpPr>
          <p:cNvPr id="25" name="TextBox 24"/>
          <p:cNvSpPr txBox="1"/>
          <p:nvPr/>
        </p:nvSpPr>
        <p:spPr>
          <a:xfrm>
            <a:off x="1536192" y="4443984"/>
            <a:ext cx="4178808" cy="1133856"/>
          </a:xfrm>
          <a:prstGeom prst="rect">
            <a:avLst/>
          </a:prstGeom>
          <a:noFill/>
        </p:spPr>
        <p:txBody>
          <a:bodyPr wrap="square" anchor="t">
            <a:spAutoFit/>
          </a:bodyPr>
          <a:lstStyle/>
          <a:p>
            <a:pPr algn="l"/>
            <a:r>
              <a:rPr sz="1150" b="0">
                <a:solidFill>
                  <a:srgbClr val="161B26"/>
                </a:solidFill>
                <a:latin typeface="Arial"/>
              </a:rPr>
              <a:t>Turn the selected infographic direction into one editable PowerPoint slide. Keep the action title, labels, numbers, chart or process, source footer and accessibility notes editable. Remove decoration that does not support the message. …</a:t>
            </a:r>
          </a:p>
        </p:txBody>
      </p:sp>
      <p:sp>
        <p:nvSpPr>
          <p:cNvPr id="26" name="Rounded Rectangle 25"/>
          <p:cNvSpPr/>
          <p:nvPr/>
        </p:nvSpPr>
        <p:spPr>
          <a:xfrm>
            <a:off x="6144768"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3877056"/>
            <a:ext cx="73152" cy="184708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45936" y="4096512"/>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105656"/>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6949440" y="4059936"/>
            <a:ext cx="4178808" cy="329184"/>
          </a:xfrm>
          <a:prstGeom prst="rect">
            <a:avLst/>
          </a:prstGeom>
          <a:noFill/>
        </p:spPr>
        <p:txBody>
          <a:bodyPr wrap="square" anchor="t">
            <a:spAutoFit/>
          </a:bodyPr>
          <a:lstStyle/>
          <a:p>
            <a:pPr algn="l"/>
            <a:r>
              <a:rPr sz="1400" b="1">
                <a:solidFill>
                  <a:srgbClr val="F59E0B"/>
                </a:solidFill>
                <a:latin typeface="Arial"/>
              </a:rPr>
              <a:t>Quality review</a:t>
            </a:r>
          </a:p>
        </p:txBody>
      </p:sp>
      <p:sp>
        <p:nvSpPr>
          <p:cNvPr id="31" name="TextBox 30"/>
          <p:cNvSpPr txBox="1"/>
          <p:nvPr/>
        </p:nvSpPr>
        <p:spPr>
          <a:xfrm>
            <a:off x="6949440" y="4443984"/>
            <a:ext cx="4178808" cy="1133856"/>
          </a:xfrm>
          <a:prstGeom prst="rect">
            <a:avLst/>
          </a:prstGeom>
          <a:noFill/>
        </p:spPr>
        <p:txBody>
          <a:bodyPr wrap="square" anchor="t">
            <a:spAutoFit/>
          </a:bodyPr>
          <a:lstStyle/>
          <a:p>
            <a:pPr algn="l"/>
            <a:r>
              <a:rPr sz="1150" b="0">
                <a:solidFill>
                  <a:srgbClr val="161B26"/>
                </a:solidFill>
                <a:latin typeface="Arial"/>
              </a:rPr>
              <a:t>Review this infographic against message clarity, data accuracy, visual hierarchy, audience fit, accessibility, editability and business goal. List each issue with evidence, its impact, the proposed change and a pass/fail acceptance 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01 · COPY, ADAPT AND VERIFY</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Structured Microsoft 365 Copilot Prompt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700784"/>
            <a:ext cx="10698480" cy="437083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384048" cy="246888"/>
          </a:xfrm>
          <a:prstGeom prst="rect">
            <a:avLst/>
          </a:prstGeom>
          <a:noFill/>
        </p:spPr>
        <p:txBody>
          <a:bodyPr wrap="square" anchor="t">
            <a:spAutoFit/>
          </a:bodyPr>
          <a:lstStyle/>
          <a:p>
            <a:pPr algn="r"/>
            <a:r>
              <a:rPr sz="900" b="0">
                <a:solidFill>
                  <a:srgbClr val="5B6372"/>
                </a:solidFill>
                <a:latin typeface="Arial"/>
              </a:rPr>
              <a:t>1</a:t>
            </a:r>
          </a:p>
        </p:txBody>
      </p:sp>
      <p:sp>
        <p:nvSpPr>
          <p:cNvPr id="10" name="TextBox 9"/>
          <p:cNvSpPr txBox="1"/>
          <p:nvPr/>
        </p:nvSpPr>
        <p:spPr>
          <a:xfrm>
            <a:off x="1554480" y="1874519"/>
            <a:ext cx="9418320" cy="256032"/>
          </a:xfrm>
          <a:prstGeom prst="rect">
            <a:avLst/>
          </a:prstGeom>
          <a:noFill/>
        </p:spPr>
        <p:txBody>
          <a:bodyPr wrap="square" anchor="t">
            <a:spAutoFit/>
          </a:bodyPr>
          <a:lstStyle/>
          <a:p>
            <a:pPr algn="l"/>
            <a:r>
              <a:rPr sz="1050" b="0">
                <a:solidFill>
                  <a:srgbClr val="161B26"/>
                </a:solidFill>
                <a:latin typeface="Arial"/>
              </a:rPr>
              <a:t>Create a one-page statistical KPI infographic about Interpret a Statistical KPI Infographic.</a:t>
            </a:r>
          </a:p>
        </p:txBody>
      </p:sp>
      <p:sp>
        <p:nvSpPr>
          <p:cNvPr id="11" name="TextBox 10"/>
          <p:cNvSpPr txBox="1"/>
          <p:nvPr/>
        </p:nvSpPr>
        <p:spPr>
          <a:xfrm>
            <a:off x="960120" y="2157984"/>
            <a:ext cx="384048" cy="246888"/>
          </a:xfrm>
          <a:prstGeom prst="rect">
            <a:avLst/>
          </a:prstGeom>
          <a:noFill/>
        </p:spPr>
        <p:txBody>
          <a:bodyPr wrap="square" anchor="t">
            <a:spAutoFit/>
          </a:bodyPr>
          <a:lstStyle/>
          <a:p>
            <a:pPr algn="r"/>
            <a:r>
              <a:rPr sz="900" b="0">
                <a:solidFill>
                  <a:srgbClr val="5B6372"/>
                </a:solidFill>
                <a:latin typeface="Arial"/>
              </a:rPr>
              <a:t>2</a:t>
            </a:r>
          </a:p>
        </p:txBody>
      </p:sp>
      <p:sp>
        <p:nvSpPr>
          <p:cNvPr id="12" name="TextBox 11"/>
          <p:cNvSpPr txBox="1"/>
          <p:nvPr/>
        </p:nvSpPr>
        <p:spPr>
          <a:xfrm>
            <a:off x="1554480" y="2157984"/>
            <a:ext cx="9418320" cy="256032"/>
          </a:xfrm>
          <a:prstGeom prst="rect">
            <a:avLst/>
          </a:prstGeom>
          <a:noFill/>
        </p:spPr>
        <p:txBody>
          <a:bodyPr wrap="square" anchor="t">
            <a:spAutoFit/>
          </a:bodyPr>
          <a:lstStyle/>
          <a:p>
            <a:pPr algn="l"/>
            <a:r>
              <a:rPr sz="1050" b="1">
                <a:solidFill>
                  <a:srgbClr val="161B26"/>
                </a:solidFill>
                <a:latin typeface="Arial"/>
              </a:rPr>
              <a:t>Sections:</a:t>
            </a:r>
          </a:p>
        </p:txBody>
      </p:sp>
      <p:sp>
        <p:nvSpPr>
          <p:cNvPr id="13" name="TextBox 12"/>
          <p:cNvSpPr txBox="1"/>
          <p:nvPr/>
        </p:nvSpPr>
        <p:spPr>
          <a:xfrm>
            <a:off x="960120" y="2441448"/>
            <a:ext cx="384048" cy="246888"/>
          </a:xfrm>
          <a:prstGeom prst="rect">
            <a:avLst/>
          </a:prstGeom>
          <a:noFill/>
        </p:spPr>
        <p:txBody>
          <a:bodyPr wrap="square" anchor="t">
            <a:spAutoFit/>
          </a:bodyPr>
          <a:lstStyle/>
          <a:p>
            <a:pPr algn="r"/>
            <a:r>
              <a:rPr sz="900" b="0">
                <a:solidFill>
                  <a:srgbClr val="5B6372"/>
                </a:solidFill>
                <a:latin typeface="Arial"/>
              </a:rPr>
              <a:t>3</a:t>
            </a:r>
          </a:p>
        </p:txBody>
      </p:sp>
      <p:sp>
        <p:nvSpPr>
          <p:cNvPr id="14" name="TextBox 13"/>
          <p:cNvSpPr txBox="1"/>
          <p:nvPr/>
        </p:nvSpPr>
        <p:spPr>
          <a:xfrm>
            <a:off x="1554480" y="2441448"/>
            <a:ext cx="9418320" cy="256032"/>
          </a:xfrm>
          <a:prstGeom prst="rect">
            <a:avLst/>
          </a:prstGeom>
          <a:noFill/>
        </p:spPr>
        <p:txBody>
          <a:bodyPr wrap="square" anchor="t">
            <a:spAutoFit/>
          </a:bodyPr>
          <a:lstStyle/>
          <a:p>
            <a:pPr algn="l"/>
            <a:r>
              <a:rPr sz="1050" b="0">
                <a:solidFill>
                  <a:srgbClr val="161B26"/>
                </a:solidFill>
                <a:latin typeface="Arial"/>
              </a:rPr>
              <a:t>1. 78%</a:t>
            </a:r>
          </a:p>
        </p:txBody>
      </p:sp>
      <p:sp>
        <p:nvSpPr>
          <p:cNvPr id="15" name="TextBox 14"/>
          <p:cNvSpPr txBox="1"/>
          <p:nvPr/>
        </p:nvSpPr>
        <p:spPr>
          <a:xfrm>
            <a:off x="960120" y="2724911"/>
            <a:ext cx="384048" cy="246888"/>
          </a:xfrm>
          <a:prstGeom prst="rect">
            <a:avLst/>
          </a:prstGeom>
          <a:noFill/>
        </p:spPr>
        <p:txBody>
          <a:bodyPr wrap="square" anchor="t">
            <a:spAutoFit/>
          </a:bodyPr>
          <a:lstStyle/>
          <a:p>
            <a:pPr algn="r"/>
            <a:r>
              <a:rPr sz="900" b="0">
                <a:solidFill>
                  <a:srgbClr val="5B6372"/>
                </a:solidFill>
                <a:latin typeface="Arial"/>
              </a:rPr>
              <a:t>4</a:t>
            </a:r>
          </a:p>
        </p:txBody>
      </p:sp>
      <p:sp>
        <p:nvSpPr>
          <p:cNvPr id="16" name="TextBox 15"/>
          <p:cNvSpPr txBox="1"/>
          <p:nvPr/>
        </p:nvSpPr>
        <p:spPr>
          <a:xfrm>
            <a:off x="1554480" y="2724911"/>
            <a:ext cx="9418320" cy="256032"/>
          </a:xfrm>
          <a:prstGeom prst="rect">
            <a:avLst/>
          </a:prstGeom>
          <a:noFill/>
        </p:spPr>
        <p:txBody>
          <a:bodyPr wrap="square" anchor="t">
            <a:spAutoFit/>
          </a:bodyPr>
          <a:lstStyle/>
          <a:p>
            <a:pPr algn="l"/>
            <a:r>
              <a:rPr sz="1050" b="0">
                <a:solidFill>
                  <a:srgbClr val="161B26"/>
                </a:solidFill>
                <a:latin typeface="Arial"/>
              </a:rPr>
              <a:t>2. 86%</a:t>
            </a:r>
          </a:p>
        </p:txBody>
      </p:sp>
      <p:sp>
        <p:nvSpPr>
          <p:cNvPr id="17" name="TextBox 16"/>
          <p:cNvSpPr txBox="1"/>
          <p:nvPr/>
        </p:nvSpPr>
        <p:spPr>
          <a:xfrm>
            <a:off x="960120" y="3008376"/>
            <a:ext cx="384048" cy="246888"/>
          </a:xfrm>
          <a:prstGeom prst="rect">
            <a:avLst/>
          </a:prstGeom>
          <a:noFill/>
        </p:spPr>
        <p:txBody>
          <a:bodyPr wrap="square" anchor="t">
            <a:spAutoFit/>
          </a:bodyPr>
          <a:lstStyle/>
          <a:p>
            <a:pPr algn="r"/>
            <a:r>
              <a:rPr sz="900" b="0">
                <a:solidFill>
                  <a:srgbClr val="5B6372"/>
                </a:solidFill>
                <a:latin typeface="Arial"/>
              </a:rPr>
              <a:t>5</a:t>
            </a:r>
          </a:p>
        </p:txBody>
      </p:sp>
      <p:sp>
        <p:nvSpPr>
          <p:cNvPr id="18" name="TextBox 17"/>
          <p:cNvSpPr txBox="1"/>
          <p:nvPr/>
        </p:nvSpPr>
        <p:spPr>
          <a:xfrm>
            <a:off x="1554480" y="3008376"/>
            <a:ext cx="9418320" cy="256032"/>
          </a:xfrm>
          <a:prstGeom prst="rect">
            <a:avLst/>
          </a:prstGeom>
          <a:noFill/>
        </p:spPr>
        <p:txBody>
          <a:bodyPr wrap="square" anchor="t">
            <a:spAutoFit/>
          </a:bodyPr>
          <a:lstStyle/>
          <a:p>
            <a:pPr algn="l"/>
            <a:r>
              <a:rPr sz="1050" b="0">
                <a:solidFill>
                  <a:srgbClr val="161B26"/>
                </a:solidFill>
                <a:latin typeface="Arial"/>
              </a:rPr>
              <a:t>3. 69%</a:t>
            </a:r>
          </a:p>
        </p:txBody>
      </p:sp>
      <p:sp>
        <p:nvSpPr>
          <p:cNvPr id="19" name="TextBox 18"/>
          <p:cNvSpPr txBox="1"/>
          <p:nvPr/>
        </p:nvSpPr>
        <p:spPr>
          <a:xfrm>
            <a:off x="960120" y="3291839"/>
            <a:ext cx="384048" cy="246888"/>
          </a:xfrm>
          <a:prstGeom prst="rect">
            <a:avLst/>
          </a:prstGeom>
          <a:noFill/>
        </p:spPr>
        <p:txBody>
          <a:bodyPr wrap="square" anchor="t">
            <a:spAutoFit/>
          </a:bodyPr>
          <a:lstStyle/>
          <a:p>
            <a:pPr algn="r"/>
            <a:r>
              <a:rPr sz="900" b="0">
                <a:solidFill>
                  <a:srgbClr val="5B6372"/>
                </a:solidFill>
                <a:latin typeface="Arial"/>
              </a:rPr>
              <a:t>6</a:t>
            </a:r>
          </a:p>
        </p:txBody>
      </p:sp>
      <p:sp>
        <p:nvSpPr>
          <p:cNvPr id="20" name="TextBox 19"/>
          <p:cNvSpPr txBox="1"/>
          <p:nvPr/>
        </p:nvSpPr>
        <p:spPr>
          <a:xfrm>
            <a:off x="1554480" y="3291839"/>
            <a:ext cx="9418320" cy="256032"/>
          </a:xfrm>
          <a:prstGeom prst="rect">
            <a:avLst/>
          </a:prstGeom>
          <a:noFill/>
        </p:spPr>
        <p:txBody>
          <a:bodyPr wrap="square" anchor="t">
            <a:spAutoFit/>
          </a:bodyPr>
          <a:lstStyle/>
          <a:p>
            <a:pPr algn="l"/>
            <a:r>
              <a:rPr sz="1050" b="0">
                <a:solidFill>
                  <a:srgbClr val="161B26"/>
                </a:solidFill>
                <a:latin typeface="Arial"/>
              </a:rPr>
              <a:t>4. +11 pts</a:t>
            </a:r>
          </a:p>
        </p:txBody>
      </p:sp>
      <p:sp>
        <p:nvSpPr>
          <p:cNvPr id="21" name="TextBox 20"/>
          <p:cNvSpPr txBox="1"/>
          <p:nvPr/>
        </p:nvSpPr>
        <p:spPr>
          <a:xfrm>
            <a:off x="960120" y="3575303"/>
            <a:ext cx="384048" cy="246888"/>
          </a:xfrm>
          <a:prstGeom prst="rect">
            <a:avLst/>
          </a:prstGeom>
          <a:noFill/>
        </p:spPr>
        <p:txBody>
          <a:bodyPr wrap="square" anchor="t">
            <a:spAutoFit/>
          </a:bodyPr>
          <a:lstStyle/>
          <a:p>
            <a:pPr algn="r"/>
            <a:r>
              <a:rPr sz="900" b="0">
                <a:solidFill>
                  <a:srgbClr val="5B6372"/>
                </a:solidFill>
                <a:latin typeface="Arial"/>
              </a:rPr>
              <a:t>7</a:t>
            </a:r>
          </a:p>
        </p:txBody>
      </p:sp>
      <p:sp>
        <p:nvSpPr>
          <p:cNvPr id="22" name="TextBox 21"/>
          <p:cNvSpPr txBox="1"/>
          <p:nvPr/>
        </p:nvSpPr>
        <p:spPr>
          <a:xfrm>
            <a:off x="1554480" y="3575303"/>
            <a:ext cx="9418320" cy="256032"/>
          </a:xfrm>
          <a:prstGeom prst="rect">
            <a:avLst/>
          </a:prstGeom>
          <a:noFill/>
        </p:spPr>
        <p:txBody>
          <a:bodyPr wrap="square" anchor="t">
            <a:spAutoFit/>
          </a:bodyPr>
          <a:lstStyle/>
          <a:p>
            <a:pPr algn="l"/>
            <a:r>
              <a:rPr sz="1050" b="0">
                <a:solidFill>
                  <a:srgbClr val="161B26"/>
                </a:solidFill>
                <a:latin typeface="Arial"/>
              </a:rPr>
              <a:t>5. 420</a:t>
            </a:r>
          </a:p>
        </p:txBody>
      </p:sp>
      <p:sp>
        <p:nvSpPr>
          <p:cNvPr id="23" name="TextBox 22"/>
          <p:cNvSpPr txBox="1"/>
          <p:nvPr/>
        </p:nvSpPr>
        <p:spPr>
          <a:xfrm>
            <a:off x="960120" y="3858768"/>
            <a:ext cx="384048" cy="246888"/>
          </a:xfrm>
          <a:prstGeom prst="rect">
            <a:avLst/>
          </a:prstGeom>
          <a:noFill/>
        </p:spPr>
        <p:txBody>
          <a:bodyPr wrap="square" anchor="t">
            <a:spAutoFit/>
          </a:bodyPr>
          <a:lstStyle/>
          <a:p>
            <a:pPr algn="r"/>
            <a:r>
              <a:rPr sz="900" b="0">
                <a:solidFill>
                  <a:srgbClr val="5B6372"/>
                </a:solidFill>
                <a:latin typeface="Arial"/>
              </a:rPr>
              <a:t>8</a:t>
            </a:r>
          </a:p>
        </p:txBody>
      </p:sp>
      <p:sp>
        <p:nvSpPr>
          <p:cNvPr id="24" name="TextBox 23"/>
          <p:cNvSpPr txBox="1"/>
          <p:nvPr/>
        </p:nvSpPr>
        <p:spPr>
          <a:xfrm>
            <a:off x="1554480" y="3858768"/>
            <a:ext cx="9418320" cy="256032"/>
          </a:xfrm>
          <a:prstGeom prst="rect">
            <a:avLst/>
          </a:prstGeom>
          <a:noFill/>
        </p:spPr>
        <p:txBody>
          <a:bodyPr wrap="square" anchor="t">
            <a:spAutoFit/>
          </a:bodyPr>
          <a:lstStyle/>
          <a:p>
            <a:pPr algn="l"/>
            <a:r>
              <a:rPr sz="1050" b="0">
                <a:solidFill>
                  <a:srgbClr val="7C3AED"/>
                </a:solidFill>
                <a:latin typeface="Arial"/>
              </a:rPr>
              <a:t>Audience: retail management team</a:t>
            </a:r>
          </a:p>
        </p:txBody>
      </p:sp>
      <p:sp>
        <p:nvSpPr>
          <p:cNvPr id="25" name="TextBox 24"/>
          <p:cNvSpPr txBox="1"/>
          <p:nvPr/>
        </p:nvSpPr>
        <p:spPr>
          <a:xfrm>
            <a:off x="960120" y="4142231"/>
            <a:ext cx="384048" cy="246888"/>
          </a:xfrm>
          <a:prstGeom prst="rect">
            <a:avLst/>
          </a:prstGeom>
          <a:noFill/>
        </p:spPr>
        <p:txBody>
          <a:bodyPr wrap="square" anchor="t">
            <a:spAutoFit/>
          </a:bodyPr>
          <a:lstStyle/>
          <a:p>
            <a:pPr algn="r"/>
            <a:r>
              <a:rPr sz="900" b="0">
                <a:solidFill>
                  <a:srgbClr val="5B6372"/>
                </a:solidFill>
                <a:latin typeface="Arial"/>
              </a:rPr>
              <a:t>9</a:t>
            </a:r>
          </a:p>
        </p:txBody>
      </p:sp>
      <p:sp>
        <p:nvSpPr>
          <p:cNvPr id="26" name="TextBox 25"/>
          <p:cNvSpPr txBox="1"/>
          <p:nvPr/>
        </p:nvSpPr>
        <p:spPr>
          <a:xfrm>
            <a:off x="1554480" y="4142231"/>
            <a:ext cx="9418320" cy="256032"/>
          </a:xfrm>
          <a:prstGeom prst="rect">
            <a:avLst/>
          </a:prstGeom>
          <a:noFill/>
        </p:spPr>
        <p:txBody>
          <a:bodyPr wrap="square" anchor="t">
            <a:spAutoFit/>
          </a:bodyPr>
          <a:lstStyle/>
          <a:p>
            <a:pPr algn="l"/>
            <a:r>
              <a:rPr sz="1050" b="0">
                <a:solidFill>
                  <a:srgbClr val="7C3AED"/>
                </a:solidFill>
                <a:latin typeface="Arial"/>
              </a:rPr>
              <a:t>Decision: The final insight clearly separates what the data shows, what it may mean, why it matters and what should happen next.</a:t>
            </a:r>
          </a:p>
        </p:txBody>
      </p:sp>
      <p:sp>
        <p:nvSpPr>
          <p:cNvPr id="27" name="TextBox 26"/>
          <p:cNvSpPr txBox="1"/>
          <p:nvPr/>
        </p:nvSpPr>
        <p:spPr>
          <a:xfrm>
            <a:off x="960120" y="4425696"/>
            <a:ext cx="384048" cy="246888"/>
          </a:xfrm>
          <a:prstGeom prst="rect">
            <a:avLst/>
          </a:prstGeom>
          <a:noFill/>
        </p:spPr>
        <p:txBody>
          <a:bodyPr wrap="square" anchor="t">
            <a:spAutoFit/>
          </a:bodyPr>
          <a:lstStyle/>
          <a:p>
            <a:pPr algn="r"/>
            <a:r>
              <a:rPr sz="900" b="0">
                <a:solidFill>
                  <a:srgbClr val="5B6372"/>
                </a:solidFill>
                <a:latin typeface="Arial"/>
              </a:rPr>
              <a:t>10</a:t>
            </a:r>
          </a:p>
        </p:txBody>
      </p:sp>
      <p:sp>
        <p:nvSpPr>
          <p:cNvPr id="28" name="TextBox 27"/>
          <p:cNvSpPr txBox="1"/>
          <p:nvPr/>
        </p:nvSpPr>
        <p:spPr>
          <a:xfrm>
            <a:off x="1554480" y="4425696"/>
            <a:ext cx="9418320" cy="256032"/>
          </a:xfrm>
          <a:prstGeom prst="rect">
            <a:avLst/>
          </a:prstGeom>
          <a:noFill/>
        </p:spPr>
        <p:txBody>
          <a:bodyPr wrap="square" anchor="t">
            <a:spAutoFit/>
          </a:bodyPr>
          <a:lstStyle/>
          <a:p>
            <a:pPr algn="l"/>
            <a:r>
              <a:rPr sz="1050" b="0">
                <a:solidFill>
                  <a:srgbClr val="7C3AED"/>
                </a:solidFill>
                <a:latin typeface="Arial"/>
              </a:rPr>
              <a:t>Style: professional, concise, high contrast and accessible</a:t>
            </a:r>
          </a:p>
        </p:txBody>
      </p:sp>
      <p:sp>
        <p:nvSpPr>
          <p:cNvPr id="29" name="TextBox 28"/>
          <p:cNvSpPr txBox="1"/>
          <p:nvPr/>
        </p:nvSpPr>
        <p:spPr>
          <a:xfrm>
            <a:off x="960120" y="4709160"/>
            <a:ext cx="384048" cy="246888"/>
          </a:xfrm>
          <a:prstGeom prst="rect">
            <a:avLst/>
          </a:prstGeom>
          <a:noFill/>
        </p:spPr>
        <p:txBody>
          <a:bodyPr wrap="square" anchor="t">
            <a:spAutoFit/>
          </a:bodyPr>
          <a:lstStyle/>
          <a:p>
            <a:pPr algn="r"/>
            <a:r>
              <a:rPr sz="900" b="0">
                <a:solidFill>
                  <a:srgbClr val="5B6372"/>
                </a:solidFill>
                <a:latin typeface="Arial"/>
              </a:rPr>
              <a:t>11</a:t>
            </a:r>
          </a:p>
        </p:txBody>
      </p:sp>
      <p:sp>
        <p:nvSpPr>
          <p:cNvPr id="30" name="TextBox 29"/>
          <p:cNvSpPr txBox="1"/>
          <p:nvPr/>
        </p:nvSpPr>
        <p:spPr>
          <a:xfrm>
            <a:off x="1554480" y="4709160"/>
            <a:ext cx="9418320" cy="256032"/>
          </a:xfrm>
          <a:prstGeom prst="rect">
            <a:avLst/>
          </a:prstGeom>
          <a:noFill/>
        </p:spPr>
        <p:txBody>
          <a:bodyPr wrap="square" anchor="t">
            <a:spAutoFit/>
          </a:bodyPr>
          <a:lstStyle/>
          <a:p>
            <a:pPr algn="l"/>
            <a:r>
              <a:rPr sz="1050" b="0">
                <a:solidFill>
                  <a:srgbClr val="7C3AED"/>
                </a:solidFill>
                <a:latin typeface="Arial"/>
              </a:rPr>
              <a:t>Format: Wide for PowerPoint unless the brief requires Portrait</a:t>
            </a:r>
          </a:p>
        </p:txBody>
      </p:sp>
      <p:sp>
        <p:nvSpPr>
          <p:cNvPr id="31" name="TextBox 30"/>
          <p:cNvSpPr txBox="1"/>
          <p:nvPr/>
        </p:nvSpPr>
        <p:spPr>
          <a:xfrm>
            <a:off x="960120" y="4992624"/>
            <a:ext cx="384048" cy="246888"/>
          </a:xfrm>
          <a:prstGeom prst="rect">
            <a:avLst/>
          </a:prstGeom>
          <a:noFill/>
        </p:spPr>
        <p:txBody>
          <a:bodyPr wrap="square" anchor="t">
            <a:spAutoFit/>
          </a:bodyPr>
          <a:lstStyle/>
          <a:p>
            <a:pPr algn="r"/>
            <a:r>
              <a:rPr sz="900" b="0">
                <a:solidFill>
                  <a:srgbClr val="5B6372"/>
                </a:solidFill>
                <a:latin typeface="Arial"/>
              </a:rPr>
              <a:t>12</a:t>
            </a:r>
          </a:p>
        </p:txBody>
      </p:sp>
      <p:sp>
        <p:nvSpPr>
          <p:cNvPr id="32" name="TextBox 31"/>
          <p:cNvSpPr txBox="1"/>
          <p:nvPr/>
        </p:nvSpPr>
        <p:spPr>
          <a:xfrm>
            <a:off x="1554480" y="4992624"/>
            <a:ext cx="9418320" cy="256032"/>
          </a:xfrm>
          <a:prstGeom prst="rect">
            <a:avLst/>
          </a:prstGeom>
          <a:noFill/>
        </p:spPr>
        <p:txBody>
          <a:bodyPr wrap="square" anchor="t">
            <a:spAutoFit/>
          </a:bodyPr>
          <a:lstStyle/>
          <a:p>
            <a:pPr algn="l"/>
            <a:r>
              <a:rPr sz="1050" b="0">
                <a:solidFill>
                  <a:srgbClr val="7C3AED"/>
                </a:solidFill>
                <a:latin typeface="Arial"/>
              </a:rPr>
              <a:t>Source rule: use only the attached approved or synthetic course data; include period and source; do not invent 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rial"/>
              </a:rPr>
              <a:t>ACTIVITY 01 · CONTEXT</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The Scenario</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83080"/>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6916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65960"/>
            <a:ext cx="9710928" cy="329184"/>
          </a:xfrm>
          <a:prstGeom prst="rect">
            <a:avLst/>
          </a:prstGeom>
          <a:noFill/>
        </p:spPr>
        <p:txBody>
          <a:bodyPr wrap="square" anchor="t">
            <a:spAutoFit/>
          </a:bodyPr>
          <a:lstStyle/>
          <a:p>
            <a:pPr algn="l"/>
            <a:r>
              <a:rPr sz="1400" b="1">
                <a:solidFill>
                  <a:srgbClr val="1F6FEB"/>
                </a:solidFill>
                <a:latin typeface="Arial"/>
              </a:rPr>
              <a:t>Context</a:t>
            </a:r>
          </a:p>
        </p:txBody>
      </p:sp>
      <p:sp>
        <p:nvSpPr>
          <p:cNvPr id="13" name="TextBox 12"/>
          <p:cNvSpPr txBox="1"/>
          <p:nvPr/>
        </p:nvSpPr>
        <p:spPr>
          <a:xfrm>
            <a:off x="1536192" y="2350008"/>
            <a:ext cx="9710928" cy="978408"/>
          </a:xfrm>
          <a:prstGeom prst="rect">
            <a:avLst/>
          </a:prstGeom>
          <a:noFill/>
        </p:spPr>
        <p:txBody>
          <a:bodyPr wrap="square" anchor="t">
            <a:spAutoFit/>
          </a:bodyPr>
          <a:lstStyle/>
          <a:p>
            <a:pPr algn="l"/>
            <a:r>
              <a:rPr sz="1150" b="0">
                <a:solidFill>
                  <a:srgbClr val="161B26"/>
                </a:solidFill>
                <a:latin typeface="Arial"/>
              </a:rPr>
              <a:t>Northstar Retail's marketing lead has a one-page customer survey infographic built from 420 synthetic Q2 responses. Leadership wants to know which customer experience deserves further investigation.</a:t>
            </a:r>
          </a:p>
        </p:txBody>
      </p:sp>
      <p:sp>
        <p:nvSpPr>
          <p:cNvPr id="14" name="Rounded Rectangle 13"/>
          <p:cNvSpPr/>
          <p:nvPr/>
        </p:nvSpPr>
        <p:spPr>
          <a:xfrm>
            <a:off x="731520" y="3776472"/>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776472"/>
            <a:ext cx="73152" cy="169164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2688" y="399592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1536192" y="3959352"/>
            <a:ext cx="9710928" cy="329184"/>
          </a:xfrm>
          <a:prstGeom prst="rect">
            <a:avLst/>
          </a:prstGeom>
          <a:noFill/>
        </p:spPr>
        <p:txBody>
          <a:bodyPr wrap="square" anchor="t">
            <a:spAutoFit/>
          </a:bodyPr>
          <a:lstStyle/>
          <a:p>
            <a:pPr algn="l"/>
            <a:r>
              <a:rPr sz="1400" b="1">
                <a:solidFill>
                  <a:srgbClr val="10B981"/>
                </a:solidFill>
                <a:latin typeface="Arial"/>
              </a:rPr>
              <a:t>Decision pressure</a:t>
            </a:r>
          </a:p>
        </p:txBody>
      </p:sp>
      <p:sp>
        <p:nvSpPr>
          <p:cNvPr id="19" name="TextBox 18"/>
          <p:cNvSpPr txBox="1"/>
          <p:nvPr/>
        </p:nvSpPr>
        <p:spPr>
          <a:xfrm>
            <a:off x="1536192" y="4343400"/>
            <a:ext cx="9710928" cy="978408"/>
          </a:xfrm>
          <a:prstGeom prst="rect">
            <a:avLst/>
          </a:prstGeom>
          <a:noFill/>
        </p:spPr>
        <p:txBody>
          <a:bodyPr wrap="square" anchor="t">
            <a:spAutoFit/>
          </a:bodyPr>
          <a:lstStyle/>
          <a:p>
            <a:pPr algn="l"/>
            <a:r>
              <a:rPr sz="1150" b="0">
                <a:solidFill>
                  <a:srgbClr val="161B26"/>
                </a:solidFill>
                <a:latin typeface="Arial"/>
              </a:rPr>
              <a:t>Use Microsoft 365 Copilot with the supplied approved data summary to propose candidate insights. Verify every number in Excel before recommending one next 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0B981"/>
                </a:solidFill>
                <a:latin typeface="Arial"/>
              </a:rPr>
              <a:t>ACTIVITY 01 · FRAMEWORK</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Collect, Clean, Analyse, Verify</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68580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8696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14884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490472" y="2103120"/>
            <a:ext cx="1009497" cy="329184"/>
          </a:xfrm>
          <a:prstGeom prst="rect">
            <a:avLst/>
          </a:prstGeom>
          <a:noFill/>
        </p:spPr>
        <p:txBody>
          <a:bodyPr wrap="square" anchor="t">
            <a:spAutoFit/>
          </a:bodyPr>
          <a:lstStyle/>
          <a:p>
            <a:pPr algn="l"/>
            <a:r>
              <a:rPr sz="1400" b="1">
                <a:solidFill>
                  <a:srgbClr val="1F6FEB"/>
                </a:solidFill>
                <a:latin typeface="Arial"/>
              </a:rPr>
              <a:t>Collect</a:t>
            </a:r>
          </a:p>
        </p:txBody>
      </p:sp>
      <p:sp>
        <p:nvSpPr>
          <p:cNvPr id="13" name="TextBox 12"/>
          <p:cNvSpPr txBox="1"/>
          <p:nvPr/>
        </p:nvSpPr>
        <p:spPr>
          <a:xfrm>
            <a:off x="1490472" y="2487168"/>
            <a:ext cx="1009497" cy="2852928"/>
          </a:xfrm>
          <a:prstGeom prst="rect">
            <a:avLst/>
          </a:prstGeom>
          <a:noFill/>
        </p:spPr>
        <p:txBody>
          <a:bodyPr wrap="square" anchor="t">
            <a:spAutoFit/>
          </a:bodyPr>
          <a:lstStyle/>
          <a:p>
            <a:pPr algn="l"/>
            <a:r>
              <a:rPr sz="1150" b="0">
                <a:solidFill>
                  <a:srgbClr val="161B26"/>
                </a:solidFill>
                <a:latin typeface="Arial"/>
              </a:rPr>
              <a:t>Register the approved CSV, workbook and research notes.</a:t>
            </a:r>
          </a:p>
        </p:txBody>
      </p:sp>
      <p:sp>
        <p:nvSpPr>
          <p:cNvPr id="14" name="Rounded Rectangle 13"/>
          <p:cNvSpPr/>
          <p:nvPr/>
        </p:nvSpPr>
        <p:spPr>
          <a:xfrm>
            <a:off x="2884017"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4017" y="1920240"/>
            <a:ext cx="73152" cy="356616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85185" y="213969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85185" y="214884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3688689" y="2103120"/>
            <a:ext cx="1009497" cy="329184"/>
          </a:xfrm>
          <a:prstGeom prst="rect">
            <a:avLst/>
          </a:prstGeom>
          <a:noFill/>
        </p:spPr>
        <p:txBody>
          <a:bodyPr wrap="square" anchor="t">
            <a:spAutoFit/>
          </a:bodyPr>
          <a:lstStyle/>
          <a:p>
            <a:pPr algn="l"/>
            <a:r>
              <a:rPr sz="1400" b="1">
                <a:solidFill>
                  <a:srgbClr val="10B981"/>
                </a:solidFill>
                <a:latin typeface="Arial"/>
              </a:rPr>
              <a:t>Clean</a:t>
            </a:r>
          </a:p>
        </p:txBody>
      </p:sp>
      <p:sp>
        <p:nvSpPr>
          <p:cNvPr id="19" name="TextBox 18"/>
          <p:cNvSpPr txBox="1"/>
          <p:nvPr/>
        </p:nvSpPr>
        <p:spPr>
          <a:xfrm>
            <a:off x="3688689" y="2487168"/>
            <a:ext cx="1009497" cy="2852928"/>
          </a:xfrm>
          <a:prstGeom prst="rect">
            <a:avLst/>
          </a:prstGeom>
          <a:noFill/>
        </p:spPr>
        <p:txBody>
          <a:bodyPr wrap="square" anchor="t">
            <a:spAutoFit/>
          </a:bodyPr>
          <a:lstStyle/>
          <a:p>
            <a:pPr algn="l"/>
            <a:r>
              <a:rPr sz="1150" b="0">
                <a:solidFill>
                  <a:srgbClr val="161B26"/>
                </a:solidFill>
                <a:latin typeface="Arial"/>
              </a:rPr>
              <a:t>Standardise labels, units and missing-value handling without changing raw evidence.</a:t>
            </a:r>
          </a:p>
        </p:txBody>
      </p:sp>
      <p:sp>
        <p:nvSpPr>
          <p:cNvPr id="20" name="Rounded Rectangle 19"/>
          <p:cNvSpPr/>
          <p:nvPr/>
        </p:nvSpPr>
        <p:spPr>
          <a:xfrm>
            <a:off x="5082235"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82235" y="1920240"/>
            <a:ext cx="73152" cy="356616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83403" y="213969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83403" y="2148840"/>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5886907" y="2103120"/>
            <a:ext cx="1009497" cy="329184"/>
          </a:xfrm>
          <a:prstGeom prst="rect">
            <a:avLst/>
          </a:prstGeom>
          <a:noFill/>
        </p:spPr>
        <p:txBody>
          <a:bodyPr wrap="square" anchor="t">
            <a:spAutoFit/>
          </a:bodyPr>
          <a:lstStyle/>
          <a:p>
            <a:pPr algn="l"/>
            <a:r>
              <a:rPr sz="1400" b="1">
                <a:solidFill>
                  <a:srgbClr val="7C3AED"/>
                </a:solidFill>
                <a:latin typeface="Arial"/>
              </a:rPr>
              <a:t>Analyse</a:t>
            </a:r>
          </a:p>
        </p:txBody>
      </p:sp>
      <p:sp>
        <p:nvSpPr>
          <p:cNvPr id="25" name="TextBox 24"/>
          <p:cNvSpPr txBox="1"/>
          <p:nvPr/>
        </p:nvSpPr>
        <p:spPr>
          <a:xfrm>
            <a:off x="5886907" y="2487168"/>
            <a:ext cx="1009497" cy="2852928"/>
          </a:xfrm>
          <a:prstGeom prst="rect">
            <a:avLst/>
          </a:prstGeom>
          <a:noFill/>
        </p:spPr>
        <p:txBody>
          <a:bodyPr wrap="square" anchor="t">
            <a:spAutoFit/>
          </a:bodyPr>
          <a:lstStyle/>
          <a:p>
            <a:pPr algn="l"/>
            <a:r>
              <a:rPr sz="1150" b="0">
                <a:solidFill>
                  <a:srgbClr val="161B26"/>
                </a:solidFill>
                <a:latin typeface="Arial"/>
              </a:rPr>
              <a:t>Prompt AI for patterns, exceptions and competing explanations.</a:t>
            </a:r>
          </a:p>
        </p:txBody>
      </p:sp>
      <p:sp>
        <p:nvSpPr>
          <p:cNvPr id="26" name="Rounded Rectangle 25"/>
          <p:cNvSpPr/>
          <p:nvPr/>
        </p:nvSpPr>
        <p:spPr>
          <a:xfrm>
            <a:off x="7280452"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80452" y="1920240"/>
            <a:ext cx="73152" cy="356616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81620" y="2139696"/>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1620" y="2148840"/>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8085124" y="2103120"/>
            <a:ext cx="1009497" cy="329184"/>
          </a:xfrm>
          <a:prstGeom prst="rect">
            <a:avLst/>
          </a:prstGeom>
          <a:noFill/>
        </p:spPr>
        <p:txBody>
          <a:bodyPr wrap="square" anchor="t">
            <a:spAutoFit/>
          </a:bodyPr>
          <a:lstStyle/>
          <a:p>
            <a:pPr algn="l"/>
            <a:r>
              <a:rPr sz="1400" b="1">
                <a:solidFill>
                  <a:srgbClr val="F59E0B"/>
                </a:solidFill>
                <a:latin typeface="Arial"/>
              </a:rPr>
              <a:t>Verify</a:t>
            </a:r>
          </a:p>
        </p:txBody>
      </p:sp>
      <p:sp>
        <p:nvSpPr>
          <p:cNvPr id="31" name="TextBox 30"/>
          <p:cNvSpPr txBox="1"/>
          <p:nvPr/>
        </p:nvSpPr>
        <p:spPr>
          <a:xfrm>
            <a:off x="8085124" y="2487168"/>
            <a:ext cx="1009497" cy="2852928"/>
          </a:xfrm>
          <a:prstGeom prst="rect">
            <a:avLst/>
          </a:prstGeom>
          <a:noFill/>
        </p:spPr>
        <p:txBody>
          <a:bodyPr wrap="square" anchor="t">
            <a:spAutoFit/>
          </a:bodyPr>
          <a:lstStyle/>
          <a:p>
            <a:pPr algn="l"/>
            <a:r>
              <a:rPr sz="1150" b="0">
                <a:solidFill>
                  <a:srgbClr val="161B26"/>
                </a:solidFill>
                <a:latin typeface="Arial"/>
              </a:rPr>
              <a:t>Reproduce critical calculations and trace every claim to a source.</a:t>
            </a:r>
          </a:p>
        </p:txBody>
      </p:sp>
      <p:sp>
        <p:nvSpPr>
          <p:cNvPr id="32" name="Rounded Rectangle 31"/>
          <p:cNvSpPr/>
          <p:nvPr/>
        </p:nvSpPr>
        <p:spPr>
          <a:xfrm>
            <a:off x="947867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7867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7983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79838" y="2148840"/>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6" name="TextBox 35"/>
          <p:cNvSpPr txBox="1"/>
          <p:nvPr/>
        </p:nvSpPr>
        <p:spPr>
          <a:xfrm>
            <a:off x="10283342" y="2103120"/>
            <a:ext cx="1009497" cy="329184"/>
          </a:xfrm>
          <a:prstGeom prst="rect">
            <a:avLst/>
          </a:prstGeom>
          <a:noFill/>
        </p:spPr>
        <p:txBody>
          <a:bodyPr wrap="square" anchor="t">
            <a:spAutoFit/>
          </a:bodyPr>
          <a:lstStyle/>
          <a:p>
            <a:pPr algn="l"/>
            <a:r>
              <a:rPr sz="1400" b="1">
                <a:solidFill>
                  <a:srgbClr val="1F6FEB"/>
                </a:solidFill>
                <a:latin typeface="Arial"/>
              </a:rPr>
              <a:t>Extract</a:t>
            </a:r>
          </a:p>
        </p:txBody>
      </p:sp>
      <p:sp>
        <p:nvSpPr>
          <p:cNvPr id="37" name="TextBox 36"/>
          <p:cNvSpPr txBox="1"/>
          <p:nvPr/>
        </p:nvSpPr>
        <p:spPr>
          <a:xfrm>
            <a:off x="10283342" y="2487168"/>
            <a:ext cx="1009497" cy="2852928"/>
          </a:xfrm>
          <a:prstGeom prst="rect">
            <a:avLst/>
          </a:prstGeom>
          <a:noFill/>
        </p:spPr>
        <p:txBody>
          <a:bodyPr wrap="square" anchor="t">
            <a:spAutoFit/>
          </a:bodyPr>
          <a:lstStyle/>
          <a:p>
            <a:pPr algn="l"/>
            <a:r>
              <a:rPr sz="1150" b="0">
                <a:solidFill>
                  <a:srgbClr val="161B26"/>
                </a:solidFill>
                <a:latin typeface="Arial"/>
              </a:rPr>
              <a:t>Write show–mean–matter–act insights with caveats.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01 · EXAMPLE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Worked Output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7190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65960"/>
            <a:ext cx="2414016" cy="329184"/>
          </a:xfrm>
          <a:prstGeom prst="rect">
            <a:avLst/>
          </a:prstGeom>
          <a:noFill/>
        </p:spPr>
        <p:txBody>
          <a:bodyPr wrap="square" anchor="t">
            <a:spAutoFit/>
          </a:bodyPr>
          <a:lstStyle/>
          <a:p>
            <a:pPr algn="l"/>
            <a:r>
              <a:rPr sz="1400" b="1">
                <a:solidFill>
                  <a:srgbClr val="1F6FEB"/>
                </a:solidFill>
                <a:latin typeface="Arial"/>
              </a:rPr>
              <a:t>78%</a:t>
            </a:r>
          </a:p>
        </p:txBody>
      </p:sp>
      <p:sp>
        <p:nvSpPr>
          <p:cNvPr id="13" name="TextBox 12"/>
          <p:cNvSpPr txBox="1"/>
          <p:nvPr/>
        </p:nvSpPr>
        <p:spPr>
          <a:xfrm>
            <a:off x="1536192" y="2350008"/>
            <a:ext cx="2414016" cy="1005839"/>
          </a:xfrm>
          <a:prstGeom prst="rect">
            <a:avLst/>
          </a:prstGeom>
          <a:noFill/>
        </p:spPr>
        <p:txBody>
          <a:bodyPr wrap="square" anchor="t">
            <a:spAutoFit/>
          </a:bodyPr>
          <a:lstStyle/>
          <a:p>
            <a:pPr algn="l"/>
            <a:r>
              <a:rPr sz="1150" b="0">
                <a:solidFill>
                  <a:srgbClr val="161B26"/>
                </a:solidFill>
                <a:latin typeface="Arial"/>
              </a:rPr>
              <a:t>Overall satisfaction</a:t>
            </a:r>
          </a:p>
        </p:txBody>
      </p:sp>
      <p:sp>
        <p:nvSpPr>
          <p:cNvPr id="14" name="Rounded Rectangle 13"/>
          <p:cNvSpPr/>
          <p:nvPr/>
        </p:nvSpPr>
        <p:spPr>
          <a:xfrm>
            <a:off x="4315968"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1783080"/>
            <a:ext cx="73152" cy="171907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17136" y="20025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201168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5120640" y="1965960"/>
            <a:ext cx="2414016" cy="329184"/>
          </a:xfrm>
          <a:prstGeom prst="rect">
            <a:avLst/>
          </a:prstGeom>
          <a:noFill/>
        </p:spPr>
        <p:txBody>
          <a:bodyPr wrap="square" anchor="t">
            <a:spAutoFit/>
          </a:bodyPr>
          <a:lstStyle/>
          <a:p>
            <a:pPr algn="l"/>
            <a:r>
              <a:rPr sz="1400" b="1">
                <a:solidFill>
                  <a:srgbClr val="10B981"/>
                </a:solidFill>
                <a:latin typeface="Arial"/>
              </a:rPr>
              <a:t>86%</a:t>
            </a:r>
          </a:p>
        </p:txBody>
      </p:sp>
      <p:sp>
        <p:nvSpPr>
          <p:cNvPr id="19" name="TextBox 18"/>
          <p:cNvSpPr txBox="1"/>
          <p:nvPr/>
        </p:nvSpPr>
        <p:spPr>
          <a:xfrm>
            <a:off x="5120640" y="2350008"/>
            <a:ext cx="2414016" cy="1005839"/>
          </a:xfrm>
          <a:prstGeom prst="rect">
            <a:avLst/>
          </a:prstGeom>
          <a:noFill/>
        </p:spPr>
        <p:txBody>
          <a:bodyPr wrap="square" anchor="t">
            <a:spAutoFit/>
          </a:bodyPr>
          <a:lstStyle/>
          <a:p>
            <a:pPr algn="l"/>
            <a:r>
              <a:rPr sz="1150" b="0">
                <a:solidFill>
                  <a:srgbClr val="161B26"/>
                </a:solidFill>
                <a:latin typeface="Arial"/>
              </a:rPr>
              <a:t>Repeat-customer satisfaction</a:t>
            </a:r>
          </a:p>
        </p:txBody>
      </p:sp>
      <p:sp>
        <p:nvSpPr>
          <p:cNvPr id="20" name="Rounded Rectangle 19"/>
          <p:cNvSpPr/>
          <p:nvPr/>
        </p:nvSpPr>
        <p:spPr>
          <a:xfrm>
            <a:off x="7900416"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00416" y="1783080"/>
            <a:ext cx="73152" cy="171907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01584" y="200253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4" y="2011680"/>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8705088" y="1965960"/>
            <a:ext cx="2414016" cy="329184"/>
          </a:xfrm>
          <a:prstGeom prst="rect">
            <a:avLst/>
          </a:prstGeom>
          <a:noFill/>
        </p:spPr>
        <p:txBody>
          <a:bodyPr wrap="square" anchor="t">
            <a:spAutoFit/>
          </a:bodyPr>
          <a:lstStyle/>
          <a:p>
            <a:pPr algn="l"/>
            <a:r>
              <a:rPr sz="1400" b="1">
                <a:solidFill>
                  <a:srgbClr val="7C3AED"/>
                </a:solidFill>
                <a:latin typeface="Arial"/>
              </a:rPr>
              <a:t>69%</a:t>
            </a:r>
          </a:p>
        </p:txBody>
      </p:sp>
      <p:sp>
        <p:nvSpPr>
          <p:cNvPr id="25" name="TextBox 24"/>
          <p:cNvSpPr txBox="1"/>
          <p:nvPr/>
        </p:nvSpPr>
        <p:spPr>
          <a:xfrm>
            <a:off x="8705088" y="2350008"/>
            <a:ext cx="2414016" cy="1005839"/>
          </a:xfrm>
          <a:prstGeom prst="rect">
            <a:avLst/>
          </a:prstGeom>
          <a:noFill/>
        </p:spPr>
        <p:txBody>
          <a:bodyPr wrap="square" anchor="t">
            <a:spAutoFit/>
          </a:bodyPr>
          <a:lstStyle/>
          <a:p>
            <a:pPr algn="l"/>
            <a:r>
              <a:rPr sz="1150" b="0">
                <a:solidFill>
                  <a:srgbClr val="161B26"/>
                </a:solidFill>
                <a:latin typeface="Arial"/>
              </a:rPr>
              <a:t>First-time-customer satisfaction</a:t>
            </a:r>
          </a:p>
        </p:txBody>
      </p:sp>
      <p:sp>
        <p:nvSpPr>
          <p:cNvPr id="26" name="Rounded Rectangle 25"/>
          <p:cNvSpPr/>
          <p:nvPr/>
        </p:nvSpPr>
        <p:spPr>
          <a:xfrm>
            <a:off x="731520"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3776472"/>
            <a:ext cx="73152" cy="171907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32688" y="3995928"/>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1536192" y="3959352"/>
            <a:ext cx="2414016" cy="329184"/>
          </a:xfrm>
          <a:prstGeom prst="rect">
            <a:avLst/>
          </a:prstGeom>
          <a:noFill/>
        </p:spPr>
        <p:txBody>
          <a:bodyPr wrap="square" anchor="t">
            <a:spAutoFit/>
          </a:bodyPr>
          <a:lstStyle/>
          <a:p>
            <a:pPr algn="l"/>
            <a:r>
              <a:rPr sz="1400" b="1">
                <a:solidFill>
                  <a:srgbClr val="F59E0B"/>
                </a:solidFill>
                <a:latin typeface="Arial"/>
              </a:rPr>
              <a:t>+11 pts</a:t>
            </a:r>
          </a:p>
        </p:txBody>
      </p:sp>
      <p:sp>
        <p:nvSpPr>
          <p:cNvPr id="31" name="TextBox 30"/>
          <p:cNvSpPr txBox="1"/>
          <p:nvPr/>
        </p:nvSpPr>
        <p:spPr>
          <a:xfrm>
            <a:off x="1536192" y="4343400"/>
            <a:ext cx="2414016" cy="1005839"/>
          </a:xfrm>
          <a:prstGeom prst="rect">
            <a:avLst/>
          </a:prstGeom>
          <a:noFill/>
        </p:spPr>
        <p:txBody>
          <a:bodyPr wrap="square" anchor="t">
            <a:spAutoFit/>
          </a:bodyPr>
          <a:lstStyle/>
          <a:p>
            <a:pPr algn="l"/>
            <a:r>
              <a:rPr sz="1150" b="0">
                <a:solidFill>
                  <a:srgbClr val="161B26"/>
                </a:solidFill>
                <a:latin typeface="Arial"/>
              </a:rPr>
              <a:t>Mobile-app users vs non-users</a:t>
            </a:r>
          </a:p>
        </p:txBody>
      </p:sp>
      <p:sp>
        <p:nvSpPr>
          <p:cNvPr id="32" name="Rounded Rectangle 31"/>
          <p:cNvSpPr/>
          <p:nvPr/>
        </p:nvSpPr>
        <p:spPr>
          <a:xfrm>
            <a:off x="4315968"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776472"/>
            <a:ext cx="73152" cy="17190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17136" y="3995928"/>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7136" y="4005072"/>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6" name="TextBox 35"/>
          <p:cNvSpPr txBox="1"/>
          <p:nvPr/>
        </p:nvSpPr>
        <p:spPr>
          <a:xfrm>
            <a:off x="5120640" y="3959352"/>
            <a:ext cx="2414016" cy="329184"/>
          </a:xfrm>
          <a:prstGeom prst="rect">
            <a:avLst/>
          </a:prstGeom>
          <a:noFill/>
        </p:spPr>
        <p:txBody>
          <a:bodyPr wrap="square" anchor="t">
            <a:spAutoFit/>
          </a:bodyPr>
          <a:lstStyle/>
          <a:p>
            <a:pPr algn="l"/>
            <a:r>
              <a:rPr sz="1400" b="1">
                <a:solidFill>
                  <a:srgbClr val="1F6FEB"/>
                </a:solidFill>
                <a:latin typeface="Arial"/>
              </a:rPr>
              <a:t>420</a:t>
            </a:r>
          </a:p>
        </p:txBody>
      </p:sp>
      <p:sp>
        <p:nvSpPr>
          <p:cNvPr id="37" name="TextBox 36"/>
          <p:cNvSpPr txBox="1"/>
          <p:nvPr/>
        </p:nvSpPr>
        <p:spPr>
          <a:xfrm>
            <a:off x="5120640" y="4343400"/>
            <a:ext cx="2414016" cy="1005839"/>
          </a:xfrm>
          <a:prstGeom prst="rect">
            <a:avLst/>
          </a:prstGeom>
          <a:noFill/>
        </p:spPr>
        <p:txBody>
          <a:bodyPr wrap="square" anchor="t">
            <a:spAutoFit/>
          </a:bodyPr>
          <a:lstStyle/>
          <a:p>
            <a:pPr algn="l"/>
            <a:r>
              <a:rPr sz="1150" b="0">
                <a:solidFill>
                  <a:srgbClr val="161B26"/>
                </a:solidFill>
                <a:latin typeface="Arial"/>
              </a:rPr>
              <a:t>Survey responses</a:t>
            </a:r>
          </a:p>
        </p:txBody>
      </p:sp>
      <p:sp>
        <p:nvSpPr>
          <p:cNvPr id="38" name="Rounded Rectangle 37"/>
          <p:cNvSpPr/>
          <p:nvPr/>
        </p:nvSpPr>
        <p:spPr>
          <a:xfrm>
            <a:off x="7900416"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00416" y="3776472"/>
            <a:ext cx="73152" cy="171907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101584" y="399592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01584" y="4005072"/>
            <a:ext cx="438912" cy="420624"/>
          </a:xfrm>
          <a:prstGeom prst="rect">
            <a:avLst/>
          </a:prstGeom>
          <a:noFill/>
        </p:spPr>
        <p:txBody>
          <a:bodyPr wrap="square" anchor="ctr">
            <a:spAutoFit/>
          </a:bodyPr>
          <a:lstStyle/>
          <a:p>
            <a:pPr algn="ctr"/>
            <a:r>
              <a:rPr sz="1400" b="1">
                <a:solidFill>
                  <a:srgbClr val="FFFFFF"/>
                </a:solidFill>
                <a:latin typeface="Arial"/>
              </a:rPr>
              <a:t>6</a:t>
            </a:r>
          </a:p>
        </p:txBody>
      </p:sp>
      <p:sp>
        <p:nvSpPr>
          <p:cNvPr id="42" name="TextBox 41"/>
          <p:cNvSpPr txBox="1"/>
          <p:nvPr/>
        </p:nvSpPr>
        <p:spPr>
          <a:xfrm>
            <a:off x="8705088" y="3959352"/>
            <a:ext cx="2414016" cy="329184"/>
          </a:xfrm>
          <a:prstGeom prst="rect">
            <a:avLst/>
          </a:prstGeom>
          <a:noFill/>
        </p:spPr>
        <p:txBody>
          <a:bodyPr wrap="square" anchor="t">
            <a:spAutoFit/>
          </a:bodyPr>
          <a:lstStyle/>
          <a:p>
            <a:pPr algn="l"/>
            <a:r>
              <a:rPr sz="1400" b="1">
                <a:solidFill>
                  <a:srgbClr val="10B981"/>
                </a:solidFill>
                <a:latin typeface="Arial"/>
              </a:rPr>
              <a:t>Q2 2026</a:t>
            </a:r>
          </a:p>
        </p:txBody>
      </p:sp>
      <p:sp>
        <p:nvSpPr>
          <p:cNvPr id="43" name="TextBox 42"/>
          <p:cNvSpPr txBox="1"/>
          <p:nvPr/>
        </p:nvSpPr>
        <p:spPr>
          <a:xfrm>
            <a:off x="8705088" y="4343400"/>
            <a:ext cx="2414016" cy="1005839"/>
          </a:xfrm>
          <a:prstGeom prst="rect">
            <a:avLst/>
          </a:prstGeom>
          <a:noFill/>
        </p:spPr>
        <p:txBody>
          <a:bodyPr wrap="square" anchor="t">
            <a:spAutoFit/>
          </a:bodyPr>
          <a:lstStyle/>
          <a:p>
            <a:pPr algn="l"/>
            <a:r>
              <a:rPr sz="1150" b="0">
                <a:solidFill>
                  <a:srgbClr val="161B26"/>
                </a:solidFill>
                <a:latin typeface="Arial"/>
              </a:rPr>
              <a:t>Synthetic reporting period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rial"/>
              </a:rPr>
              <a:t>ACTIVITY 01 · ACCEPTANCE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What Good Looks Like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810512"/>
            <a:ext cx="10652760" cy="1005840"/>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10058400" cy="566928"/>
          </a:xfrm>
          <a:prstGeom prst="rect">
            <a:avLst/>
          </a:prstGeom>
          <a:noFill/>
        </p:spPr>
        <p:txBody>
          <a:bodyPr wrap="square" anchor="ctr">
            <a:spAutoFit/>
          </a:bodyPr>
          <a:lstStyle/>
          <a:p>
            <a:pPr algn="ctr"/>
            <a:r>
              <a:rPr sz="1900" b="1">
                <a:solidFill>
                  <a:srgbClr val="FFFFFF"/>
                </a:solidFill>
                <a:latin typeface="Arial"/>
              </a:rPr>
              <a:t>A verified statistical KPI infographic, prompt/source log, annotated insight slide and one-sentence recommendation</a:t>
            </a:r>
          </a:p>
        </p:txBody>
      </p:sp>
      <p:sp>
        <p:nvSpPr>
          <p:cNvPr id="10" name="Rounded Rectangle 9"/>
          <p:cNvSpPr/>
          <p:nvPr/>
        </p:nvSpPr>
        <p:spPr>
          <a:xfrm>
            <a:off x="777240"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8408"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3832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4" name="TextBox 13"/>
          <p:cNvSpPr txBox="1"/>
          <p:nvPr/>
        </p:nvSpPr>
        <p:spPr>
          <a:xfrm>
            <a:off x="1581912" y="3337560"/>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15" name="TextBox 14"/>
          <p:cNvSpPr txBox="1"/>
          <p:nvPr/>
        </p:nvSpPr>
        <p:spPr>
          <a:xfrm>
            <a:off x="1581912" y="3721608"/>
            <a:ext cx="4087368" cy="36575"/>
          </a:xfrm>
          <a:prstGeom prst="rect">
            <a:avLst/>
          </a:prstGeom>
          <a:noFill/>
        </p:spPr>
        <p:txBody>
          <a:bodyPr wrap="square" anchor="t">
            <a:spAutoFit/>
          </a:bodyPr>
          <a:lstStyle/>
          <a:p>
            <a:pPr algn="l"/>
            <a:r>
              <a:rPr sz="1150" b="0">
                <a:solidFill>
                  <a:srgbClr val="161B26"/>
                </a:solidFill>
                <a:latin typeface="Arial"/>
              </a:rPr>
              <a:t>Observation uses visible values and correct units</a:t>
            </a:r>
          </a:p>
        </p:txBody>
      </p:sp>
      <p:sp>
        <p:nvSpPr>
          <p:cNvPr id="16" name="Rounded Rectangle 15"/>
          <p:cNvSpPr/>
          <p:nvPr/>
        </p:nvSpPr>
        <p:spPr>
          <a:xfrm>
            <a:off x="6126479"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9"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7647"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7" y="338328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20" name="TextBox 19"/>
          <p:cNvSpPr txBox="1"/>
          <p:nvPr/>
        </p:nvSpPr>
        <p:spPr>
          <a:xfrm>
            <a:off x="6931151" y="3337560"/>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21" name="TextBox 20"/>
          <p:cNvSpPr txBox="1"/>
          <p:nvPr/>
        </p:nvSpPr>
        <p:spPr>
          <a:xfrm>
            <a:off x="6931151" y="3721608"/>
            <a:ext cx="4087368" cy="36575"/>
          </a:xfrm>
          <a:prstGeom prst="rect">
            <a:avLst/>
          </a:prstGeom>
          <a:noFill/>
        </p:spPr>
        <p:txBody>
          <a:bodyPr wrap="square" anchor="t">
            <a:spAutoFit/>
          </a:bodyPr>
          <a:lstStyle/>
          <a:p>
            <a:pPr algn="l"/>
            <a:r>
              <a:rPr sz="1150" b="0">
                <a:solidFill>
                  <a:srgbClr val="161B26"/>
                </a:solidFill>
                <a:latin typeface="Arial"/>
              </a:rPr>
              <a:t>Interpretation is labelled as interpretation, not fact</a:t>
            </a:r>
          </a:p>
        </p:txBody>
      </p:sp>
      <p:sp>
        <p:nvSpPr>
          <p:cNvPr id="22" name="Rounded Rectangle 21"/>
          <p:cNvSpPr/>
          <p:nvPr/>
        </p:nvSpPr>
        <p:spPr>
          <a:xfrm>
            <a:off x="777240"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8408"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325112"/>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6" name="TextBox 25"/>
          <p:cNvSpPr txBox="1"/>
          <p:nvPr/>
        </p:nvSpPr>
        <p:spPr>
          <a:xfrm>
            <a:off x="1581912" y="4279392"/>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27" name="TextBox 26"/>
          <p:cNvSpPr txBox="1"/>
          <p:nvPr/>
        </p:nvSpPr>
        <p:spPr>
          <a:xfrm>
            <a:off x="1581912" y="4663440"/>
            <a:ext cx="4087368" cy="36575"/>
          </a:xfrm>
          <a:prstGeom prst="rect">
            <a:avLst/>
          </a:prstGeom>
          <a:noFill/>
        </p:spPr>
        <p:txBody>
          <a:bodyPr wrap="square" anchor="t">
            <a:spAutoFit/>
          </a:bodyPr>
          <a:lstStyle/>
          <a:p>
            <a:pPr algn="l"/>
            <a:r>
              <a:rPr sz="1150" b="0">
                <a:solidFill>
                  <a:srgbClr val="161B26"/>
                </a:solidFill>
                <a:latin typeface="Arial"/>
              </a:rPr>
              <a:t>Source, timeframe and sample size are visible</a:t>
            </a:r>
          </a:p>
        </p:txBody>
      </p:sp>
      <p:sp>
        <p:nvSpPr>
          <p:cNvPr id="28" name="Rounded Rectangle 27"/>
          <p:cNvSpPr/>
          <p:nvPr/>
        </p:nvSpPr>
        <p:spPr>
          <a:xfrm>
            <a:off x="6126479"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79"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7647"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7" y="4325112"/>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2" name="TextBox 31"/>
          <p:cNvSpPr txBox="1"/>
          <p:nvPr/>
        </p:nvSpPr>
        <p:spPr>
          <a:xfrm>
            <a:off x="6931151" y="4279392"/>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33" name="TextBox 32"/>
          <p:cNvSpPr txBox="1"/>
          <p:nvPr/>
        </p:nvSpPr>
        <p:spPr>
          <a:xfrm>
            <a:off x="6931151" y="4663440"/>
            <a:ext cx="4087368" cy="36575"/>
          </a:xfrm>
          <a:prstGeom prst="rect">
            <a:avLst/>
          </a:prstGeom>
          <a:noFill/>
        </p:spPr>
        <p:txBody>
          <a:bodyPr wrap="square" anchor="t">
            <a:spAutoFit/>
          </a:bodyPr>
          <a:lstStyle/>
          <a:p>
            <a:pPr algn="l"/>
            <a:r>
              <a:rPr sz="1150" b="0">
                <a:solidFill>
                  <a:srgbClr val="161B26"/>
                </a:solidFill>
                <a:latin typeface="Arial"/>
              </a:rPr>
              <a:t>Action is proportionate to the evidence</a:t>
            </a:r>
          </a:p>
        </p:txBody>
      </p:sp>
      <p:sp>
        <p:nvSpPr>
          <p:cNvPr id="34" name="Rounded Rectangle 33"/>
          <p:cNvSpPr/>
          <p:nvPr/>
        </p:nvSpPr>
        <p:spPr>
          <a:xfrm>
            <a:off x="777240" y="5038344"/>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038344"/>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78408" y="5257800"/>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 y="5266944"/>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8" name="TextBox 37"/>
          <p:cNvSpPr txBox="1"/>
          <p:nvPr/>
        </p:nvSpPr>
        <p:spPr>
          <a:xfrm>
            <a:off x="1581912" y="5221224"/>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39" name="TextBox 38"/>
          <p:cNvSpPr txBox="1"/>
          <p:nvPr/>
        </p:nvSpPr>
        <p:spPr>
          <a:xfrm>
            <a:off x="1581912" y="5605272"/>
            <a:ext cx="4087368" cy="36575"/>
          </a:xfrm>
          <a:prstGeom prst="rect">
            <a:avLst/>
          </a:prstGeom>
          <a:noFill/>
        </p:spPr>
        <p:txBody>
          <a:bodyPr wrap="square" anchor="t">
            <a:spAutoFit/>
          </a:bodyPr>
          <a:lstStyle/>
          <a:p>
            <a:pPr algn="l"/>
            <a:r>
              <a:rPr sz="1150" b="0">
                <a:solidFill>
                  <a:srgbClr val="161B26"/>
                </a:solidFill>
                <a:latin typeface="Arial"/>
              </a:rPr>
              <a:t>Editable PPTX opens without repair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