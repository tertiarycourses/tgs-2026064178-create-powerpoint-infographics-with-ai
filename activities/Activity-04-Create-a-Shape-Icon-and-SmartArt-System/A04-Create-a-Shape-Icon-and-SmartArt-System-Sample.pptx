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685800"/>
            <a:ext cx="10789920" cy="365760"/>
          </a:xfrm>
          <a:prstGeom prst="rect">
            <a:avLst/>
          </a:prstGeom>
          <a:noFill/>
        </p:spPr>
        <p:txBody>
          <a:bodyPr wrap="square" anchor="t">
            <a:spAutoFit/>
          </a:bodyPr>
          <a:lstStyle/>
          <a:p>
            <a:pPr algn="l"/>
            <a:r>
              <a:rPr sz="1400" b="1">
                <a:solidFill>
                  <a:srgbClr val="1F6FEB"/>
                </a:solidFill>
                <a:latin typeface="Arial"/>
              </a:rPr>
              <a:t>ACTIVITY 04 · WORKED EXAMPLE</a:t>
            </a:r>
          </a:p>
        </p:txBody>
      </p:sp>
      <p:sp>
        <p:nvSpPr>
          <p:cNvPr id="6" name="TextBox 5"/>
          <p:cNvSpPr txBox="1"/>
          <p:nvPr/>
        </p:nvSpPr>
        <p:spPr>
          <a:xfrm>
            <a:off x="777240" y="1417320"/>
            <a:ext cx="10607040" cy="1280160"/>
          </a:xfrm>
          <a:prstGeom prst="rect">
            <a:avLst/>
          </a:prstGeom>
          <a:noFill/>
        </p:spPr>
        <p:txBody>
          <a:bodyPr wrap="square" anchor="t">
            <a:spAutoFit/>
          </a:bodyPr>
          <a:lstStyle/>
          <a:p>
            <a:pPr algn="l"/>
            <a:r>
              <a:rPr sz="3400" b="1">
                <a:solidFill>
                  <a:srgbClr val="161B26"/>
                </a:solidFill>
                <a:latin typeface="Arial"/>
              </a:rPr>
              <a:t>Create a Process Infographic with Microsoft 365 Copilot</a:t>
            </a:r>
          </a:p>
        </p:txBody>
      </p:sp>
      <p:sp>
        <p:nvSpPr>
          <p:cNvPr id="7" name="TextBox 6"/>
          <p:cNvSpPr txBox="1"/>
          <p:nvPr/>
        </p:nvSpPr>
        <p:spPr>
          <a:xfrm>
            <a:off x="777240" y="2971800"/>
            <a:ext cx="10424160" cy="640080"/>
          </a:xfrm>
          <a:prstGeom prst="rect">
            <a:avLst/>
          </a:prstGeom>
          <a:noFill/>
        </p:spPr>
        <p:txBody>
          <a:bodyPr wrap="square" anchor="t">
            <a:spAutoFit/>
          </a:bodyPr>
          <a:lstStyle/>
          <a:p>
            <a:pPr algn="l"/>
            <a:r>
              <a:rPr sz="2000" b="0">
                <a:solidFill>
                  <a:srgbClr val="5B6372"/>
                </a:solidFill>
                <a:latin typeface="Arial"/>
              </a:rPr>
              <a:t>Northstar Retail Singapore · synthetic practice scenario</a:t>
            </a:r>
          </a:p>
        </p:txBody>
      </p:sp>
      <p:sp>
        <p:nvSpPr>
          <p:cNvPr id="8" name="Rounded Rectangle 7"/>
          <p:cNvSpPr/>
          <p:nvPr/>
        </p:nvSpPr>
        <p:spPr>
          <a:xfrm>
            <a:off x="777240" y="3794760"/>
            <a:ext cx="10561320" cy="12344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4069080"/>
            <a:ext cx="9966960" cy="274320"/>
          </a:xfrm>
          <a:prstGeom prst="rect">
            <a:avLst/>
          </a:prstGeom>
          <a:noFill/>
        </p:spPr>
        <p:txBody>
          <a:bodyPr wrap="square" anchor="t">
            <a:spAutoFit/>
          </a:bodyPr>
          <a:lstStyle/>
          <a:p>
            <a:pPr algn="l"/>
            <a:r>
              <a:rPr sz="1000" b="1">
                <a:solidFill>
                  <a:srgbClr val="1F6FEB"/>
                </a:solidFill>
                <a:latin typeface="Arial"/>
              </a:rPr>
              <a:t>TOOL WORKFLOW</a:t>
            </a:r>
          </a:p>
        </p:txBody>
      </p:sp>
      <p:sp>
        <p:nvSpPr>
          <p:cNvPr id="10" name="TextBox 9"/>
          <p:cNvSpPr txBox="1"/>
          <p:nvPr/>
        </p:nvSpPr>
        <p:spPr>
          <a:xfrm>
            <a:off x="1051560" y="4434840"/>
            <a:ext cx="9966960" cy="384048"/>
          </a:xfrm>
          <a:prstGeom prst="rect">
            <a:avLst/>
          </a:prstGeom>
          <a:noFill/>
        </p:spPr>
        <p:txBody>
          <a:bodyPr wrap="square" anchor="t">
            <a:spAutoFit/>
          </a:bodyPr>
          <a:lstStyle/>
          <a:p>
            <a:pPr algn="l"/>
            <a:r>
              <a:rPr sz="1800" b="1">
                <a:solidFill>
                  <a:srgbClr val="161B26"/>
                </a:solidFill>
                <a:latin typeface="Arial"/>
              </a:rPr>
              <a:t>Microsoft 365 Copilot app + PowerPoint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04 · FULL COPY-READY TEXT IN PROMPTS.MD AND AI PROMPT LAB</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 Prompt Starters</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55648"/>
            <a:ext cx="73152" cy="1847088"/>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1975104"/>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1984248"/>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38528"/>
            <a:ext cx="4178808" cy="329184"/>
          </a:xfrm>
          <a:prstGeom prst="rect">
            <a:avLst/>
          </a:prstGeom>
          <a:noFill/>
        </p:spPr>
        <p:txBody>
          <a:bodyPr wrap="square" anchor="t">
            <a:spAutoFit/>
          </a:bodyPr>
          <a:lstStyle/>
          <a:p>
            <a:pPr algn="l"/>
            <a:r>
              <a:rPr sz="1400" b="1">
                <a:solidFill>
                  <a:srgbClr val="1F6FEB"/>
                </a:solidFill>
                <a:latin typeface="Arial"/>
              </a:rPr>
              <a:t>Analyse the evidence</a:t>
            </a:r>
          </a:p>
        </p:txBody>
      </p:sp>
      <p:sp>
        <p:nvSpPr>
          <p:cNvPr id="13" name="TextBox 12"/>
          <p:cNvSpPr txBox="1"/>
          <p:nvPr/>
        </p:nvSpPr>
        <p:spPr>
          <a:xfrm>
            <a:off x="1536192" y="2322576"/>
            <a:ext cx="4178808" cy="1133856"/>
          </a:xfrm>
          <a:prstGeom prst="rect">
            <a:avLst/>
          </a:prstGeom>
          <a:noFill/>
        </p:spPr>
        <p:txBody>
          <a:bodyPr wrap="square" anchor="t">
            <a:spAutoFit/>
          </a:bodyPr>
          <a:lstStyle/>
          <a:p>
            <a:pPr algn="l"/>
            <a:r>
              <a:rPr sz="1150" b="0">
                <a:solidFill>
                  <a:srgbClr val="161B26"/>
                </a:solidFill>
                <a:latin typeface="Arial"/>
              </a:rPr>
              <a:t>Using only the attached approved source, identify the three strongest patterns, the denominator for each metric, one limitation and one proportionate business action. Cite the source field or row for every number. Do not invent missing…</a:t>
            </a:r>
          </a:p>
        </p:txBody>
      </p:sp>
      <p:sp>
        <p:nvSpPr>
          <p:cNvPr id="14" name="Rounded Rectangle 13"/>
          <p:cNvSpPr/>
          <p:nvPr/>
        </p:nvSpPr>
        <p:spPr>
          <a:xfrm>
            <a:off x="6144768" y="1755648"/>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44768" y="1755648"/>
            <a:ext cx="73152" cy="184708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45936" y="1975104"/>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984248"/>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6949440" y="1938528"/>
            <a:ext cx="4178808" cy="329184"/>
          </a:xfrm>
          <a:prstGeom prst="rect">
            <a:avLst/>
          </a:prstGeom>
          <a:noFill/>
        </p:spPr>
        <p:txBody>
          <a:bodyPr wrap="square" anchor="t">
            <a:spAutoFit/>
          </a:bodyPr>
          <a:lstStyle/>
          <a:p>
            <a:pPr algn="l"/>
            <a:r>
              <a:rPr sz="1400" b="1">
                <a:solidFill>
                  <a:srgbClr val="10B981"/>
                </a:solidFill>
                <a:latin typeface="Arial"/>
              </a:rPr>
              <a:t>Create the infographic</a:t>
            </a:r>
          </a:p>
        </p:txBody>
      </p:sp>
      <p:sp>
        <p:nvSpPr>
          <p:cNvPr id="19" name="TextBox 18"/>
          <p:cNvSpPr txBox="1"/>
          <p:nvPr/>
        </p:nvSpPr>
        <p:spPr>
          <a:xfrm>
            <a:off x="6949440" y="2322576"/>
            <a:ext cx="4178808" cy="1133856"/>
          </a:xfrm>
          <a:prstGeom prst="rect">
            <a:avLst/>
          </a:prstGeom>
          <a:noFill/>
        </p:spPr>
        <p:txBody>
          <a:bodyPr wrap="square" anchor="t">
            <a:spAutoFit/>
          </a:bodyPr>
          <a:lstStyle/>
          <a:p>
            <a:pPr algn="l"/>
            <a:r>
              <a:rPr sz="1150" b="0">
                <a:solidFill>
                  <a:srgbClr val="161B26"/>
                </a:solidFill>
                <a:latin typeface="Arial"/>
              </a:rPr>
              <a:t>Create a one-page [TYPE] infographic about [TOPIC]. Sections: 1. [SECTION ONE] 2. [SECTION TWO] 3. [SECTION THREE] 4. [SECTION FOUR] 5. [SECTION FIVE]. Audience: [AUDIENCE]. Decision: [DECISION]. Style: professional, high contrast, con…</a:t>
            </a:r>
          </a:p>
        </p:txBody>
      </p:sp>
      <p:sp>
        <p:nvSpPr>
          <p:cNvPr id="20" name="Rounded Rectangle 19"/>
          <p:cNvSpPr/>
          <p:nvPr/>
        </p:nvSpPr>
        <p:spPr>
          <a:xfrm>
            <a:off x="731520"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3877056"/>
            <a:ext cx="73152" cy="1847088"/>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2688" y="4096512"/>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4105656"/>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1536192" y="4059936"/>
            <a:ext cx="4178808" cy="329184"/>
          </a:xfrm>
          <a:prstGeom prst="rect">
            <a:avLst/>
          </a:prstGeom>
          <a:noFill/>
        </p:spPr>
        <p:txBody>
          <a:bodyPr wrap="square" anchor="t">
            <a:spAutoFit/>
          </a:bodyPr>
          <a:lstStyle/>
          <a:p>
            <a:pPr algn="l"/>
            <a:r>
              <a:rPr sz="1400" b="1">
                <a:solidFill>
                  <a:srgbClr val="7C3AED"/>
                </a:solidFill>
                <a:latin typeface="Arial"/>
              </a:rPr>
              <a:t>Refine in PowerPoint</a:t>
            </a:r>
          </a:p>
        </p:txBody>
      </p:sp>
      <p:sp>
        <p:nvSpPr>
          <p:cNvPr id="25" name="TextBox 24"/>
          <p:cNvSpPr txBox="1"/>
          <p:nvPr/>
        </p:nvSpPr>
        <p:spPr>
          <a:xfrm>
            <a:off x="1536192" y="4443984"/>
            <a:ext cx="4178808" cy="1133856"/>
          </a:xfrm>
          <a:prstGeom prst="rect">
            <a:avLst/>
          </a:prstGeom>
          <a:noFill/>
        </p:spPr>
        <p:txBody>
          <a:bodyPr wrap="square" anchor="t">
            <a:spAutoFit/>
          </a:bodyPr>
          <a:lstStyle/>
          <a:p>
            <a:pPr algn="l"/>
            <a:r>
              <a:rPr sz="1150" b="0">
                <a:solidFill>
                  <a:srgbClr val="161B26"/>
                </a:solidFill>
                <a:latin typeface="Arial"/>
              </a:rPr>
              <a:t>Turn the selected infographic direction into one editable PowerPoint slide. Keep the action title, labels, numbers, chart or process, source footer and accessibility notes editable. Remove decoration that does not support the message. …</a:t>
            </a:r>
          </a:p>
        </p:txBody>
      </p:sp>
      <p:sp>
        <p:nvSpPr>
          <p:cNvPr id="26" name="Rounded Rectangle 25"/>
          <p:cNvSpPr/>
          <p:nvPr/>
        </p:nvSpPr>
        <p:spPr>
          <a:xfrm>
            <a:off x="6144768" y="3877056"/>
            <a:ext cx="5166360" cy="184708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44768" y="3877056"/>
            <a:ext cx="73152" cy="1847088"/>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45936" y="4096512"/>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5936" y="4105656"/>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6949440" y="4059936"/>
            <a:ext cx="4178808" cy="329184"/>
          </a:xfrm>
          <a:prstGeom prst="rect">
            <a:avLst/>
          </a:prstGeom>
          <a:noFill/>
        </p:spPr>
        <p:txBody>
          <a:bodyPr wrap="square" anchor="t">
            <a:spAutoFit/>
          </a:bodyPr>
          <a:lstStyle/>
          <a:p>
            <a:pPr algn="l"/>
            <a:r>
              <a:rPr sz="1400" b="1">
                <a:solidFill>
                  <a:srgbClr val="F59E0B"/>
                </a:solidFill>
                <a:latin typeface="Arial"/>
              </a:rPr>
              <a:t>Quality review</a:t>
            </a:r>
          </a:p>
        </p:txBody>
      </p:sp>
      <p:sp>
        <p:nvSpPr>
          <p:cNvPr id="31" name="TextBox 30"/>
          <p:cNvSpPr txBox="1"/>
          <p:nvPr/>
        </p:nvSpPr>
        <p:spPr>
          <a:xfrm>
            <a:off x="6949440" y="4443984"/>
            <a:ext cx="4178808" cy="1133856"/>
          </a:xfrm>
          <a:prstGeom prst="rect">
            <a:avLst/>
          </a:prstGeom>
          <a:noFill/>
        </p:spPr>
        <p:txBody>
          <a:bodyPr wrap="square" anchor="t">
            <a:spAutoFit/>
          </a:bodyPr>
          <a:lstStyle/>
          <a:p>
            <a:pPr algn="l"/>
            <a:r>
              <a:rPr sz="1150" b="0">
                <a:solidFill>
                  <a:srgbClr val="161B26"/>
                </a:solidFill>
                <a:latin typeface="Arial"/>
              </a:rPr>
              <a:t>Review this infographic against message clarity, data accuracy, visual hierarchy, audience fit, accessibility, editability and business goal. List each issue with evidence, its impact, the proposed change and a pass/fail acceptance 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04 · COPY, ADAPT AND VERIFY</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Structured Microsoft 365 Copilot Prompt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700784"/>
            <a:ext cx="10698480" cy="437083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1874519"/>
            <a:ext cx="384048" cy="246888"/>
          </a:xfrm>
          <a:prstGeom prst="rect">
            <a:avLst/>
          </a:prstGeom>
          <a:noFill/>
        </p:spPr>
        <p:txBody>
          <a:bodyPr wrap="square" anchor="t">
            <a:spAutoFit/>
          </a:bodyPr>
          <a:lstStyle/>
          <a:p>
            <a:pPr algn="r"/>
            <a:r>
              <a:rPr sz="900" b="0">
                <a:solidFill>
                  <a:srgbClr val="5B6372"/>
                </a:solidFill>
                <a:latin typeface="Arial"/>
              </a:rPr>
              <a:t>1</a:t>
            </a:r>
          </a:p>
        </p:txBody>
      </p:sp>
      <p:sp>
        <p:nvSpPr>
          <p:cNvPr id="10" name="TextBox 9"/>
          <p:cNvSpPr txBox="1"/>
          <p:nvPr/>
        </p:nvSpPr>
        <p:spPr>
          <a:xfrm>
            <a:off x="1554480" y="1874519"/>
            <a:ext cx="9418320" cy="256032"/>
          </a:xfrm>
          <a:prstGeom prst="rect">
            <a:avLst/>
          </a:prstGeom>
          <a:noFill/>
        </p:spPr>
        <p:txBody>
          <a:bodyPr wrap="square" anchor="t">
            <a:spAutoFit/>
          </a:bodyPr>
          <a:lstStyle/>
          <a:p>
            <a:pPr algn="l"/>
            <a:r>
              <a:rPr sz="1050" b="0">
                <a:solidFill>
                  <a:srgbClr val="161B26"/>
                </a:solidFill>
                <a:latin typeface="Arial"/>
              </a:rPr>
              <a:t>Create a one-page process infographic about Create a Process Infographic with Microsoft 365 Copilot.</a:t>
            </a:r>
          </a:p>
        </p:txBody>
      </p:sp>
      <p:sp>
        <p:nvSpPr>
          <p:cNvPr id="11" name="TextBox 10"/>
          <p:cNvSpPr txBox="1"/>
          <p:nvPr/>
        </p:nvSpPr>
        <p:spPr>
          <a:xfrm>
            <a:off x="960120" y="2157984"/>
            <a:ext cx="384048" cy="246888"/>
          </a:xfrm>
          <a:prstGeom prst="rect">
            <a:avLst/>
          </a:prstGeom>
          <a:noFill/>
        </p:spPr>
        <p:txBody>
          <a:bodyPr wrap="square" anchor="t">
            <a:spAutoFit/>
          </a:bodyPr>
          <a:lstStyle/>
          <a:p>
            <a:pPr algn="r"/>
            <a:r>
              <a:rPr sz="900" b="0">
                <a:solidFill>
                  <a:srgbClr val="5B6372"/>
                </a:solidFill>
                <a:latin typeface="Arial"/>
              </a:rPr>
              <a:t>2</a:t>
            </a:r>
          </a:p>
        </p:txBody>
      </p:sp>
      <p:sp>
        <p:nvSpPr>
          <p:cNvPr id="12" name="TextBox 11"/>
          <p:cNvSpPr txBox="1"/>
          <p:nvPr/>
        </p:nvSpPr>
        <p:spPr>
          <a:xfrm>
            <a:off x="1554480" y="2157984"/>
            <a:ext cx="9418320" cy="256032"/>
          </a:xfrm>
          <a:prstGeom prst="rect">
            <a:avLst/>
          </a:prstGeom>
          <a:noFill/>
        </p:spPr>
        <p:txBody>
          <a:bodyPr wrap="square" anchor="t">
            <a:spAutoFit/>
          </a:bodyPr>
          <a:lstStyle/>
          <a:p>
            <a:pPr algn="l"/>
            <a:r>
              <a:rPr sz="1050" b="1">
                <a:solidFill>
                  <a:srgbClr val="161B26"/>
                </a:solidFill>
                <a:latin typeface="Arial"/>
              </a:rPr>
              <a:t>Sections:</a:t>
            </a:r>
          </a:p>
        </p:txBody>
      </p:sp>
      <p:sp>
        <p:nvSpPr>
          <p:cNvPr id="13" name="TextBox 12"/>
          <p:cNvSpPr txBox="1"/>
          <p:nvPr/>
        </p:nvSpPr>
        <p:spPr>
          <a:xfrm>
            <a:off x="960120" y="2441448"/>
            <a:ext cx="384048" cy="246888"/>
          </a:xfrm>
          <a:prstGeom prst="rect">
            <a:avLst/>
          </a:prstGeom>
          <a:noFill/>
        </p:spPr>
        <p:txBody>
          <a:bodyPr wrap="square" anchor="t">
            <a:spAutoFit/>
          </a:bodyPr>
          <a:lstStyle/>
          <a:p>
            <a:pPr algn="r"/>
            <a:r>
              <a:rPr sz="900" b="0">
                <a:solidFill>
                  <a:srgbClr val="5B6372"/>
                </a:solidFill>
                <a:latin typeface="Arial"/>
              </a:rPr>
              <a:t>3</a:t>
            </a:r>
          </a:p>
        </p:txBody>
      </p:sp>
      <p:sp>
        <p:nvSpPr>
          <p:cNvPr id="14" name="TextBox 13"/>
          <p:cNvSpPr txBox="1"/>
          <p:nvPr/>
        </p:nvSpPr>
        <p:spPr>
          <a:xfrm>
            <a:off x="1554480" y="2441448"/>
            <a:ext cx="9418320" cy="256032"/>
          </a:xfrm>
          <a:prstGeom prst="rect">
            <a:avLst/>
          </a:prstGeom>
          <a:noFill/>
        </p:spPr>
        <p:txBody>
          <a:bodyPr wrap="square" anchor="t">
            <a:spAutoFit/>
          </a:bodyPr>
          <a:lstStyle/>
          <a:p>
            <a:pPr algn="l"/>
            <a:r>
              <a:rPr sz="1050" b="0">
                <a:solidFill>
                  <a:srgbClr val="161B26"/>
                </a:solidFill>
                <a:latin typeface="Arial"/>
              </a:rPr>
              <a:t>1. 1</a:t>
            </a:r>
          </a:p>
        </p:txBody>
      </p:sp>
      <p:sp>
        <p:nvSpPr>
          <p:cNvPr id="15" name="TextBox 14"/>
          <p:cNvSpPr txBox="1"/>
          <p:nvPr/>
        </p:nvSpPr>
        <p:spPr>
          <a:xfrm>
            <a:off x="960120" y="2724911"/>
            <a:ext cx="384048" cy="246888"/>
          </a:xfrm>
          <a:prstGeom prst="rect">
            <a:avLst/>
          </a:prstGeom>
          <a:noFill/>
        </p:spPr>
        <p:txBody>
          <a:bodyPr wrap="square" anchor="t">
            <a:spAutoFit/>
          </a:bodyPr>
          <a:lstStyle/>
          <a:p>
            <a:pPr algn="r"/>
            <a:r>
              <a:rPr sz="900" b="0">
                <a:solidFill>
                  <a:srgbClr val="5B6372"/>
                </a:solidFill>
                <a:latin typeface="Arial"/>
              </a:rPr>
              <a:t>4</a:t>
            </a:r>
          </a:p>
        </p:txBody>
      </p:sp>
      <p:sp>
        <p:nvSpPr>
          <p:cNvPr id="16" name="TextBox 15"/>
          <p:cNvSpPr txBox="1"/>
          <p:nvPr/>
        </p:nvSpPr>
        <p:spPr>
          <a:xfrm>
            <a:off x="1554480" y="2724911"/>
            <a:ext cx="9418320" cy="256032"/>
          </a:xfrm>
          <a:prstGeom prst="rect">
            <a:avLst/>
          </a:prstGeom>
          <a:noFill/>
        </p:spPr>
        <p:txBody>
          <a:bodyPr wrap="square" anchor="t">
            <a:spAutoFit/>
          </a:bodyPr>
          <a:lstStyle/>
          <a:p>
            <a:pPr algn="l"/>
            <a:r>
              <a:rPr sz="1050" b="0">
                <a:solidFill>
                  <a:srgbClr val="161B26"/>
                </a:solidFill>
                <a:latin typeface="Arial"/>
              </a:rPr>
              <a:t>2. 2</a:t>
            </a:r>
          </a:p>
        </p:txBody>
      </p:sp>
      <p:sp>
        <p:nvSpPr>
          <p:cNvPr id="17" name="TextBox 16"/>
          <p:cNvSpPr txBox="1"/>
          <p:nvPr/>
        </p:nvSpPr>
        <p:spPr>
          <a:xfrm>
            <a:off x="960120" y="3008376"/>
            <a:ext cx="384048" cy="246888"/>
          </a:xfrm>
          <a:prstGeom prst="rect">
            <a:avLst/>
          </a:prstGeom>
          <a:noFill/>
        </p:spPr>
        <p:txBody>
          <a:bodyPr wrap="square" anchor="t">
            <a:spAutoFit/>
          </a:bodyPr>
          <a:lstStyle/>
          <a:p>
            <a:pPr algn="r"/>
            <a:r>
              <a:rPr sz="900" b="0">
                <a:solidFill>
                  <a:srgbClr val="5B6372"/>
                </a:solidFill>
                <a:latin typeface="Arial"/>
              </a:rPr>
              <a:t>5</a:t>
            </a:r>
          </a:p>
        </p:txBody>
      </p:sp>
      <p:sp>
        <p:nvSpPr>
          <p:cNvPr id="18" name="TextBox 17"/>
          <p:cNvSpPr txBox="1"/>
          <p:nvPr/>
        </p:nvSpPr>
        <p:spPr>
          <a:xfrm>
            <a:off x="1554480" y="3008376"/>
            <a:ext cx="9418320" cy="256032"/>
          </a:xfrm>
          <a:prstGeom prst="rect">
            <a:avLst/>
          </a:prstGeom>
          <a:noFill/>
        </p:spPr>
        <p:txBody>
          <a:bodyPr wrap="square" anchor="t">
            <a:spAutoFit/>
          </a:bodyPr>
          <a:lstStyle/>
          <a:p>
            <a:pPr algn="l"/>
            <a:r>
              <a:rPr sz="1050" b="0">
                <a:solidFill>
                  <a:srgbClr val="161B26"/>
                </a:solidFill>
                <a:latin typeface="Arial"/>
              </a:rPr>
              <a:t>3. 3</a:t>
            </a:r>
          </a:p>
        </p:txBody>
      </p:sp>
      <p:sp>
        <p:nvSpPr>
          <p:cNvPr id="19" name="TextBox 18"/>
          <p:cNvSpPr txBox="1"/>
          <p:nvPr/>
        </p:nvSpPr>
        <p:spPr>
          <a:xfrm>
            <a:off x="960120" y="3291839"/>
            <a:ext cx="384048" cy="246888"/>
          </a:xfrm>
          <a:prstGeom prst="rect">
            <a:avLst/>
          </a:prstGeom>
          <a:noFill/>
        </p:spPr>
        <p:txBody>
          <a:bodyPr wrap="square" anchor="t">
            <a:spAutoFit/>
          </a:bodyPr>
          <a:lstStyle/>
          <a:p>
            <a:pPr algn="r"/>
            <a:r>
              <a:rPr sz="900" b="0">
                <a:solidFill>
                  <a:srgbClr val="5B6372"/>
                </a:solidFill>
                <a:latin typeface="Arial"/>
              </a:rPr>
              <a:t>6</a:t>
            </a:r>
          </a:p>
        </p:txBody>
      </p:sp>
      <p:sp>
        <p:nvSpPr>
          <p:cNvPr id="20" name="TextBox 19"/>
          <p:cNvSpPr txBox="1"/>
          <p:nvPr/>
        </p:nvSpPr>
        <p:spPr>
          <a:xfrm>
            <a:off x="1554480" y="3291839"/>
            <a:ext cx="9418320" cy="256032"/>
          </a:xfrm>
          <a:prstGeom prst="rect">
            <a:avLst/>
          </a:prstGeom>
          <a:noFill/>
        </p:spPr>
        <p:txBody>
          <a:bodyPr wrap="square" anchor="t">
            <a:spAutoFit/>
          </a:bodyPr>
          <a:lstStyle/>
          <a:p>
            <a:pPr algn="l"/>
            <a:r>
              <a:rPr sz="1050" b="0">
                <a:solidFill>
                  <a:srgbClr val="161B26"/>
                </a:solidFill>
                <a:latin typeface="Arial"/>
              </a:rPr>
              <a:t>4. 4</a:t>
            </a:r>
          </a:p>
        </p:txBody>
      </p:sp>
      <p:sp>
        <p:nvSpPr>
          <p:cNvPr id="21" name="TextBox 20"/>
          <p:cNvSpPr txBox="1"/>
          <p:nvPr/>
        </p:nvSpPr>
        <p:spPr>
          <a:xfrm>
            <a:off x="960120" y="3575303"/>
            <a:ext cx="384048" cy="246888"/>
          </a:xfrm>
          <a:prstGeom prst="rect">
            <a:avLst/>
          </a:prstGeom>
          <a:noFill/>
        </p:spPr>
        <p:txBody>
          <a:bodyPr wrap="square" anchor="t">
            <a:spAutoFit/>
          </a:bodyPr>
          <a:lstStyle/>
          <a:p>
            <a:pPr algn="r"/>
            <a:r>
              <a:rPr sz="900" b="0">
                <a:solidFill>
                  <a:srgbClr val="5B6372"/>
                </a:solidFill>
                <a:latin typeface="Arial"/>
              </a:rPr>
              <a:t>7</a:t>
            </a:r>
          </a:p>
        </p:txBody>
      </p:sp>
      <p:sp>
        <p:nvSpPr>
          <p:cNvPr id="22" name="TextBox 21"/>
          <p:cNvSpPr txBox="1"/>
          <p:nvPr/>
        </p:nvSpPr>
        <p:spPr>
          <a:xfrm>
            <a:off x="1554480" y="3575303"/>
            <a:ext cx="9418320" cy="256032"/>
          </a:xfrm>
          <a:prstGeom prst="rect">
            <a:avLst/>
          </a:prstGeom>
          <a:noFill/>
        </p:spPr>
        <p:txBody>
          <a:bodyPr wrap="square" anchor="t">
            <a:spAutoFit/>
          </a:bodyPr>
          <a:lstStyle/>
          <a:p>
            <a:pPr algn="l"/>
            <a:r>
              <a:rPr sz="1050" b="0">
                <a:solidFill>
                  <a:srgbClr val="161B26"/>
                </a:solidFill>
                <a:latin typeface="Arial"/>
              </a:rPr>
              <a:t>5. 5</a:t>
            </a:r>
          </a:p>
        </p:txBody>
      </p:sp>
      <p:sp>
        <p:nvSpPr>
          <p:cNvPr id="23" name="TextBox 22"/>
          <p:cNvSpPr txBox="1"/>
          <p:nvPr/>
        </p:nvSpPr>
        <p:spPr>
          <a:xfrm>
            <a:off x="960120" y="3858768"/>
            <a:ext cx="384048" cy="246888"/>
          </a:xfrm>
          <a:prstGeom prst="rect">
            <a:avLst/>
          </a:prstGeom>
          <a:noFill/>
        </p:spPr>
        <p:txBody>
          <a:bodyPr wrap="square" anchor="t">
            <a:spAutoFit/>
          </a:bodyPr>
          <a:lstStyle/>
          <a:p>
            <a:pPr algn="r"/>
            <a:r>
              <a:rPr sz="900" b="0">
                <a:solidFill>
                  <a:srgbClr val="5B6372"/>
                </a:solidFill>
                <a:latin typeface="Arial"/>
              </a:rPr>
              <a:t>8</a:t>
            </a:r>
          </a:p>
        </p:txBody>
      </p:sp>
      <p:sp>
        <p:nvSpPr>
          <p:cNvPr id="24" name="TextBox 23"/>
          <p:cNvSpPr txBox="1"/>
          <p:nvPr/>
        </p:nvSpPr>
        <p:spPr>
          <a:xfrm>
            <a:off x="1554480" y="3858768"/>
            <a:ext cx="9418320" cy="256032"/>
          </a:xfrm>
          <a:prstGeom prst="rect">
            <a:avLst/>
          </a:prstGeom>
          <a:noFill/>
        </p:spPr>
        <p:txBody>
          <a:bodyPr wrap="square" anchor="t">
            <a:spAutoFit/>
          </a:bodyPr>
          <a:lstStyle/>
          <a:p>
            <a:pPr algn="l"/>
            <a:r>
              <a:rPr sz="1050" b="0">
                <a:solidFill>
                  <a:srgbClr val="7C3AED"/>
                </a:solidFill>
                <a:latin typeface="Arial"/>
              </a:rPr>
              <a:t>Audience: store managers</a:t>
            </a:r>
          </a:p>
        </p:txBody>
      </p:sp>
      <p:sp>
        <p:nvSpPr>
          <p:cNvPr id="25" name="TextBox 24"/>
          <p:cNvSpPr txBox="1"/>
          <p:nvPr/>
        </p:nvSpPr>
        <p:spPr>
          <a:xfrm>
            <a:off x="960120" y="4142231"/>
            <a:ext cx="384048" cy="246888"/>
          </a:xfrm>
          <a:prstGeom prst="rect">
            <a:avLst/>
          </a:prstGeom>
          <a:noFill/>
        </p:spPr>
        <p:txBody>
          <a:bodyPr wrap="square" anchor="t">
            <a:spAutoFit/>
          </a:bodyPr>
          <a:lstStyle/>
          <a:p>
            <a:pPr algn="r"/>
            <a:r>
              <a:rPr sz="900" b="0">
                <a:solidFill>
                  <a:srgbClr val="5B6372"/>
                </a:solidFill>
                <a:latin typeface="Arial"/>
              </a:rPr>
              <a:t>9</a:t>
            </a:r>
          </a:p>
        </p:txBody>
      </p:sp>
      <p:sp>
        <p:nvSpPr>
          <p:cNvPr id="26" name="TextBox 25"/>
          <p:cNvSpPr txBox="1"/>
          <p:nvPr/>
        </p:nvSpPr>
        <p:spPr>
          <a:xfrm>
            <a:off x="1554480" y="4142231"/>
            <a:ext cx="9418320" cy="256032"/>
          </a:xfrm>
          <a:prstGeom prst="rect">
            <a:avLst/>
          </a:prstGeom>
          <a:noFill/>
        </p:spPr>
        <p:txBody>
          <a:bodyPr wrap="square" anchor="t">
            <a:spAutoFit/>
          </a:bodyPr>
          <a:lstStyle/>
          <a:p>
            <a:pPr algn="l"/>
            <a:r>
              <a:rPr sz="1050" b="0">
                <a:solidFill>
                  <a:srgbClr val="7C3AED"/>
                </a:solidFill>
                <a:latin typeface="Arial"/>
              </a:rPr>
              <a:t>Decision: The process uses a consistent component system, real connectors, direct labels, purposeful whitespace and editable PowerPoint objects.</a:t>
            </a:r>
          </a:p>
        </p:txBody>
      </p:sp>
      <p:sp>
        <p:nvSpPr>
          <p:cNvPr id="27" name="TextBox 26"/>
          <p:cNvSpPr txBox="1"/>
          <p:nvPr/>
        </p:nvSpPr>
        <p:spPr>
          <a:xfrm>
            <a:off x="960120" y="4425696"/>
            <a:ext cx="384048" cy="246888"/>
          </a:xfrm>
          <a:prstGeom prst="rect">
            <a:avLst/>
          </a:prstGeom>
          <a:noFill/>
        </p:spPr>
        <p:txBody>
          <a:bodyPr wrap="square" anchor="t">
            <a:spAutoFit/>
          </a:bodyPr>
          <a:lstStyle/>
          <a:p>
            <a:pPr algn="r"/>
            <a:r>
              <a:rPr sz="900" b="0">
                <a:solidFill>
                  <a:srgbClr val="5B6372"/>
                </a:solidFill>
                <a:latin typeface="Arial"/>
              </a:rPr>
              <a:t>10</a:t>
            </a:r>
          </a:p>
        </p:txBody>
      </p:sp>
      <p:sp>
        <p:nvSpPr>
          <p:cNvPr id="28" name="TextBox 27"/>
          <p:cNvSpPr txBox="1"/>
          <p:nvPr/>
        </p:nvSpPr>
        <p:spPr>
          <a:xfrm>
            <a:off x="1554480" y="4425696"/>
            <a:ext cx="9418320" cy="256032"/>
          </a:xfrm>
          <a:prstGeom prst="rect">
            <a:avLst/>
          </a:prstGeom>
          <a:noFill/>
        </p:spPr>
        <p:txBody>
          <a:bodyPr wrap="square" anchor="t">
            <a:spAutoFit/>
          </a:bodyPr>
          <a:lstStyle/>
          <a:p>
            <a:pPr algn="l"/>
            <a:r>
              <a:rPr sz="1050" b="0">
                <a:solidFill>
                  <a:srgbClr val="7C3AED"/>
                </a:solidFill>
                <a:latin typeface="Arial"/>
              </a:rPr>
              <a:t>Style: professional, concise, high contrast and accessible</a:t>
            </a:r>
          </a:p>
        </p:txBody>
      </p:sp>
      <p:sp>
        <p:nvSpPr>
          <p:cNvPr id="29" name="TextBox 28"/>
          <p:cNvSpPr txBox="1"/>
          <p:nvPr/>
        </p:nvSpPr>
        <p:spPr>
          <a:xfrm>
            <a:off x="960120" y="4709160"/>
            <a:ext cx="384048" cy="246888"/>
          </a:xfrm>
          <a:prstGeom prst="rect">
            <a:avLst/>
          </a:prstGeom>
          <a:noFill/>
        </p:spPr>
        <p:txBody>
          <a:bodyPr wrap="square" anchor="t">
            <a:spAutoFit/>
          </a:bodyPr>
          <a:lstStyle/>
          <a:p>
            <a:pPr algn="r"/>
            <a:r>
              <a:rPr sz="900" b="0">
                <a:solidFill>
                  <a:srgbClr val="5B6372"/>
                </a:solidFill>
                <a:latin typeface="Arial"/>
              </a:rPr>
              <a:t>11</a:t>
            </a:r>
          </a:p>
        </p:txBody>
      </p:sp>
      <p:sp>
        <p:nvSpPr>
          <p:cNvPr id="30" name="TextBox 29"/>
          <p:cNvSpPr txBox="1"/>
          <p:nvPr/>
        </p:nvSpPr>
        <p:spPr>
          <a:xfrm>
            <a:off x="1554480" y="4709160"/>
            <a:ext cx="9418320" cy="256032"/>
          </a:xfrm>
          <a:prstGeom prst="rect">
            <a:avLst/>
          </a:prstGeom>
          <a:noFill/>
        </p:spPr>
        <p:txBody>
          <a:bodyPr wrap="square" anchor="t">
            <a:spAutoFit/>
          </a:bodyPr>
          <a:lstStyle/>
          <a:p>
            <a:pPr algn="l"/>
            <a:r>
              <a:rPr sz="1050" b="0">
                <a:solidFill>
                  <a:srgbClr val="7C3AED"/>
                </a:solidFill>
                <a:latin typeface="Arial"/>
              </a:rPr>
              <a:t>Format: Wide for PowerPoint unless the brief requires Portrait</a:t>
            </a:r>
          </a:p>
        </p:txBody>
      </p:sp>
      <p:sp>
        <p:nvSpPr>
          <p:cNvPr id="31" name="TextBox 30"/>
          <p:cNvSpPr txBox="1"/>
          <p:nvPr/>
        </p:nvSpPr>
        <p:spPr>
          <a:xfrm>
            <a:off x="960120" y="4992624"/>
            <a:ext cx="384048" cy="246888"/>
          </a:xfrm>
          <a:prstGeom prst="rect">
            <a:avLst/>
          </a:prstGeom>
          <a:noFill/>
        </p:spPr>
        <p:txBody>
          <a:bodyPr wrap="square" anchor="t">
            <a:spAutoFit/>
          </a:bodyPr>
          <a:lstStyle/>
          <a:p>
            <a:pPr algn="r"/>
            <a:r>
              <a:rPr sz="900" b="0">
                <a:solidFill>
                  <a:srgbClr val="5B6372"/>
                </a:solidFill>
                <a:latin typeface="Arial"/>
              </a:rPr>
              <a:t>12</a:t>
            </a:r>
          </a:p>
        </p:txBody>
      </p:sp>
      <p:sp>
        <p:nvSpPr>
          <p:cNvPr id="32" name="TextBox 31"/>
          <p:cNvSpPr txBox="1"/>
          <p:nvPr/>
        </p:nvSpPr>
        <p:spPr>
          <a:xfrm>
            <a:off x="1554480" y="4992624"/>
            <a:ext cx="9418320" cy="256032"/>
          </a:xfrm>
          <a:prstGeom prst="rect">
            <a:avLst/>
          </a:prstGeom>
          <a:noFill/>
        </p:spPr>
        <p:txBody>
          <a:bodyPr wrap="square" anchor="t">
            <a:spAutoFit/>
          </a:bodyPr>
          <a:lstStyle/>
          <a:p>
            <a:pPr algn="l"/>
            <a:r>
              <a:rPr sz="1050" b="0">
                <a:solidFill>
                  <a:srgbClr val="7C3AED"/>
                </a:solidFill>
                <a:latin typeface="Arial"/>
              </a:rPr>
              <a:t>Source rule: use only the attached approved or synthetic course data; include period and source; do not invent facts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04 · CONTEXT</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The Scenario</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69164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9710928" cy="329184"/>
          </a:xfrm>
          <a:prstGeom prst="rect">
            <a:avLst/>
          </a:prstGeom>
          <a:noFill/>
        </p:spPr>
        <p:txBody>
          <a:bodyPr wrap="square" anchor="t">
            <a:spAutoFit/>
          </a:bodyPr>
          <a:lstStyle/>
          <a:p>
            <a:pPr algn="l"/>
            <a:r>
              <a:rPr sz="1400" b="1">
                <a:solidFill>
                  <a:srgbClr val="1F6FEB"/>
                </a:solidFill>
                <a:latin typeface="Arial"/>
              </a:rPr>
              <a:t>Context</a:t>
            </a:r>
          </a:p>
        </p:txBody>
      </p:sp>
      <p:sp>
        <p:nvSpPr>
          <p:cNvPr id="13" name="TextBox 12"/>
          <p:cNvSpPr txBox="1"/>
          <p:nvPr/>
        </p:nvSpPr>
        <p:spPr>
          <a:xfrm>
            <a:off x="1536192" y="2350008"/>
            <a:ext cx="9710928" cy="978408"/>
          </a:xfrm>
          <a:prstGeom prst="rect">
            <a:avLst/>
          </a:prstGeom>
          <a:noFill/>
        </p:spPr>
        <p:txBody>
          <a:bodyPr wrap="square" anchor="t">
            <a:spAutoFit/>
          </a:bodyPr>
          <a:lstStyle/>
          <a:p>
            <a:pPr algn="l"/>
            <a:r>
              <a:rPr sz="1150" b="0">
                <a:solidFill>
                  <a:srgbClr val="161B26"/>
                </a:solidFill>
                <a:latin typeface="Arial"/>
              </a:rPr>
              <a:t>Northstar needs an editable five-stage sustainable-delivery process infographic for store managers. Use the supplied structured Microsoft 365 Copilot prompt and approved synthetic stage data.</a:t>
            </a:r>
          </a:p>
        </p:txBody>
      </p:sp>
      <p:sp>
        <p:nvSpPr>
          <p:cNvPr id="14" name="Rounded Rectangle 13"/>
          <p:cNvSpPr/>
          <p:nvPr/>
        </p:nvSpPr>
        <p:spPr>
          <a:xfrm>
            <a:off x="731520" y="3776472"/>
            <a:ext cx="10698480" cy="169164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776472"/>
            <a:ext cx="73152" cy="169164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32688"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1536192" y="3959352"/>
            <a:ext cx="9710928" cy="329184"/>
          </a:xfrm>
          <a:prstGeom prst="rect">
            <a:avLst/>
          </a:prstGeom>
          <a:noFill/>
        </p:spPr>
        <p:txBody>
          <a:bodyPr wrap="square" anchor="t">
            <a:spAutoFit/>
          </a:bodyPr>
          <a:lstStyle/>
          <a:p>
            <a:pPr algn="l"/>
            <a:r>
              <a:rPr sz="1400" b="1">
                <a:solidFill>
                  <a:srgbClr val="10B981"/>
                </a:solidFill>
                <a:latin typeface="Arial"/>
              </a:rPr>
              <a:t>Decision pressure</a:t>
            </a:r>
          </a:p>
        </p:txBody>
      </p:sp>
      <p:sp>
        <p:nvSpPr>
          <p:cNvPr id="19" name="TextBox 18"/>
          <p:cNvSpPr txBox="1"/>
          <p:nvPr/>
        </p:nvSpPr>
        <p:spPr>
          <a:xfrm>
            <a:off x="1536192" y="4343400"/>
            <a:ext cx="9710928" cy="978408"/>
          </a:xfrm>
          <a:prstGeom prst="rect">
            <a:avLst/>
          </a:prstGeom>
          <a:noFill/>
        </p:spPr>
        <p:txBody>
          <a:bodyPr wrap="square" anchor="t">
            <a:spAutoFit/>
          </a:bodyPr>
          <a:lstStyle/>
          <a:p>
            <a:pPr algn="l"/>
            <a:r>
              <a:rPr sz="1150" b="0">
                <a:solidFill>
                  <a:srgbClr val="161B26"/>
                </a:solidFill>
                <a:latin typeface="Arial"/>
              </a:rPr>
              <a:t>Treat the Copilot output as a design direction. Build all stage names, values, connectors, source labels and decision meaning as editable PowerPoint objects.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04 · FRAMEWORK</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Prompt-to-Process-to-PowerPoint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68580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88696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214884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490472" y="2103120"/>
            <a:ext cx="1009497" cy="329184"/>
          </a:xfrm>
          <a:prstGeom prst="rect">
            <a:avLst/>
          </a:prstGeom>
          <a:noFill/>
        </p:spPr>
        <p:txBody>
          <a:bodyPr wrap="square" anchor="t">
            <a:spAutoFit/>
          </a:bodyPr>
          <a:lstStyle/>
          <a:p>
            <a:pPr algn="l"/>
            <a:r>
              <a:rPr sz="1400" b="1">
                <a:solidFill>
                  <a:srgbClr val="1F6FEB"/>
                </a:solidFill>
                <a:latin typeface="Arial"/>
              </a:rPr>
              <a:t>Describe</a:t>
            </a:r>
          </a:p>
        </p:txBody>
      </p:sp>
      <p:sp>
        <p:nvSpPr>
          <p:cNvPr id="13" name="TextBox 12"/>
          <p:cNvSpPr txBox="1"/>
          <p:nvPr/>
        </p:nvSpPr>
        <p:spPr>
          <a:xfrm>
            <a:off x="1490472" y="2487168"/>
            <a:ext cx="1009497" cy="2852928"/>
          </a:xfrm>
          <a:prstGeom prst="rect">
            <a:avLst/>
          </a:prstGeom>
          <a:noFill/>
        </p:spPr>
        <p:txBody>
          <a:bodyPr wrap="square" anchor="t">
            <a:spAutoFit/>
          </a:bodyPr>
          <a:lstStyle/>
          <a:p>
            <a:pPr algn="l"/>
            <a:r>
              <a:rPr sz="1150" b="0">
                <a:solidFill>
                  <a:srgbClr val="161B26"/>
                </a:solidFill>
                <a:latin typeface="Arial"/>
              </a:rPr>
              <a:t>Name the five stages, audience, decision, source and visual constraints.</a:t>
            </a:r>
          </a:p>
        </p:txBody>
      </p:sp>
      <p:sp>
        <p:nvSpPr>
          <p:cNvPr id="14" name="Rounded Rectangle 13"/>
          <p:cNvSpPr/>
          <p:nvPr/>
        </p:nvSpPr>
        <p:spPr>
          <a:xfrm>
            <a:off x="2884017"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84017" y="1920240"/>
            <a:ext cx="73152" cy="356616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085185" y="213969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85185" y="214884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3688689" y="2103120"/>
            <a:ext cx="1009497" cy="329184"/>
          </a:xfrm>
          <a:prstGeom prst="rect">
            <a:avLst/>
          </a:prstGeom>
          <a:noFill/>
        </p:spPr>
        <p:txBody>
          <a:bodyPr wrap="square" anchor="t">
            <a:spAutoFit/>
          </a:bodyPr>
          <a:lstStyle/>
          <a:p>
            <a:pPr algn="l"/>
            <a:r>
              <a:rPr sz="1400" b="1">
                <a:solidFill>
                  <a:srgbClr val="10B981"/>
                </a:solidFill>
                <a:latin typeface="Arial"/>
              </a:rPr>
              <a:t>Generate</a:t>
            </a:r>
          </a:p>
        </p:txBody>
      </p:sp>
      <p:sp>
        <p:nvSpPr>
          <p:cNvPr id="19" name="TextBox 18"/>
          <p:cNvSpPr txBox="1"/>
          <p:nvPr/>
        </p:nvSpPr>
        <p:spPr>
          <a:xfrm>
            <a:off x="3688689" y="2487168"/>
            <a:ext cx="1009497" cy="2852928"/>
          </a:xfrm>
          <a:prstGeom prst="rect">
            <a:avLst/>
          </a:prstGeom>
          <a:noFill/>
        </p:spPr>
        <p:txBody>
          <a:bodyPr wrap="square" anchor="t">
            <a:spAutoFit/>
          </a:bodyPr>
          <a:lstStyle/>
          <a:p>
            <a:pPr algn="l"/>
            <a:r>
              <a:rPr sz="1150" b="0">
                <a:solidFill>
                  <a:srgbClr val="161B26"/>
                </a:solidFill>
                <a:latin typeface="Arial"/>
              </a:rPr>
              <a:t>Create a Wide process infographic in Microsoft 365 Copilot.</a:t>
            </a:r>
          </a:p>
        </p:txBody>
      </p:sp>
      <p:sp>
        <p:nvSpPr>
          <p:cNvPr id="20" name="Rounded Rectangle 19"/>
          <p:cNvSpPr/>
          <p:nvPr/>
        </p:nvSpPr>
        <p:spPr>
          <a:xfrm>
            <a:off x="5082235"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82235" y="1920240"/>
            <a:ext cx="73152" cy="356616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83403" y="213969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83403" y="214884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5886907" y="2103120"/>
            <a:ext cx="1009497" cy="329184"/>
          </a:xfrm>
          <a:prstGeom prst="rect">
            <a:avLst/>
          </a:prstGeom>
          <a:noFill/>
        </p:spPr>
        <p:txBody>
          <a:bodyPr wrap="square" anchor="t">
            <a:spAutoFit/>
          </a:bodyPr>
          <a:lstStyle/>
          <a:p>
            <a:pPr algn="l"/>
            <a:r>
              <a:rPr sz="1400" b="1">
                <a:solidFill>
                  <a:srgbClr val="7C3AED"/>
                </a:solidFill>
                <a:latin typeface="Arial"/>
              </a:rPr>
              <a:t>Inspect</a:t>
            </a:r>
          </a:p>
        </p:txBody>
      </p:sp>
      <p:sp>
        <p:nvSpPr>
          <p:cNvPr id="25" name="TextBox 24"/>
          <p:cNvSpPr txBox="1"/>
          <p:nvPr/>
        </p:nvSpPr>
        <p:spPr>
          <a:xfrm>
            <a:off x="5886907" y="2487168"/>
            <a:ext cx="1009497" cy="2852928"/>
          </a:xfrm>
          <a:prstGeom prst="rect">
            <a:avLst/>
          </a:prstGeom>
          <a:noFill/>
        </p:spPr>
        <p:txBody>
          <a:bodyPr wrap="square" anchor="t">
            <a:spAutoFit/>
          </a:bodyPr>
          <a:lstStyle/>
          <a:p>
            <a:pPr algn="l"/>
            <a:r>
              <a:rPr sz="1150" b="0">
                <a:solidFill>
                  <a:srgbClr val="161B26"/>
                </a:solidFill>
                <a:latin typeface="Arial"/>
              </a:rPr>
              <a:t>Reject wrong sequence, invented claims, ambiguous symbols and clutter.</a:t>
            </a:r>
          </a:p>
        </p:txBody>
      </p:sp>
      <p:sp>
        <p:nvSpPr>
          <p:cNvPr id="26" name="Rounded Rectangle 25"/>
          <p:cNvSpPr/>
          <p:nvPr/>
        </p:nvSpPr>
        <p:spPr>
          <a:xfrm>
            <a:off x="7280452"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280452" y="1920240"/>
            <a:ext cx="73152" cy="3566160"/>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81620" y="2139696"/>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1620" y="2148840"/>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8085124" y="2103120"/>
            <a:ext cx="1009497" cy="329184"/>
          </a:xfrm>
          <a:prstGeom prst="rect">
            <a:avLst/>
          </a:prstGeom>
          <a:noFill/>
        </p:spPr>
        <p:txBody>
          <a:bodyPr wrap="square" anchor="t">
            <a:spAutoFit/>
          </a:bodyPr>
          <a:lstStyle/>
          <a:p>
            <a:pPr algn="l"/>
            <a:r>
              <a:rPr sz="1400" b="1">
                <a:solidFill>
                  <a:srgbClr val="F59E0B"/>
                </a:solidFill>
                <a:latin typeface="Arial"/>
              </a:rPr>
              <a:t>Rebuild</a:t>
            </a:r>
          </a:p>
        </p:txBody>
      </p:sp>
      <p:sp>
        <p:nvSpPr>
          <p:cNvPr id="31" name="TextBox 30"/>
          <p:cNvSpPr txBox="1"/>
          <p:nvPr/>
        </p:nvSpPr>
        <p:spPr>
          <a:xfrm>
            <a:off x="8085124" y="2487168"/>
            <a:ext cx="1009497" cy="2852928"/>
          </a:xfrm>
          <a:prstGeom prst="rect">
            <a:avLst/>
          </a:prstGeom>
          <a:noFill/>
        </p:spPr>
        <p:txBody>
          <a:bodyPr wrap="square" anchor="t">
            <a:spAutoFit/>
          </a:bodyPr>
          <a:lstStyle/>
          <a:p>
            <a:pPr algn="l"/>
            <a:r>
              <a:rPr sz="1150" b="0">
                <a:solidFill>
                  <a:srgbClr val="161B26"/>
                </a:solidFill>
                <a:latin typeface="Arial"/>
              </a:rPr>
              <a:t>Create editable PowerPoint stages, connectors, labels and metrics.</a:t>
            </a:r>
          </a:p>
        </p:txBody>
      </p:sp>
      <p:sp>
        <p:nvSpPr>
          <p:cNvPr id="32" name="Rounded Rectangle 31"/>
          <p:cNvSpPr/>
          <p:nvPr/>
        </p:nvSpPr>
        <p:spPr>
          <a:xfrm>
            <a:off x="9478670" y="1920240"/>
            <a:ext cx="1997049" cy="3566160"/>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478670" y="1920240"/>
            <a:ext cx="73152" cy="356616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679838" y="213969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79838" y="2148840"/>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10283342" y="2103120"/>
            <a:ext cx="1009497" cy="329184"/>
          </a:xfrm>
          <a:prstGeom prst="rect">
            <a:avLst/>
          </a:prstGeom>
          <a:noFill/>
        </p:spPr>
        <p:txBody>
          <a:bodyPr wrap="square" anchor="t">
            <a:spAutoFit/>
          </a:bodyPr>
          <a:lstStyle/>
          <a:p>
            <a:pPr algn="l"/>
            <a:r>
              <a:rPr sz="1400" b="1">
                <a:solidFill>
                  <a:srgbClr val="1F6FEB"/>
                </a:solidFill>
                <a:latin typeface="Arial"/>
              </a:rPr>
              <a:t>Verify</a:t>
            </a:r>
          </a:p>
        </p:txBody>
      </p:sp>
      <p:sp>
        <p:nvSpPr>
          <p:cNvPr id="37" name="TextBox 36"/>
          <p:cNvSpPr txBox="1"/>
          <p:nvPr/>
        </p:nvSpPr>
        <p:spPr>
          <a:xfrm>
            <a:off x="10283342" y="2487168"/>
            <a:ext cx="1009497" cy="2852928"/>
          </a:xfrm>
          <a:prstGeom prst="rect">
            <a:avLst/>
          </a:prstGeom>
          <a:noFill/>
        </p:spPr>
        <p:txBody>
          <a:bodyPr wrap="square" anchor="t">
            <a:spAutoFit/>
          </a:bodyPr>
          <a:lstStyle/>
          <a:p>
            <a:pPr algn="l"/>
            <a:r>
              <a:rPr sz="1150" b="0">
                <a:solidFill>
                  <a:srgbClr val="161B26"/>
                </a:solidFill>
                <a:latin typeface="Arial"/>
              </a:rPr>
              <a:t>Check source, alt text, reading order and export.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7C3AED"/>
                </a:solidFill>
                <a:latin typeface="Arial"/>
              </a:rPr>
              <a:t>ACTIVITY 04 · EXAMPLE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Worked Output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31520"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783080"/>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32688" y="2002536"/>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20116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2" name="TextBox 11"/>
          <p:cNvSpPr txBox="1"/>
          <p:nvPr/>
        </p:nvSpPr>
        <p:spPr>
          <a:xfrm>
            <a:off x="1536192" y="1965960"/>
            <a:ext cx="2414016" cy="329184"/>
          </a:xfrm>
          <a:prstGeom prst="rect">
            <a:avLst/>
          </a:prstGeom>
          <a:noFill/>
        </p:spPr>
        <p:txBody>
          <a:bodyPr wrap="square" anchor="t">
            <a:spAutoFit/>
          </a:bodyPr>
          <a:lstStyle/>
          <a:p>
            <a:pPr algn="l"/>
            <a:r>
              <a:rPr sz="1400" b="1">
                <a:solidFill>
                  <a:srgbClr val="1F6FEB"/>
                </a:solidFill>
                <a:latin typeface="Arial"/>
              </a:rPr>
              <a:t>1</a:t>
            </a:r>
          </a:p>
        </p:txBody>
      </p:sp>
      <p:sp>
        <p:nvSpPr>
          <p:cNvPr id="13" name="TextBox 12"/>
          <p:cNvSpPr txBox="1"/>
          <p:nvPr/>
        </p:nvSpPr>
        <p:spPr>
          <a:xfrm>
            <a:off x="1536192" y="2350008"/>
            <a:ext cx="2414016" cy="1005839"/>
          </a:xfrm>
          <a:prstGeom prst="rect">
            <a:avLst/>
          </a:prstGeom>
          <a:noFill/>
        </p:spPr>
        <p:txBody>
          <a:bodyPr wrap="square" anchor="t">
            <a:spAutoFit/>
          </a:bodyPr>
          <a:lstStyle/>
          <a:p>
            <a:pPr algn="l"/>
            <a:r>
              <a:rPr sz="1150" b="0">
                <a:solidFill>
                  <a:srgbClr val="161B26"/>
                </a:solidFill>
                <a:latin typeface="Arial"/>
              </a:rPr>
              <a:t>Order confirmed</a:t>
            </a:r>
          </a:p>
        </p:txBody>
      </p:sp>
      <p:sp>
        <p:nvSpPr>
          <p:cNvPr id="14" name="Rounded Rectangle 13"/>
          <p:cNvSpPr/>
          <p:nvPr/>
        </p:nvSpPr>
        <p:spPr>
          <a:xfrm>
            <a:off x="4315968"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5968" y="1783080"/>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17136" y="20025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7136" y="20116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18" name="TextBox 17"/>
          <p:cNvSpPr txBox="1"/>
          <p:nvPr/>
        </p:nvSpPr>
        <p:spPr>
          <a:xfrm>
            <a:off x="5120640" y="1965960"/>
            <a:ext cx="2414016" cy="329184"/>
          </a:xfrm>
          <a:prstGeom prst="rect">
            <a:avLst/>
          </a:prstGeom>
          <a:noFill/>
        </p:spPr>
        <p:txBody>
          <a:bodyPr wrap="square" anchor="t">
            <a:spAutoFit/>
          </a:bodyPr>
          <a:lstStyle/>
          <a:p>
            <a:pPr algn="l"/>
            <a:r>
              <a:rPr sz="1400" b="1">
                <a:solidFill>
                  <a:srgbClr val="10B981"/>
                </a:solidFill>
                <a:latin typeface="Arial"/>
              </a:rPr>
              <a:t>2</a:t>
            </a:r>
          </a:p>
        </p:txBody>
      </p:sp>
      <p:sp>
        <p:nvSpPr>
          <p:cNvPr id="19" name="TextBox 18"/>
          <p:cNvSpPr txBox="1"/>
          <p:nvPr/>
        </p:nvSpPr>
        <p:spPr>
          <a:xfrm>
            <a:off x="5120640" y="2350008"/>
            <a:ext cx="2414016" cy="1005839"/>
          </a:xfrm>
          <a:prstGeom prst="rect">
            <a:avLst/>
          </a:prstGeom>
          <a:noFill/>
        </p:spPr>
        <p:txBody>
          <a:bodyPr wrap="square" anchor="t">
            <a:spAutoFit/>
          </a:bodyPr>
          <a:lstStyle/>
          <a:p>
            <a:pPr algn="l"/>
            <a:r>
              <a:rPr sz="1150" b="0">
                <a:solidFill>
                  <a:srgbClr val="161B26"/>
                </a:solidFill>
                <a:latin typeface="Arial"/>
              </a:rPr>
              <a:t>Inventory reserved</a:t>
            </a:r>
          </a:p>
        </p:txBody>
      </p:sp>
      <p:sp>
        <p:nvSpPr>
          <p:cNvPr id="20" name="Rounded Rectangle 19"/>
          <p:cNvSpPr/>
          <p:nvPr/>
        </p:nvSpPr>
        <p:spPr>
          <a:xfrm>
            <a:off x="7900416" y="1783080"/>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900416" y="1783080"/>
            <a:ext cx="73152" cy="1719072"/>
          </a:xfrm>
          <a:prstGeom prst="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101584" y="2002536"/>
            <a:ext cx="438912" cy="438912"/>
          </a:xfrm>
          <a:prstGeom prst="roundRect">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01584" y="2011680"/>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4" name="TextBox 23"/>
          <p:cNvSpPr txBox="1"/>
          <p:nvPr/>
        </p:nvSpPr>
        <p:spPr>
          <a:xfrm>
            <a:off x="8705088" y="1965960"/>
            <a:ext cx="2414016" cy="329184"/>
          </a:xfrm>
          <a:prstGeom prst="rect">
            <a:avLst/>
          </a:prstGeom>
          <a:noFill/>
        </p:spPr>
        <p:txBody>
          <a:bodyPr wrap="square" anchor="t">
            <a:spAutoFit/>
          </a:bodyPr>
          <a:lstStyle/>
          <a:p>
            <a:pPr algn="l"/>
            <a:r>
              <a:rPr sz="1400" b="1">
                <a:solidFill>
                  <a:srgbClr val="7C3AED"/>
                </a:solidFill>
                <a:latin typeface="Arial"/>
              </a:rPr>
              <a:t>3</a:t>
            </a:r>
          </a:p>
        </p:txBody>
      </p:sp>
      <p:sp>
        <p:nvSpPr>
          <p:cNvPr id="25" name="TextBox 24"/>
          <p:cNvSpPr txBox="1"/>
          <p:nvPr/>
        </p:nvSpPr>
        <p:spPr>
          <a:xfrm>
            <a:off x="8705088" y="2350008"/>
            <a:ext cx="2414016" cy="1005839"/>
          </a:xfrm>
          <a:prstGeom prst="rect">
            <a:avLst/>
          </a:prstGeom>
          <a:noFill/>
        </p:spPr>
        <p:txBody>
          <a:bodyPr wrap="square" anchor="t">
            <a:spAutoFit/>
          </a:bodyPr>
          <a:lstStyle/>
          <a:p>
            <a:pPr algn="l"/>
            <a:r>
              <a:rPr sz="1150" b="0">
                <a:solidFill>
                  <a:srgbClr val="161B26"/>
                </a:solidFill>
                <a:latin typeface="Arial"/>
              </a:rPr>
              <a:t>Route optimised</a:t>
            </a:r>
          </a:p>
        </p:txBody>
      </p:sp>
      <p:sp>
        <p:nvSpPr>
          <p:cNvPr id="26" name="Rounded Rectangle 25"/>
          <p:cNvSpPr/>
          <p:nvPr/>
        </p:nvSpPr>
        <p:spPr>
          <a:xfrm>
            <a:off x="731520"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520" y="3776472"/>
            <a:ext cx="73152" cy="171907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32688" y="3995928"/>
            <a:ext cx="438912" cy="438912"/>
          </a:xfrm>
          <a:prstGeom prst="round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00507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0" name="TextBox 29"/>
          <p:cNvSpPr txBox="1"/>
          <p:nvPr/>
        </p:nvSpPr>
        <p:spPr>
          <a:xfrm>
            <a:off x="1536192" y="3959352"/>
            <a:ext cx="2414016" cy="329184"/>
          </a:xfrm>
          <a:prstGeom prst="rect">
            <a:avLst/>
          </a:prstGeom>
          <a:noFill/>
        </p:spPr>
        <p:txBody>
          <a:bodyPr wrap="square" anchor="t">
            <a:spAutoFit/>
          </a:bodyPr>
          <a:lstStyle/>
          <a:p>
            <a:pPr algn="l"/>
            <a:r>
              <a:rPr sz="1400" b="1">
                <a:solidFill>
                  <a:srgbClr val="F59E0B"/>
                </a:solidFill>
                <a:latin typeface="Arial"/>
              </a:rPr>
              <a:t>4</a:t>
            </a:r>
          </a:p>
        </p:txBody>
      </p:sp>
      <p:sp>
        <p:nvSpPr>
          <p:cNvPr id="31" name="TextBox 30"/>
          <p:cNvSpPr txBox="1"/>
          <p:nvPr/>
        </p:nvSpPr>
        <p:spPr>
          <a:xfrm>
            <a:off x="1536192" y="4343400"/>
            <a:ext cx="2414016" cy="1005839"/>
          </a:xfrm>
          <a:prstGeom prst="rect">
            <a:avLst/>
          </a:prstGeom>
          <a:noFill/>
        </p:spPr>
        <p:txBody>
          <a:bodyPr wrap="square" anchor="t">
            <a:spAutoFit/>
          </a:bodyPr>
          <a:lstStyle/>
          <a:p>
            <a:pPr algn="l"/>
            <a:r>
              <a:rPr sz="1150" b="0">
                <a:solidFill>
                  <a:srgbClr val="161B26"/>
                </a:solidFill>
                <a:latin typeface="Arial"/>
              </a:rPr>
              <a:t>Low-emission delivery</a:t>
            </a:r>
          </a:p>
        </p:txBody>
      </p:sp>
      <p:sp>
        <p:nvSpPr>
          <p:cNvPr id="32" name="Rounded Rectangle 31"/>
          <p:cNvSpPr/>
          <p:nvPr/>
        </p:nvSpPr>
        <p:spPr>
          <a:xfrm>
            <a:off x="4315968"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15968" y="3776472"/>
            <a:ext cx="73152" cy="1719072"/>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4517136" y="3995928"/>
            <a:ext cx="438912" cy="438912"/>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17136" y="4005072"/>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6" name="TextBox 35"/>
          <p:cNvSpPr txBox="1"/>
          <p:nvPr/>
        </p:nvSpPr>
        <p:spPr>
          <a:xfrm>
            <a:off x="5120640" y="3959352"/>
            <a:ext cx="2414016" cy="329184"/>
          </a:xfrm>
          <a:prstGeom prst="rect">
            <a:avLst/>
          </a:prstGeom>
          <a:noFill/>
        </p:spPr>
        <p:txBody>
          <a:bodyPr wrap="square" anchor="t">
            <a:spAutoFit/>
          </a:bodyPr>
          <a:lstStyle/>
          <a:p>
            <a:pPr algn="l"/>
            <a:r>
              <a:rPr sz="1400" b="1">
                <a:solidFill>
                  <a:srgbClr val="1F6FEB"/>
                </a:solidFill>
                <a:latin typeface="Arial"/>
              </a:rPr>
              <a:t>5</a:t>
            </a:r>
          </a:p>
        </p:txBody>
      </p:sp>
      <p:sp>
        <p:nvSpPr>
          <p:cNvPr id="37" name="TextBox 36"/>
          <p:cNvSpPr txBox="1"/>
          <p:nvPr/>
        </p:nvSpPr>
        <p:spPr>
          <a:xfrm>
            <a:off x="5120640" y="4343400"/>
            <a:ext cx="2414016" cy="1005839"/>
          </a:xfrm>
          <a:prstGeom prst="rect">
            <a:avLst/>
          </a:prstGeom>
          <a:noFill/>
        </p:spPr>
        <p:txBody>
          <a:bodyPr wrap="square" anchor="t">
            <a:spAutoFit/>
          </a:bodyPr>
          <a:lstStyle/>
          <a:p>
            <a:pPr algn="l"/>
            <a:r>
              <a:rPr sz="1150" b="0">
                <a:solidFill>
                  <a:srgbClr val="161B26"/>
                </a:solidFill>
                <a:latin typeface="Arial"/>
              </a:rPr>
              <a:t>Customer feedback</a:t>
            </a:r>
          </a:p>
        </p:txBody>
      </p:sp>
      <p:sp>
        <p:nvSpPr>
          <p:cNvPr id="38" name="Rounded Rectangle 37"/>
          <p:cNvSpPr/>
          <p:nvPr/>
        </p:nvSpPr>
        <p:spPr>
          <a:xfrm>
            <a:off x="7900416" y="3776472"/>
            <a:ext cx="3401568" cy="1719072"/>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900416" y="3776472"/>
            <a:ext cx="73152" cy="1719072"/>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8101584" y="399592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01584" y="4005072"/>
            <a:ext cx="438912" cy="420624"/>
          </a:xfrm>
          <a:prstGeom prst="rect">
            <a:avLst/>
          </a:prstGeom>
          <a:noFill/>
        </p:spPr>
        <p:txBody>
          <a:bodyPr wrap="square" anchor="ctr">
            <a:spAutoFit/>
          </a:bodyPr>
          <a:lstStyle/>
          <a:p>
            <a:pPr algn="ctr"/>
            <a:r>
              <a:rPr sz="1400" b="1">
                <a:solidFill>
                  <a:srgbClr val="FFFFFF"/>
                </a:solidFill>
                <a:latin typeface="Arial"/>
              </a:rPr>
              <a:t>6</a:t>
            </a:r>
          </a:p>
        </p:txBody>
      </p:sp>
      <p:sp>
        <p:nvSpPr>
          <p:cNvPr id="42" name="TextBox 41"/>
          <p:cNvSpPr txBox="1"/>
          <p:nvPr/>
        </p:nvSpPr>
        <p:spPr>
          <a:xfrm>
            <a:off x="8705088" y="3959352"/>
            <a:ext cx="2414016" cy="329184"/>
          </a:xfrm>
          <a:prstGeom prst="rect">
            <a:avLst/>
          </a:prstGeom>
          <a:noFill/>
        </p:spPr>
        <p:txBody>
          <a:bodyPr wrap="square" anchor="t">
            <a:spAutoFit/>
          </a:bodyPr>
          <a:lstStyle/>
          <a:p>
            <a:pPr algn="l"/>
            <a:r>
              <a:rPr sz="1400" b="1">
                <a:solidFill>
                  <a:srgbClr val="10B981"/>
                </a:solidFill>
                <a:latin typeface="Arial"/>
              </a:rPr>
              <a:t>Rule</a:t>
            </a:r>
          </a:p>
        </p:txBody>
      </p:sp>
      <p:sp>
        <p:nvSpPr>
          <p:cNvPr id="43" name="TextBox 42"/>
          <p:cNvSpPr txBox="1"/>
          <p:nvPr/>
        </p:nvSpPr>
        <p:spPr>
          <a:xfrm>
            <a:off x="8705088" y="4343400"/>
            <a:ext cx="2414016" cy="1005839"/>
          </a:xfrm>
          <a:prstGeom prst="rect">
            <a:avLst/>
          </a:prstGeom>
          <a:noFill/>
        </p:spPr>
        <p:txBody>
          <a:bodyPr wrap="square" anchor="t">
            <a:spAutoFit/>
          </a:bodyPr>
          <a:lstStyle/>
          <a:p>
            <a:pPr algn="l"/>
            <a:r>
              <a:rPr sz="1150" b="0">
                <a:solidFill>
                  <a:srgbClr val="161B26"/>
                </a:solidFill>
                <a:latin typeface="Arial"/>
              </a:rPr>
              <a:t>One stage, one verb, one icon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0B981"/>
                </a:solidFill>
                <a:latin typeface="Arial"/>
              </a:rPr>
              <a:t>ACTIVITY 04 · SYNTHETIC VISUAL ASSETS</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AI-Generated Practice Asset Sheet</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pic>
        <p:nvPicPr>
          <p:cNvPr id="8" name="Picture 7" descr="AI-Generated-Sustainability-Asset-Sheet-v1.png"/>
          <p:cNvPicPr>
            <a:picLocks noChangeAspect="1"/>
          </p:cNvPicPr>
          <p:nvPr/>
        </p:nvPicPr>
        <p:blipFill>
          <a:blip r:embed="rId2"/>
          <a:stretch>
            <a:fillRect/>
          </a:stretch>
        </p:blipFill>
        <p:spPr>
          <a:xfrm>
            <a:off x="3840480" y="1572768"/>
            <a:ext cx="4480560" cy="4480560"/>
          </a:xfrm>
          <a:prstGeom prst="rect">
            <a:avLst/>
          </a:prstGeom>
        </p:spPr>
      </p:pic>
      <p:sp>
        <p:nvSpPr>
          <p:cNvPr id="9" name="TextBox 8"/>
          <p:cNvSpPr txBox="1"/>
          <p:nvPr/>
        </p:nvSpPr>
        <p:spPr>
          <a:xfrm>
            <a:off x="777240" y="6108192"/>
            <a:ext cx="10698480" cy="237744"/>
          </a:xfrm>
          <a:prstGeom prst="rect">
            <a:avLst/>
          </a:prstGeom>
          <a:noFill/>
        </p:spPr>
        <p:txBody>
          <a:bodyPr wrap="square" anchor="t">
            <a:spAutoFit/>
          </a:bodyPr>
          <a:lstStyle/>
          <a:p>
            <a:pPr algn="ctr"/>
            <a:r>
              <a:rPr sz="900" b="0">
                <a:solidFill>
                  <a:srgbClr val="5B6372"/>
                </a:solidFill>
                <a:latin typeface="Arial"/>
              </a:rPr>
              <a:t>Synthetic training assets · prompt and provenance recorded in ASSET-MANIFEST.txt · no data claims embedded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384048"/>
            <a:ext cx="10789920" cy="320040"/>
          </a:xfrm>
          <a:prstGeom prst="rect">
            <a:avLst/>
          </a:prstGeom>
          <a:noFill/>
        </p:spPr>
        <p:txBody>
          <a:bodyPr wrap="square" anchor="t">
            <a:spAutoFit/>
          </a:bodyPr>
          <a:lstStyle/>
          <a:p>
            <a:pPr algn="l"/>
            <a:r>
              <a:rPr sz="1100" b="1">
                <a:solidFill>
                  <a:srgbClr val="1F6FEB"/>
                </a:solidFill>
                <a:latin typeface="Arial"/>
              </a:rPr>
              <a:t>ACTIVITY 04 · ACCEPTANCE</a:t>
            </a:r>
          </a:p>
        </p:txBody>
      </p:sp>
      <p:sp>
        <p:nvSpPr>
          <p:cNvPr id="5" name="TextBox 4"/>
          <p:cNvSpPr txBox="1"/>
          <p:nvPr/>
        </p:nvSpPr>
        <p:spPr>
          <a:xfrm>
            <a:off x="658368" y="749808"/>
            <a:ext cx="10789920" cy="658368"/>
          </a:xfrm>
          <a:prstGeom prst="rect">
            <a:avLst/>
          </a:prstGeom>
          <a:noFill/>
        </p:spPr>
        <p:txBody>
          <a:bodyPr wrap="square" anchor="t">
            <a:spAutoFit/>
          </a:bodyPr>
          <a:lstStyle/>
          <a:p>
            <a:pPr algn="l"/>
            <a:r>
              <a:rPr sz="2700" b="1">
                <a:solidFill>
                  <a:srgbClr val="161B26"/>
                </a:solidFill>
                <a:latin typeface="Arial"/>
              </a:rPr>
              <a:t>What Good Looks Like</a:t>
            </a:r>
          </a:p>
        </p:txBody>
      </p:sp>
      <p:sp>
        <p:nvSpPr>
          <p:cNvPr id="6" name="Rectangle 5"/>
          <p:cNvSpPr/>
          <p:nvPr/>
        </p:nvSpPr>
        <p:spPr>
          <a:xfrm>
            <a:off x="658368" y="1444752"/>
            <a:ext cx="10881360" cy="18288"/>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6473952"/>
            <a:ext cx="9875520" cy="201168"/>
          </a:xfrm>
          <a:prstGeom prst="rect">
            <a:avLst/>
          </a:prstGeom>
          <a:noFill/>
        </p:spPr>
        <p:txBody>
          <a:bodyPr wrap="square" anchor="t">
            <a:spAutoFit/>
          </a:bodyPr>
          <a:lstStyle/>
          <a:p>
            <a:pPr algn="l"/>
            <a:r>
              <a:rPr sz="800" b="0">
                <a:solidFill>
                  <a:srgbClr val="5B6372"/>
                </a:solidFill>
                <a:latin typeface="Arial"/>
              </a:rPr>
              <a:t>TGS-2026064178 · ACTIVITY PRACTICE · Tertiary Infotech Academy Pte Ltd</a:t>
            </a:r>
          </a:p>
        </p:txBody>
      </p:sp>
      <p:sp>
        <p:nvSpPr>
          <p:cNvPr id="8" name="Rounded Rectangle 7"/>
          <p:cNvSpPr/>
          <p:nvPr/>
        </p:nvSpPr>
        <p:spPr>
          <a:xfrm>
            <a:off x="749808" y="1810512"/>
            <a:ext cx="10652760" cy="1005840"/>
          </a:xfrm>
          <a:prstGeom prst="roundRect">
            <a:avLst/>
          </a:prstGeom>
          <a:solidFill>
            <a:srgbClr val="1F6FEB"/>
          </a:solidFill>
          <a:ln>
            <a:solidFill>
              <a:srgbClr val="1F6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2011680"/>
            <a:ext cx="10058400" cy="566928"/>
          </a:xfrm>
          <a:prstGeom prst="rect">
            <a:avLst/>
          </a:prstGeom>
          <a:noFill/>
        </p:spPr>
        <p:txBody>
          <a:bodyPr wrap="square" anchor="ctr">
            <a:spAutoFit/>
          </a:bodyPr>
          <a:lstStyle/>
          <a:p>
            <a:pPr algn="ctr"/>
            <a:r>
              <a:rPr sz="1900" b="1">
                <a:solidFill>
                  <a:srgbClr val="FFFFFF"/>
                </a:solidFill>
                <a:latin typeface="Arial"/>
              </a:rPr>
              <a:t>A Copilot prompt log, editable five-stage process infographic and reusable PowerPoint component slide</a:t>
            </a:r>
          </a:p>
        </p:txBody>
      </p:sp>
      <p:sp>
        <p:nvSpPr>
          <p:cNvPr id="10" name="Rounded Rectangle 9"/>
          <p:cNvSpPr/>
          <p:nvPr/>
        </p:nvSpPr>
        <p:spPr>
          <a:xfrm>
            <a:off x="777240"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78408"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383280"/>
            <a:ext cx="438912" cy="420624"/>
          </a:xfrm>
          <a:prstGeom prst="rect">
            <a:avLst/>
          </a:prstGeom>
          <a:noFill/>
        </p:spPr>
        <p:txBody>
          <a:bodyPr wrap="square" anchor="ctr">
            <a:spAutoFit/>
          </a:bodyPr>
          <a:lstStyle/>
          <a:p>
            <a:pPr algn="ctr"/>
            <a:r>
              <a:rPr sz="1400" b="1">
                <a:solidFill>
                  <a:srgbClr val="FFFFFF"/>
                </a:solidFill>
                <a:latin typeface="Arial"/>
              </a:rPr>
              <a:t>1</a:t>
            </a:r>
          </a:p>
        </p:txBody>
      </p:sp>
      <p:sp>
        <p:nvSpPr>
          <p:cNvPr id="14" name="TextBox 13"/>
          <p:cNvSpPr txBox="1"/>
          <p:nvPr/>
        </p:nvSpPr>
        <p:spPr>
          <a:xfrm>
            <a:off x="1581912"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15" name="TextBox 14"/>
          <p:cNvSpPr txBox="1"/>
          <p:nvPr/>
        </p:nvSpPr>
        <p:spPr>
          <a:xfrm>
            <a:off x="1581912" y="3721608"/>
            <a:ext cx="4087368" cy="36575"/>
          </a:xfrm>
          <a:prstGeom prst="rect">
            <a:avLst/>
          </a:prstGeom>
          <a:noFill/>
        </p:spPr>
        <p:txBody>
          <a:bodyPr wrap="square" anchor="t">
            <a:spAutoFit/>
          </a:bodyPr>
          <a:lstStyle/>
          <a:p>
            <a:pPr algn="l"/>
            <a:r>
              <a:rPr sz="1150" b="0">
                <a:solidFill>
                  <a:srgbClr val="161B26"/>
                </a:solidFill>
                <a:latin typeface="Arial"/>
              </a:rPr>
              <a:t>Stages use equal size and spacing</a:t>
            </a:r>
          </a:p>
        </p:txBody>
      </p:sp>
      <p:sp>
        <p:nvSpPr>
          <p:cNvPr id="16" name="Rounded Rectangle 15"/>
          <p:cNvSpPr/>
          <p:nvPr/>
        </p:nvSpPr>
        <p:spPr>
          <a:xfrm>
            <a:off x="6126479" y="3154680"/>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9" y="3154680"/>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27647" y="3374136"/>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27647" y="3383280"/>
            <a:ext cx="438912" cy="420624"/>
          </a:xfrm>
          <a:prstGeom prst="rect">
            <a:avLst/>
          </a:prstGeom>
          <a:noFill/>
        </p:spPr>
        <p:txBody>
          <a:bodyPr wrap="square" anchor="ctr">
            <a:spAutoFit/>
          </a:bodyPr>
          <a:lstStyle/>
          <a:p>
            <a:pPr algn="ctr"/>
            <a:r>
              <a:rPr sz="1400" b="1">
                <a:solidFill>
                  <a:srgbClr val="FFFFFF"/>
                </a:solidFill>
                <a:latin typeface="Arial"/>
              </a:rPr>
              <a:t>2</a:t>
            </a:r>
          </a:p>
        </p:txBody>
      </p:sp>
      <p:sp>
        <p:nvSpPr>
          <p:cNvPr id="20" name="TextBox 19"/>
          <p:cNvSpPr txBox="1"/>
          <p:nvPr/>
        </p:nvSpPr>
        <p:spPr>
          <a:xfrm>
            <a:off x="6931151" y="3337560"/>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1" name="TextBox 20"/>
          <p:cNvSpPr txBox="1"/>
          <p:nvPr/>
        </p:nvSpPr>
        <p:spPr>
          <a:xfrm>
            <a:off x="6931151" y="3721608"/>
            <a:ext cx="4087368" cy="36575"/>
          </a:xfrm>
          <a:prstGeom prst="rect">
            <a:avLst/>
          </a:prstGeom>
          <a:noFill/>
        </p:spPr>
        <p:txBody>
          <a:bodyPr wrap="square" anchor="t">
            <a:spAutoFit/>
          </a:bodyPr>
          <a:lstStyle/>
          <a:p>
            <a:pPr algn="l"/>
            <a:r>
              <a:rPr sz="1150" b="0">
                <a:solidFill>
                  <a:srgbClr val="161B26"/>
                </a:solidFill>
                <a:latin typeface="Arial"/>
              </a:rPr>
              <a:t>Connectors remain attached when objects move</a:t>
            </a:r>
          </a:p>
        </p:txBody>
      </p:sp>
      <p:sp>
        <p:nvSpPr>
          <p:cNvPr id="22" name="Rounded Rectangle 21"/>
          <p:cNvSpPr/>
          <p:nvPr/>
        </p:nvSpPr>
        <p:spPr>
          <a:xfrm>
            <a:off x="777240"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78408"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4325112"/>
            <a:ext cx="438912" cy="420624"/>
          </a:xfrm>
          <a:prstGeom prst="rect">
            <a:avLst/>
          </a:prstGeom>
          <a:noFill/>
        </p:spPr>
        <p:txBody>
          <a:bodyPr wrap="square" anchor="ctr">
            <a:spAutoFit/>
          </a:bodyPr>
          <a:lstStyle/>
          <a:p>
            <a:pPr algn="ctr"/>
            <a:r>
              <a:rPr sz="1400" b="1">
                <a:solidFill>
                  <a:srgbClr val="FFFFFF"/>
                </a:solidFill>
                <a:latin typeface="Arial"/>
              </a:rPr>
              <a:t>3</a:t>
            </a:r>
          </a:p>
        </p:txBody>
      </p:sp>
      <p:sp>
        <p:nvSpPr>
          <p:cNvPr id="26" name="TextBox 25"/>
          <p:cNvSpPr txBox="1"/>
          <p:nvPr/>
        </p:nvSpPr>
        <p:spPr>
          <a:xfrm>
            <a:off x="1581912"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27" name="TextBox 26"/>
          <p:cNvSpPr txBox="1"/>
          <p:nvPr/>
        </p:nvSpPr>
        <p:spPr>
          <a:xfrm>
            <a:off x="1581912" y="4663440"/>
            <a:ext cx="4087368" cy="36575"/>
          </a:xfrm>
          <a:prstGeom prst="rect">
            <a:avLst/>
          </a:prstGeom>
          <a:noFill/>
        </p:spPr>
        <p:txBody>
          <a:bodyPr wrap="square" anchor="t">
            <a:spAutoFit/>
          </a:bodyPr>
          <a:lstStyle/>
          <a:p>
            <a:pPr algn="l"/>
            <a:r>
              <a:rPr sz="1150" b="0">
                <a:solidFill>
                  <a:srgbClr val="161B26"/>
                </a:solidFill>
                <a:latin typeface="Arial"/>
              </a:rPr>
              <a:t>Icons use one family and have direct labels</a:t>
            </a:r>
          </a:p>
        </p:txBody>
      </p:sp>
      <p:sp>
        <p:nvSpPr>
          <p:cNvPr id="28" name="Rounded Rectangle 27"/>
          <p:cNvSpPr/>
          <p:nvPr/>
        </p:nvSpPr>
        <p:spPr>
          <a:xfrm>
            <a:off x="6126479" y="4096512"/>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26479" y="4096512"/>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27647" y="4315968"/>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27647" y="4325112"/>
            <a:ext cx="438912" cy="420624"/>
          </a:xfrm>
          <a:prstGeom prst="rect">
            <a:avLst/>
          </a:prstGeom>
          <a:noFill/>
        </p:spPr>
        <p:txBody>
          <a:bodyPr wrap="square" anchor="ctr">
            <a:spAutoFit/>
          </a:bodyPr>
          <a:lstStyle/>
          <a:p>
            <a:pPr algn="ctr"/>
            <a:r>
              <a:rPr sz="1400" b="1">
                <a:solidFill>
                  <a:srgbClr val="FFFFFF"/>
                </a:solidFill>
                <a:latin typeface="Arial"/>
              </a:rPr>
              <a:t>4</a:t>
            </a:r>
          </a:p>
        </p:txBody>
      </p:sp>
      <p:sp>
        <p:nvSpPr>
          <p:cNvPr id="32" name="TextBox 31"/>
          <p:cNvSpPr txBox="1"/>
          <p:nvPr/>
        </p:nvSpPr>
        <p:spPr>
          <a:xfrm>
            <a:off x="6931151" y="4279392"/>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3" name="TextBox 32"/>
          <p:cNvSpPr txBox="1"/>
          <p:nvPr/>
        </p:nvSpPr>
        <p:spPr>
          <a:xfrm>
            <a:off x="6931151" y="4663440"/>
            <a:ext cx="4087368" cy="36575"/>
          </a:xfrm>
          <a:prstGeom prst="rect">
            <a:avLst/>
          </a:prstGeom>
          <a:noFill/>
        </p:spPr>
        <p:txBody>
          <a:bodyPr wrap="square" anchor="t">
            <a:spAutoFit/>
          </a:bodyPr>
          <a:lstStyle/>
          <a:p>
            <a:pPr algn="l"/>
            <a:r>
              <a:rPr sz="1150" b="0">
                <a:solidFill>
                  <a:srgbClr val="161B26"/>
                </a:solidFill>
                <a:latin typeface="Arial"/>
              </a:rPr>
              <a:t>The reading path is obvious</a:t>
            </a:r>
          </a:p>
        </p:txBody>
      </p:sp>
      <p:sp>
        <p:nvSpPr>
          <p:cNvPr id="34" name="Rounded Rectangle 33"/>
          <p:cNvSpPr/>
          <p:nvPr/>
        </p:nvSpPr>
        <p:spPr>
          <a:xfrm>
            <a:off x="777240" y="5038344"/>
            <a:ext cx="5074920" cy="749808"/>
          </a:xfrm>
          <a:prstGeom prst="roundRect">
            <a:avLst/>
          </a:prstGeom>
          <a:solidFill>
            <a:srgbClr val="F5F8FC"/>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5038344"/>
            <a:ext cx="73152" cy="749808"/>
          </a:xfrm>
          <a:prstGeom prst="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78408" y="5257800"/>
            <a:ext cx="438912" cy="438912"/>
          </a:xfrm>
          <a:prstGeom prst="roundRect">
            <a:avLst/>
          </a:prstGeom>
          <a:solidFill>
            <a:srgbClr val="10B981"/>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78408" y="5266944"/>
            <a:ext cx="438912" cy="420624"/>
          </a:xfrm>
          <a:prstGeom prst="rect">
            <a:avLst/>
          </a:prstGeom>
          <a:noFill/>
        </p:spPr>
        <p:txBody>
          <a:bodyPr wrap="square" anchor="ctr">
            <a:spAutoFit/>
          </a:bodyPr>
          <a:lstStyle/>
          <a:p>
            <a:pPr algn="ctr"/>
            <a:r>
              <a:rPr sz="1400" b="1">
                <a:solidFill>
                  <a:srgbClr val="FFFFFF"/>
                </a:solidFill>
                <a:latin typeface="Arial"/>
              </a:rPr>
              <a:t>5</a:t>
            </a:r>
          </a:p>
        </p:txBody>
      </p:sp>
      <p:sp>
        <p:nvSpPr>
          <p:cNvPr id="38" name="TextBox 37"/>
          <p:cNvSpPr txBox="1"/>
          <p:nvPr/>
        </p:nvSpPr>
        <p:spPr>
          <a:xfrm>
            <a:off x="1581912" y="5221224"/>
            <a:ext cx="4087368" cy="329184"/>
          </a:xfrm>
          <a:prstGeom prst="rect">
            <a:avLst/>
          </a:prstGeom>
          <a:noFill/>
        </p:spPr>
        <p:txBody>
          <a:bodyPr wrap="square" anchor="t">
            <a:spAutoFit/>
          </a:bodyPr>
          <a:lstStyle/>
          <a:p>
            <a:pPr algn="l"/>
            <a:r>
              <a:rPr sz="1400" b="1">
                <a:solidFill>
                  <a:srgbClr val="10B981"/>
                </a:solidFill>
                <a:latin typeface="Arial"/>
              </a:rPr>
              <a:t>CHECK</a:t>
            </a:r>
          </a:p>
        </p:txBody>
      </p:sp>
      <p:sp>
        <p:nvSpPr>
          <p:cNvPr id="39" name="TextBox 38"/>
          <p:cNvSpPr txBox="1"/>
          <p:nvPr/>
        </p:nvSpPr>
        <p:spPr>
          <a:xfrm>
            <a:off x="1581912" y="5605272"/>
            <a:ext cx="4087368" cy="36575"/>
          </a:xfrm>
          <a:prstGeom prst="rect">
            <a:avLst/>
          </a:prstGeom>
          <a:noFill/>
        </p:spPr>
        <p:txBody>
          <a:bodyPr wrap="square" anchor="t">
            <a:spAutoFit/>
          </a:bodyPr>
          <a:lstStyle/>
          <a:p>
            <a:pPr algn="l"/>
            <a:r>
              <a:rPr sz="1150" b="0">
                <a:solidFill>
                  <a:srgbClr val="161B26"/>
                </a:solidFill>
                <a:latin typeface="Arial"/>
              </a:rPr>
              <a:t>All objects remain editable and grouped logically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