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85800"/>
            <a:ext cx="10789920" cy="365760"/>
          </a:xfrm>
          <a:prstGeom prst="rect">
            <a:avLst/>
          </a:prstGeom>
          <a:noFill/>
        </p:spPr>
        <p:txBody>
          <a:bodyPr wrap="square" anchor="t">
            <a:spAutoFit/>
          </a:bodyPr>
          <a:lstStyle/>
          <a:p>
            <a:pPr algn="l"/>
            <a:r>
              <a:rPr sz="1400" b="1">
                <a:solidFill>
                  <a:srgbClr val="1F6FEB"/>
                </a:solidFill>
                <a:latin typeface="Arial"/>
              </a:rPr>
              <a:t>ACTIVITY 08 · WORKED EXAMPLE</a:t>
            </a:r>
          </a:p>
        </p:txBody>
      </p:sp>
      <p:sp>
        <p:nvSpPr>
          <p:cNvPr id="6" name="TextBox 5"/>
          <p:cNvSpPr txBox="1"/>
          <p:nvPr/>
        </p:nvSpPr>
        <p:spPr>
          <a:xfrm>
            <a:off x="777240" y="1417320"/>
            <a:ext cx="10607040" cy="1280160"/>
          </a:xfrm>
          <a:prstGeom prst="rect">
            <a:avLst/>
          </a:prstGeom>
          <a:noFill/>
        </p:spPr>
        <p:txBody>
          <a:bodyPr wrap="square" anchor="t">
            <a:spAutoFit/>
          </a:bodyPr>
          <a:lstStyle/>
          <a:p>
            <a:pPr algn="l"/>
            <a:r>
              <a:rPr sz="3400" b="1">
                <a:solidFill>
                  <a:srgbClr val="161B26"/>
                </a:solidFill>
                <a:latin typeface="Arial"/>
              </a:rPr>
              <a:t>Create a Resource Scorecard Infographic</a:t>
            </a:r>
          </a:p>
        </p:txBody>
      </p:sp>
      <p:sp>
        <p:nvSpPr>
          <p:cNvPr id="7" name="TextBox 6"/>
          <p:cNvSpPr txBox="1"/>
          <p:nvPr/>
        </p:nvSpPr>
        <p:spPr>
          <a:xfrm>
            <a:off x="777240" y="2971800"/>
            <a:ext cx="10424160" cy="640080"/>
          </a:xfrm>
          <a:prstGeom prst="rect">
            <a:avLst/>
          </a:prstGeom>
          <a:noFill/>
        </p:spPr>
        <p:txBody>
          <a:bodyPr wrap="square" anchor="t">
            <a:spAutoFit/>
          </a:bodyPr>
          <a:lstStyle/>
          <a:p>
            <a:pPr algn="l"/>
            <a:r>
              <a:rPr sz="2000" b="0">
                <a:solidFill>
                  <a:srgbClr val="5B6372"/>
                </a:solidFill>
                <a:latin typeface="Arial"/>
              </a:rPr>
              <a:t>Northstar Retail Singapore · synthetic practice scenario</a:t>
            </a:r>
          </a:p>
        </p:txBody>
      </p:sp>
      <p:sp>
        <p:nvSpPr>
          <p:cNvPr id="8" name="Rounded Rectangle 7"/>
          <p:cNvSpPr/>
          <p:nvPr/>
        </p:nvSpPr>
        <p:spPr>
          <a:xfrm>
            <a:off x="777240" y="3794760"/>
            <a:ext cx="10561320" cy="12344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069080"/>
            <a:ext cx="9966960" cy="274320"/>
          </a:xfrm>
          <a:prstGeom prst="rect">
            <a:avLst/>
          </a:prstGeom>
          <a:noFill/>
        </p:spPr>
        <p:txBody>
          <a:bodyPr wrap="square" anchor="t">
            <a:spAutoFit/>
          </a:bodyPr>
          <a:lstStyle/>
          <a:p>
            <a:pPr algn="l"/>
            <a:r>
              <a:rPr sz="1000" b="1">
                <a:solidFill>
                  <a:srgbClr val="1F6FEB"/>
                </a:solidFill>
                <a:latin typeface="Arial"/>
              </a:rPr>
              <a:t>TOOL WORKFLOW</a:t>
            </a:r>
          </a:p>
        </p:txBody>
      </p:sp>
      <p:sp>
        <p:nvSpPr>
          <p:cNvPr id="10" name="TextBox 9"/>
          <p:cNvSpPr txBox="1"/>
          <p:nvPr/>
        </p:nvSpPr>
        <p:spPr>
          <a:xfrm>
            <a:off x="1051560" y="4434840"/>
            <a:ext cx="9966960" cy="384048"/>
          </a:xfrm>
          <a:prstGeom prst="rect">
            <a:avLst/>
          </a:prstGeom>
          <a:noFill/>
        </p:spPr>
        <p:txBody>
          <a:bodyPr wrap="square" anchor="t">
            <a:spAutoFit/>
          </a:bodyPr>
          <a:lstStyle/>
          <a:p>
            <a:pPr algn="l"/>
            <a:r>
              <a:rPr sz="1800" b="1">
                <a:solidFill>
                  <a:srgbClr val="161B26"/>
                </a:solidFill>
                <a:latin typeface="Arial"/>
              </a:rPr>
              <a:t>Microsoft 365 Copilot + Excel scorecard + PowerPoint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08 · FULL COPY-READY TEXT IN PROMPTS.MD AND AI PROMPT LAB</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AI Prompt Starters</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55648"/>
            <a:ext cx="73152" cy="18470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1975104"/>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84248"/>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38528"/>
            <a:ext cx="4178808" cy="329184"/>
          </a:xfrm>
          <a:prstGeom prst="rect">
            <a:avLst/>
          </a:prstGeom>
          <a:noFill/>
        </p:spPr>
        <p:txBody>
          <a:bodyPr wrap="square" anchor="t">
            <a:spAutoFit/>
          </a:bodyPr>
          <a:lstStyle/>
          <a:p>
            <a:pPr algn="l"/>
            <a:r>
              <a:rPr sz="1400" b="1">
                <a:solidFill>
                  <a:srgbClr val="1F6FEB"/>
                </a:solidFill>
                <a:latin typeface="Arial"/>
              </a:rPr>
              <a:t>Analyse the evidence</a:t>
            </a:r>
          </a:p>
        </p:txBody>
      </p:sp>
      <p:sp>
        <p:nvSpPr>
          <p:cNvPr id="13" name="TextBox 12"/>
          <p:cNvSpPr txBox="1"/>
          <p:nvPr/>
        </p:nvSpPr>
        <p:spPr>
          <a:xfrm>
            <a:off x="1536192" y="2322576"/>
            <a:ext cx="4178808" cy="1133856"/>
          </a:xfrm>
          <a:prstGeom prst="rect">
            <a:avLst/>
          </a:prstGeom>
          <a:noFill/>
        </p:spPr>
        <p:txBody>
          <a:bodyPr wrap="square" anchor="t">
            <a:spAutoFit/>
          </a:bodyPr>
          <a:lstStyle/>
          <a:p>
            <a:pPr algn="l"/>
            <a:r>
              <a:rPr sz="1150" b="0">
                <a:solidFill>
                  <a:srgbClr val="161B26"/>
                </a:solidFill>
                <a:latin typeface="Arial"/>
              </a:rPr>
              <a:t>Using only the attached approved source, identify the three strongest patterns, the denominator for each metric, one limitation and one proportionate business action. Cite the source field or row for every number. Do not invent missing…</a:t>
            </a:r>
          </a:p>
        </p:txBody>
      </p:sp>
      <p:sp>
        <p:nvSpPr>
          <p:cNvPr id="14" name="Rounded Rectangle 13"/>
          <p:cNvSpPr/>
          <p:nvPr/>
        </p:nvSpPr>
        <p:spPr>
          <a:xfrm>
            <a:off x="6144768"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755648"/>
            <a:ext cx="73152" cy="184708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45936" y="1975104"/>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1984248"/>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6949440" y="1938528"/>
            <a:ext cx="4178808" cy="329184"/>
          </a:xfrm>
          <a:prstGeom prst="rect">
            <a:avLst/>
          </a:prstGeom>
          <a:noFill/>
        </p:spPr>
        <p:txBody>
          <a:bodyPr wrap="square" anchor="t">
            <a:spAutoFit/>
          </a:bodyPr>
          <a:lstStyle/>
          <a:p>
            <a:pPr algn="l"/>
            <a:r>
              <a:rPr sz="1400" b="1">
                <a:solidFill>
                  <a:srgbClr val="10B981"/>
                </a:solidFill>
                <a:latin typeface="Arial"/>
              </a:rPr>
              <a:t>Create the infographic</a:t>
            </a:r>
          </a:p>
        </p:txBody>
      </p:sp>
      <p:sp>
        <p:nvSpPr>
          <p:cNvPr id="19" name="TextBox 18"/>
          <p:cNvSpPr txBox="1"/>
          <p:nvPr/>
        </p:nvSpPr>
        <p:spPr>
          <a:xfrm>
            <a:off x="6949440" y="2322576"/>
            <a:ext cx="4178808" cy="1133856"/>
          </a:xfrm>
          <a:prstGeom prst="rect">
            <a:avLst/>
          </a:prstGeom>
          <a:noFill/>
        </p:spPr>
        <p:txBody>
          <a:bodyPr wrap="square" anchor="t">
            <a:spAutoFit/>
          </a:bodyPr>
          <a:lstStyle/>
          <a:p>
            <a:pPr algn="l"/>
            <a:r>
              <a:rPr sz="1150" b="0">
                <a:solidFill>
                  <a:srgbClr val="161B26"/>
                </a:solidFill>
                <a:latin typeface="Arial"/>
              </a:rPr>
              <a:t>Create a one-page [TYPE] infographic about [TOPIC]. Sections: 1. [SECTION ONE] 2. [SECTION TWO] 3. [SECTION THREE] 4. [SECTION FOUR] 5. [SECTION FIVE]. Audience: [AUDIENCE]. Decision: [DECISION]. Style: professional, high contrast, con…</a:t>
            </a:r>
          </a:p>
        </p:txBody>
      </p:sp>
      <p:sp>
        <p:nvSpPr>
          <p:cNvPr id="20" name="Rounded Rectangle 19"/>
          <p:cNvSpPr/>
          <p:nvPr/>
        </p:nvSpPr>
        <p:spPr>
          <a:xfrm>
            <a:off x="731520"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877056"/>
            <a:ext cx="73152" cy="1847088"/>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32688" y="4096512"/>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105656"/>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1536192" y="4059936"/>
            <a:ext cx="4178808" cy="329184"/>
          </a:xfrm>
          <a:prstGeom prst="rect">
            <a:avLst/>
          </a:prstGeom>
          <a:noFill/>
        </p:spPr>
        <p:txBody>
          <a:bodyPr wrap="square" anchor="t">
            <a:spAutoFit/>
          </a:bodyPr>
          <a:lstStyle/>
          <a:p>
            <a:pPr algn="l"/>
            <a:r>
              <a:rPr sz="1400" b="1">
                <a:solidFill>
                  <a:srgbClr val="7C3AED"/>
                </a:solidFill>
                <a:latin typeface="Arial"/>
              </a:rPr>
              <a:t>Refine in PowerPoint</a:t>
            </a:r>
          </a:p>
        </p:txBody>
      </p:sp>
      <p:sp>
        <p:nvSpPr>
          <p:cNvPr id="25" name="TextBox 24"/>
          <p:cNvSpPr txBox="1"/>
          <p:nvPr/>
        </p:nvSpPr>
        <p:spPr>
          <a:xfrm>
            <a:off x="1536192" y="4443984"/>
            <a:ext cx="4178808" cy="1133856"/>
          </a:xfrm>
          <a:prstGeom prst="rect">
            <a:avLst/>
          </a:prstGeom>
          <a:noFill/>
        </p:spPr>
        <p:txBody>
          <a:bodyPr wrap="square" anchor="t">
            <a:spAutoFit/>
          </a:bodyPr>
          <a:lstStyle/>
          <a:p>
            <a:pPr algn="l"/>
            <a:r>
              <a:rPr sz="1150" b="0">
                <a:solidFill>
                  <a:srgbClr val="161B26"/>
                </a:solidFill>
                <a:latin typeface="Arial"/>
              </a:rPr>
              <a:t>Turn the selected infographic direction into one editable PowerPoint slide. Keep the action title, labels, numbers, chart or process, source footer and accessibility notes editable. Remove decoration that does not support the message. …</a:t>
            </a:r>
          </a:p>
        </p:txBody>
      </p:sp>
      <p:sp>
        <p:nvSpPr>
          <p:cNvPr id="26" name="Rounded Rectangle 25"/>
          <p:cNvSpPr/>
          <p:nvPr/>
        </p:nvSpPr>
        <p:spPr>
          <a:xfrm>
            <a:off x="6144768"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3877056"/>
            <a:ext cx="73152" cy="184708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45936" y="4096512"/>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5936" y="4105656"/>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6949440" y="4059936"/>
            <a:ext cx="4178808" cy="329184"/>
          </a:xfrm>
          <a:prstGeom prst="rect">
            <a:avLst/>
          </a:prstGeom>
          <a:noFill/>
        </p:spPr>
        <p:txBody>
          <a:bodyPr wrap="square" anchor="t">
            <a:spAutoFit/>
          </a:bodyPr>
          <a:lstStyle/>
          <a:p>
            <a:pPr algn="l"/>
            <a:r>
              <a:rPr sz="1400" b="1">
                <a:solidFill>
                  <a:srgbClr val="F59E0B"/>
                </a:solidFill>
                <a:latin typeface="Arial"/>
              </a:rPr>
              <a:t>Quality review</a:t>
            </a:r>
          </a:p>
        </p:txBody>
      </p:sp>
      <p:sp>
        <p:nvSpPr>
          <p:cNvPr id="31" name="TextBox 30"/>
          <p:cNvSpPr txBox="1"/>
          <p:nvPr/>
        </p:nvSpPr>
        <p:spPr>
          <a:xfrm>
            <a:off x="6949440" y="4443984"/>
            <a:ext cx="4178808" cy="1133856"/>
          </a:xfrm>
          <a:prstGeom prst="rect">
            <a:avLst/>
          </a:prstGeom>
          <a:noFill/>
        </p:spPr>
        <p:txBody>
          <a:bodyPr wrap="square" anchor="t">
            <a:spAutoFit/>
          </a:bodyPr>
          <a:lstStyle/>
          <a:p>
            <a:pPr algn="l"/>
            <a:r>
              <a:rPr sz="1150" b="0">
                <a:solidFill>
                  <a:srgbClr val="161B26"/>
                </a:solidFill>
                <a:latin typeface="Arial"/>
              </a:rPr>
              <a:t>Review this infographic against message clarity, data accuracy, visual hierarchy, audience fit, accessibility, editability and business goal. List each issue with evidence, its impact, the proposed change and a pass/fail acceptance che…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08 · COPY, ADAPT AND VERIFY</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Structured Microsoft 365 Copilot Prompt</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49808" y="1700784"/>
            <a:ext cx="10698480" cy="437083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74519"/>
            <a:ext cx="384048" cy="246888"/>
          </a:xfrm>
          <a:prstGeom prst="rect">
            <a:avLst/>
          </a:prstGeom>
          <a:noFill/>
        </p:spPr>
        <p:txBody>
          <a:bodyPr wrap="square" anchor="t">
            <a:spAutoFit/>
          </a:bodyPr>
          <a:lstStyle/>
          <a:p>
            <a:pPr algn="r"/>
            <a:r>
              <a:rPr sz="900" b="0">
                <a:solidFill>
                  <a:srgbClr val="5B6372"/>
                </a:solidFill>
                <a:latin typeface="Arial"/>
              </a:rPr>
              <a:t>1</a:t>
            </a:r>
          </a:p>
        </p:txBody>
      </p:sp>
      <p:sp>
        <p:nvSpPr>
          <p:cNvPr id="10" name="TextBox 9"/>
          <p:cNvSpPr txBox="1"/>
          <p:nvPr/>
        </p:nvSpPr>
        <p:spPr>
          <a:xfrm>
            <a:off x="1554480" y="1874519"/>
            <a:ext cx="9418320" cy="256032"/>
          </a:xfrm>
          <a:prstGeom prst="rect">
            <a:avLst/>
          </a:prstGeom>
          <a:noFill/>
        </p:spPr>
        <p:txBody>
          <a:bodyPr wrap="square" anchor="t">
            <a:spAutoFit/>
          </a:bodyPr>
          <a:lstStyle/>
          <a:p>
            <a:pPr algn="l"/>
            <a:r>
              <a:rPr sz="1050" b="0">
                <a:solidFill>
                  <a:srgbClr val="161B26"/>
                </a:solidFill>
                <a:latin typeface="Arial"/>
              </a:rPr>
              <a:t>Create a one-page resource scorecard infographic about Create a Resource Scorecard Infographic.</a:t>
            </a:r>
          </a:p>
        </p:txBody>
      </p:sp>
      <p:sp>
        <p:nvSpPr>
          <p:cNvPr id="11" name="TextBox 10"/>
          <p:cNvSpPr txBox="1"/>
          <p:nvPr/>
        </p:nvSpPr>
        <p:spPr>
          <a:xfrm>
            <a:off x="960120" y="2157984"/>
            <a:ext cx="384048" cy="246888"/>
          </a:xfrm>
          <a:prstGeom prst="rect">
            <a:avLst/>
          </a:prstGeom>
          <a:noFill/>
        </p:spPr>
        <p:txBody>
          <a:bodyPr wrap="square" anchor="t">
            <a:spAutoFit/>
          </a:bodyPr>
          <a:lstStyle/>
          <a:p>
            <a:pPr algn="r"/>
            <a:r>
              <a:rPr sz="900" b="0">
                <a:solidFill>
                  <a:srgbClr val="5B6372"/>
                </a:solidFill>
                <a:latin typeface="Arial"/>
              </a:rPr>
              <a:t>2</a:t>
            </a:r>
          </a:p>
        </p:txBody>
      </p:sp>
      <p:sp>
        <p:nvSpPr>
          <p:cNvPr id="12" name="TextBox 11"/>
          <p:cNvSpPr txBox="1"/>
          <p:nvPr/>
        </p:nvSpPr>
        <p:spPr>
          <a:xfrm>
            <a:off x="1554480" y="2157984"/>
            <a:ext cx="9418320" cy="256032"/>
          </a:xfrm>
          <a:prstGeom prst="rect">
            <a:avLst/>
          </a:prstGeom>
          <a:noFill/>
        </p:spPr>
        <p:txBody>
          <a:bodyPr wrap="square" anchor="t">
            <a:spAutoFit/>
          </a:bodyPr>
          <a:lstStyle/>
          <a:p>
            <a:pPr algn="l"/>
            <a:r>
              <a:rPr sz="1050" b="1">
                <a:solidFill>
                  <a:srgbClr val="161B26"/>
                </a:solidFill>
                <a:latin typeface="Arial"/>
              </a:rPr>
              <a:t>Sections:</a:t>
            </a:r>
          </a:p>
        </p:txBody>
      </p:sp>
      <p:sp>
        <p:nvSpPr>
          <p:cNvPr id="13" name="TextBox 12"/>
          <p:cNvSpPr txBox="1"/>
          <p:nvPr/>
        </p:nvSpPr>
        <p:spPr>
          <a:xfrm>
            <a:off x="960120" y="2441448"/>
            <a:ext cx="384048" cy="246888"/>
          </a:xfrm>
          <a:prstGeom prst="rect">
            <a:avLst/>
          </a:prstGeom>
          <a:noFill/>
        </p:spPr>
        <p:txBody>
          <a:bodyPr wrap="square" anchor="t">
            <a:spAutoFit/>
          </a:bodyPr>
          <a:lstStyle/>
          <a:p>
            <a:pPr algn="r"/>
            <a:r>
              <a:rPr sz="900" b="0">
                <a:solidFill>
                  <a:srgbClr val="5B6372"/>
                </a:solidFill>
                <a:latin typeface="Arial"/>
              </a:rPr>
              <a:t>3</a:t>
            </a:r>
          </a:p>
        </p:txBody>
      </p:sp>
      <p:sp>
        <p:nvSpPr>
          <p:cNvPr id="14" name="TextBox 13"/>
          <p:cNvSpPr txBox="1"/>
          <p:nvPr/>
        </p:nvSpPr>
        <p:spPr>
          <a:xfrm>
            <a:off x="1554480" y="2441448"/>
            <a:ext cx="9418320" cy="256032"/>
          </a:xfrm>
          <a:prstGeom prst="rect">
            <a:avLst/>
          </a:prstGeom>
          <a:noFill/>
        </p:spPr>
        <p:txBody>
          <a:bodyPr wrap="square" anchor="t">
            <a:spAutoFit/>
          </a:bodyPr>
          <a:lstStyle/>
          <a:p>
            <a:pPr algn="l"/>
            <a:r>
              <a:rPr sz="1050" b="0">
                <a:solidFill>
                  <a:srgbClr val="161B26"/>
                </a:solidFill>
                <a:latin typeface="Arial"/>
              </a:rPr>
              <a:t>1. 35%</a:t>
            </a:r>
          </a:p>
        </p:txBody>
      </p:sp>
      <p:sp>
        <p:nvSpPr>
          <p:cNvPr id="15" name="TextBox 14"/>
          <p:cNvSpPr txBox="1"/>
          <p:nvPr/>
        </p:nvSpPr>
        <p:spPr>
          <a:xfrm>
            <a:off x="960120" y="2724911"/>
            <a:ext cx="384048" cy="246888"/>
          </a:xfrm>
          <a:prstGeom prst="rect">
            <a:avLst/>
          </a:prstGeom>
          <a:noFill/>
        </p:spPr>
        <p:txBody>
          <a:bodyPr wrap="square" anchor="t">
            <a:spAutoFit/>
          </a:bodyPr>
          <a:lstStyle/>
          <a:p>
            <a:pPr algn="r"/>
            <a:r>
              <a:rPr sz="900" b="0">
                <a:solidFill>
                  <a:srgbClr val="5B6372"/>
                </a:solidFill>
                <a:latin typeface="Arial"/>
              </a:rPr>
              <a:t>4</a:t>
            </a:r>
          </a:p>
        </p:txBody>
      </p:sp>
      <p:sp>
        <p:nvSpPr>
          <p:cNvPr id="16" name="TextBox 15"/>
          <p:cNvSpPr txBox="1"/>
          <p:nvPr/>
        </p:nvSpPr>
        <p:spPr>
          <a:xfrm>
            <a:off x="1554480" y="2724911"/>
            <a:ext cx="9418320" cy="256032"/>
          </a:xfrm>
          <a:prstGeom prst="rect">
            <a:avLst/>
          </a:prstGeom>
          <a:noFill/>
        </p:spPr>
        <p:txBody>
          <a:bodyPr wrap="square" anchor="t">
            <a:spAutoFit/>
          </a:bodyPr>
          <a:lstStyle/>
          <a:p>
            <a:pPr algn="l"/>
            <a:r>
              <a:rPr sz="1050" b="0">
                <a:solidFill>
                  <a:srgbClr val="161B26"/>
                </a:solidFill>
                <a:latin typeface="Arial"/>
              </a:rPr>
              <a:t>2. 20%</a:t>
            </a:r>
          </a:p>
        </p:txBody>
      </p:sp>
      <p:sp>
        <p:nvSpPr>
          <p:cNvPr id="17" name="TextBox 16"/>
          <p:cNvSpPr txBox="1"/>
          <p:nvPr/>
        </p:nvSpPr>
        <p:spPr>
          <a:xfrm>
            <a:off x="960120" y="3008376"/>
            <a:ext cx="384048" cy="246888"/>
          </a:xfrm>
          <a:prstGeom prst="rect">
            <a:avLst/>
          </a:prstGeom>
          <a:noFill/>
        </p:spPr>
        <p:txBody>
          <a:bodyPr wrap="square" anchor="t">
            <a:spAutoFit/>
          </a:bodyPr>
          <a:lstStyle/>
          <a:p>
            <a:pPr algn="r"/>
            <a:r>
              <a:rPr sz="900" b="0">
                <a:solidFill>
                  <a:srgbClr val="5B6372"/>
                </a:solidFill>
                <a:latin typeface="Arial"/>
              </a:rPr>
              <a:t>5</a:t>
            </a:r>
          </a:p>
        </p:txBody>
      </p:sp>
      <p:sp>
        <p:nvSpPr>
          <p:cNvPr id="18" name="TextBox 17"/>
          <p:cNvSpPr txBox="1"/>
          <p:nvPr/>
        </p:nvSpPr>
        <p:spPr>
          <a:xfrm>
            <a:off x="1554480" y="3008376"/>
            <a:ext cx="9418320" cy="256032"/>
          </a:xfrm>
          <a:prstGeom prst="rect">
            <a:avLst/>
          </a:prstGeom>
          <a:noFill/>
        </p:spPr>
        <p:txBody>
          <a:bodyPr wrap="square" anchor="t">
            <a:spAutoFit/>
          </a:bodyPr>
          <a:lstStyle/>
          <a:p>
            <a:pPr algn="l"/>
            <a:r>
              <a:rPr sz="1050" b="0">
                <a:solidFill>
                  <a:srgbClr val="161B26"/>
                </a:solidFill>
                <a:latin typeface="Arial"/>
              </a:rPr>
              <a:t>3. 15%</a:t>
            </a:r>
          </a:p>
        </p:txBody>
      </p:sp>
      <p:sp>
        <p:nvSpPr>
          <p:cNvPr id="19" name="TextBox 18"/>
          <p:cNvSpPr txBox="1"/>
          <p:nvPr/>
        </p:nvSpPr>
        <p:spPr>
          <a:xfrm>
            <a:off x="960120" y="3291839"/>
            <a:ext cx="384048" cy="246888"/>
          </a:xfrm>
          <a:prstGeom prst="rect">
            <a:avLst/>
          </a:prstGeom>
          <a:noFill/>
        </p:spPr>
        <p:txBody>
          <a:bodyPr wrap="square" anchor="t">
            <a:spAutoFit/>
          </a:bodyPr>
          <a:lstStyle/>
          <a:p>
            <a:pPr algn="r"/>
            <a:r>
              <a:rPr sz="900" b="0">
                <a:solidFill>
                  <a:srgbClr val="5B6372"/>
                </a:solidFill>
                <a:latin typeface="Arial"/>
              </a:rPr>
              <a:t>6</a:t>
            </a:r>
          </a:p>
        </p:txBody>
      </p:sp>
      <p:sp>
        <p:nvSpPr>
          <p:cNvPr id="20" name="TextBox 19"/>
          <p:cNvSpPr txBox="1"/>
          <p:nvPr/>
        </p:nvSpPr>
        <p:spPr>
          <a:xfrm>
            <a:off x="1554480" y="3291839"/>
            <a:ext cx="9418320" cy="256032"/>
          </a:xfrm>
          <a:prstGeom prst="rect">
            <a:avLst/>
          </a:prstGeom>
          <a:noFill/>
        </p:spPr>
        <p:txBody>
          <a:bodyPr wrap="square" anchor="t">
            <a:spAutoFit/>
          </a:bodyPr>
          <a:lstStyle/>
          <a:p>
            <a:pPr algn="l"/>
            <a:r>
              <a:rPr sz="1050" b="0">
                <a:solidFill>
                  <a:srgbClr val="161B26"/>
                </a:solidFill>
                <a:latin typeface="Arial"/>
              </a:rPr>
              <a:t>4. 15%</a:t>
            </a:r>
          </a:p>
        </p:txBody>
      </p:sp>
      <p:sp>
        <p:nvSpPr>
          <p:cNvPr id="21" name="TextBox 20"/>
          <p:cNvSpPr txBox="1"/>
          <p:nvPr/>
        </p:nvSpPr>
        <p:spPr>
          <a:xfrm>
            <a:off x="960120" y="3575303"/>
            <a:ext cx="384048" cy="246888"/>
          </a:xfrm>
          <a:prstGeom prst="rect">
            <a:avLst/>
          </a:prstGeom>
          <a:noFill/>
        </p:spPr>
        <p:txBody>
          <a:bodyPr wrap="square" anchor="t">
            <a:spAutoFit/>
          </a:bodyPr>
          <a:lstStyle/>
          <a:p>
            <a:pPr algn="r"/>
            <a:r>
              <a:rPr sz="900" b="0">
                <a:solidFill>
                  <a:srgbClr val="5B6372"/>
                </a:solidFill>
                <a:latin typeface="Arial"/>
              </a:rPr>
              <a:t>7</a:t>
            </a:r>
          </a:p>
        </p:txBody>
      </p:sp>
      <p:sp>
        <p:nvSpPr>
          <p:cNvPr id="22" name="TextBox 21"/>
          <p:cNvSpPr txBox="1"/>
          <p:nvPr/>
        </p:nvSpPr>
        <p:spPr>
          <a:xfrm>
            <a:off x="1554480" y="3575303"/>
            <a:ext cx="9418320" cy="256032"/>
          </a:xfrm>
          <a:prstGeom prst="rect">
            <a:avLst/>
          </a:prstGeom>
          <a:noFill/>
        </p:spPr>
        <p:txBody>
          <a:bodyPr wrap="square" anchor="t">
            <a:spAutoFit/>
          </a:bodyPr>
          <a:lstStyle/>
          <a:p>
            <a:pPr algn="l"/>
            <a:r>
              <a:rPr sz="1050" b="0">
                <a:solidFill>
                  <a:srgbClr val="161B26"/>
                </a:solidFill>
                <a:latin typeface="Arial"/>
              </a:rPr>
              <a:t>5. 15%</a:t>
            </a:r>
          </a:p>
        </p:txBody>
      </p:sp>
      <p:sp>
        <p:nvSpPr>
          <p:cNvPr id="23" name="TextBox 22"/>
          <p:cNvSpPr txBox="1"/>
          <p:nvPr/>
        </p:nvSpPr>
        <p:spPr>
          <a:xfrm>
            <a:off x="960120" y="3858768"/>
            <a:ext cx="384048" cy="246888"/>
          </a:xfrm>
          <a:prstGeom prst="rect">
            <a:avLst/>
          </a:prstGeom>
          <a:noFill/>
        </p:spPr>
        <p:txBody>
          <a:bodyPr wrap="square" anchor="t">
            <a:spAutoFit/>
          </a:bodyPr>
          <a:lstStyle/>
          <a:p>
            <a:pPr algn="r"/>
            <a:r>
              <a:rPr sz="900" b="0">
                <a:solidFill>
                  <a:srgbClr val="5B6372"/>
                </a:solidFill>
                <a:latin typeface="Arial"/>
              </a:rPr>
              <a:t>8</a:t>
            </a:r>
          </a:p>
        </p:txBody>
      </p:sp>
      <p:sp>
        <p:nvSpPr>
          <p:cNvPr id="24" name="TextBox 23"/>
          <p:cNvSpPr txBox="1"/>
          <p:nvPr/>
        </p:nvSpPr>
        <p:spPr>
          <a:xfrm>
            <a:off x="1554480" y="3858768"/>
            <a:ext cx="9418320" cy="256032"/>
          </a:xfrm>
          <a:prstGeom prst="rect">
            <a:avLst/>
          </a:prstGeom>
          <a:noFill/>
        </p:spPr>
        <p:txBody>
          <a:bodyPr wrap="square" anchor="t">
            <a:spAutoFit/>
          </a:bodyPr>
          <a:lstStyle/>
          <a:p>
            <a:pPr algn="l"/>
            <a:r>
              <a:rPr sz="1050" b="0">
                <a:solidFill>
                  <a:srgbClr val="7C3AED"/>
                </a:solidFill>
                <a:latin typeface="Arial"/>
              </a:rPr>
              <a:t>Audience: budget and governance committee</a:t>
            </a:r>
          </a:p>
        </p:txBody>
      </p:sp>
      <p:sp>
        <p:nvSpPr>
          <p:cNvPr id="25" name="TextBox 24"/>
          <p:cNvSpPr txBox="1"/>
          <p:nvPr/>
        </p:nvSpPr>
        <p:spPr>
          <a:xfrm>
            <a:off x="960120" y="4142231"/>
            <a:ext cx="384048" cy="246888"/>
          </a:xfrm>
          <a:prstGeom prst="rect">
            <a:avLst/>
          </a:prstGeom>
          <a:noFill/>
        </p:spPr>
        <p:txBody>
          <a:bodyPr wrap="square" anchor="t">
            <a:spAutoFit/>
          </a:bodyPr>
          <a:lstStyle/>
          <a:p>
            <a:pPr algn="r"/>
            <a:r>
              <a:rPr sz="900" b="0">
                <a:solidFill>
                  <a:srgbClr val="5B6372"/>
                </a:solidFill>
                <a:latin typeface="Arial"/>
              </a:rPr>
              <a:t>9</a:t>
            </a:r>
          </a:p>
        </p:txBody>
      </p:sp>
      <p:sp>
        <p:nvSpPr>
          <p:cNvPr id="26" name="TextBox 25"/>
          <p:cNvSpPr txBox="1"/>
          <p:nvPr/>
        </p:nvSpPr>
        <p:spPr>
          <a:xfrm>
            <a:off x="1554480" y="4142231"/>
            <a:ext cx="9418320" cy="256032"/>
          </a:xfrm>
          <a:prstGeom prst="rect">
            <a:avLst/>
          </a:prstGeom>
          <a:noFill/>
        </p:spPr>
        <p:txBody>
          <a:bodyPr wrap="square" anchor="t">
            <a:spAutoFit/>
          </a:bodyPr>
          <a:lstStyle/>
          <a:p>
            <a:pPr algn="l"/>
            <a:r>
              <a:rPr sz="1050" b="0">
                <a:solidFill>
                  <a:srgbClr val="7C3AED"/>
                </a:solidFill>
                <a:latin typeface="Arial"/>
              </a:rPr>
              <a:t>Decision: The recommendation names the preferred workflow, budget, ownership, governance controls, success metrics and review date.</a:t>
            </a:r>
          </a:p>
        </p:txBody>
      </p:sp>
      <p:sp>
        <p:nvSpPr>
          <p:cNvPr id="27" name="TextBox 26"/>
          <p:cNvSpPr txBox="1"/>
          <p:nvPr/>
        </p:nvSpPr>
        <p:spPr>
          <a:xfrm>
            <a:off x="960120" y="4425696"/>
            <a:ext cx="384048" cy="246888"/>
          </a:xfrm>
          <a:prstGeom prst="rect">
            <a:avLst/>
          </a:prstGeom>
          <a:noFill/>
        </p:spPr>
        <p:txBody>
          <a:bodyPr wrap="square" anchor="t">
            <a:spAutoFit/>
          </a:bodyPr>
          <a:lstStyle/>
          <a:p>
            <a:pPr algn="r"/>
            <a:r>
              <a:rPr sz="900" b="0">
                <a:solidFill>
                  <a:srgbClr val="5B6372"/>
                </a:solidFill>
                <a:latin typeface="Arial"/>
              </a:rPr>
              <a:t>10</a:t>
            </a:r>
          </a:p>
        </p:txBody>
      </p:sp>
      <p:sp>
        <p:nvSpPr>
          <p:cNvPr id="28" name="TextBox 27"/>
          <p:cNvSpPr txBox="1"/>
          <p:nvPr/>
        </p:nvSpPr>
        <p:spPr>
          <a:xfrm>
            <a:off x="1554480" y="4425696"/>
            <a:ext cx="9418320" cy="256032"/>
          </a:xfrm>
          <a:prstGeom prst="rect">
            <a:avLst/>
          </a:prstGeom>
          <a:noFill/>
        </p:spPr>
        <p:txBody>
          <a:bodyPr wrap="square" anchor="t">
            <a:spAutoFit/>
          </a:bodyPr>
          <a:lstStyle/>
          <a:p>
            <a:pPr algn="l"/>
            <a:r>
              <a:rPr sz="1050" b="0">
                <a:solidFill>
                  <a:srgbClr val="7C3AED"/>
                </a:solidFill>
                <a:latin typeface="Arial"/>
              </a:rPr>
              <a:t>Style: professional, concise, high contrast and accessible</a:t>
            </a:r>
          </a:p>
        </p:txBody>
      </p:sp>
      <p:sp>
        <p:nvSpPr>
          <p:cNvPr id="29" name="TextBox 28"/>
          <p:cNvSpPr txBox="1"/>
          <p:nvPr/>
        </p:nvSpPr>
        <p:spPr>
          <a:xfrm>
            <a:off x="960120" y="4709160"/>
            <a:ext cx="384048" cy="246888"/>
          </a:xfrm>
          <a:prstGeom prst="rect">
            <a:avLst/>
          </a:prstGeom>
          <a:noFill/>
        </p:spPr>
        <p:txBody>
          <a:bodyPr wrap="square" anchor="t">
            <a:spAutoFit/>
          </a:bodyPr>
          <a:lstStyle/>
          <a:p>
            <a:pPr algn="r"/>
            <a:r>
              <a:rPr sz="900" b="0">
                <a:solidFill>
                  <a:srgbClr val="5B6372"/>
                </a:solidFill>
                <a:latin typeface="Arial"/>
              </a:rPr>
              <a:t>11</a:t>
            </a:r>
          </a:p>
        </p:txBody>
      </p:sp>
      <p:sp>
        <p:nvSpPr>
          <p:cNvPr id="30" name="TextBox 29"/>
          <p:cNvSpPr txBox="1"/>
          <p:nvPr/>
        </p:nvSpPr>
        <p:spPr>
          <a:xfrm>
            <a:off x="1554480" y="4709160"/>
            <a:ext cx="9418320" cy="256032"/>
          </a:xfrm>
          <a:prstGeom prst="rect">
            <a:avLst/>
          </a:prstGeom>
          <a:noFill/>
        </p:spPr>
        <p:txBody>
          <a:bodyPr wrap="square" anchor="t">
            <a:spAutoFit/>
          </a:bodyPr>
          <a:lstStyle/>
          <a:p>
            <a:pPr algn="l"/>
            <a:r>
              <a:rPr sz="1050" b="0">
                <a:solidFill>
                  <a:srgbClr val="7C3AED"/>
                </a:solidFill>
                <a:latin typeface="Arial"/>
              </a:rPr>
              <a:t>Format: Wide for PowerPoint unless the brief requires Portrait</a:t>
            </a:r>
          </a:p>
        </p:txBody>
      </p:sp>
      <p:sp>
        <p:nvSpPr>
          <p:cNvPr id="31" name="TextBox 30"/>
          <p:cNvSpPr txBox="1"/>
          <p:nvPr/>
        </p:nvSpPr>
        <p:spPr>
          <a:xfrm>
            <a:off x="960120" y="4992624"/>
            <a:ext cx="384048" cy="246888"/>
          </a:xfrm>
          <a:prstGeom prst="rect">
            <a:avLst/>
          </a:prstGeom>
          <a:noFill/>
        </p:spPr>
        <p:txBody>
          <a:bodyPr wrap="square" anchor="t">
            <a:spAutoFit/>
          </a:bodyPr>
          <a:lstStyle/>
          <a:p>
            <a:pPr algn="r"/>
            <a:r>
              <a:rPr sz="900" b="0">
                <a:solidFill>
                  <a:srgbClr val="5B6372"/>
                </a:solidFill>
                <a:latin typeface="Arial"/>
              </a:rPr>
              <a:t>12</a:t>
            </a:r>
          </a:p>
        </p:txBody>
      </p:sp>
      <p:sp>
        <p:nvSpPr>
          <p:cNvPr id="32" name="TextBox 31"/>
          <p:cNvSpPr txBox="1"/>
          <p:nvPr/>
        </p:nvSpPr>
        <p:spPr>
          <a:xfrm>
            <a:off x="1554480" y="4992624"/>
            <a:ext cx="9418320" cy="256032"/>
          </a:xfrm>
          <a:prstGeom prst="rect">
            <a:avLst/>
          </a:prstGeom>
          <a:noFill/>
        </p:spPr>
        <p:txBody>
          <a:bodyPr wrap="square" anchor="t">
            <a:spAutoFit/>
          </a:bodyPr>
          <a:lstStyle/>
          <a:p>
            <a:pPr algn="l"/>
            <a:r>
              <a:rPr sz="1050" b="0">
                <a:solidFill>
                  <a:srgbClr val="7C3AED"/>
                </a:solidFill>
                <a:latin typeface="Arial"/>
              </a:rPr>
              <a:t>Source rule: use only the attached approved or synthetic course data; include period and source; do not invent 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F6FEB"/>
                </a:solidFill>
                <a:latin typeface="Arial"/>
              </a:rPr>
              <a:t>ACTIVITY 08 · CONTEXT</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The Scenario</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83080"/>
            <a:ext cx="10698480" cy="16916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83080"/>
            <a:ext cx="73152" cy="16916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200253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1168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65960"/>
            <a:ext cx="9710928" cy="329184"/>
          </a:xfrm>
          <a:prstGeom prst="rect">
            <a:avLst/>
          </a:prstGeom>
          <a:noFill/>
        </p:spPr>
        <p:txBody>
          <a:bodyPr wrap="square" anchor="t">
            <a:spAutoFit/>
          </a:bodyPr>
          <a:lstStyle/>
          <a:p>
            <a:pPr algn="l"/>
            <a:r>
              <a:rPr sz="1400" b="1">
                <a:solidFill>
                  <a:srgbClr val="1F6FEB"/>
                </a:solidFill>
                <a:latin typeface="Arial"/>
              </a:rPr>
              <a:t>Context</a:t>
            </a:r>
          </a:p>
        </p:txBody>
      </p:sp>
      <p:sp>
        <p:nvSpPr>
          <p:cNvPr id="13" name="TextBox 12"/>
          <p:cNvSpPr txBox="1"/>
          <p:nvPr/>
        </p:nvSpPr>
        <p:spPr>
          <a:xfrm>
            <a:off x="1536192" y="2350008"/>
            <a:ext cx="9710928" cy="978408"/>
          </a:xfrm>
          <a:prstGeom prst="rect">
            <a:avLst/>
          </a:prstGeom>
          <a:noFill/>
        </p:spPr>
        <p:txBody>
          <a:bodyPr wrap="square" anchor="t">
            <a:spAutoFit/>
          </a:bodyPr>
          <a:lstStyle/>
          <a:p>
            <a:pPr algn="l"/>
            <a:r>
              <a:rPr sz="1150" b="0">
                <a:solidFill>
                  <a:srgbClr val="161B26"/>
                </a:solidFill>
                <a:latin typeface="Arial"/>
              </a:rPr>
              <a:t>Northstar can fund one standard workflow for 12 staff. Options include PowerPoint templates only, PowerPoint with Microsoft 365 Copilot, a Copilot-first governed workflow, or a mixed approved workflow with PowerPoint as the controlled final-production layer.</a:t>
            </a:r>
          </a:p>
        </p:txBody>
      </p:sp>
      <p:sp>
        <p:nvSpPr>
          <p:cNvPr id="14" name="Rounded Rectangle 13"/>
          <p:cNvSpPr/>
          <p:nvPr/>
        </p:nvSpPr>
        <p:spPr>
          <a:xfrm>
            <a:off x="731520" y="3776472"/>
            <a:ext cx="10698480" cy="16916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776472"/>
            <a:ext cx="73152" cy="169164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32688" y="399592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05072"/>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1536192" y="3959352"/>
            <a:ext cx="9710928" cy="329184"/>
          </a:xfrm>
          <a:prstGeom prst="rect">
            <a:avLst/>
          </a:prstGeom>
          <a:noFill/>
        </p:spPr>
        <p:txBody>
          <a:bodyPr wrap="square" anchor="t">
            <a:spAutoFit/>
          </a:bodyPr>
          <a:lstStyle/>
          <a:p>
            <a:pPr algn="l"/>
            <a:r>
              <a:rPr sz="1400" b="1">
                <a:solidFill>
                  <a:srgbClr val="10B981"/>
                </a:solidFill>
                <a:latin typeface="Arial"/>
              </a:rPr>
              <a:t>Decision pressure</a:t>
            </a:r>
          </a:p>
        </p:txBody>
      </p:sp>
      <p:sp>
        <p:nvSpPr>
          <p:cNvPr id="19" name="TextBox 18"/>
          <p:cNvSpPr txBox="1"/>
          <p:nvPr/>
        </p:nvSpPr>
        <p:spPr>
          <a:xfrm>
            <a:off x="1536192" y="4343400"/>
            <a:ext cx="9710928" cy="978408"/>
          </a:xfrm>
          <a:prstGeom prst="rect">
            <a:avLst/>
          </a:prstGeom>
          <a:noFill/>
        </p:spPr>
        <p:txBody>
          <a:bodyPr wrap="square" anchor="t">
            <a:spAutoFit/>
          </a:bodyPr>
          <a:lstStyle/>
          <a:p>
            <a:pPr algn="l"/>
            <a:r>
              <a:rPr sz="1150" b="0">
                <a:solidFill>
                  <a:srgbClr val="161B26"/>
                </a:solidFill>
                <a:latin typeface="Arial"/>
              </a:rPr>
              <a:t>Use the supplied budget workbook and effectiveness evidence to recommend a 12-month tool, training and governance plan aligned with business outcomes.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0B981"/>
                </a:solidFill>
                <a:latin typeface="Arial"/>
              </a:rPr>
              <a:t>ACTIVITY 08 · FRAMEWORK</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Investment Decision Loop</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685800"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20240"/>
            <a:ext cx="73152" cy="3566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86968" y="213969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14884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490472" y="2103120"/>
            <a:ext cx="1009497" cy="329184"/>
          </a:xfrm>
          <a:prstGeom prst="rect">
            <a:avLst/>
          </a:prstGeom>
          <a:noFill/>
        </p:spPr>
        <p:txBody>
          <a:bodyPr wrap="square" anchor="t">
            <a:spAutoFit/>
          </a:bodyPr>
          <a:lstStyle/>
          <a:p>
            <a:pPr algn="l"/>
            <a:r>
              <a:rPr sz="1400" b="1">
                <a:solidFill>
                  <a:srgbClr val="1F6FEB"/>
                </a:solidFill>
                <a:latin typeface="Arial"/>
              </a:rPr>
              <a:t>Need</a:t>
            </a:r>
          </a:p>
        </p:txBody>
      </p:sp>
      <p:sp>
        <p:nvSpPr>
          <p:cNvPr id="13" name="TextBox 12"/>
          <p:cNvSpPr txBox="1"/>
          <p:nvPr/>
        </p:nvSpPr>
        <p:spPr>
          <a:xfrm>
            <a:off x="1490472" y="2487168"/>
            <a:ext cx="1009497" cy="2852928"/>
          </a:xfrm>
          <a:prstGeom prst="rect">
            <a:avLst/>
          </a:prstGeom>
          <a:noFill/>
        </p:spPr>
        <p:txBody>
          <a:bodyPr wrap="square" anchor="t">
            <a:spAutoFit/>
          </a:bodyPr>
          <a:lstStyle/>
          <a:p>
            <a:pPr algn="l"/>
            <a:r>
              <a:rPr sz="1150" b="0">
                <a:solidFill>
                  <a:srgbClr val="161B26"/>
                </a:solidFill>
                <a:latin typeface="Arial"/>
              </a:rPr>
              <a:t>Define outputs, volume, users and business outcomes.</a:t>
            </a:r>
          </a:p>
        </p:txBody>
      </p:sp>
      <p:sp>
        <p:nvSpPr>
          <p:cNvPr id="14" name="Rounded Rectangle 13"/>
          <p:cNvSpPr/>
          <p:nvPr/>
        </p:nvSpPr>
        <p:spPr>
          <a:xfrm>
            <a:off x="2884017"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84017" y="1920240"/>
            <a:ext cx="73152" cy="356616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085185" y="213969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85185" y="2148840"/>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3688689" y="2103120"/>
            <a:ext cx="1009497" cy="329184"/>
          </a:xfrm>
          <a:prstGeom prst="rect">
            <a:avLst/>
          </a:prstGeom>
          <a:noFill/>
        </p:spPr>
        <p:txBody>
          <a:bodyPr wrap="square" anchor="t">
            <a:spAutoFit/>
          </a:bodyPr>
          <a:lstStyle/>
          <a:p>
            <a:pPr algn="l"/>
            <a:r>
              <a:rPr sz="1400" b="1">
                <a:solidFill>
                  <a:srgbClr val="10B981"/>
                </a:solidFill>
                <a:latin typeface="Arial"/>
              </a:rPr>
              <a:t>Compare</a:t>
            </a:r>
          </a:p>
        </p:txBody>
      </p:sp>
      <p:sp>
        <p:nvSpPr>
          <p:cNvPr id="19" name="TextBox 18"/>
          <p:cNvSpPr txBox="1"/>
          <p:nvPr/>
        </p:nvSpPr>
        <p:spPr>
          <a:xfrm>
            <a:off x="3688689" y="2487168"/>
            <a:ext cx="1009497" cy="2852928"/>
          </a:xfrm>
          <a:prstGeom prst="rect">
            <a:avLst/>
          </a:prstGeom>
          <a:noFill/>
        </p:spPr>
        <p:txBody>
          <a:bodyPr wrap="square" anchor="t">
            <a:spAutoFit/>
          </a:bodyPr>
          <a:lstStyle/>
          <a:p>
            <a:pPr algn="l"/>
            <a:r>
              <a:rPr sz="1150" b="0">
                <a:solidFill>
                  <a:srgbClr val="161B26"/>
                </a:solidFill>
                <a:latin typeface="Arial"/>
              </a:rPr>
              <a:t>Score capability, cost, workflow and risk.</a:t>
            </a:r>
          </a:p>
        </p:txBody>
      </p:sp>
      <p:sp>
        <p:nvSpPr>
          <p:cNvPr id="20" name="Rounded Rectangle 19"/>
          <p:cNvSpPr/>
          <p:nvPr/>
        </p:nvSpPr>
        <p:spPr>
          <a:xfrm>
            <a:off x="5082235"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82235" y="1920240"/>
            <a:ext cx="73152" cy="356616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83403" y="2139696"/>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83403" y="2148840"/>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5886907" y="2103120"/>
            <a:ext cx="1009497" cy="329184"/>
          </a:xfrm>
          <a:prstGeom prst="rect">
            <a:avLst/>
          </a:prstGeom>
          <a:noFill/>
        </p:spPr>
        <p:txBody>
          <a:bodyPr wrap="square" anchor="t">
            <a:spAutoFit/>
          </a:bodyPr>
          <a:lstStyle/>
          <a:p>
            <a:pPr algn="l"/>
            <a:r>
              <a:rPr sz="1400" b="1">
                <a:solidFill>
                  <a:srgbClr val="7C3AED"/>
                </a:solidFill>
                <a:latin typeface="Arial"/>
              </a:rPr>
              <a:t>Pilot</a:t>
            </a:r>
          </a:p>
        </p:txBody>
      </p:sp>
      <p:sp>
        <p:nvSpPr>
          <p:cNvPr id="25" name="TextBox 24"/>
          <p:cNvSpPr txBox="1"/>
          <p:nvPr/>
        </p:nvSpPr>
        <p:spPr>
          <a:xfrm>
            <a:off x="5886907" y="2487168"/>
            <a:ext cx="1009497" cy="2852928"/>
          </a:xfrm>
          <a:prstGeom prst="rect">
            <a:avLst/>
          </a:prstGeom>
          <a:noFill/>
        </p:spPr>
        <p:txBody>
          <a:bodyPr wrap="square" anchor="t">
            <a:spAutoFit/>
          </a:bodyPr>
          <a:lstStyle/>
          <a:p>
            <a:pPr algn="l"/>
            <a:r>
              <a:rPr sz="1150" b="0">
                <a:solidFill>
                  <a:srgbClr val="161B26"/>
                </a:solidFill>
                <a:latin typeface="Arial"/>
              </a:rPr>
              <a:t>Test the same brief in shortlisted workflows.</a:t>
            </a:r>
          </a:p>
        </p:txBody>
      </p:sp>
      <p:sp>
        <p:nvSpPr>
          <p:cNvPr id="26" name="Rounded Rectangle 25"/>
          <p:cNvSpPr/>
          <p:nvPr/>
        </p:nvSpPr>
        <p:spPr>
          <a:xfrm>
            <a:off x="7280452"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80452" y="1920240"/>
            <a:ext cx="73152" cy="356616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81620" y="2139696"/>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81620" y="2148840"/>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8085124" y="2103120"/>
            <a:ext cx="1009497" cy="329184"/>
          </a:xfrm>
          <a:prstGeom prst="rect">
            <a:avLst/>
          </a:prstGeom>
          <a:noFill/>
        </p:spPr>
        <p:txBody>
          <a:bodyPr wrap="square" anchor="t">
            <a:spAutoFit/>
          </a:bodyPr>
          <a:lstStyle/>
          <a:p>
            <a:pPr algn="l"/>
            <a:r>
              <a:rPr sz="1400" b="1">
                <a:solidFill>
                  <a:srgbClr val="F59E0B"/>
                </a:solidFill>
                <a:latin typeface="Arial"/>
              </a:rPr>
              <a:t>Measure</a:t>
            </a:r>
          </a:p>
        </p:txBody>
      </p:sp>
      <p:sp>
        <p:nvSpPr>
          <p:cNvPr id="31" name="TextBox 30"/>
          <p:cNvSpPr txBox="1"/>
          <p:nvPr/>
        </p:nvSpPr>
        <p:spPr>
          <a:xfrm>
            <a:off x="8085124" y="2487168"/>
            <a:ext cx="1009497" cy="2852928"/>
          </a:xfrm>
          <a:prstGeom prst="rect">
            <a:avLst/>
          </a:prstGeom>
          <a:noFill/>
        </p:spPr>
        <p:txBody>
          <a:bodyPr wrap="square" anchor="t">
            <a:spAutoFit/>
          </a:bodyPr>
          <a:lstStyle/>
          <a:p>
            <a:pPr algn="l"/>
            <a:r>
              <a:rPr sz="1150" b="0">
                <a:solidFill>
                  <a:srgbClr val="161B26"/>
                </a:solidFill>
                <a:latin typeface="Arial"/>
              </a:rPr>
              <a:t>Collect quality, time, adoption and outcome evidence.</a:t>
            </a:r>
          </a:p>
        </p:txBody>
      </p:sp>
      <p:sp>
        <p:nvSpPr>
          <p:cNvPr id="32" name="Rounded Rectangle 31"/>
          <p:cNvSpPr/>
          <p:nvPr/>
        </p:nvSpPr>
        <p:spPr>
          <a:xfrm>
            <a:off x="9478670"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478670" y="1920240"/>
            <a:ext cx="73152" cy="3566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679838" y="213969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79838" y="2148840"/>
            <a:ext cx="438912" cy="420624"/>
          </a:xfrm>
          <a:prstGeom prst="rect">
            <a:avLst/>
          </a:prstGeom>
          <a:noFill/>
        </p:spPr>
        <p:txBody>
          <a:bodyPr wrap="square" anchor="ctr">
            <a:spAutoFit/>
          </a:bodyPr>
          <a:lstStyle/>
          <a:p>
            <a:pPr algn="ctr"/>
            <a:r>
              <a:rPr sz="1400" b="1">
                <a:solidFill>
                  <a:srgbClr val="FFFFFF"/>
                </a:solidFill>
                <a:latin typeface="Arial"/>
              </a:rPr>
              <a:t>5</a:t>
            </a:r>
          </a:p>
        </p:txBody>
      </p:sp>
      <p:sp>
        <p:nvSpPr>
          <p:cNvPr id="36" name="TextBox 35"/>
          <p:cNvSpPr txBox="1"/>
          <p:nvPr/>
        </p:nvSpPr>
        <p:spPr>
          <a:xfrm>
            <a:off x="10283342" y="2103120"/>
            <a:ext cx="1009497" cy="329184"/>
          </a:xfrm>
          <a:prstGeom prst="rect">
            <a:avLst/>
          </a:prstGeom>
          <a:noFill/>
        </p:spPr>
        <p:txBody>
          <a:bodyPr wrap="square" anchor="t">
            <a:spAutoFit/>
          </a:bodyPr>
          <a:lstStyle/>
          <a:p>
            <a:pPr algn="l"/>
            <a:r>
              <a:rPr sz="1400" b="1">
                <a:solidFill>
                  <a:srgbClr val="1F6FEB"/>
                </a:solidFill>
                <a:latin typeface="Arial"/>
              </a:rPr>
              <a:t>Decide</a:t>
            </a:r>
          </a:p>
        </p:txBody>
      </p:sp>
      <p:sp>
        <p:nvSpPr>
          <p:cNvPr id="37" name="TextBox 36"/>
          <p:cNvSpPr txBox="1"/>
          <p:nvPr/>
        </p:nvSpPr>
        <p:spPr>
          <a:xfrm>
            <a:off x="10283342" y="2487168"/>
            <a:ext cx="1009497" cy="2852928"/>
          </a:xfrm>
          <a:prstGeom prst="rect">
            <a:avLst/>
          </a:prstGeom>
          <a:noFill/>
        </p:spPr>
        <p:txBody>
          <a:bodyPr wrap="square" anchor="t">
            <a:spAutoFit/>
          </a:bodyPr>
          <a:lstStyle/>
          <a:p>
            <a:pPr algn="l"/>
            <a:r>
              <a:rPr sz="1150" b="0">
                <a:solidFill>
                  <a:srgbClr val="161B26"/>
                </a:solidFill>
                <a:latin typeface="Arial"/>
              </a:rPr>
              <a:t>Recommend tools, budget, controls and review date.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08 · EXAMPLE</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Worked Output</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83080"/>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83080"/>
            <a:ext cx="73152" cy="17190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200253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1168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65960"/>
            <a:ext cx="2414016" cy="329184"/>
          </a:xfrm>
          <a:prstGeom prst="rect">
            <a:avLst/>
          </a:prstGeom>
          <a:noFill/>
        </p:spPr>
        <p:txBody>
          <a:bodyPr wrap="square" anchor="t">
            <a:spAutoFit/>
          </a:bodyPr>
          <a:lstStyle/>
          <a:p>
            <a:pPr algn="l"/>
            <a:r>
              <a:rPr sz="1400" b="1">
                <a:solidFill>
                  <a:srgbClr val="1F6FEB"/>
                </a:solidFill>
                <a:latin typeface="Arial"/>
              </a:rPr>
              <a:t>35%</a:t>
            </a:r>
          </a:p>
        </p:txBody>
      </p:sp>
      <p:sp>
        <p:nvSpPr>
          <p:cNvPr id="13" name="TextBox 12"/>
          <p:cNvSpPr txBox="1"/>
          <p:nvPr/>
        </p:nvSpPr>
        <p:spPr>
          <a:xfrm>
            <a:off x="1536192" y="2350008"/>
            <a:ext cx="2414016" cy="1005839"/>
          </a:xfrm>
          <a:prstGeom prst="rect">
            <a:avLst/>
          </a:prstGeom>
          <a:noFill/>
        </p:spPr>
        <p:txBody>
          <a:bodyPr wrap="square" anchor="t">
            <a:spAutoFit/>
          </a:bodyPr>
          <a:lstStyle/>
          <a:p>
            <a:pPr algn="l"/>
            <a:r>
              <a:rPr sz="1150" b="0">
                <a:solidFill>
                  <a:srgbClr val="161B26"/>
                </a:solidFill>
                <a:latin typeface="Arial"/>
              </a:rPr>
              <a:t>Message and data effectiveness</a:t>
            </a:r>
          </a:p>
        </p:txBody>
      </p:sp>
      <p:sp>
        <p:nvSpPr>
          <p:cNvPr id="14" name="Rounded Rectangle 13"/>
          <p:cNvSpPr/>
          <p:nvPr/>
        </p:nvSpPr>
        <p:spPr>
          <a:xfrm>
            <a:off x="4315968" y="1783080"/>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1783080"/>
            <a:ext cx="73152" cy="1719072"/>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17136" y="200253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17136" y="2011680"/>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5120640" y="1965960"/>
            <a:ext cx="2414016" cy="329184"/>
          </a:xfrm>
          <a:prstGeom prst="rect">
            <a:avLst/>
          </a:prstGeom>
          <a:noFill/>
        </p:spPr>
        <p:txBody>
          <a:bodyPr wrap="square" anchor="t">
            <a:spAutoFit/>
          </a:bodyPr>
          <a:lstStyle/>
          <a:p>
            <a:pPr algn="l"/>
            <a:r>
              <a:rPr sz="1400" b="1">
                <a:solidFill>
                  <a:srgbClr val="10B981"/>
                </a:solidFill>
                <a:latin typeface="Arial"/>
              </a:rPr>
              <a:t>20%</a:t>
            </a:r>
          </a:p>
        </p:txBody>
      </p:sp>
      <p:sp>
        <p:nvSpPr>
          <p:cNvPr id="19" name="TextBox 18"/>
          <p:cNvSpPr txBox="1"/>
          <p:nvPr/>
        </p:nvSpPr>
        <p:spPr>
          <a:xfrm>
            <a:off x="5120640" y="2350008"/>
            <a:ext cx="2414016" cy="1005839"/>
          </a:xfrm>
          <a:prstGeom prst="rect">
            <a:avLst/>
          </a:prstGeom>
          <a:noFill/>
        </p:spPr>
        <p:txBody>
          <a:bodyPr wrap="square" anchor="t">
            <a:spAutoFit/>
          </a:bodyPr>
          <a:lstStyle/>
          <a:p>
            <a:pPr algn="l"/>
            <a:r>
              <a:rPr sz="1150" b="0">
                <a:solidFill>
                  <a:srgbClr val="161B26"/>
                </a:solidFill>
                <a:latin typeface="Arial"/>
              </a:rPr>
              <a:t>Editability and workflow fit</a:t>
            </a:r>
          </a:p>
        </p:txBody>
      </p:sp>
      <p:sp>
        <p:nvSpPr>
          <p:cNvPr id="20" name="Rounded Rectangle 19"/>
          <p:cNvSpPr/>
          <p:nvPr/>
        </p:nvSpPr>
        <p:spPr>
          <a:xfrm>
            <a:off x="7900416" y="1783080"/>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00416" y="1783080"/>
            <a:ext cx="73152" cy="1719072"/>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01584" y="2002536"/>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01584" y="2011680"/>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8705088" y="1965960"/>
            <a:ext cx="2414016" cy="329184"/>
          </a:xfrm>
          <a:prstGeom prst="rect">
            <a:avLst/>
          </a:prstGeom>
          <a:noFill/>
        </p:spPr>
        <p:txBody>
          <a:bodyPr wrap="square" anchor="t">
            <a:spAutoFit/>
          </a:bodyPr>
          <a:lstStyle/>
          <a:p>
            <a:pPr algn="l"/>
            <a:r>
              <a:rPr sz="1400" b="1">
                <a:solidFill>
                  <a:srgbClr val="7C3AED"/>
                </a:solidFill>
                <a:latin typeface="Arial"/>
              </a:rPr>
              <a:t>15%</a:t>
            </a:r>
          </a:p>
        </p:txBody>
      </p:sp>
      <p:sp>
        <p:nvSpPr>
          <p:cNvPr id="25" name="TextBox 24"/>
          <p:cNvSpPr txBox="1"/>
          <p:nvPr/>
        </p:nvSpPr>
        <p:spPr>
          <a:xfrm>
            <a:off x="8705088" y="2350008"/>
            <a:ext cx="2414016" cy="1005839"/>
          </a:xfrm>
          <a:prstGeom prst="rect">
            <a:avLst/>
          </a:prstGeom>
          <a:noFill/>
        </p:spPr>
        <p:txBody>
          <a:bodyPr wrap="square" anchor="t">
            <a:spAutoFit/>
          </a:bodyPr>
          <a:lstStyle/>
          <a:p>
            <a:pPr algn="l"/>
            <a:r>
              <a:rPr sz="1150" b="0">
                <a:solidFill>
                  <a:srgbClr val="161B26"/>
                </a:solidFill>
                <a:latin typeface="Arial"/>
              </a:rPr>
              <a:t>Brand and accessibility control</a:t>
            </a:r>
          </a:p>
        </p:txBody>
      </p:sp>
      <p:sp>
        <p:nvSpPr>
          <p:cNvPr id="26" name="Rounded Rectangle 25"/>
          <p:cNvSpPr/>
          <p:nvPr/>
        </p:nvSpPr>
        <p:spPr>
          <a:xfrm>
            <a:off x="731520" y="3776472"/>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3776472"/>
            <a:ext cx="73152" cy="171907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32688" y="3995928"/>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4005072"/>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1536192" y="3959352"/>
            <a:ext cx="2414016" cy="329184"/>
          </a:xfrm>
          <a:prstGeom prst="rect">
            <a:avLst/>
          </a:prstGeom>
          <a:noFill/>
        </p:spPr>
        <p:txBody>
          <a:bodyPr wrap="square" anchor="t">
            <a:spAutoFit/>
          </a:bodyPr>
          <a:lstStyle/>
          <a:p>
            <a:pPr algn="l"/>
            <a:r>
              <a:rPr sz="1400" b="1">
                <a:solidFill>
                  <a:srgbClr val="F59E0B"/>
                </a:solidFill>
                <a:latin typeface="Arial"/>
              </a:rPr>
              <a:t>15%</a:t>
            </a:r>
          </a:p>
        </p:txBody>
      </p:sp>
      <p:sp>
        <p:nvSpPr>
          <p:cNvPr id="31" name="TextBox 30"/>
          <p:cNvSpPr txBox="1"/>
          <p:nvPr/>
        </p:nvSpPr>
        <p:spPr>
          <a:xfrm>
            <a:off x="1536192" y="4343400"/>
            <a:ext cx="2414016" cy="1005839"/>
          </a:xfrm>
          <a:prstGeom prst="rect">
            <a:avLst/>
          </a:prstGeom>
          <a:noFill/>
        </p:spPr>
        <p:txBody>
          <a:bodyPr wrap="square" anchor="t">
            <a:spAutoFit/>
          </a:bodyPr>
          <a:lstStyle/>
          <a:p>
            <a:pPr algn="l"/>
            <a:r>
              <a:rPr sz="1150" b="0">
                <a:solidFill>
                  <a:srgbClr val="161B26"/>
                </a:solidFill>
                <a:latin typeface="Arial"/>
              </a:rPr>
              <a:t>Privacy, rights and governance</a:t>
            </a:r>
          </a:p>
        </p:txBody>
      </p:sp>
      <p:sp>
        <p:nvSpPr>
          <p:cNvPr id="32" name="Rounded Rectangle 31"/>
          <p:cNvSpPr/>
          <p:nvPr/>
        </p:nvSpPr>
        <p:spPr>
          <a:xfrm>
            <a:off x="4315968" y="3776472"/>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15968" y="3776472"/>
            <a:ext cx="73152" cy="17190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517136" y="3995928"/>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7136" y="4005072"/>
            <a:ext cx="438912" cy="420624"/>
          </a:xfrm>
          <a:prstGeom prst="rect">
            <a:avLst/>
          </a:prstGeom>
          <a:noFill/>
        </p:spPr>
        <p:txBody>
          <a:bodyPr wrap="square" anchor="ctr">
            <a:spAutoFit/>
          </a:bodyPr>
          <a:lstStyle/>
          <a:p>
            <a:pPr algn="ctr"/>
            <a:r>
              <a:rPr sz="1400" b="1">
                <a:solidFill>
                  <a:srgbClr val="FFFFFF"/>
                </a:solidFill>
                <a:latin typeface="Arial"/>
              </a:rPr>
              <a:t>5</a:t>
            </a:r>
          </a:p>
        </p:txBody>
      </p:sp>
      <p:sp>
        <p:nvSpPr>
          <p:cNvPr id="36" name="TextBox 35"/>
          <p:cNvSpPr txBox="1"/>
          <p:nvPr/>
        </p:nvSpPr>
        <p:spPr>
          <a:xfrm>
            <a:off x="5120640" y="3959352"/>
            <a:ext cx="2414016" cy="329184"/>
          </a:xfrm>
          <a:prstGeom prst="rect">
            <a:avLst/>
          </a:prstGeom>
          <a:noFill/>
        </p:spPr>
        <p:txBody>
          <a:bodyPr wrap="square" anchor="t">
            <a:spAutoFit/>
          </a:bodyPr>
          <a:lstStyle/>
          <a:p>
            <a:pPr algn="l"/>
            <a:r>
              <a:rPr sz="1400" b="1">
                <a:solidFill>
                  <a:srgbClr val="1F6FEB"/>
                </a:solidFill>
                <a:latin typeface="Arial"/>
              </a:rPr>
              <a:t>15%</a:t>
            </a:r>
          </a:p>
        </p:txBody>
      </p:sp>
      <p:sp>
        <p:nvSpPr>
          <p:cNvPr id="37" name="TextBox 36"/>
          <p:cNvSpPr txBox="1"/>
          <p:nvPr/>
        </p:nvSpPr>
        <p:spPr>
          <a:xfrm>
            <a:off x="5120640" y="4343400"/>
            <a:ext cx="2414016" cy="1005839"/>
          </a:xfrm>
          <a:prstGeom prst="rect">
            <a:avLst/>
          </a:prstGeom>
          <a:noFill/>
        </p:spPr>
        <p:txBody>
          <a:bodyPr wrap="square" anchor="t">
            <a:spAutoFit/>
          </a:bodyPr>
          <a:lstStyle/>
          <a:p>
            <a:pPr algn="l"/>
            <a:r>
              <a:rPr sz="1150" b="0">
                <a:solidFill>
                  <a:srgbClr val="161B26"/>
                </a:solidFill>
                <a:latin typeface="Arial"/>
              </a:rPr>
              <a:t>Total resource cost</a:t>
            </a:r>
          </a:p>
        </p:txBody>
      </p:sp>
      <p:sp>
        <p:nvSpPr>
          <p:cNvPr id="38" name="Rounded Rectangle 37"/>
          <p:cNvSpPr/>
          <p:nvPr/>
        </p:nvSpPr>
        <p:spPr>
          <a:xfrm>
            <a:off x="7900416" y="3776472"/>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00416" y="3776472"/>
            <a:ext cx="73152" cy="1719072"/>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101584" y="399592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01584" y="4005072"/>
            <a:ext cx="438912" cy="420624"/>
          </a:xfrm>
          <a:prstGeom prst="rect">
            <a:avLst/>
          </a:prstGeom>
          <a:noFill/>
        </p:spPr>
        <p:txBody>
          <a:bodyPr wrap="square" anchor="ctr">
            <a:spAutoFit/>
          </a:bodyPr>
          <a:lstStyle/>
          <a:p>
            <a:pPr algn="ctr"/>
            <a:r>
              <a:rPr sz="1400" b="1">
                <a:solidFill>
                  <a:srgbClr val="FFFFFF"/>
                </a:solidFill>
                <a:latin typeface="Arial"/>
              </a:rPr>
              <a:t>6</a:t>
            </a:r>
          </a:p>
        </p:txBody>
      </p:sp>
      <p:sp>
        <p:nvSpPr>
          <p:cNvPr id="42" name="TextBox 41"/>
          <p:cNvSpPr txBox="1"/>
          <p:nvPr/>
        </p:nvSpPr>
        <p:spPr>
          <a:xfrm>
            <a:off x="8705088" y="3959352"/>
            <a:ext cx="2414016" cy="329184"/>
          </a:xfrm>
          <a:prstGeom prst="rect">
            <a:avLst/>
          </a:prstGeom>
          <a:noFill/>
        </p:spPr>
        <p:txBody>
          <a:bodyPr wrap="square" anchor="t">
            <a:spAutoFit/>
          </a:bodyPr>
          <a:lstStyle/>
          <a:p>
            <a:pPr algn="l"/>
            <a:r>
              <a:rPr sz="1400" b="1">
                <a:solidFill>
                  <a:srgbClr val="10B981"/>
                </a:solidFill>
                <a:latin typeface="Arial"/>
              </a:rPr>
              <a:t>Gate</a:t>
            </a:r>
          </a:p>
        </p:txBody>
      </p:sp>
      <p:sp>
        <p:nvSpPr>
          <p:cNvPr id="43" name="TextBox 42"/>
          <p:cNvSpPr txBox="1"/>
          <p:nvPr/>
        </p:nvSpPr>
        <p:spPr>
          <a:xfrm>
            <a:off x="8705088" y="4343400"/>
            <a:ext cx="2414016" cy="1005839"/>
          </a:xfrm>
          <a:prstGeom prst="rect">
            <a:avLst/>
          </a:prstGeom>
          <a:noFill/>
        </p:spPr>
        <p:txBody>
          <a:bodyPr wrap="square" anchor="t">
            <a:spAutoFit/>
          </a:bodyPr>
          <a:lstStyle/>
          <a:p>
            <a:pPr algn="l"/>
            <a:r>
              <a:rPr sz="1150" b="0">
                <a:solidFill>
                  <a:srgbClr val="161B26"/>
                </a:solidFill>
                <a:latin typeface="Arial"/>
              </a:rPr>
              <a:t>No option passes with unverified data or public answer-key risk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F6FEB"/>
                </a:solidFill>
                <a:latin typeface="Arial"/>
              </a:rPr>
              <a:t>ACTIVITY 08 · ACCEPTANCE</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What Good Looks Like</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49808" y="1810512"/>
            <a:ext cx="10652760" cy="1005840"/>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11680"/>
            <a:ext cx="10058400" cy="566928"/>
          </a:xfrm>
          <a:prstGeom prst="rect">
            <a:avLst/>
          </a:prstGeom>
          <a:noFill/>
        </p:spPr>
        <p:txBody>
          <a:bodyPr wrap="square" anchor="ctr">
            <a:spAutoFit/>
          </a:bodyPr>
          <a:lstStyle/>
          <a:p>
            <a:pPr algn="ctr"/>
            <a:r>
              <a:rPr sz="1900" b="1">
                <a:solidFill>
                  <a:srgbClr val="FFFFFF"/>
                </a:solidFill>
                <a:latin typeface="Arial"/>
              </a:rPr>
              <a:t>A weighted resource-scorecard infographic and one-page workflow recommendation</a:t>
            </a:r>
          </a:p>
        </p:txBody>
      </p:sp>
      <p:sp>
        <p:nvSpPr>
          <p:cNvPr id="10" name="Rounded Rectangle 9"/>
          <p:cNvSpPr/>
          <p:nvPr/>
        </p:nvSpPr>
        <p:spPr>
          <a:xfrm>
            <a:off x="777240" y="3154680"/>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154680"/>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78408" y="337413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338328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4" name="TextBox 13"/>
          <p:cNvSpPr txBox="1"/>
          <p:nvPr/>
        </p:nvSpPr>
        <p:spPr>
          <a:xfrm>
            <a:off x="1581912" y="3337560"/>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15" name="TextBox 14"/>
          <p:cNvSpPr txBox="1"/>
          <p:nvPr/>
        </p:nvSpPr>
        <p:spPr>
          <a:xfrm>
            <a:off x="1581912" y="3721608"/>
            <a:ext cx="4087368" cy="36575"/>
          </a:xfrm>
          <a:prstGeom prst="rect">
            <a:avLst/>
          </a:prstGeom>
          <a:noFill/>
        </p:spPr>
        <p:txBody>
          <a:bodyPr wrap="square" anchor="t">
            <a:spAutoFit/>
          </a:bodyPr>
          <a:lstStyle/>
          <a:p>
            <a:pPr algn="l"/>
            <a:r>
              <a:rPr sz="1150" b="0">
                <a:solidFill>
                  <a:srgbClr val="161B26"/>
                </a:solidFill>
                <a:latin typeface="Arial"/>
              </a:rPr>
              <a:t>All options use the same criteria and scale</a:t>
            </a:r>
          </a:p>
        </p:txBody>
      </p:sp>
      <p:sp>
        <p:nvSpPr>
          <p:cNvPr id="16" name="Rounded Rectangle 15"/>
          <p:cNvSpPr/>
          <p:nvPr/>
        </p:nvSpPr>
        <p:spPr>
          <a:xfrm>
            <a:off x="6126479" y="3154680"/>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79" y="3154680"/>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7647" y="337413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7647" y="3383280"/>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20" name="TextBox 19"/>
          <p:cNvSpPr txBox="1"/>
          <p:nvPr/>
        </p:nvSpPr>
        <p:spPr>
          <a:xfrm>
            <a:off x="6931151" y="3337560"/>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21" name="TextBox 20"/>
          <p:cNvSpPr txBox="1"/>
          <p:nvPr/>
        </p:nvSpPr>
        <p:spPr>
          <a:xfrm>
            <a:off x="6931151" y="3721608"/>
            <a:ext cx="4087368" cy="36575"/>
          </a:xfrm>
          <a:prstGeom prst="rect">
            <a:avLst/>
          </a:prstGeom>
          <a:noFill/>
        </p:spPr>
        <p:txBody>
          <a:bodyPr wrap="square" anchor="t">
            <a:spAutoFit/>
          </a:bodyPr>
          <a:lstStyle/>
          <a:p>
            <a:pPr algn="l"/>
            <a:r>
              <a:rPr sz="1150" b="0">
                <a:solidFill>
                  <a:srgbClr val="161B26"/>
                </a:solidFill>
                <a:latin typeface="Arial"/>
              </a:rPr>
              <a:t>Total cost includes hidden resource costs</a:t>
            </a:r>
          </a:p>
        </p:txBody>
      </p:sp>
      <p:sp>
        <p:nvSpPr>
          <p:cNvPr id="22" name="Rounded Rectangle 21"/>
          <p:cNvSpPr/>
          <p:nvPr/>
        </p:nvSpPr>
        <p:spPr>
          <a:xfrm>
            <a:off x="777240" y="4096512"/>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96512"/>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78408" y="431596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325112"/>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6" name="TextBox 25"/>
          <p:cNvSpPr txBox="1"/>
          <p:nvPr/>
        </p:nvSpPr>
        <p:spPr>
          <a:xfrm>
            <a:off x="1581912" y="4279392"/>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27" name="TextBox 26"/>
          <p:cNvSpPr txBox="1"/>
          <p:nvPr/>
        </p:nvSpPr>
        <p:spPr>
          <a:xfrm>
            <a:off x="1581912" y="4663440"/>
            <a:ext cx="4087368" cy="36575"/>
          </a:xfrm>
          <a:prstGeom prst="rect">
            <a:avLst/>
          </a:prstGeom>
          <a:noFill/>
        </p:spPr>
        <p:txBody>
          <a:bodyPr wrap="square" anchor="t">
            <a:spAutoFit/>
          </a:bodyPr>
          <a:lstStyle/>
          <a:p>
            <a:pPr algn="l"/>
            <a:r>
              <a:rPr sz="1150" b="0">
                <a:solidFill>
                  <a:srgbClr val="161B26"/>
                </a:solidFill>
                <a:latin typeface="Arial"/>
              </a:rPr>
              <a:t>Governance gates override weighted score</a:t>
            </a:r>
          </a:p>
        </p:txBody>
      </p:sp>
      <p:sp>
        <p:nvSpPr>
          <p:cNvPr id="28" name="Rounded Rectangle 27"/>
          <p:cNvSpPr/>
          <p:nvPr/>
        </p:nvSpPr>
        <p:spPr>
          <a:xfrm>
            <a:off x="6126479" y="4096512"/>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26479" y="4096512"/>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7647" y="431596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7647" y="4325112"/>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2" name="TextBox 31"/>
          <p:cNvSpPr txBox="1"/>
          <p:nvPr/>
        </p:nvSpPr>
        <p:spPr>
          <a:xfrm>
            <a:off x="6931151" y="4279392"/>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33" name="TextBox 32"/>
          <p:cNvSpPr txBox="1"/>
          <p:nvPr/>
        </p:nvSpPr>
        <p:spPr>
          <a:xfrm>
            <a:off x="6931151" y="4663440"/>
            <a:ext cx="4087368" cy="36575"/>
          </a:xfrm>
          <a:prstGeom prst="rect">
            <a:avLst/>
          </a:prstGeom>
          <a:noFill/>
        </p:spPr>
        <p:txBody>
          <a:bodyPr wrap="square" anchor="t">
            <a:spAutoFit/>
          </a:bodyPr>
          <a:lstStyle/>
          <a:p>
            <a:pPr algn="l"/>
            <a:r>
              <a:rPr sz="1150" b="0">
                <a:solidFill>
                  <a:srgbClr val="161B26"/>
                </a:solidFill>
                <a:latin typeface="Arial"/>
              </a:rPr>
              <a:t>Workbook has zero formula errors</a:t>
            </a:r>
          </a:p>
        </p:txBody>
      </p:sp>
      <p:sp>
        <p:nvSpPr>
          <p:cNvPr id="34" name="Rounded Rectangle 33"/>
          <p:cNvSpPr/>
          <p:nvPr/>
        </p:nvSpPr>
        <p:spPr>
          <a:xfrm>
            <a:off x="777240" y="5038344"/>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038344"/>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78408" y="5257800"/>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 y="5266944"/>
            <a:ext cx="438912" cy="420624"/>
          </a:xfrm>
          <a:prstGeom prst="rect">
            <a:avLst/>
          </a:prstGeom>
          <a:noFill/>
        </p:spPr>
        <p:txBody>
          <a:bodyPr wrap="square" anchor="ctr">
            <a:spAutoFit/>
          </a:bodyPr>
          <a:lstStyle/>
          <a:p>
            <a:pPr algn="ctr"/>
            <a:r>
              <a:rPr sz="1400" b="1">
                <a:solidFill>
                  <a:srgbClr val="FFFFFF"/>
                </a:solidFill>
                <a:latin typeface="Arial"/>
              </a:rPr>
              <a:t>5</a:t>
            </a:r>
          </a:p>
        </p:txBody>
      </p:sp>
      <p:sp>
        <p:nvSpPr>
          <p:cNvPr id="38" name="TextBox 37"/>
          <p:cNvSpPr txBox="1"/>
          <p:nvPr/>
        </p:nvSpPr>
        <p:spPr>
          <a:xfrm>
            <a:off x="1581912" y="5221224"/>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39" name="TextBox 38"/>
          <p:cNvSpPr txBox="1"/>
          <p:nvPr/>
        </p:nvSpPr>
        <p:spPr>
          <a:xfrm>
            <a:off x="1581912" y="5605272"/>
            <a:ext cx="4087368" cy="36575"/>
          </a:xfrm>
          <a:prstGeom prst="rect">
            <a:avLst/>
          </a:prstGeom>
          <a:noFill/>
        </p:spPr>
        <p:txBody>
          <a:bodyPr wrap="square" anchor="t">
            <a:spAutoFit/>
          </a:bodyPr>
          <a:lstStyle/>
          <a:p>
            <a:pPr algn="l"/>
            <a:r>
              <a:rPr sz="1150" b="0">
                <a:solidFill>
                  <a:srgbClr val="161B26"/>
                </a:solidFill>
                <a:latin typeface="Arial"/>
              </a:rPr>
              <a:t>Recommendation names budget, controls, metrics, owner and review date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